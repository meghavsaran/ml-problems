
<file path=[Content_Types].xml><?xml version="1.0" encoding="utf-8"?>
<Types xmlns="http://schemas.openxmlformats.org/package/2006/content-types">
  <Default Extension="gif" ContentType="image/gif"/>
  <Default Extension="jfif" ContentType="image/jpeg"/>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63"/>
  </p:notesMasterIdLst>
  <p:sldIdLst>
    <p:sldId id="256" r:id="rId2"/>
    <p:sldId id="257" r:id="rId3"/>
    <p:sldId id="260" r:id="rId4"/>
    <p:sldId id="338" r:id="rId5"/>
    <p:sldId id="262" r:id="rId6"/>
    <p:sldId id="263" r:id="rId7"/>
    <p:sldId id="264" r:id="rId8"/>
    <p:sldId id="265" r:id="rId9"/>
    <p:sldId id="266" r:id="rId10"/>
    <p:sldId id="267" r:id="rId11"/>
    <p:sldId id="268" r:id="rId12"/>
    <p:sldId id="270" r:id="rId13"/>
    <p:sldId id="272" r:id="rId14"/>
    <p:sldId id="282" r:id="rId15"/>
    <p:sldId id="283" r:id="rId16"/>
    <p:sldId id="379" r:id="rId17"/>
    <p:sldId id="380" r:id="rId18"/>
    <p:sldId id="286" r:id="rId19"/>
    <p:sldId id="292" r:id="rId20"/>
    <p:sldId id="291" r:id="rId21"/>
    <p:sldId id="293" r:id="rId22"/>
    <p:sldId id="290" r:id="rId23"/>
    <p:sldId id="289" r:id="rId24"/>
    <p:sldId id="294" r:id="rId25"/>
    <p:sldId id="296" r:id="rId26"/>
    <p:sldId id="297" r:id="rId27"/>
    <p:sldId id="303" r:id="rId28"/>
    <p:sldId id="301" r:id="rId29"/>
    <p:sldId id="305" r:id="rId30"/>
    <p:sldId id="299" r:id="rId31"/>
    <p:sldId id="306" r:id="rId32"/>
    <p:sldId id="307" r:id="rId33"/>
    <p:sldId id="308" r:id="rId34"/>
    <p:sldId id="309" r:id="rId35"/>
    <p:sldId id="310" r:id="rId36"/>
    <p:sldId id="311" r:id="rId37"/>
    <p:sldId id="324" r:id="rId38"/>
    <p:sldId id="322" r:id="rId39"/>
    <p:sldId id="325" r:id="rId40"/>
    <p:sldId id="327" r:id="rId41"/>
    <p:sldId id="328" r:id="rId42"/>
    <p:sldId id="329" r:id="rId43"/>
    <p:sldId id="330" r:id="rId44"/>
    <p:sldId id="331" r:id="rId45"/>
    <p:sldId id="340" r:id="rId46"/>
    <p:sldId id="332" r:id="rId47"/>
    <p:sldId id="355" r:id="rId48"/>
    <p:sldId id="356" r:id="rId49"/>
    <p:sldId id="357" r:id="rId50"/>
    <p:sldId id="358" r:id="rId51"/>
    <p:sldId id="360" r:id="rId52"/>
    <p:sldId id="361" r:id="rId53"/>
    <p:sldId id="363" r:id="rId54"/>
    <p:sldId id="365" r:id="rId55"/>
    <p:sldId id="366" r:id="rId56"/>
    <p:sldId id="370" r:id="rId57"/>
    <p:sldId id="373" r:id="rId58"/>
    <p:sldId id="376" r:id="rId59"/>
    <p:sldId id="374" r:id="rId60"/>
    <p:sldId id="375" r:id="rId61"/>
    <p:sldId id="377" r:id="rId62"/>
  </p:sldIdLst>
  <p:sldSz cx="9448800" cy="7162800"/>
  <p:notesSz cx="6858000" cy="9144000"/>
  <p:defaultTextStyle>
    <a:defPPr>
      <a:defRPr lang="en-US"/>
    </a:defPPr>
    <a:lvl1pPr marL="0" algn="l" defTabSz="949147" rtl="0" eaLnBrk="1" latinLnBrk="0" hangingPunct="1">
      <a:defRPr sz="1900" kern="1200">
        <a:solidFill>
          <a:schemeClr val="tx1"/>
        </a:solidFill>
        <a:latin typeface="+mn-lt"/>
        <a:ea typeface="+mn-ea"/>
        <a:cs typeface="+mn-cs"/>
      </a:defRPr>
    </a:lvl1pPr>
    <a:lvl2pPr marL="474574" algn="l" defTabSz="949147" rtl="0" eaLnBrk="1" latinLnBrk="0" hangingPunct="1">
      <a:defRPr sz="1900" kern="1200">
        <a:solidFill>
          <a:schemeClr val="tx1"/>
        </a:solidFill>
        <a:latin typeface="+mn-lt"/>
        <a:ea typeface="+mn-ea"/>
        <a:cs typeface="+mn-cs"/>
      </a:defRPr>
    </a:lvl2pPr>
    <a:lvl3pPr marL="949147" algn="l" defTabSz="949147" rtl="0" eaLnBrk="1" latinLnBrk="0" hangingPunct="1">
      <a:defRPr sz="1900" kern="1200">
        <a:solidFill>
          <a:schemeClr val="tx1"/>
        </a:solidFill>
        <a:latin typeface="+mn-lt"/>
        <a:ea typeface="+mn-ea"/>
        <a:cs typeface="+mn-cs"/>
      </a:defRPr>
    </a:lvl3pPr>
    <a:lvl4pPr marL="1423721" algn="l" defTabSz="949147" rtl="0" eaLnBrk="1" latinLnBrk="0" hangingPunct="1">
      <a:defRPr sz="1900" kern="1200">
        <a:solidFill>
          <a:schemeClr val="tx1"/>
        </a:solidFill>
        <a:latin typeface="+mn-lt"/>
        <a:ea typeface="+mn-ea"/>
        <a:cs typeface="+mn-cs"/>
      </a:defRPr>
    </a:lvl4pPr>
    <a:lvl5pPr marL="1898294" algn="l" defTabSz="949147" rtl="0" eaLnBrk="1" latinLnBrk="0" hangingPunct="1">
      <a:defRPr sz="1900" kern="1200">
        <a:solidFill>
          <a:schemeClr val="tx1"/>
        </a:solidFill>
        <a:latin typeface="+mn-lt"/>
        <a:ea typeface="+mn-ea"/>
        <a:cs typeface="+mn-cs"/>
      </a:defRPr>
    </a:lvl5pPr>
    <a:lvl6pPr marL="2372868" algn="l" defTabSz="949147" rtl="0" eaLnBrk="1" latinLnBrk="0" hangingPunct="1">
      <a:defRPr sz="1900" kern="1200">
        <a:solidFill>
          <a:schemeClr val="tx1"/>
        </a:solidFill>
        <a:latin typeface="+mn-lt"/>
        <a:ea typeface="+mn-ea"/>
        <a:cs typeface="+mn-cs"/>
      </a:defRPr>
    </a:lvl6pPr>
    <a:lvl7pPr marL="2847442" algn="l" defTabSz="949147" rtl="0" eaLnBrk="1" latinLnBrk="0" hangingPunct="1">
      <a:defRPr sz="1900" kern="1200">
        <a:solidFill>
          <a:schemeClr val="tx1"/>
        </a:solidFill>
        <a:latin typeface="+mn-lt"/>
        <a:ea typeface="+mn-ea"/>
        <a:cs typeface="+mn-cs"/>
      </a:defRPr>
    </a:lvl7pPr>
    <a:lvl8pPr marL="3322015" algn="l" defTabSz="949147" rtl="0" eaLnBrk="1" latinLnBrk="0" hangingPunct="1">
      <a:defRPr sz="1900" kern="1200">
        <a:solidFill>
          <a:schemeClr val="tx1"/>
        </a:solidFill>
        <a:latin typeface="+mn-lt"/>
        <a:ea typeface="+mn-ea"/>
        <a:cs typeface="+mn-cs"/>
      </a:defRPr>
    </a:lvl8pPr>
    <a:lvl9pPr marL="3796589" algn="l" defTabSz="949147" rtl="0" eaLnBrk="1" latinLnBrk="0" hangingPunct="1">
      <a:defRPr sz="19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56">
          <p15:clr>
            <a:srgbClr val="A4A3A4"/>
          </p15:clr>
        </p15:guide>
        <p15:guide id="2" pos="2976">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3B3B7"/>
    <a:srgbClr val="CCECFF"/>
    <a:srgbClr val="FF99FF"/>
    <a:srgbClr val="385D8A"/>
    <a:srgbClr val="10A085"/>
    <a:srgbClr val="33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C118C87-F254-473E-A717-69C5BBB986BB}" v="2" dt="2024-09-26T12:52:20.05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57" autoAdjust="0"/>
    <p:restoredTop sz="98057" autoAdjust="0"/>
  </p:normalViewPr>
  <p:slideViewPr>
    <p:cSldViewPr>
      <p:cViewPr varScale="1">
        <p:scale>
          <a:sx n="51" d="100"/>
          <a:sy n="51" d="100"/>
        </p:scale>
        <p:origin x="54" y="408"/>
      </p:cViewPr>
      <p:guideLst>
        <p:guide orient="horz" pos="2256"/>
        <p:guide pos="2976"/>
      </p:guideLst>
    </p:cSldViewPr>
  </p:slideViewPr>
  <p:outlineViewPr>
    <p:cViewPr>
      <p:scale>
        <a:sx n="33" d="100"/>
        <a:sy n="33" d="100"/>
      </p:scale>
      <p:origin x="102" y="37782"/>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notesMaster" Target="notesMasters/notesMaster1.xml"/><Relationship Id="rId68"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69" Type="http://schemas.microsoft.com/office/2015/10/relationships/revisionInfo" Target="revisionInfo.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egha Saran" userId="3a8dd59cd3deee75" providerId="LiveId" clId="{CC118C87-F254-473E-A717-69C5BBB986BB}"/>
    <pc:docChg chg="modSld">
      <pc:chgData name="Megha Saran" userId="3a8dd59cd3deee75" providerId="LiveId" clId="{CC118C87-F254-473E-A717-69C5BBB986BB}" dt="2024-09-26T13:05:05.751" v="8" actId="1036"/>
      <pc:docMkLst>
        <pc:docMk/>
      </pc:docMkLst>
      <pc:sldChg chg="modSp mod">
        <pc:chgData name="Megha Saran" userId="3a8dd59cd3deee75" providerId="LiveId" clId="{CC118C87-F254-473E-A717-69C5BBB986BB}" dt="2024-09-26T12:33:14.954" v="1" actId="1036"/>
        <pc:sldMkLst>
          <pc:docMk/>
          <pc:sldMk cId="2635923799" sldId="264"/>
        </pc:sldMkLst>
        <pc:picChg chg="mod">
          <ac:chgData name="Megha Saran" userId="3a8dd59cd3deee75" providerId="LiveId" clId="{CC118C87-F254-473E-A717-69C5BBB986BB}" dt="2024-09-26T12:33:14.954" v="1" actId="1036"/>
          <ac:picMkLst>
            <pc:docMk/>
            <pc:sldMk cId="2635923799" sldId="264"/>
            <ac:picMk id="4" creationId="{00000000-0000-0000-0000-000000000000}"/>
          </ac:picMkLst>
        </pc:picChg>
      </pc:sldChg>
      <pc:sldChg chg="modSp mod">
        <pc:chgData name="Megha Saran" userId="3a8dd59cd3deee75" providerId="LiveId" clId="{CC118C87-F254-473E-A717-69C5BBB986BB}" dt="2024-09-26T12:42:33.532" v="3" actId="1035"/>
        <pc:sldMkLst>
          <pc:docMk/>
          <pc:sldMk cId="1887159214" sldId="283"/>
        </pc:sldMkLst>
        <pc:picChg chg="mod">
          <ac:chgData name="Megha Saran" userId="3a8dd59cd3deee75" providerId="LiveId" clId="{CC118C87-F254-473E-A717-69C5BBB986BB}" dt="2024-09-26T12:42:33.532" v="3" actId="1035"/>
          <ac:picMkLst>
            <pc:docMk/>
            <pc:sldMk cId="1887159214" sldId="283"/>
            <ac:picMk id="4" creationId="{00000000-0000-0000-0000-000000000000}"/>
          </ac:picMkLst>
        </pc:picChg>
      </pc:sldChg>
      <pc:sldChg chg="addSp modSp">
        <pc:chgData name="Megha Saran" userId="3a8dd59cd3deee75" providerId="LiveId" clId="{CC118C87-F254-473E-A717-69C5BBB986BB}" dt="2024-09-26T12:52:20.056" v="6"/>
        <pc:sldMkLst>
          <pc:docMk/>
          <pc:sldMk cId="2073610135" sldId="291"/>
        </pc:sldMkLst>
        <pc:picChg chg="add mod">
          <ac:chgData name="Megha Saran" userId="3a8dd59cd3deee75" providerId="LiveId" clId="{CC118C87-F254-473E-A717-69C5BBB986BB}" dt="2024-09-26T12:52:20.056" v="6"/>
          <ac:picMkLst>
            <pc:docMk/>
            <pc:sldMk cId="2073610135" sldId="291"/>
            <ac:picMk id="3" creationId="{021D2F82-1739-AFA0-05DE-487DBC928E63}"/>
          </ac:picMkLst>
        </pc:picChg>
      </pc:sldChg>
      <pc:sldChg chg="modSp mod">
        <pc:chgData name="Megha Saran" userId="3a8dd59cd3deee75" providerId="LiveId" clId="{CC118C87-F254-473E-A717-69C5BBB986BB}" dt="2024-09-26T13:05:05.751" v="8" actId="1036"/>
        <pc:sldMkLst>
          <pc:docMk/>
          <pc:sldMk cId="1011119226" sldId="303"/>
        </pc:sldMkLst>
        <pc:picChg chg="mod">
          <ac:chgData name="Megha Saran" userId="3a8dd59cd3deee75" providerId="LiveId" clId="{CC118C87-F254-473E-A717-69C5BBB986BB}" dt="2024-09-26T13:05:05.751" v="8" actId="1036"/>
          <ac:picMkLst>
            <pc:docMk/>
            <pc:sldMk cId="1011119226" sldId="303"/>
            <ac:picMk id="5" creationId="{00000000-0000-0000-0000-000000000000}"/>
          </ac:picMkLst>
        </pc:picChg>
      </pc:sldChg>
      <pc:sldChg chg="modSp mod">
        <pc:chgData name="Megha Saran" userId="3a8dd59cd3deee75" providerId="LiveId" clId="{CC118C87-F254-473E-A717-69C5BBB986BB}" dt="2024-09-26T12:45:12.726" v="4" actId="1035"/>
        <pc:sldMkLst>
          <pc:docMk/>
          <pc:sldMk cId="1877227819" sldId="306"/>
        </pc:sldMkLst>
        <pc:picChg chg="mod">
          <ac:chgData name="Megha Saran" userId="3a8dd59cd3deee75" providerId="LiveId" clId="{CC118C87-F254-473E-A717-69C5BBB986BB}" dt="2024-09-26T12:45:12.726" v="4" actId="1035"/>
          <ac:picMkLst>
            <pc:docMk/>
            <pc:sldMk cId="1877227819" sldId="306"/>
            <ac:picMk id="7" creationId="{00000000-0000-0000-0000-00000000000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34736E6-28FF-44FD-AE6B-A75BDEEECD73}" type="datetimeFigureOut">
              <a:rPr lang="en-US" smtClean="0"/>
              <a:t>9/26/2024</a:t>
            </a:fld>
            <a:endParaRPr lang="en-US"/>
          </a:p>
        </p:txBody>
      </p:sp>
      <p:sp>
        <p:nvSpPr>
          <p:cNvPr id="4" name="Slide Image Placeholder 3"/>
          <p:cNvSpPr>
            <a:spLocks noGrp="1" noRot="1" noChangeAspect="1"/>
          </p:cNvSpPr>
          <p:nvPr>
            <p:ph type="sldImg" idx="2"/>
          </p:nvPr>
        </p:nvSpPr>
        <p:spPr>
          <a:xfrm>
            <a:off x="1166813" y="685800"/>
            <a:ext cx="4524375"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E3B4F46-C2F4-4468-8BEA-D7E1D5904F09}" type="slidenum">
              <a:rPr lang="en-US" smtClean="0"/>
              <a:t>‹#›</a:t>
            </a:fld>
            <a:endParaRPr lang="en-US"/>
          </a:p>
        </p:txBody>
      </p:sp>
    </p:spTree>
    <p:extLst>
      <p:ext uri="{BB962C8B-B14F-4D97-AF65-F5344CB8AC3E}">
        <p14:creationId xmlns:p14="http://schemas.microsoft.com/office/powerpoint/2010/main" val="344601814"/>
      </p:ext>
    </p:extLst>
  </p:cSld>
  <p:clrMap bg1="lt1" tx1="dk1" bg2="lt2" tx2="dk2" accent1="accent1" accent2="accent2" accent3="accent3" accent4="accent4" accent5="accent5" accent6="accent6" hlink="hlink" folHlink="folHlink"/>
  <p:notesStyle>
    <a:lvl1pPr marL="0" algn="l" defTabSz="949147" rtl="0" eaLnBrk="1" latinLnBrk="0" hangingPunct="1">
      <a:defRPr sz="1200" kern="1200">
        <a:solidFill>
          <a:schemeClr val="tx1"/>
        </a:solidFill>
        <a:latin typeface="+mn-lt"/>
        <a:ea typeface="+mn-ea"/>
        <a:cs typeface="+mn-cs"/>
      </a:defRPr>
    </a:lvl1pPr>
    <a:lvl2pPr marL="474574" algn="l" defTabSz="949147" rtl="0" eaLnBrk="1" latinLnBrk="0" hangingPunct="1">
      <a:defRPr sz="1200" kern="1200">
        <a:solidFill>
          <a:schemeClr val="tx1"/>
        </a:solidFill>
        <a:latin typeface="+mn-lt"/>
        <a:ea typeface="+mn-ea"/>
        <a:cs typeface="+mn-cs"/>
      </a:defRPr>
    </a:lvl2pPr>
    <a:lvl3pPr marL="949147" algn="l" defTabSz="949147" rtl="0" eaLnBrk="1" latinLnBrk="0" hangingPunct="1">
      <a:defRPr sz="1200" kern="1200">
        <a:solidFill>
          <a:schemeClr val="tx1"/>
        </a:solidFill>
        <a:latin typeface="+mn-lt"/>
        <a:ea typeface="+mn-ea"/>
        <a:cs typeface="+mn-cs"/>
      </a:defRPr>
    </a:lvl3pPr>
    <a:lvl4pPr marL="1423721" algn="l" defTabSz="949147" rtl="0" eaLnBrk="1" latinLnBrk="0" hangingPunct="1">
      <a:defRPr sz="1200" kern="1200">
        <a:solidFill>
          <a:schemeClr val="tx1"/>
        </a:solidFill>
        <a:latin typeface="+mn-lt"/>
        <a:ea typeface="+mn-ea"/>
        <a:cs typeface="+mn-cs"/>
      </a:defRPr>
    </a:lvl4pPr>
    <a:lvl5pPr marL="1898294" algn="l" defTabSz="949147" rtl="0" eaLnBrk="1" latinLnBrk="0" hangingPunct="1">
      <a:defRPr sz="1200" kern="1200">
        <a:solidFill>
          <a:schemeClr val="tx1"/>
        </a:solidFill>
        <a:latin typeface="+mn-lt"/>
        <a:ea typeface="+mn-ea"/>
        <a:cs typeface="+mn-cs"/>
      </a:defRPr>
    </a:lvl5pPr>
    <a:lvl6pPr marL="2372868" algn="l" defTabSz="949147" rtl="0" eaLnBrk="1" latinLnBrk="0" hangingPunct="1">
      <a:defRPr sz="1200" kern="1200">
        <a:solidFill>
          <a:schemeClr val="tx1"/>
        </a:solidFill>
        <a:latin typeface="+mn-lt"/>
        <a:ea typeface="+mn-ea"/>
        <a:cs typeface="+mn-cs"/>
      </a:defRPr>
    </a:lvl6pPr>
    <a:lvl7pPr marL="2847442" algn="l" defTabSz="949147" rtl="0" eaLnBrk="1" latinLnBrk="0" hangingPunct="1">
      <a:defRPr sz="1200" kern="1200">
        <a:solidFill>
          <a:schemeClr val="tx1"/>
        </a:solidFill>
        <a:latin typeface="+mn-lt"/>
        <a:ea typeface="+mn-ea"/>
        <a:cs typeface="+mn-cs"/>
      </a:defRPr>
    </a:lvl7pPr>
    <a:lvl8pPr marL="3322015" algn="l" defTabSz="949147" rtl="0" eaLnBrk="1" latinLnBrk="0" hangingPunct="1">
      <a:defRPr sz="1200" kern="1200">
        <a:solidFill>
          <a:schemeClr val="tx1"/>
        </a:solidFill>
        <a:latin typeface="+mn-lt"/>
        <a:ea typeface="+mn-ea"/>
        <a:cs typeface="+mn-cs"/>
      </a:defRPr>
    </a:lvl8pPr>
    <a:lvl9pPr marL="3796589" algn="l" defTabSz="949147"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685800"/>
            <a:ext cx="4524375"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E3B4F46-C2F4-4468-8BEA-D7E1D5904F09}" type="slidenum">
              <a:rPr lang="en-US" smtClean="0"/>
              <a:t>10</a:t>
            </a:fld>
            <a:endParaRPr lang="en-US"/>
          </a:p>
        </p:txBody>
      </p:sp>
    </p:spTree>
    <p:extLst>
      <p:ext uri="{BB962C8B-B14F-4D97-AF65-F5344CB8AC3E}">
        <p14:creationId xmlns:p14="http://schemas.microsoft.com/office/powerpoint/2010/main" val="2834797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685800"/>
            <a:ext cx="4524375" cy="3429000"/>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5235CCC-B2AF-4869-AD3D-9275913DC7B0}" type="slidenum">
              <a:rPr lang="en-IN" smtClean="0"/>
              <a:t>51</a:t>
            </a:fld>
            <a:endParaRPr lang="en-IN"/>
          </a:p>
        </p:txBody>
      </p:sp>
    </p:spTree>
    <p:extLst>
      <p:ext uri="{BB962C8B-B14F-4D97-AF65-F5344CB8AC3E}">
        <p14:creationId xmlns:p14="http://schemas.microsoft.com/office/powerpoint/2010/main" val="25093655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685800"/>
            <a:ext cx="4524375" cy="3429000"/>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5235CCC-B2AF-4869-AD3D-9275913DC7B0}" type="slidenum">
              <a:rPr lang="en-IN" smtClean="0"/>
              <a:t>52</a:t>
            </a:fld>
            <a:endParaRPr lang="en-IN"/>
          </a:p>
        </p:txBody>
      </p:sp>
    </p:spTree>
    <p:extLst>
      <p:ext uri="{BB962C8B-B14F-4D97-AF65-F5344CB8AC3E}">
        <p14:creationId xmlns:p14="http://schemas.microsoft.com/office/powerpoint/2010/main" val="38960598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685800"/>
            <a:ext cx="4524375" cy="3429000"/>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5235CCC-B2AF-4869-AD3D-9275913DC7B0}" type="slidenum">
              <a:rPr lang="en-IN" smtClean="0"/>
              <a:t>53</a:t>
            </a:fld>
            <a:endParaRPr lang="en-IN"/>
          </a:p>
        </p:txBody>
      </p:sp>
    </p:spTree>
    <p:extLst>
      <p:ext uri="{BB962C8B-B14F-4D97-AF65-F5344CB8AC3E}">
        <p14:creationId xmlns:p14="http://schemas.microsoft.com/office/powerpoint/2010/main" val="27724190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685800"/>
            <a:ext cx="4524375" cy="3429000"/>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5235CCC-B2AF-4869-AD3D-9275913DC7B0}" type="slidenum">
              <a:rPr lang="en-IN" smtClean="0"/>
              <a:t>54</a:t>
            </a:fld>
            <a:endParaRPr lang="en-IN"/>
          </a:p>
        </p:txBody>
      </p:sp>
    </p:spTree>
    <p:extLst>
      <p:ext uri="{BB962C8B-B14F-4D97-AF65-F5344CB8AC3E}">
        <p14:creationId xmlns:p14="http://schemas.microsoft.com/office/powerpoint/2010/main" val="15670389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685800"/>
            <a:ext cx="4524375" cy="3429000"/>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5235CCC-B2AF-4869-AD3D-9275913DC7B0}" type="slidenum">
              <a:rPr lang="en-IN" smtClean="0"/>
              <a:t>55</a:t>
            </a:fld>
            <a:endParaRPr lang="en-IN"/>
          </a:p>
        </p:txBody>
      </p:sp>
    </p:spTree>
    <p:extLst>
      <p:ext uri="{BB962C8B-B14F-4D97-AF65-F5344CB8AC3E}">
        <p14:creationId xmlns:p14="http://schemas.microsoft.com/office/powerpoint/2010/main" val="3584513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685800"/>
            <a:ext cx="4524375" cy="3429000"/>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5235CCC-B2AF-4869-AD3D-9275913DC7B0}" type="slidenum">
              <a:rPr lang="en-IN" smtClean="0"/>
              <a:t>59</a:t>
            </a:fld>
            <a:endParaRPr lang="en-IN"/>
          </a:p>
        </p:txBody>
      </p:sp>
    </p:spTree>
    <p:extLst>
      <p:ext uri="{BB962C8B-B14F-4D97-AF65-F5344CB8AC3E}">
        <p14:creationId xmlns:p14="http://schemas.microsoft.com/office/powerpoint/2010/main" val="42628428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685800"/>
            <a:ext cx="4524375" cy="3429000"/>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5235CCC-B2AF-4869-AD3D-9275913DC7B0}" type="slidenum">
              <a:rPr lang="en-IN" smtClean="0"/>
              <a:t>60</a:t>
            </a:fld>
            <a:endParaRPr lang="en-IN"/>
          </a:p>
        </p:txBody>
      </p:sp>
    </p:spTree>
    <p:extLst>
      <p:ext uri="{BB962C8B-B14F-4D97-AF65-F5344CB8AC3E}">
        <p14:creationId xmlns:p14="http://schemas.microsoft.com/office/powerpoint/2010/main" val="26333334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08660" y="2225111"/>
            <a:ext cx="8031480" cy="1535359"/>
          </a:xfrm>
        </p:spPr>
        <p:txBody>
          <a:bodyPr/>
          <a:lstStyle/>
          <a:p>
            <a:r>
              <a:rPr lang="en-US"/>
              <a:t>Click to edit Master title style</a:t>
            </a:r>
          </a:p>
        </p:txBody>
      </p:sp>
      <p:sp>
        <p:nvSpPr>
          <p:cNvPr id="3" name="Subtitle 2"/>
          <p:cNvSpPr>
            <a:spLocks noGrp="1"/>
          </p:cNvSpPr>
          <p:nvPr>
            <p:ph type="subTitle" idx="1"/>
          </p:nvPr>
        </p:nvSpPr>
        <p:spPr>
          <a:xfrm>
            <a:off x="1417320" y="4058920"/>
            <a:ext cx="6614160" cy="1830493"/>
          </a:xfrm>
        </p:spPr>
        <p:txBody>
          <a:bodyPr/>
          <a:lstStyle>
            <a:lvl1pPr marL="0" indent="0" algn="ctr">
              <a:buNone/>
              <a:defRPr>
                <a:solidFill>
                  <a:schemeClr val="tx1">
                    <a:tint val="75000"/>
                  </a:schemeClr>
                </a:solidFill>
              </a:defRPr>
            </a:lvl1pPr>
            <a:lvl2pPr marL="474574" indent="0" algn="ctr">
              <a:buNone/>
              <a:defRPr>
                <a:solidFill>
                  <a:schemeClr val="tx1">
                    <a:tint val="75000"/>
                  </a:schemeClr>
                </a:solidFill>
              </a:defRPr>
            </a:lvl2pPr>
            <a:lvl3pPr marL="949147" indent="0" algn="ctr">
              <a:buNone/>
              <a:defRPr>
                <a:solidFill>
                  <a:schemeClr val="tx1">
                    <a:tint val="75000"/>
                  </a:schemeClr>
                </a:solidFill>
              </a:defRPr>
            </a:lvl3pPr>
            <a:lvl4pPr marL="1423721" indent="0" algn="ctr">
              <a:buNone/>
              <a:defRPr>
                <a:solidFill>
                  <a:schemeClr val="tx1">
                    <a:tint val="75000"/>
                  </a:schemeClr>
                </a:solidFill>
              </a:defRPr>
            </a:lvl4pPr>
            <a:lvl5pPr marL="1898294" indent="0" algn="ctr">
              <a:buNone/>
              <a:defRPr>
                <a:solidFill>
                  <a:schemeClr val="tx1">
                    <a:tint val="75000"/>
                  </a:schemeClr>
                </a:solidFill>
              </a:defRPr>
            </a:lvl5pPr>
            <a:lvl6pPr marL="2372868" indent="0" algn="ctr">
              <a:buNone/>
              <a:defRPr>
                <a:solidFill>
                  <a:schemeClr val="tx1">
                    <a:tint val="75000"/>
                  </a:schemeClr>
                </a:solidFill>
              </a:defRPr>
            </a:lvl6pPr>
            <a:lvl7pPr marL="2847442" indent="0" algn="ctr">
              <a:buNone/>
              <a:defRPr>
                <a:solidFill>
                  <a:schemeClr val="tx1">
                    <a:tint val="75000"/>
                  </a:schemeClr>
                </a:solidFill>
              </a:defRPr>
            </a:lvl7pPr>
            <a:lvl8pPr marL="3322015" indent="0" algn="ctr">
              <a:buNone/>
              <a:defRPr>
                <a:solidFill>
                  <a:schemeClr val="tx1">
                    <a:tint val="75000"/>
                  </a:schemeClr>
                </a:solidFill>
              </a:defRPr>
            </a:lvl8pPr>
            <a:lvl9pPr marL="3796589"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199142C-F8E6-45CF-9E25-8776AE51742C}" type="datetimeFigureOut">
              <a:rPr lang="en-US" smtClean="0"/>
              <a:t>9/26/2024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90C89F5-BA13-43F8-B4B9-ECD60967871F}" type="slidenum">
              <a:rPr lang="en-US" smtClean="0"/>
              <a:t>‹#›</a:t>
            </a:fld>
            <a:endParaRPr lang="en-US"/>
          </a:p>
        </p:txBody>
      </p:sp>
    </p:spTree>
    <p:extLst>
      <p:ext uri="{BB962C8B-B14F-4D97-AF65-F5344CB8AC3E}">
        <p14:creationId xmlns:p14="http://schemas.microsoft.com/office/powerpoint/2010/main" val="37774546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199142C-F8E6-45CF-9E25-8776AE51742C}" type="datetimeFigureOut">
              <a:rPr lang="en-US" smtClean="0"/>
              <a:t>9/26/2024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90C89F5-BA13-43F8-B4B9-ECD60967871F}" type="slidenum">
              <a:rPr lang="en-US" smtClean="0"/>
              <a:t>‹#›</a:t>
            </a:fld>
            <a:endParaRPr lang="en-US"/>
          </a:p>
        </p:txBody>
      </p:sp>
    </p:spTree>
    <p:extLst>
      <p:ext uri="{BB962C8B-B14F-4D97-AF65-F5344CB8AC3E}">
        <p14:creationId xmlns:p14="http://schemas.microsoft.com/office/powerpoint/2010/main" val="14682447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46390" y="4602763"/>
            <a:ext cx="8031480" cy="1422612"/>
          </a:xfrm>
        </p:spPr>
        <p:txBody>
          <a:bodyPr anchor="t"/>
          <a:lstStyle>
            <a:lvl1pPr algn="l">
              <a:defRPr sz="4200" b="1" cap="all"/>
            </a:lvl1pPr>
          </a:lstStyle>
          <a:p>
            <a:r>
              <a:rPr lang="en-US"/>
              <a:t>Click to edit Master title style</a:t>
            </a:r>
          </a:p>
        </p:txBody>
      </p:sp>
      <p:sp>
        <p:nvSpPr>
          <p:cNvPr id="3" name="Text Placeholder 2"/>
          <p:cNvSpPr>
            <a:spLocks noGrp="1"/>
          </p:cNvSpPr>
          <p:nvPr>
            <p:ph type="body" idx="1"/>
          </p:nvPr>
        </p:nvSpPr>
        <p:spPr>
          <a:xfrm>
            <a:off x="746390" y="3035901"/>
            <a:ext cx="8031480" cy="1566862"/>
          </a:xfrm>
        </p:spPr>
        <p:txBody>
          <a:bodyPr anchor="b"/>
          <a:lstStyle>
            <a:lvl1pPr marL="0" indent="0">
              <a:buNone/>
              <a:defRPr sz="2100">
                <a:solidFill>
                  <a:schemeClr val="tx1">
                    <a:tint val="75000"/>
                  </a:schemeClr>
                </a:solidFill>
              </a:defRPr>
            </a:lvl1pPr>
            <a:lvl2pPr marL="474574" indent="0">
              <a:buNone/>
              <a:defRPr sz="1900">
                <a:solidFill>
                  <a:schemeClr val="tx1">
                    <a:tint val="75000"/>
                  </a:schemeClr>
                </a:solidFill>
              </a:defRPr>
            </a:lvl2pPr>
            <a:lvl3pPr marL="949147" indent="0">
              <a:buNone/>
              <a:defRPr sz="1700">
                <a:solidFill>
                  <a:schemeClr val="tx1">
                    <a:tint val="75000"/>
                  </a:schemeClr>
                </a:solidFill>
              </a:defRPr>
            </a:lvl3pPr>
            <a:lvl4pPr marL="1423721" indent="0">
              <a:buNone/>
              <a:defRPr sz="1500">
                <a:solidFill>
                  <a:schemeClr val="tx1">
                    <a:tint val="75000"/>
                  </a:schemeClr>
                </a:solidFill>
              </a:defRPr>
            </a:lvl4pPr>
            <a:lvl5pPr marL="1898294" indent="0">
              <a:buNone/>
              <a:defRPr sz="1500">
                <a:solidFill>
                  <a:schemeClr val="tx1">
                    <a:tint val="75000"/>
                  </a:schemeClr>
                </a:solidFill>
              </a:defRPr>
            </a:lvl5pPr>
            <a:lvl6pPr marL="2372868" indent="0">
              <a:buNone/>
              <a:defRPr sz="1500">
                <a:solidFill>
                  <a:schemeClr val="tx1">
                    <a:tint val="75000"/>
                  </a:schemeClr>
                </a:solidFill>
              </a:defRPr>
            </a:lvl6pPr>
            <a:lvl7pPr marL="2847442" indent="0">
              <a:buNone/>
              <a:defRPr sz="1500">
                <a:solidFill>
                  <a:schemeClr val="tx1">
                    <a:tint val="75000"/>
                  </a:schemeClr>
                </a:solidFill>
              </a:defRPr>
            </a:lvl7pPr>
            <a:lvl8pPr marL="3322015" indent="0">
              <a:buNone/>
              <a:defRPr sz="1500">
                <a:solidFill>
                  <a:schemeClr val="tx1">
                    <a:tint val="75000"/>
                  </a:schemeClr>
                </a:solidFill>
              </a:defRPr>
            </a:lvl8pPr>
            <a:lvl9pPr marL="3796589" indent="0">
              <a:buNone/>
              <a:defRPr sz="15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199142C-F8E6-45CF-9E25-8776AE51742C}" type="datetimeFigureOut">
              <a:rPr lang="en-US" smtClean="0"/>
              <a:t>9/26/2024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90C89F5-BA13-43F8-B4B9-ECD60967871F}" type="slidenum">
              <a:rPr lang="en-US" smtClean="0"/>
              <a:t>‹#›</a:t>
            </a:fld>
            <a:endParaRPr lang="en-US"/>
          </a:p>
        </p:txBody>
      </p:sp>
    </p:spTree>
    <p:extLst>
      <p:ext uri="{BB962C8B-B14F-4D97-AF65-F5344CB8AC3E}">
        <p14:creationId xmlns:p14="http://schemas.microsoft.com/office/powerpoint/2010/main" val="28916233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72440" y="1671320"/>
            <a:ext cx="4173220" cy="4727117"/>
          </a:xfrm>
        </p:spPr>
        <p:txBody>
          <a:bodyPr/>
          <a:lstStyle>
            <a:lvl1pPr>
              <a:defRPr sz="2900"/>
            </a:lvl1pPr>
            <a:lvl2pPr>
              <a:defRPr sz="2500"/>
            </a:lvl2pPr>
            <a:lvl3pPr>
              <a:defRPr sz="2100"/>
            </a:lvl3pPr>
            <a:lvl4pPr>
              <a:defRPr sz="1900"/>
            </a:lvl4pPr>
            <a:lvl5pPr>
              <a:defRPr sz="1900"/>
            </a:lvl5pPr>
            <a:lvl6pPr>
              <a:defRPr sz="1900"/>
            </a:lvl6pPr>
            <a:lvl7pPr>
              <a:defRPr sz="1900"/>
            </a:lvl7pPr>
            <a:lvl8pPr>
              <a:defRPr sz="1900"/>
            </a:lvl8pPr>
            <a:lvl9pPr>
              <a:defRPr sz="1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803140" y="1671320"/>
            <a:ext cx="4173220" cy="4727117"/>
          </a:xfrm>
        </p:spPr>
        <p:txBody>
          <a:bodyPr/>
          <a:lstStyle>
            <a:lvl1pPr>
              <a:defRPr sz="2900"/>
            </a:lvl1pPr>
            <a:lvl2pPr>
              <a:defRPr sz="2500"/>
            </a:lvl2pPr>
            <a:lvl3pPr>
              <a:defRPr sz="2100"/>
            </a:lvl3pPr>
            <a:lvl4pPr>
              <a:defRPr sz="1900"/>
            </a:lvl4pPr>
            <a:lvl5pPr>
              <a:defRPr sz="1900"/>
            </a:lvl5pPr>
            <a:lvl6pPr>
              <a:defRPr sz="1900"/>
            </a:lvl6pPr>
            <a:lvl7pPr>
              <a:defRPr sz="1900"/>
            </a:lvl7pPr>
            <a:lvl8pPr>
              <a:defRPr sz="1900"/>
            </a:lvl8pPr>
            <a:lvl9pPr>
              <a:defRPr sz="1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199142C-F8E6-45CF-9E25-8776AE51742C}" type="datetimeFigureOut">
              <a:rPr lang="en-US" smtClean="0"/>
              <a:t>9/26/2024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90C89F5-BA13-43F8-B4B9-ECD60967871F}" type="slidenum">
              <a:rPr lang="en-US" smtClean="0"/>
              <a:t>‹#›</a:t>
            </a:fld>
            <a:endParaRPr lang="en-US"/>
          </a:p>
        </p:txBody>
      </p:sp>
    </p:spTree>
    <p:extLst>
      <p:ext uri="{BB962C8B-B14F-4D97-AF65-F5344CB8AC3E}">
        <p14:creationId xmlns:p14="http://schemas.microsoft.com/office/powerpoint/2010/main" val="21205661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72440" y="1603340"/>
            <a:ext cx="4174861" cy="668196"/>
          </a:xfrm>
        </p:spPr>
        <p:txBody>
          <a:bodyPr anchor="b"/>
          <a:lstStyle>
            <a:lvl1pPr marL="0" indent="0">
              <a:buNone/>
              <a:defRPr sz="2500" b="1"/>
            </a:lvl1pPr>
            <a:lvl2pPr marL="474574" indent="0">
              <a:buNone/>
              <a:defRPr sz="2100" b="1"/>
            </a:lvl2pPr>
            <a:lvl3pPr marL="949147" indent="0">
              <a:buNone/>
              <a:defRPr sz="1900" b="1"/>
            </a:lvl3pPr>
            <a:lvl4pPr marL="1423721" indent="0">
              <a:buNone/>
              <a:defRPr sz="1700" b="1"/>
            </a:lvl4pPr>
            <a:lvl5pPr marL="1898294" indent="0">
              <a:buNone/>
              <a:defRPr sz="1700" b="1"/>
            </a:lvl5pPr>
            <a:lvl6pPr marL="2372868" indent="0">
              <a:buNone/>
              <a:defRPr sz="1700" b="1"/>
            </a:lvl6pPr>
            <a:lvl7pPr marL="2847442" indent="0">
              <a:buNone/>
              <a:defRPr sz="1700" b="1"/>
            </a:lvl7pPr>
            <a:lvl8pPr marL="3322015" indent="0">
              <a:buNone/>
              <a:defRPr sz="1700" b="1"/>
            </a:lvl8pPr>
            <a:lvl9pPr marL="3796589" indent="0">
              <a:buNone/>
              <a:defRPr sz="1700" b="1"/>
            </a:lvl9pPr>
          </a:lstStyle>
          <a:p>
            <a:pPr lvl="0"/>
            <a:r>
              <a:rPr lang="en-US"/>
              <a:t>Click to edit Master text styles</a:t>
            </a:r>
          </a:p>
        </p:txBody>
      </p:sp>
      <p:sp>
        <p:nvSpPr>
          <p:cNvPr id="4" name="Content Placeholder 3"/>
          <p:cNvSpPr>
            <a:spLocks noGrp="1"/>
          </p:cNvSpPr>
          <p:nvPr>
            <p:ph sz="half" idx="2"/>
          </p:nvPr>
        </p:nvSpPr>
        <p:spPr>
          <a:xfrm>
            <a:off x="472440" y="2271536"/>
            <a:ext cx="4174861" cy="4126901"/>
          </a:xfrm>
        </p:spPr>
        <p:txBody>
          <a:bodyPr/>
          <a:lstStyle>
            <a:lvl1pPr>
              <a:defRPr sz="2500"/>
            </a:lvl1pPr>
            <a:lvl2pPr>
              <a:defRPr sz="2100"/>
            </a:lvl2pPr>
            <a:lvl3pPr>
              <a:defRPr sz="1900"/>
            </a:lvl3pPr>
            <a:lvl4pPr>
              <a:defRPr sz="1700"/>
            </a:lvl4pPr>
            <a:lvl5pPr>
              <a:defRPr sz="1700"/>
            </a:lvl5pPr>
            <a:lvl6pPr>
              <a:defRPr sz="1700"/>
            </a:lvl6pPr>
            <a:lvl7pPr>
              <a:defRPr sz="1700"/>
            </a:lvl7pPr>
            <a:lvl8pPr>
              <a:defRPr sz="1700"/>
            </a:lvl8pPr>
            <a:lvl9pPr>
              <a:defRPr sz="17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799860" y="1603340"/>
            <a:ext cx="4176501" cy="668196"/>
          </a:xfrm>
        </p:spPr>
        <p:txBody>
          <a:bodyPr anchor="b"/>
          <a:lstStyle>
            <a:lvl1pPr marL="0" indent="0">
              <a:buNone/>
              <a:defRPr sz="2500" b="1"/>
            </a:lvl1pPr>
            <a:lvl2pPr marL="474574" indent="0">
              <a:buNone/>
              <a:defRPr sz="2100" b="1"/>
            </a:lvl2pPr>
            <a:lvl3pPr marL="949147" indent="0">
              <a:buNone/>
              <a:defRPr sz="1900" b="1"/>
            </a:lvl3pPr>
            <a:lvl4pPr marL="1423721" indent="0">
              <a:buNone/>
              <a:defRPr sz="1700" b="1"/>
            </a:lvl4pPr>
            <a:lvl5pPr marL="1898294" indent="0">
              <a:buNone/>
              <a:defRPr sz="1700" b="1"/>
            </a:lvl5pPr>
            <a:lvl6pPr marL="2372868" indent="0">
              <a:buNone/>
              <a:defRPr sz="1700" b="1"/>
            </a:lvl6pPr>
            <a:lvl7pPr marL="2847442" indent="0">
              <a:buNone/>
              <a:defRPr sz="1700" b="1"/>
            </a:lvl7pPr>
            <a:lvl8pPr marL="3322015" indent="0">
              <a:buNone/>
              <a:defRPr sz="1700" b="1"/>
            </a:lvl8pPr>
            <a:lvl9pPr marL="3796589" indent="0">
              <a:buNone/>
              <a:defRPr sz="1700" b="1"/>
            </a:lvl9pPr>
          </a:lstStyle>
          <a:p>
            <a:pPr lvl="0"/>
            <a:r>
              <a:rPr lang="en-US"/>
              <a:t>Click to edit Master text styles</a:t>
            </a:r>
          </a:p>
        </p:txBody>
      </p:sp>
      <p:sp>
        <p:nvSpPr>
          <p:cNvPr id="6" name="Content Placeholder 5"/>
          <p:cNvSpPr>
            <a:spLocks noGrp="1"/>
          </p:cNvSpPr>
          <p:nvPr>
            <p:ph sz="quarter" idx="4"/>
          </p:nvPr>
        </p:nvSpPr>
        <p:spPr>
          <a:xfrm>
            <a:off x="4799860" y="2271536"/>
            <a:ext cx="4176501" cy="4126901"/>
          </a:xfrm>
        </p:spPr>
        <p:txBody>
          <a:bodyPr/>
          <a:lstStyle>
            <a:lvl1pPr>
              <a:defRPr sz="2500"/>
            </a:lvl1pPr>
            <a:lvl2pPr>
              <a:defRPr sz="2100"/>
            </a:lvl2pPr>
            <a:lvl3pPr>
              <a:defRPr sz="1900"/>
            </a:lvl3pPr>
            <a:lvl4pPr>
              <a:defRPr sz="1700"/>
            </a:lvl4pPr>
            <a:lvl5pPr>
              <a:defRPr sz="1700"/>
            </a:lvl5pPr>
            <a:lvl6pPr>
              <a:defRPr sz="1700"/>
            </a:lvl6pPr>
            <a:lvl7pPr>
              <a:defRPr sz="1700"/>
            </a:lvl7pPr>
            <a:lvl8pPr>
              <a:defRPr sz="1700"/>
            </a:lvl8pPr>
            <a:lvl9pPr>
              <a:defRPr sz="17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199142C-F8E6-45CF-9E25-8776AE51742C}" type="datetimeFigureOut">
              <a:rPr lang="en-US" smtClean="0"/>
              <a:t>9/26/2024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90C89F5-BA13-43F8-B4B9-ECD60967871F}" type="slidenum">
              <a:rPr lang="en-US" smtClean="0"/>
              <a:t>‹#›</a:t>
            </a:fld>
            <a:endParaRPr lang="en-US"/>
          </a:p>
        </p:txBody>
      </p:sp>
    </p:spTree>
    <p:extLst>
      <p:ext uri="{BB962C8B-B14F-4D97-AF65-F5344CB8AC3E}">
        <p14:creationId xmlns:p14="http://schemas.microsoft.com/office/powerpoint/2010/main" val="31424560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199142C-F8E6-45CF-9E25-8776AE51742C}" type="datetimeFigureOut">
              <a:rPr lang="en-US" smtClean="0"/>
              <a:t>9/26/2024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90C89F5-BA13-43F8-B4B9-ECD60967871F}" type="slidenum">
              <a:rPr lang="en-US" smtClean="0"/>
              <a:t>‹#›</a:t>
            </a:fld>
            <a:endParaRPr lang="en-US"/>
          </a:p>
        </p:txBody>
      </p:sp>
    </p:spTree>
    <p:extLst>
      <p:ext uri="{BB962C8B-B14F-4D97-AF65-F5344CB8AC3E}">
        <p14:creationId xmlns:p14="http://schemas.microsoft.com/office/powerpoint/2010/main" val="35168760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199142C-F8E6-45CF-9E25-8776AE51742C}" type="datetimeFigureOut">
              <a:rPr lang="en-US" smtClean="0"/>
              <a:t>9/26/2024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90C89F5-BA13-43F8-B4B9-ECD60967871F}" type="slidenum">
              <a:rPr lang="en-US" smtClean="0"/>
              <a:t>‹#›</a:t>
            </a:fld>
            <a:endParaRPr lang="en-US"/>
          </a:p>
        </p:txBody>
      </p:sp>
    </p:spTree>
    <p:extLst>
      <p:ext uri="{BB962C8B-B14F-4D97-AF65-F5344CB8AC3E}">
        <p14:creationId xmlns:p14="http://schemas.microsoft.com/office/powerpoint/2010/main" val="21869857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441" y="285185"/>
            <a:ext cx="3108590" cy="1213697"/>
          </a:xfrm>
        </p:spPr>
        <p:txBody>
          <a:bodyPr anchor="b"/>
          <a:lstStyle>
            <a:lvl1pPr algn="l">
              <a:defRPr sz="2100" b="1"/>
            </a:lvl1pPr>
          </a:lstStyle>
          <a:p>
            <a:r>
              <a:rPr lang="en-US"/>
              <a:t>Click to edit Master title style</a:t>
            </a:r>
          </a:p>
        </p:txBody>
      </p:sp>
      <p:sp>
        <p:nvSpPr>
          <p:cNvPr id="3" name="Content Placeholder 2"/>
          <p:cNvSpPr>
            <a:spLocks noGrp="1"/>
          </p:cNvSpPr>
          <p:nvPr>
            <p:ph idx="1"/>
          </p:nvPr>
        </p:nvSpPr>
        <p:spPr>
          <a:xfrm>
            <a:off x="3694218" y="285186"/>
            <a:ext cx="5282142" cy="6113251"/>
          </a:xfrm>
        </p:spPr>
        <p:txBody>
          <a:bodyPr/>
          <a:lstStyle>
            <a:lvl1pPr>
              <a:defRPr sz="3300"/>
            </a:lvl1pPr>
            <a:lvl2pPr>
              <a:defRPr sz="2900"/>
            </a:lvl2pPr>
            <a:lvl3pPr>
              <a:defRPr sz="2500"/>
            </a:lvl3pPr>
            <a:lvl4pPr>
              <a:defRPr sz="2100"/>
            </a:lvl4pPr>
            <a:lvl5pPr>
              <a:defRPr sz="2100"/>
            </a:lvl5pPr>
            <a:lvl6pPr>
              <a:defRPr sz="2100"/>
            </a:lvl6pPr>
            <a:lvl7pPr>
              <a:defRPr sz="2100"/>
            </a:lvl7pPr>
            <a:lvl8pPr>
              <a:defRPr sz="2100"/>
            </a:lvl8pPr>
            <a:lvl9pPr>
              <a:defRPr sz="2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72441" y="1498883"/>
            <a:ext cx="3108590" cy="4899555"/>
          </a:xfrm>
        </p:spPr>
        <p:txBody>
          <a:bodyPr/>
          <a:lstStyle>
            <a:lvl1pPr marL="0" indent="0">
              <a:buNone/>
              <a:defRPr sz="1500"/>
            </a:lvl1pPr>
            <a:lvl2pPr marL="474574" indent="0">
              <a:buNone/>
              <a:defRPr sz="1200"/>
            </a:lvl2pPr>
            <a:lvl3pPr marL="949147" indent="0">
              <a:buNone/>
              <a:defRPr sz="1000"/>
            </a:lvl3pPr>
            <a:lvl4pPr marL="1423721" indent="0">
              <a:buNone/>
              <a:defRPr sz="900"/>
            </a:lvl4pPr>
            <a:lvl5pPr marL="1898294" indent="0">
              <a:buNone/>
              <a:defRPr sz="900"/>
            </a:lvl5pPr>
            <a:lvl6pPr marL="2372868" indent="0">
              <a:buNone/>
              <a:defRPr sz="900"/>
            </a:lvl6pPr>
            <a:lvl7pPr marL="2847442" indent="0">
              <a:buNone/>
              <a:defRPr sz="900"/>
            </a:lvl7pPr>
            <a:lvl8pPr marL="3322015" indent="0">
              <a:buNone/>
              <a:defRPr sz="900"/>
            </a:lvl8pPr>
            <a:lvl9pPr marL="3796589"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199142C-F8E6-45CF-9E25-8776AE51742C}" type="datetimeFigureOut">
              <a:rPr lang="en-US" smtClean="0"/>
              <a:t>9/26/2024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90C89F5-BA13-43F8-B4B9-ECD60967871F}" type="slidenum">
              <a:rPr lang="en-US" smtClean="0"/>
              <a:t>‹#›</a:t>
            </a:fld>
            <a:endParaRPr lang="en-US"/>
          </a:p>
        </p:txBody>
      </p:sp>
    </p:spTree>
    <p:extLst>
      <p:ext uri="{BB962C8B-B14F-4D97-AF65-F5344CB8AC3E}">
        <p14:creationId xmlns:p14="http://schemas.microsoft.com/office/powerpoint/2010/main" val="15545396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852031" y="5013960"/>
            <a:ext cx="5669280" cy="591926"/>
          </a:xfrm>
        </p:spPr>
        <p:txBody>
          <a:bodyPr anchor="b"/>
          <a:lstStyle>
            <a:lvl1pPr algn="l">
              <a:defRPr sz="2100" b="1"/>
            </a:lvl1pPr>
          </a:lstStyle>
          <a:p>
            <a:r>
              <a:rPr lang="en-US"/>
              <a:t>Click to edit Master title style</a:t>
            </a:r>
          </a:p>
        </p:txBody>
      </p:sp>
      <p:sp>
        <p:nvSpPr>
          <p:cNvPr id="3" name="Picture Placeholder 2"/>
          <p:cNvSpPr>
            <a:spLocks noGrp="1"/>
          </p:cNvSpPr>
          <p:nvPr>
            <p:ph type="pic" idx="1"/>
          </p:nvPr>
        </p:nvSpPr>
        <p:spPr>
          <a:xfrm>
            <a:off x="1852031" y="640009"/>
            <a:ext cx="5669280" cy="4297680"/>
          </a:xfrm>
        </p:spPr>
        <p:txBody>
          <a:bodyPr/>
          <a:lstStyle>
            <a:lvl1pPr marL="0" indent="0">
              <a:buNone/>
              <a:defRPr sz="3300"/>
            </a:lvl1pPr>
            <a:lvl2pPr marL="474574" indent="0">
              <a:buNone/>
              <a:defRPr sz="2900"/>
            </a:lvl2pPr>
            <a:lvl3pPr marL="949147" indent="0">
              <a:buNone/>
              <a:defRPr sz="2500"/>
            </a:lvl3pPr>
            <a:lvl4pPr marL="1423721" indent="0">
              <a:buNone/>
              <a:defRPr sz="2100"/>
            </a:lvl4pPr>
            <a:lvl5pPr marL="1898294" indent="0">
              <a:buNone/>
              <a:defRPr sz="2100"/>
            </a:lvl5pPr>
            <a:lvl6pPr marL="2372868" indent="0">
              <a:buNone/>
              <a:defRPr sz="2100"/>
            </a:lvl6pPr>
            <a:lvl7pPr marL="2847442" indent="0">
              <a:buNone/>
              <a:defRPr sz="2100"/>
            </a:lvl7pPr>
            <a:lvl8pPr marL="3322015" indent="0">
              <a:buNone/>
              <a:defRPr sz="2100"/>
            </a:lvl8pPr>
            <a:lvl9pPr marL="3796589" indent="0">
              <a:buNone/>
              <a:defRPr sz="2100"/>
            </a:lvl9pPr>
          </a:lstStyle>
          <a:p>
            <a:endParaRPr lang="en-US"/>
          </a:p>
        </p:txBody>
      </p:sp>
      <p:sp>
        <p:nvSpPr>
          <p:cNvPr id="4" name="Text Placeholder 3"/>
          <p:cNvSpPr>
            <a:spLocks noGrp="1"/>
          </p:cNvSpPr>
          <p:nvPr>
            <p:ph type="body" sz="half" idx="2"/>
          </p:nvPr>
        </p:nvSpPr>
        <p:spPr>
          <a:xfrm>
            <a:off x="1852031" y="5605886"/>
            <a:ext cx="5669280" cy="840634"/>
          </a:xfrm>
        </p:spPr>
        <p:txBody>
          <a:bodyPr/>
          <a:lstStyle>
            <a:lvl1pPr marL="0" indent="0">
              <a:buNone/>
              <a:defRPr sz="1500"/>
            </a:lvl1pPr>
            <a:lvl2pPr marL="474574" indent="0">
              <a:buNone/>
              <a:defRPr sz="1200"/>
            </a:lvl2pPr>
            <a:lvl3pPr marL="949147" indent="0">
              <a:buNone/>
              <a:defRPr sz="1000"/>
            </a:lvl3pPr>
            <a:lvl4pPr marL="1423721" indent="0">
              <a:buNone/>
              <a:defRPr sz="900"/>
            </a:lvl4pPr>
            <a:lvl5pPr marL="1898294" indent="0">
              <a:buNone/>
              <a:defRPr sz="900"/>
            </a:lvl5pPr>
            <a:lvl6pPr marL="2372868" indent="0">
              <a:buNone/>
              <a:defRPr sz="900"/>
            </a:lvl6pPr>
            <a:lvl7pPr marL="2847442" indent="0">
              <a:buNone/>
              <a:defRPr sz="900"/>
            </a:lvl7pPr>
            <a:lvl8pPr marL="3322015" indent="0">
              <a:buNone/>
              <a:defRPr sz="900"/>
            </a:lvl8pPr>
            <a:lvl9pPr marL="3796589"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199142C-F8E6-45CF-9E25-8776AE51742C}" type="datetimeFigureOut">
              <a:rPr lang="en-US" smtClean="0"/>
              <a:t>9/26/2024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90C89F5-BA13-43F8-B4B9-ECD60967871F}" type="slidenum">
              <a:rPr lang="en-US" smtClean="0"/>
              <a:t>‹#›</a:t>
            </a:fld>
            <a:endParaRPr lang="en-US"/>
          </a:p>
        </p:txBody>
      </p:sp>
    </p:spTree>
    <p:extLst>
      <p:ext uri="{BB962C8B-B14F-4D97-AF65-F5344CB8AC3E}">
        <p14:creationId xmlns:p14="http://schemas.microsoft.com/office/powerpoint/2010/main" val="7673075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199142C-F8E6-45CF-9E25-8776AE51742C}" type="datetimeFigureOut">
              <a:rPr lang="en-US" smtClean="0"/>
              <a:t>9/26/2024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90C89F5-BA13-43F8-B4B9-ECD60967871F}" type="slidenum">
              <a:rPr lang="en-US" smtClean="0"/>
              <a:t>‹#›</a:t>
            </a:fld>
            <a:endParaRPr lang="en-US"/>
          </a:p>
        </p:txBody>
      </p:sp>
    </p:spTree>
    <p:extLst>
      <p:ext uri="{BB962C8B-B14F-4D97-AF65-F5344CB8AC3E}">
        <p14:creationId xmlns:p14="http://schemas.microsoft.com/office/powerpoint/2010/main" val="12885426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0380" y="286845"/>
            <a:ext cx="2125980" cy="611159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72440" y="286845"/>
            <a:ext cx="6220460" cy="611159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199142C-F8E6-45CF-9E25-8776AE51742C}" type="datetimeFigureOut">
              <a:rPr lang="en-US" smtClean="0"/>
              <a:t>9/26/2024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90C89F5-BA13-43F8-B4B9-ECD60967871F}" type="slidenum">
              <a:rPr lang="en-US" smtClean="0"/>
              <a:t>‹#›</a:t>
            </a:fld>
            <a:endParaRPr lang="en-US"/>
          </a:p>
        </p:txBody>
      </p:sp>
    </p:spTree>
    <p:extLst>
      <p:ext uri="{BB962C8B-B14F-4D97-AF65-F5344CB8AC3E}">
        <p14:creationId xmlns:p14="http://schemas.microsoft.com/office/powerpoint/2010/main" val="9518340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2440" y="286844"/>
            <a:ext cx="8503920" cy="1193800"/>
          </a:xfrm>
          <a:prstGeom prst="rect">
            <a:avLst/>
          </a:prstGeom>
        </p:spPr>
        <p:txBody>
          <a:bodyPr vert="horz" lIns="94915" tIns="47457" rIns="94915" bIns="47457" rtlCol="0" anchor="ctr">
            <a:normAutofit/>
          </a:bodyPr>
          <a:lstStyle/>
          <a:p>
            <a:r>
              <a:rPr lang="en-US"/>
              <a:t>Click to edit Master title style</a:t>
            </a:r>
          </a:p>
        </p:txBody>
      </p:sp>
      <p:sp>
        <p:nvSpPr>
          <p:cNvPr id="3" name="Text Placeholder 2"/>
          <p:cNvSpPr>
            <a:spLocks noGrp="1"/>
          </p:cNvSpPr>
          <p:nvPr>
            <p:ph type="body" idx="1"/>
          </p:nvPr>
        </p:nvSpPr>
        <p:spPr>
          <a:xfrm>
            <a:off x="472440" y="1671320"/>
            <a:ext cx="8503920" cy="4727117"/>
          </a:xfrm>
          <a:prstGeom prst="rect">
            <a:avLst/>
          </a:prstGeom>
        </p:spPr>
        <p:txBody>
          <a:bodyPr vert="horz" lIns="94915" tIns="47457" rIns="94915" bIns="47457"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72440" y="6638855"/>
            <a:ext cx="2204720" cy="381353"/>
          </a:xfrm>
          <a:prstGeom prst="rect">
            <a:avLst/>
          </a:prstGeom>
        </p:spPr>
        <p:txBody>
          <a:bodyPr vert="horz" lIns="94915" tIns="47457" rIns="94915" bIns="47457" rtlCol="0" anchor="ctr"/>
          <a:lstStyle>
            <a:lvl1pPr algn="l">
              <a:defRPr sz="1200">
                <a:solidFill>
                  <a:schemeClr val="tx1">
                    <a:tint val="75000"/>
                  </a:schemeClr>
                </a:solidFill>
              </a:defRPr>
            </a:lvl1pPr>
          </a:lstStyle>
          <a:p>
            <a:fld id="{1199142C-F8E6-45CF-9E25-8776AE51742C}" type="datetimeFigureOut">
              <a:rPr lang="en-US" smtClean="0"/>
              <a:t>9/26/2024</a:t>
            </a:fld>
            <a:endParaRPr lang="en-US"/>
          </a:p>
        </p:txBody>
      </p:sp>
      <p:sp>
        <p:nvSpPr>
          <p:cNvPr id="5" name="Footer Placeholder 4"/>
          <p:cNvSpPr>
            <a:spLocks noGrp="1"/>
          </p:cNvSpPr>
          <p:nvPr>
            <p:ph type="ftr" sz="quarter" idx="3"/>
          </p:nvPr>
        </p:nvSpPr>
        <p:spPr>
          <a:xfrm>
            <a:off x="3228340" y="6638855"/>
            <a:ext cx="2992120" cy="381353"/>
          </a:xfrm>
          <a:prstGeom prst="rect">
            <a:avLst/>
          </a:prstGeom>
        </p:spPr>
        <p:txBody>
          <a:bodyPr vert="horz" lIns="94915" tIns="47457" rIns="94915" bIns="47457"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771640" y="6638855"/>
            <a:ext cx="2204720" cy="381353"/>
          </a:xfrm>
          <a:prstGeom prst="rect">
            <a:avLst/>
          </a:prstGeom>
        </p:spPr>
        <p:txBody>
          <a:bodyPr vert="horz" lIns="94915" tIns="47457" rIns="94915" bIns="47457" rtlCol="0" anchor="ctr"/>
          <a:lstStyle>
            <a:lvl1pPr algn="r">
              <a:defRPr sz="1200">
                <a:solidFill>
                  <a:schemeClr val="tx1">
                    <a:tint val="75000"/>
                  </a:schemeClr>
                </a:solidFill>
              </a:defRPr>
            </a:lvl1pPr>
          </a:lstStyle>
          <a:p>
            <a:fld id="{190C89F5-BA13-43F8-B4B9-ECD60967871F}" type="slidenum">
              <a:rPr lang="en-US" smtClean="0"/>
              <a:t>‹#›</a:t>
            </a:fld>
            <a:endParaRPr lang="en-US"/>
          </a:p>
        </p:txBody>
      </p:sp>
    </p:spTree>
    <p:extLst>
      <p:ext uri="{BB962C8B-B14F-4D97-AF65-F5344CB8AC3E}">
        <p14:creationId xmlns:p14="http://schemas.microsoft.com/office/powerpoint/2010/main" val="426784141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defTabSz="949147" rtl="0" eaLnBrk="1" latinLnBrk="0" hangingPunct="1">
        <a:spcBef>
          <a:spcPct val="0"/>
        </a:spcBef>
        <a:buNone/>
        <a:defRPr sz="4600" kern="1200">
          <a:solidFill>
            <a:schemeClr val="tx1"/>
          </a:solidFill>
          <a:latin typeface="+mj-lt"/>
          <a:ea typeface="+mj-ea"/>
          <a:cs typeface="+mj-cs"/>
        </a:defRPr>
      </a:lvl1pPr>
    </p:titleStyle>
    <p:bodyStyle>
      <a:lvl1pPr marL="355930" indent="-355930" algn="l" defTabSz="949147" rtl="0" eaLnBrk="1" latinLnBrk="0" hangingPunct="1">
        <a:spcBef>
          <a:spcPct val="20000"/>
        </a:spcBef>
        <a:buFont typeface="Arial" pitchFamily="34" charset="0"/>
        <a:buChar char="•"/>
        <a:defRPr sz="3300" kern="1200">
          <a:solidFill>
            <a:schemeClr val="tx1"/>
          </a:solidFill>
          <a:latin typeface="+mn-lt"/>
          <a:ea typeface="+mn-ea"/>
          <a:cs typeface="+mn-cs"/>
        </a:defRPr>
      </a:lvl1pPr>
      <a:lvl2pPr marL="771182" indent="-296609" algn="l" defTabSz="949147" rtl="0" eaLnBrk="1" latinLnBrk="0" hangingPunct="1">
        <a:spcBef>
          <a:spcPct val="20000"/>
        </a:spcBef>
        <a:buFont typeface="Arial" pitchFamily="34" charset="0"/>
        <a:buChar char="–"/>
        <a:defRPr sz="2900" kern="1200">
          <a:solidFill>
            <a:schemeClr val="tx1"/>
          </a:solidFill>
          <a:latin typeface="+mn-lt"/>
          <a:ea typeface="+mn-ea"/>
          <a:cs typeface="+mn-cs"/>
        </a:defRPr>
      </a:lvl2pPr>
      <a:lvl3pPr marL="1186434" indent="-237287" algn="l" defTabSz="949147" rtl="0" eaLnBrk="1" latinLnBrk="0" hangingPunct="1">
        <a:spcBef>
          <a:spcPct val="20000"/>
        </a:spcBef>
        <a:buFont typeface="Arial" pitchFamily="34" charset="0"/>
        <a:buChar char="•"/>
        <a:defRPr sz="2500" kern="1200">
          <a:solidFill>
            <a:schemeClr val="tx1"/>
          </a:solidFill>
          <a:latin typeface="+mn-lt"/>
          <a:ea typeface="+mn-ea"/>
          <a:cs typeface="+mn-cs"/>
        </a:defRPr>
      </a:lvl3pPr>
      <a:lvl4pPr marL="1661008" indent="-237287" algn="l" defTabSz="949147" rtl="0" eaLnBrk="1" latinLnBrk="0" hangingPunct="1">
        <a:spcBef>
          <a:spcPct val="20000"/>
        </a:spcBef>
        <a:buFont typeface="Arial" pitchFamily="34" charset="0"/>
        <a:buChar char="–"/>
        <a:defRPr sz="2100" kern="1200">
          <a:solidFill>
            <a:schemeClr val="tx1"/>
          </a:solidFill>
          <a:latin typeface="+mn-lt"/>
          <a:ea typeface="+mn-ea"/>
          <a:cs typeface="+mn-cs"/>
        </a:defRPr>
      </a:lvl4pPr>
      <a:lvl5pPr marL="2135581" indent="-237287" algn="l" defTabSz="949147" rtl="0" eaLnBrk="1" latinLnBrk="0" hangingPunct="1">
        <a:spcBef>
          <a:spcPct val="20000"/>
        </a:spcBef>
        <a:buFont typeface="Arial" pitchFamily="34" charset="0"/>
        <a:buChar char="»"/>
        <a:defRPr sz="2100" kern="1200">
          <a:solidFill>
            <a:schemeClr val="tx1"/>
          </a:solidFill>
          <a:latin typeface="+mn-lt"/>
          <a:ea typeface="+mn-ea"/>
          <a:cs typeface="+mn-cs"/>
        </a:defRPr>
      </a:lvl5pPr>
      <a:lvl6pPr marL="2610155" indent="-237287" algn="l" defTabSz="949147" rtl="0" eaLnBrk="1" latinLnBrk="0" hangingPunct="1">
        <a:spcBef>
          <a:spcPct val="20000"/>
        </a:spcBef>
        <a:buFont typeface="Arial" pitchFamily="34" charset="0"/>
        <a:buChar char="•"/>
        <a:defRPr sz="2100" kern="1200">
          <a:solidFill>
            <a:schemeClr val="tx1"/>
          </a:solidFill>
          <a:latin typeface="+mn-lt"/>
          <a:ea typeface="+mn-ea"/>
          <a:cs typeface="+mn-cs"/>
        </a:defRPr>
      </a:lvl6pPr>
      <a:lvl7pPr marL="3084728" indent="-237287" algn="l" defTabSz="949147" rtl="0" eaLnBrk="1" latinLnBrk="0" hangingPunct="1">
        <a:spcBef>
          <a:spcPct val="20000"/>
        </a:spcBef>
        <a:buFont typeface="Arial" pitchFamily="34" charset="0"/>
        <a:buChar char="•"/>
        <a:defRPr sz="2100" kern="1200">
          <a:solidFill>
            <a:schemeClr val="tx1"/>
          </a:solidFill>
          <a:latin typeface="+mn-lt"/>
          <a:ea typeface="+mn-ea"/>
          <a:cs typeface="+mn-cs"/>
        </a:defRPr>
      </a:lvl7pPr>
      <a:lvl8pPr marL="3559302" indent="-237287" algn="l" defTabSz="949147" rtl="0" eaLnBrk="1" latinLnBrk="0" hangingPunct="1">
        <a:spcBef>
          <a:spcPct val="20000"/>
        </a:spcBef>
        <a:buFont typeface="Arial" pitchFamily="34" charset="0"/>
        <a:buChar char="•"/>
        <a:defRPr sz="2100" kern="1200">
          <a:solidFill>
            <a:schemeClr val="tx1"/>
          </a:solidFill>
          <a:latin typeface="+mn-lt"/>
          <a:ea typeface="+mn-ea"/>
          <a:cs typeface="+mn-cs"/>
        </a:defRPr>
      </a:lvl8pPr>
      <a:lvl9pPr marL="4033876" indent="-237287" algn="l" defTabSz="949147" rtl="0" eaLnBrk="1" latinLnBrk="0" hangingPunct="1">
        <a:spcBef>
          <a:spcPct val="20000"/>
        </a:spcBef>
        <a:buFont typeface="Arial" pitchFamily="34" charset="0"/>
        <a:buChar char="•"/>
        <a:defRPr sz="2100" kern="1200">
          <a:solidFill>
            <a:schemeClr val="tx1"/>
          </a:solidFill>
          <a:latin typeface="+mn-lt"/>
          <a:ea typeface="+mn-ea"/>
          <a:cs typeface="+mn-cs"/>
        </a:defRPr>
      </a:lvl9pPr>
    </p:bodyStyle>
    <p:otherStyle>
      <a:defPPr>
        <a:defRPr lang="en-US"/>
      </a:defPPr>
      <a:lvl1pPr marL="0" algn="l" defTabSz="949147" rtl="0" eaLnBrk="1" latinLnBrk="0" hangingPunct="1">
        <a:defRPr sz="1900" kern="1200">
          <a:solidFill>
            <a:schemeClr val="tx1"/>
          </a:solidFill>
          <a:latin typeface="+mn-lt"/>
          <a:ea typeface="+mn-ea"/>
          <a:cs typeface="+mn-cs"/>
        </a:defRPr>
      </a:lvl1pPr>
      <a:lvl2pPr marL="474574" algn="l" defTabSz="949147" rtl="0" eaLnBrk="1" latinLnBrk="0" hangingPunct="1">
        <a:defRPr sz="1900" kern="1200">
          <a:solidFill>
            <a:schemeClr val="tx1"/>
          </a:solidFill>
          <a:latin typeface="+mn-lt"/>
          <a:ea typeface="+mn-ea"/>
          <a:cs typeface="+mn-cs"/>
        </a:defRPr>
      </a:lvl2pPr>
      <a:lvl3pPr marL="949147" algn="l" defTabSz="949147" rtl="0" eaLnBrk="1" latinLnBrk="0" hangingPunct="1">
        <a:defRPr sz="1900" kern="1200">
          <a:solidFill>
            <a:schemeClr val="tx1"/>
          </a:solidFill>
          <a:latin typeface="+mn-lt"/>
          <a:ea typeface="+mn-ea"/>
          <a:cs typeface="+mn-cs"/>
        </a:defRPr>
      </a:lvl3pPr>
      <a:lvl4pPr marL="1423721" algn="l" defTabSz="949147" rtl="0" eaLnBrk="1" latinLnBrk="0" hangingPunct="1">
        <a:defRPr sz="1900" kern="1200">
          <a:solidFill>
            <a:schemeClr val="tx1"/>
          </a:solidFill>
          <a:latin typeface="+mn-lt"/>
          <a:ea typeface="+mn-ea"/>
          <a:cs typeface="+mn-cs"/>
        </a:defRPr>
      </a:lvl4pPr>
      <a:lvl5pPr marL="1898294" algn="l" defTabSz="949147" rtl="0" eaLnBrk="1" latinLnBrk="0" hangingPunct="1">
        <a:defRPr sz="1900" kern="1200">
          <a:solidFill>
            <a:schemeClr val="tx1"/>
          </a:solidFill>
          <a:latin typeface="+mn-lt"/>
          <a:ea typeface="+mn-ea"/>
          <a:cs typeface="+mn-cs"/>
        </a:defRPr>
      </a:lvl5pPr>
      <a:lvl6pPr marL="2372868" algn="l" defTabSz="949147" rtl="0" eaLnBrk="1" latinLnBrk="0" hangingPunct="1">
        <a:defRPr sz="1900" kern="1200">
          <a:solidFill>
            <a:schemeClr val="tx1"/>
          </a:solidFill>
          <a:latin typeface="+mn-lt"/>
          <a:ea typeface="+mn-ea"/>
          <a:cs typeface="+mn-cs"/>
        </a:defRPr>
      </a:lvl6pPr>
      <a:lvl7pPr marL="2847442" algn="l" defTabSz="949147" rtl="0" eaLnBrk="1" latinLnBrk="0" hangingPunct="1">
        <a:defRPr sz="1900" kern="1200">
          <a:solidFill>
            <a:schemeClr val="tx1"/>
          </a:solidFill>
          <a:latin typeface="+mn-lt"/>
          <a:ea typeface="+mn-ea"/>
          <a:cs typeface="+mn-cs"/>
        </a:defRPr>
      </a:lvl7pPr>
      <a:lvl8pPr marL="3322015" algn="l" defTabSz="949147" rtl="0" eaLnBrk="1" latinLnBrk="0" hangingPunct="1">
        <a:defRPr sz="1900" kern="1200">
          <a:solidFill>
            <a:schemeClr val="tx1"/>
          </a:solidFill>
          <a:latin typeface="+mn-lt"/>
          <a:ea typeface="+mn-ea"/>
          <a:cs typeface="+mn-cs"/>
        </a:defRPr>
      </a:lvl8pPr>
      <a:lvl9pPr marL="3796589" algn="l" defTabSz="949147" rtl="0" eaLnBrk="1" latinLnBrk="0" hangingPunct="1">
        <a:defRPr sz="19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jfi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image" Target="../media/image13.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jpg"/><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image" Target="../media/image25.png"/><Relationship Id="rId1" Type="http://schemas.openxmlformats.org/officeDocument/2006/relationships/slideLayout" Target="../slideLayouts/slideLayout5.xml"/><Relationship Id="rId4" Type="http://schemas.openxmlformats.org/officeDocument/2006/relationships/image" Target="../media/image2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 Id="rId4" Type="http://schemas.openxmlformats.org/officeDocument/2006/relationships/image" Target="../media/image31.jpg"/></Relationships>
</file>

<file path=ppt/slides/_rels/slide2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29.png"/><Relationship Id="rId1" Type="http://schemas.openxmlformats.org/officeDocument/2006/relationships/slideLayout" Target="../slideLayouts/slideLayout2.xml"/><Relationship Id="rId4" Type="http://schemas.openxmlformats.org/officeDocument/2006/relationships/image" Target="../media/image33.jpeg"/></Relationships>
</file>

<file path=ppt/slides/_rels/slide3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3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jpeg"/><Relationship Id="rId1" Type="http://schemas.openxmlformats.org/officeDocument/2006/relationships/slideLayout" Target="../slideLayouts/slideLayout2.xml"/><Relationship Id="rId4" Type="http://schemas.openxmlformats.org/officeDocument/2006/relationships/image" Target="../media/image39.jpeg"/></Relationships>
</file>

<file path=ppt/slides/_rels/slide3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7.jpeg"/><Relationship Id="rId1" Type="http://schemas.openxmlformats.org/officeDocument/2006/relationships/slideLayout" Target="../slideLayouts/slideLayout2.xml"/><Relationship Id="rId4" Type="http://schemas.openxmlformats.org/officeDocument/2006/relationships/image" Target="../media/image39.jpeg"/></Relationships>
</file>

<file path=ppt/slides/_rels/slide3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jpeg"/><Relationship Id="rId1" Type="http://schemas.openxmlformats.org/officeDocument/2006/relationships/slideLayout" Target="../slideLayouts/slideLayout2.xml"/><Relationship Id="rId4" Type="http://schemas.openxmlformats.org/officeDocument/2006/relationships/image" Target="../media/image45.jfif"/></Relationships>
</file>

<file path=ppt/slides/_rels/slide35.xml.rels><?xml version="1.0" encoding="UTF-8" standalone="yes"?>
<Relationships xmlns="http://schemas.openxmlformats.org/package/2006/relationships"><Relationship Id="rId2" Type="http://schemas.openxmlformats.org/officeDocument/2006/relationships/image" Target="../media/image46.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5.xml"/><Relationship Id="rId4" Type="http://schemas.openxmlformats.org/officeDocument/2006/relationships/image" Target="../media/image51.jpeg"/></Relationships>
</file>

<file path=ppt/slides/_rels/slide38.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59.jpe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61.jpe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2.xml"/><Relationship Id="rId5" Type="http://schemas.openxmlformats.org/officeDocument/2006/relationships/image" Target="../media/image65.png"/><Relationship Id="rId4" Type="http://schemas.openxmlformats.org/officeDocument/2006/relationships/image" Target="../media/image64.png"/></Relationships>
</file>

<file path=ppt/slides/_rels/slide48.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2.xml"/><Relationship Id="rId4" Type="http://schemas.openxmlformats.org/officeDocument/2006/relationships/image" Target="../media/image68.png"/></Relationships>
</file>

<file path=ppt/slides/_rels/slide49.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slideLayout" Target="../slideLayouts/slideLayout2.xml"/><Relationship Id="rId4" Type="http://schemas.openxmlformats.org/officeDocument/2006/relationships/image" Target="../media/image72.png"/></Relationships>
</file>

<file path=ppt/slides/_rels/slide51.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74.png"/></Relationships>
</file>

<file path=ppt/slides/_rels/slide52.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76.jpg"/></Relationships>
</file>

<file path=ppt/slides/_rels/slide53.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78.png"/></Relationships>
</file>

<file path=ppt/slides/_rels/slide54.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80.png"/></Relationships>
</file>

<file path=ppt/slides/_rels/slide55.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82.png"/></Relationships>
</file>

<file path=ppt/slides/_rels/slide56.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83.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image" Target="../media/image85.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87.jpg"/><Relationship Id="rId1" Type="http://schemas.openxmlformats.org/officeDocument/2006/relationships/slideLayout" Target="../slideLayouts/slideLayout5.xml"/></Relationships>
</file>

<file path=ppt/slides/_rels/slide59.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90.gi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2">
            <a:lumMod val="40000"/>
            <a:lumOff val="60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ln>
            <a:solidFill>
              <a:schemeClr val="tx2">
                <a:lumMod val="40000"/>
                <a:lumOff val="60000"/>
              </a:schemeClr>
            </a:solidFill>
          </a:ln>
        </p:spPr>
        <p:txBody>
          <a:bodyPr>
            <a:normAutofit/>
          </a:bodyPr>
          <a:lstStyle/>
          <a:p>
            <a:r>
              <a:rPr lang="en-US" sz="6600" dirty="0">
                <a:solidFill>
                  <a:schemeClr val="bg1"/>
                </a:solidFill>
                <a:latin typeface="Bahnschrift SemiBold" pitchFamily="34" charset="0"/>
              </a:rPr>
              <a:t>COMPUTER VISION</a:t>
            </a:r>
          </a:p>
        </p:txBody>
      </p:sp>
      <p:sp>
        <p:nvSpPr>
          <p:cNvPr id="3" name="Subtitle 2"/>
          <p:cNvSpPr>
            <a:spLocks noGrp="1"/>
          </p:cNvSpPr>
          <p:nvPr>
            <p:ph type="subTitle" idx="1"/>
          </p:nvPr>
        </p:nvSpPr>
        <p:spPr>
          <a:xfrm>
            <a:off x="1417320" y="4058920"/>
            <a:ext cx="6614160" cy="795867"/>
          </a:xfrm>
        </p:spPr>
        <p:txBody>
          <a:bodyPr>
            <a:normAutofit/>
          </a:bodyPr>
          <a:lstStyle/>
          <a:p>
            <a:r>
              <a:rPr lang="en-US" sz="3700" b="1" dirty="0">
                <a:solidFill>
                  <a:schemeClr val="bg1"/>
                </a:solidFill>
              </a:rPr>
              <a:t>A Summary</a:t>
            </a:r>
          </a:p>
        </p:txBody>
      </p:sp>
      <p:sp>
        <p:nvSpPr>
          <p:cNvPr id="4" name="TextBox 3"/>
          <p:cNvSpPr txBox="1"/>
          <p:nvPr/>
        </p:nvSpPr>
        <p:spPr>
          <a:xfrm>
            <a:off x="6299200" y="5571067"/>
            <a:ext cx="2283460" cy="834505"/>
          </a:xfrm>
          <a:prstGeom prst="rect">
            <a:avLst/>
          </a:prstGeom>
          <a:noFill/>
        </p:spPr>
        <p:txBody>
          <a:bodyPr wrap="square" lIns="94915" tIns="47457" rIns="94915" bIns="47457" rtlCol="0">
            <a:spAutoFit/>
          </a:bodyPr>
          <a:lstStyle/>
          <a:p>
            <a:r>
              <a:rPr lang="en-US" sz="2400" b="1" dirty="0">
                <a:solidFill>
                  <a:schemeClr val="bg1"/>
                </a:solidFill>
              </a:rPr>
              <a:t>Presented By-</a:t>
            </a:r>
          </a:p>
          <a:p>
            <a:r>
              <a:rPr lang="en-US" sz="2400" b="1" dirty="0">
                <a:solidFill>
                  <a:schemeClr val="bg1"/>
                </a:solidFill>
              </a:rPr>
              <a:t>V. </a:t>
            </a:r>
            <a:r>
              <a:rPr lang="en-US" sz="2400" b="1" dirty="0" err="1">
                <a:solidFill>
                  <a:schemeClr val="bg1"/>
                </a:solidFill>
              </a:rPr>
              <a:t>Megha</a:t>
            </a:r>
            <a:r>
              <a:rPr lang="en-US" sz="2400" b="1" dirty="0">
                <a:solidFill>
                  <a:schemeClr val="bg1"/>
                </a:solidFill>
              </a:rPr>
              <a:t> Saran</a:t>
            </a:r>
          </a:p>
        </p:txBody>
      </p:sp>
    </p:spTree>
    <p:extLst>
      <p:ext uri="{BB962C8B-B14F-4D97-AF65-F5344CB8AC3E}">
        <p14:creationId xmlns:p14="http://schemas.microsoft.com/office/powerpoint/2010/main" val="854370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72440" y="557107"/>
            <a:ext cx="8503920" cy="5841330"/>
          </a:xfrm>
        </p:spPr>
        <p:txBody>
          <a:bodyPr>
            <a:normAutofit/>
          </a:bodyPr>
          <a:lstStyle/>
          <a:p>
            <a:pPr marL="0" indent="0" algn="ctr">
              <a:buNone/>
            </a:pPr>
            <a:r>
              <a:rPr lang="en-US" sz="4200" b="1" dirty="0">
                <a:solidFill>
                  <a:schemeClr val="tx2">
                    <a:lumMod val="60000"/>
                    <a:lumOff val="40000"/>
                  </a:schemeClr>
                </a:solidFill>
              </a:rPr>
              <a:t>Visual Intelligence</a:t>
            </a:r>
          </a:p>
          <a:p>
            <a:pPr marL="0" indent="0">
              <a:buNone/>
            </a:pPr>
            <a:endParaRPr lang="en-US" sz="2900" dirty="0"/>
          </a:p>
          <a:p>
            <a:r>
              <a:rPr lang="en-US" sz="2900" dirty="0"/>
              <a:t>Visual intelligence refers to the ability of a system (like a computer or a robot) to understand and interpret visual information from the world, much like humans do with their eyes and brain. It involves recognizing objects, people, scenes, and activities in images or videos, and making sense of them to perform tasks or make decisions.</a:t>
            </a:r>
          </a:p>
          <a:p>
            <a:pPr marL="0" indent="0">
              <a:buNone/>
            </a:pPr>
            <a:endParaRPr lang="en-US" dirty="0"/>
          </a:p>
        </p:txBody>
      </p:sp>
    </p:spTree>
    <p:extLst>
      <p:ext uri="{BB962C8B-B14F-4D97-AF65-F5344CB8AC3E}">
        <p14:creationId xmlns:p14="http://schemas.microsoft.com/office/powerpoint/2010/main" val="18417629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rotWithShape="1">
          <a:blip r:embed="rId2">
            <a:extLst>
              <a:ext uri="{28A0092B-C50C-407E-A947-70E740481C1C}">
                <a14:useLocalDpi xmlns:a14="http://schemas.microsoft.com/office/drawing/2010/main" val="0"/>
              </a:ext>
            </a:extLst>
          </a:blip>
          <a:srcRect t="6994" r="9097" b="7588"/>
          <a:stretch/>
        </p:blipFill>
        <p:spPr>
          <a:xfrm>
            <a:off x="1102360" y="636694"/>
            <a:ext cx="7312978" cy="3333901"/>
          </a:xfrm>
        </p:spPr>
      </p:pic>
      <p:sp>
        <p:nvSpPr>
          <p:cNvPr id="6" name="TextBox 5"/>
          <p:cNvSpPr txBox="1"/>
          <p:nvPr/>
        </p:nvSpPr>
        <p:spPr>
          <a:xfrm>
            <a:off x="1102360" y="4775201"/>
            <a:ext cx="7480300" cy="1446550"/>
          </a:xfrm>
          <a:prstGeom prst="rect">
            <a:avLst/>
          </a:prstGeom>
          <a:noFill/>
        </p:spPr>
        <p:txBody>
          <a:bodyPr wrap="square" lIns="94915" tIns="47457" rIns="94915" bIns="47457" rtlCol="0">
            <a:spAutoFit/>
          </a:bodyPr>
          <a:lstStyle/>
          <a:p>
            <a:r>
              <a:rPr lang="en-US" sz="2900" b="1" dirty="0"/>
              <a:t>Computer Vision</a:t>
            </a:r>
            <a:r>
              <a:rPr lang="en-US" sz="2900" dirty="0"/>
              <a:t> is the technology and methods used to achieve visual intelligence in machines.</a:t>
            </a:r>
          </a:p>
          <a:p>
            <a:endParaRPr lang="en-US" sz="2900" dirty="0"/>
          </a:p>
        </p:txBody>
      </p:sp>
    </p:spTree>
    <p:extLst>
      <p:ext uri="{BB962C8B-B14F-4D97-AF65-F5344CB8AC3E}">
        <p14:creationId xmlns:p14="http://schemas.microsoft.com/office/powerpoint/2010/main" val="7956038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err="1">
                <a:solidFill>
                  <a:schemeClr val="tx2">
                    <a:lumMod val="60000"/>
                    <a:lumOff val="40000"/>
                  </a:schemeClr>
                </a:solidFill>
                <a:latin typeface="+mn-lt"/>
                <a:ea typeface="+mn-ea"/>
                <a:cs typeface="+mn-cs"/>
              </a:rPr>
              <a:t>Introdunction</a:t>
            </a:r>
            <a:r>
              <a:rPr lang="en-US" sz="4200" b="1" dirty="0">
                <a:solidFill>
                  <a:schemeClr val="tx2">
                    <a:lumMod val="60000"/>
                    <a:lumOff val="40000"/>
                  </a:schemeClr>
                </a:solidFill>
                <a:latin typeface="+mn-lt"/>
                <a:ea typeface="+mn-ea"/>
                <a:cs typeface="+mn-cs"/>
              </a:rPr>
              <a:t> to Signals &amp; Images</a:t>
            </a:r>
          </a:p>
        </p:txBody>
      </p:sp>
      <p:sp>
        <p:nvSpPr>
          <p:cNvPr id="3" name="Content Placeholder 2"/>
          <p:cNvSpPr>
            <a:spLocks noGrp="1"/>
          </p:cNvSpPr>
          <p:nvPr>
            <p:ph idx="1"/>
          </p:nvPr>
        </p:nvSpPr>
        <p:spPr/>
        <p:txBody>
          <a:bodyPr>
            <a:normAutofit/>
          </a:bodyPr>
          <a:lstStyle/>
          <a:p>
            <a:r>
              <a:rPr lang="en-US" sz="2900" dirty="0"/>
              <a:t>Image processing can be done at various granularity levels –</a:t>
            </a:r>
          </a:p>
          <a:p>
            <a:pPr marL="533895" indent="-533895">
              <a:buFont typeface="+mj-lt"/>
              <a:buAutoNum type="arabicPeriod"/>
            </a:pPr>
            <a:r>
              <a:rPr lang="en-US" sz="2900" dirty="0"/>
              <a:t>Image Processing</a:t>
            </a:r>
          </a:p>
          <a:p>
            <a:pPr marL="533895" indent="-533895">
              <a:buFont typeface="+mj-lt"/>
              <a:buAutoNum type="arabicPeriod"/>
            </a:pPr>
            <a:r>
              <a:rPr lang="en-US" sz="2900" dirty="0"/>
              <a:t>Object Detection</a:t>
            </a:r>
          </a:p>
          <a:p>
            <a:pPr marL="533895" indent="-533895">
              <a:buFont typeface="+mj-lt"/>
              <a:buAutoNum type="arabicPeriod"/>
            </a:pPr>
            <a:r>
              <a:rPr lang="en-US" sz="2900" dirty="0"/>
              <a:t>Semantic Segmentation</a:t>
            </a:r>
          </a:p>
          <a:p>
            <a:pPr marL="533895" indent="-533895">
              <a:buFont typeface="+mj-lt"/>
              <a:buAutoNum type="arabicPeriod"/>
            </a:pPr>
            <a:r>
              <a:rPr lang="en-US" sz="2900" dirty="0"/>
              <a:t>Instance Segmentation</a:t>
            </a:r>
          </a:p>
          <a:p>
            <a:pPr marL="533895" indent="-533895">
              <a:buFont typeface="+mj-lt"/>
              <a:buAutoNum type="arabicPeriod"/>
            </a:pPr>
            <a:r>
              <a:rPr lang="en-US" sz="2900" dirty="0"/>
              <a:t>Instance Segmentation</a:t>
            </a:r>
            <a:br>
              <a:rPr lang="en-US" sz="2900" dirty="0"/>
            </a:br>
            <a:endParaRPr lang="en-US" sz="2900" dirty="0"/>
          </a:p>
        </p:txBody>
      </p:sp>
    </p:spTree>
    <p:extLst>
      <p:ext uri="{BB962C8B-B14F-4D97-AF65-F5344CB8AC3E}">
        <p14:creationId xmlns:p14="http://schemas.microsoft.com/office/powerpoint/2010/main" val="11814978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2440" y="286844"/>
            <a:ext cx="8503920" cy="986543"/>
          </a:xfrm>
        </p:spPr>
        <p:txBody>
          <a:bodyPr>
            <a:normAutofit/>
          </a:bodyPr>
          <a:lstStyle/>
          <a:p>
            <a:r>
              <a:rPr lang="en-US" sz="4200" b="1" dirty="0">
                <a:solidFill>
                  <a:schemeClr val="accent2">
                    <a:lumMod val="60000"/>
                    <a:lumOff val="40000"/>
                  </a:schemeClr>
                </a:solidFill>
              </a:rPr>
              <a:t>Image Classification</a:t>
            </a:r>
          </a:p>
        </p:txBody>
      </p:sp>
      <p:sp>
        <p:nvSpPr>
          <p:cNvPr id="3" name="Content Placeholder 2"/>
          <p:cNvSpPr>
            <a:spLocks noGrp="1"/>
          </p:cNvSpPr>
          <p:nvPr>
            <p:ph idx="1"/>
          </p:nvPr>
        </p:nvSpPr>
        <p:spPr>
          <a:xfrm>
            <a:off x="472440" y="1273387"/>
            <a:ext cx="8503920" cy="5125050"/>
          </a:xfrm>
        </p:spPr>
        <p:txBody>
          <a:bodyPr>
            <a:normAutofit/>
          </a:bodyPr>
          <a:lstStyle/>
          <a:p>
            <a:pPr marL="0" indent="0">
              <a:buNone/>
            </a:pPr>
            <a:r>
              <a:rPr lang="en-US" sz="2900" dirty="0"/>
              <a:t>This task involves assigning a single label to an entire image. It identifies what main object or category the image belongs to.</a:t>
            </a:r>
          </a:p>
        </p:txBody>
      </p:sp>
      <p:pic>
        <p:nvPicPr>
          <p:cNvPr id="4" name="Picture 3"/>
          <p:cNvPicPr>
            <a:picLocks noChangeAspect="1"/>
          </p:cNvPicPr>
          <p:nvPr/>
        </p:nvPicPr>
        <p:blipFill rotWithShape="1">
          <a:blip r:embed="rId2">
            <a:extLst>
              <a:ext uri="{28A0092B-C50C-407E-A947-70E740481C1C}">
                <a14:useLocalDpi xmlns:a14="http://schemas.microsoft.com/office/drawing/2010/main" val="0"/>
              </a:ext>
            </a:extLst>
          </a:blip>
          <a:srcRect l="7885" t="20285" r="13269" b="17151"/>
          <a:stretch/>
        </p:blipFill>
        <p:spPr>
          <a:xfrm>
            <a:off x="944880" y="2785533"/>
            <a:ext cx="7450017" cy="3361006"/>
          </a:xfrm>
          <a:prstGeom prst="rect">
            <a:avLst/>
          </a:prstGeom>
        </p:spPr>
      </p:pic>
    </p:spTree>
    <p:extLst>
      <p:ext uri="{BB962C8B-B14F-4D97-AF65-F5344CB8AC3E}">
        <p14:creationId xmlns:p14="http://schemas.microsoft.com/office/powerpoint/2010/main" val="39007375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2440" y="286844"/>
            <a:ext cx="8503920" cy="986543"/>
          </a:xfrm>
        </p:spPr>
        <p:txBody>
          <a:bodyPr>
            <a:normAutofit/>
          </a:bodyPr>
          <a:lstStyle/>
          <a:p>
            <a:r>
              <a:rPr lang="en-US" sz="4200" b="1" dirty="0">
                <a:solidFill>
                  <a:schemeClr val="accent2">
                    <a:lumMod val="60000"/>
                    <a:lumOff val="40000"/>
                  </a:schemeClr>
                </a:solidFill>
              </a:rPr>
              <a:t>Object Detection</a:t>
            </a:r>
          </a:p>
        </p:txBody>
      </p:sp>
      <p:sp>
        <p:nvSpPr>
          <p:cNvPr id="3" name="Content Placeholder 2"/>
          <p:cNvSpPr>
            <a:spLocks noGrp="1"/>
          </p:cNvSpPr>
          <p:nvPr>
            <p:ph idx="1"/>
          </p:nvPr>
        </p:nvSpPr>
        <p:spPr>
          <a:xfrm>
            <a:off x="472440" y="1273387"/>
            <a:ext cx="8503920" cy="5125050"/>
          </a:xfrm>
        </p:spPr>
        <p:txBody>
          <a:bodyPr>
            <a:normAutofit/>
          </a:bodyPr>
          <a:lstStyle/>
          <a:p>
            <a:r>
              <a:rPr lang="en-US" sz="2900" dirty="0"/>
              <a:t>It not only classifies the objects but also provides bounding boxes around each object to show their positions.</a:t>
            </a:r>
          </a:p>
          <a:p>
            <a:endParaRPr lang="en-US" sz="2900" dirty="0"/>
          </a:p>
          <a:p>
            <a:endParaRPr lang="en-US" sz="2900" dirty="0"/>
          </a:p>
          <a:p>
            <a:endParaRPr lang="en-US" sz="2900" dirty="0"/>
          </a:p>
          <a:p>
            <a:endParaRPr lang="en-US" sz="2900" dirty="0"/>
          </a:p>
          <a:p>
            <a:endParaRPr lang="en-US" sz="2900" dirty="0"/>
          </a:p>
          <a:p>
            <a:pPr marL="0" indent="0">
              <a:buNone/>
            </a:pPr>
            <a:endParaRPr lang="en-US" sz="2900" dirty="0"/>
          </a:p>
          <a:p>
            <a:pPr marL="0" indent="0">
              <a:buNone/>
            </a:pPr>
            <a:endParaRPr lang="en-US" sz="2900"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47240" y="2865120"/>
            <a:ext cx="5354320" cy="3342640"/>
          </a:xfrm>
          <a:prstGeom prst="rect">
            <a:avLst/>
          </a:prstGeom>
        </p:spPr>
      </p:pic>
    </p:spTree>
    <p:extLst>
      <p:ext uri="{BB962C8B-B14F-4D97-AF65-F5344CB8AC3E}">
        <p14:creationId xmlns:p14="http://schemas.microsoft.com/office/powerpoint/2010/main" val="25513561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2440" y="286844"/>
            <a:ext cx="8503920" cy="986543"/>
          </a:xfrm>
        </p:spPr>
        <p:txBody>
          <a:bodyPr>
            <a:normAutofit/>
          </a:bodyPr>
          <a:lstStyle/>
          <a:p>
            <a:r>
              <a:rPr lang="en-US" sz="4200" b="1" dirty="0">
                <a:solidFill>
                  <a:schemeClr val="accent2">
                    <a:lumMod val="60000"/>
                    <a:lumOff val="40000"/>
                  </a:schemeClr>
                </a:solidFill>
              </a:rPr>
              <a:t>Semantic Segmentation</a:t>
            </a:r>
          </a:p>
        </p:txBody>
      </p:sp>
      <p:sp>
        <p:nvSpPr>
          <p:cNvPr id="3" name="Content Placeholder 2"/>
          <p:cNvSpPr>
            <a:spLocks noGrp="1"/>
          </p:cNvSpPr>
          <p:nvPr>
            <p:ph idx="1"/>
          </p:nvPr>
        </p:nvSpPr>
        <p:spPr>
          <a:xfrm>
            <a:off x="472440" y="1352974"/>
            <a:ext cx="8503920" cy="5045464"/>
          </a:xfrm>
        </p:spPr>
        <p:txBody>
          <a:bodyPr/>
          <a:lstStyle/>
          <a:p>
            <a:pPr marL="0" indent="0">
              <a:buNone/>
            </a:pPr>
            <a:r>
              <a:rPr lang="en-US" sz="2900" dirty="0"/>
              <a:t>It involves labeling each pixel of an image with a class, providing a detailed map of the image. It not only detects objects but also distinguishes boundaries at the pixel level</a:t>
            </a:r>
            <a:r>
              <a:rPr lang="en-US" dirty="0"/>
              <a:t>.</a:t>
            </a:r>
          </a:p>
          <a:p>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8661" y="3460535"/>
            <a:ext cx="8091375" cy="3092665"/>
          </a:xfrm>
          <a:prstGeom prst="rect">
            <a:avLst/>
          </a:prstGeom>
        </p:spPr>
      </p:pic>
    </p:spTree>
    <p:extLst>
      <p:ext uri="{BB962C8B-B14F-4D97-AF65-F5344CB8AC3E}">
        <p14:creationId xmlns:p14="http://schemas.microsoft.com/office/powerpoint/2010/main" val="26359237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2440" y="286844"/>
            <a:ext cx="8503920" cy="827369"/>
          </a:xfrm>
        </p:spPr>
        <p:txBody>
          <a:bodyPr>
            <a:normAutofit/>
          </a:bodyPr>
          <a:lstStyle/>
          <a:p>
            <a:r>
              <a:rPr lang="en-US" sz="4200" b="1" dirty="0">
                <a:solidFill>
                  <a:schemeClr val="accent2">
                    <a:lumMod val="60000"/>
                    <a:lumOff val="40000"/>
                  </a:schemeClr>
                </a:solidFill>
              </a:rPr>
              <a:t>Instance Segmentation</a:t>
            </a:r>
          </a:p>
        </p:txBody>
      </p:sp>
      <p:sp>
        <p:nvSpPr>
          <p:cNvPr id="3" name="Content Placeholder 2"/>
          <p:cNvSpPr>
            <a:spLocks noGrp="1"/>
          </p:cNvSpPr>
          <p:nvPr>
            <p:ph idx="1"/>
          </p:nvPr>
        </p:nvSpPr>
        <p:spPr>
          <a:xfrm>
            <a:off x="472440" y="1273387"/>
            <a:ext cx="8503920" cy="5125050"/>
          </a:xfrm>
        </p:spPr>
        <p:txBody>
          <a:bodyPr>
            <a:normAutofit/>
          </a:bodyPr>
          <a:lstStyle/>
          <a:p>
            <a:r>
              <a:rPr lang="en-US" sz="2900" dirty="0"/>
              <a:t>This task combines object detection and semantic segmentation. It not only labels each pixel with a class but also differentiates between different instances of the same class.</a:t>
            </a:r>
          </a:p>
        </p:txBody>
      </p:sp>
      <p:pic>
        <p:nvPicPr>
          <p:cNvPr id="5" name="Picture 4"/>
          <p:cNvPicPr>
            <a:picLocks noChangeAspect="1"/>
          </p:cNvPicPr>
          <p:nvPr/>
        </p:nvPicPr>
        <p:blipFill rotWithShape="1">
          <a:blip r:embed="rId2">
            <a:extLst>
              <a:ext uri="{28A0092B-C50C-407E-A947-70E740481C1C}">
                <a14:useLocalDpi xmlns:a14="http://schemas.microsoft.com/office/drawing/2010/main" val="0"/>
              </a:ext>
            </a:extLst>
          </a:blip>
          <a:srcRect l="25328" t="26854" r="25193" b="12433"/>
          <a:stretch/>
        </p:blipFill>
        <p:spPr>
          <a:xfrm>
            <a:off x="1338580" y="3235165"/>
            <a:ext cx="4405466" cy="3013994"/>
          </a:xfrm>
          <a:prstGeom prst="rect">
            <a:avLst/>
          </a:prstGeom>
        </p:spPr>
      </p:pic>
      <p:cxnSp>
        <p:nvCxnSpPr>
          <p:cNvPr id="7" name="Straight Arrow Connector 6"/>
          <p:cNvCxnSpPr/>
          <p:nvPr/>
        </p:nvCxnSpPr>
        <p:spPr>
          <a:xfrm flipV="1">
            <a:off x="2755900" y="3899747"/>
            <a:ext cx="4330700" cy="63669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flipV="1">
            <a:off x="3265723" y="3899747"/>
            <a:ext cx="3820877" cy="167132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2" name="Rounded Rectangle 11"/>
          <p:cNvSpPr/>
          <p:nvPr/>
        </p:nvSpPr>
        <p:spPr>
          <a:xfrm>
            <a:off x="7086600" y="3543337"/>
            <a:ext cx="1732280" cy="1470623"/>
          </a:xfrm>
          <a:prstGeom prst="roundRect">
            <a:avLst/>
          </a:prstGeom>
          <a:solidFill>
            <a:schemeClr val="accent3">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lIns="94915" tIns="47457" rIns="94915" bIns="47457" rtlCol="0" anchor="ctr"/>
          <a:lstStyle/>
          <a:p>
            <a:pPr algn="ctr"/>
            <a:r>
              <a:rPr lang="en-US" dirty="0">
                <a:solidFill>
                  <a:schemeClr val="accent1"/>
                </a:solidFill>
              </a:rPr>
              <a:t>Different Instances of the same class ‘Dog’</a:t>
            </a:r>
          </a:p>
        </p:txBody>
      </p:sp>
    </p:spTree>
    <p:extLst>
      <p:ext uri="{BB962C8B-B14F-4D97-AF65-F5344CB8AC3E}">
        <p14:creationId xmlns:p14="http://schemas.microsoft.com/office/powerpoint/2010/main" val="4513569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2440" y="286844"/>
            <a:ext cx="8503920" cy="827369"/>
          </a:xfrm>
        </p:spPr>
        <p:txBody>
          <a:bodyPr>
            <a:normAutofit/>
          </a:bodyPr>
          <a:lstStyle/>
          <a:p>
            <a:r>
              <a:rPr lang="en-US" sz="4200" b="1" dirty="0">
                <a:solidFill>
                  <a:schemeClr val="accent2">
                    <a:lumMod val="60000"/>
                    <a:lumOff val="40000"/>
                  </a:schemeClr>
                </a:solidFill>
              </a:rPr>
              <a:t>Depth Estimation</a:t>
            </a:r>
          </a:p>
        </p:txBody>
      </p:sp>
      <p:sp>
        <p:nvSpPr>
          <p:cNvPr id="3" name="Content Placeholder 2"/>
          <p:cNvSpPr>
            <a:spLocks noGrp="1"/>
          </p:cNvSpPr>
          <p:nvPr>
            <p:ph idx="1"/>
          </p:nvPr>
        </p:nvSpPr>
        <p:spPr>
          <a:xfrm>
            <a:off x="472440" y="1193800"/>
            <a:ext cx="8503920" cy="5597596"/>
          </a:xfrm>
        </p:spPr>
        <p:txBody>
          <a:bodyPr>
            <a:normAutofit/>
          </a:bodyPr>
          <a:lstStyle/>
          <a:p>
            <a:r>
              <a:rPr lang="en-US" sz="2900" dirty="0"/>
              <a:t>Determines the distance of objects or surfaces in the scene from the camera. It creates a depth map that shows how far each part of the image is from the viewpoint.</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75323" y="3130409"/>
            <a:ext cx="4724400" cy="3660987"/>
          </a:xfrm>
          <a:prstGeom prst="rect">
            <a:avLst/>
          </a:prstGeom>
        </p:spPr>
      </p:pic>
      <p:sp>
        <p:nvSpPr>
          <p:cNvPr id="9" name="Rectangle 8"/>
          <p:cNvSpPr/>
          <p:nvPr/>
        </p:nvSpPr>
        <p:spPr>
          <a:xfrm>
            <a:off x="4566920" y="3820160"/>
            <a:ext cx="944880" cy="55710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94915" tIns="47457" rIns="94915" bIns="47457" rtlCol="0" anchor="ctr"/>
          <a:lstStyle/>
          <a:p>
            <a:pPr algn="ctr"/>
            <a:endParaRPr lang="en-US"/>
          </a:p>
        </p:txBody>
      </p:sp>
      <p:sp>
        <p:nvSpPr>
          <p:cNvPr id="10" name="Rectangle 9"/>
          <p:cNvSpPr/>
          <p:nvPr/>
        </p:nvSpPr>
        <p:spPr>
          <a:xfrm>
            <a:off x="5748020" y="3422227"/>
            <a:ext cx="1351703" cy="111421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94915" tIns="47457" rIns="94915" bIns="47457" rtlCol="0" anchor="ctr"/>
          <a:lstStyle/>
          <a:p>
            <a:pPr algn="ctr"/>
            <a:endParaRPr lang="en-US"/>
          </a:p>
        </p:txBody>
      </p:sp>
    </p:spTree>
    <p:extLst>
      <p:ext uri="{BB962C8B-B14F-4D97-AF65-F5344CB8AC3E}">
        <p14:creationId xmlns:p14="http://schemas.microsoft.com/office/powerpoint/2010/main" val="36109181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2440" y="286844"/>
            <a:ext cx="8503920" cy="827369"/>
          </a:xfrm>
        </p:spPr>
        <p:txBody>
          <a:bodyPr>
            <a:normAutofit/>
          </a:bodyPr>
          <a:lstStyle/>
          <a:p>
            <a:r>
              <a:rPr lang="en-US" sz="4200" b="1" dirty="0">
                <a:solidFill>
                  <a:srgbClr val="00B050"/>
                </a:solidFill>
              </a:rPr>
              <a:t>CHALLANGES</a:t>
            </a:r>
          </a:p>
        </p:txBody>
      </p:sp>
      <p:pic>
        <p:nvPicPr>
          <p:cNvPr id="2051" name="Picture 3"/>
          <p:cNvPicPr>
            <a:picLocks noGrp="1" noChangeAspect="1" noChangeArrowheads="1"/>
          </p:cNvPicPr>
          <p:nvPr>
            <p:ph idx="1"/>
          </p:nvPr>
        </p:nvPicPr>
        <p:blipFill rotWithShape="1">
          <a:blip r:embed="rId3">
            <a:extLst>
              <a:ext uri="{28A0092B-C50C-407E-A947-70E740481C1C}">
                <a14:useLocalDpi xmlns:a14="http://schemas.microsoft.com/office/drawing/2010/main" val="0"/>
              </a:ext>
            </a:extLst>
          </a:blip>
          <a:srcRect l="20292" t="19426" r="64198" b="51823"/>
          <a:stretch/>
        </p:blipFill>
        <p:spPr bwMode="auto">
          <a:xfrm>
            <a:off x="844912" y="2187713"/>
            <a:ext cx="3752820" cy="39793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2" name="Picture 4"/>
          <p:cNvPicPr>
            <a:picLocks noChangeAspect="1" noChangeArrowheads="1"/>
          </p:cNvPicPr>
          <p:nvPr/>
        </p:nvPicPr>
        <p:blipFill rotWithShape="1">
          <a:blip r:embed="rId3">
            <a:extLst>
              <a:ext uri="{28A0092B-C50C-407E-A947-70E740481C1C}">
                <a14:useLocalDpi xmlns:a14="http://schemas.microsoft.com/office/drawing/2010/main" val="0"/>
              </a:ext>
            </a:extLst>
          </a:blip>
          <a:srcRect l="34986" t="19471" r="51064" b="59375"/>
          <a:stretch/>
        </p:blipFill>
        <p:spPr bwMode="auto">
          <a:xfrm>
            <a:off x="4597731" y="1259546"/>
            <a:ext cx="3385820" cy="29178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7" name="Picture 9"/>
          <p:cNvPicPr>
            <a:picLocks noChangeAspect="1" noChangeArrowheads="1"/>
          </p:cNvPicPr>
          <p:nvPr/>
        </p:nvPicPr>
        <p:blipFill rotWithShape="1">
          <a:blip r:embed="rId3">
            <a:extLst>
              <a:ext uri="{28A0092B-C50C-407E-A947-70E740481C1C}">
                <a14:useLocalDpi xmlns:a14="http://schemas.microsoft.com/office/drawing/2010/main" val="0"/>
              </a:ext>
            </a:extLst>
          </a:blip>
          <a:srcRect l="21143" t="67708" r="65014" b="16781"/>
          <a:stretch/>
        </p:blipFill>
        <p:spPr bwMode="auto">
          <a:xfrm>
            <a:off x="4977737" y="4192546"/>
            <a:ext cx="3199708" cy="20373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207380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2440" y="286844"/>
            <a:ext cx="8503920" cy="986543"/>
          </a:xfrm>
        </p:spPr>
        <p:txBody>
          <a:bodyPr>
            <a:normAutofit/>
          </a:bodyPr>
          <a:lstStyle/>
          <a:p>
            <a:r>
              <a:rPr lang="en-US" sz="4200" b="1" dirty="0">
                <a:solidFill>
                  <a:srgbClr val="00B050"/>
                </a:solidFill>
              </a:rPr>
              <a:t>CHALLANGES</a:t>
            </a:r>
          </a:p>
        </p:txBody>
      </p:sp>
      <p:pic>
        <p:nvPicPr>
          <p:cNvPr id="9" name="Picture 7"/>
          <p:cNvPicPr>
            <a:picLocks noChangeAspect="1" noChangeArrowheads="1"/>
          </p:cNvPicPr>
          <p:nvPr/>
        </p:nvPicPr>
        <p:blipFill rotWithShape="1">
          <a:blip r:embed="rId2">
            <a:extLst>
              <a:ext uri="{28A0092B-C50C-407E-A947-70E740481C1C}">
                <a14:useLocalDpi xmlns:a14="http://schemas.microsoft.com/office/drawing/2010/main" val="0"/>
              </a:ext>
            </a:extLst>
          </a:blip>
          <a:srcRect l="35842" t="51857" r="50000" b="31636"/>
          <a:stretch/>
        </p:blipFill>
        <p:spPr bwMode="auto">
          <a:xfrm>
            <a:off x="5039360" y="1526401"/>
            <a:ext cx="3622040" cy="23998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 name="Picture 8"/>
          <p:cNvPicPr>
            <a:picLocks noChangeAspect="1" noChangeArrowheads="1"/>
          </p:cNvPicPr>
          <p:nvPr/>
        </p:nvPicPr>
        <p:blipFill rotWithShape="1">
          <a:blip r:embed="rId2">
            <a:extLst>
              <a:ext uri="{28A0092B-C50C-407E-A947-70E740481C1C}">
                <a14:useLocalDpi xmlns:a14="http://schemas.microsoft.com/office/drawing/2010/main" val="0"/>
              </a:ext>
            </a:extLst>
          </a:blip>
          <a:srcRect l="35843" t="71241" r="50000" b="5752"/>
          <a:stretch/>
        </p:blipFill>
        <p:spPr bwMode="auto">
          <a:xfrm>
            <a:off x="849592" y="3236399"/>
            <a:ext cx="3796068" cy="35056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 name="Picture 6"/>
          <p:cNvPicPr>
            <a:picLocks noChangeAspect="1" noChangeArrowheads="1"/>
          </p:cNvPicPr>
          <p:nvPr/>
        </p:nvPicPr>
        <p:blipFill rotWithShape="1">
          <a:blip r:embed="rId2">
            <a:extLst>
              <a:ext uri="{28A0092B-C50C-407E-A947-70E740481C1C}">
                <a14:useLocalDpi xmlns:a14="http://schemas.microsoft.com/office/drawing/2010/main" val="0"/>
              </a:ext>
            </a:extLst>
          </a:blip>
          <a:srcRect l="35842" t="40625" r="56417" b="48143"/>
          <a:stretch/>
        </p:blipFill>
        <p:spPr bwMode="auto">
          <a:xfrm>
            <a:off x="849592" y="1526401"/>
            <a:ext cx="2123436" cy="17509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 name="Picture 12"/>
          <p:cNvPicPr>
            <a:picLocks noChangeAspect="1"/>
          </p:cNvPicPr>
          <p:nvPr/>
        </p:nvPicPr>
        <p:blipFill rotWithShape="1">
          <a:blip r:embed="rId3">
            <a:extLst>
              <a:ext uri="{28A0092B-C50C-407E-A947-70E740481C1C}">
                <a14:useLocalDpi xmlns:a14="http://schemas.microsoft.com/office/drawing/2010/main" val="0"/>
              </a:ext>
            </a:extLst>
          </a:blip>
          <a:srcRect l="21304" t="47983" r="65797" b="34488"/>
          <a:stretch/>
        </p:blipFill>
        <p:spPr>
          <a:xfrm>
            <a:off x="5354320" y="4138506"/>
            <a:ext cx="3307080" cy="2310698"/>
          </a:xfrm>
          <a:prstGeom prst="rect">
            <a:avLst/>
          </a:prstGeom>
        </p:spPr>
      </p:pic>
    </p:spTree>
    <p:extLst>
      <p:ext uri="{BB962C8B-B14F-4D97-AF65-F5344CB8AC3E}">
        <p14:creationId xmlns:p14="http://schemas.microsoft.com/office/powerpoint/2010/main" val="39917856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2440" y="286844"/>
            <a:ext cx="8503920" cy="747783"/>
          </a:xfrm>
        </p:spPr>
        <p:txBody>
          <a:bodyPr>
            <a:normAutofit/>
          </a:bodyPr>
          <a:lstStyle/>
          <a:p>
            <a:r>
              <a:rPr lang="en-US" sz="4200" dirty="0"/>
              <a:t>Images as Surfaces</a:t>
            </a:r>
          </a:p>
        </p:txBody>
      </p:sp>
      <p:pic>
        <p:nvPicPr>
          <p:cNvPr id="5" name="Picture 3"/>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20510" t="48177" r="24443" b="7141"/>
          <a:stretch/>
        </p:blipFill>
        <p:spPr bwMode="auto">
          <a:xfrm>
            <a:off x="1023905" y="3486766"/>
            <a:ext cx="7400990" cy="31038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708660" y="1268723"/>
            <a:ext cx="8031480" cy="2218043"/>
          </a:xfrm>
          <a:prstGeom prst="rect">
            <a:avLst/>
          </a:prstGeom>
          <a:noFill/>
        </p:spPr>
        <p:txBody>
          <a:bodyPr wrap="square" lIns="94915" tIns="47457" rIns="94915" bIns="47457" rtlCol="0">
            <a:spAutoFit/>
          </a:bodyPr>
          <a:lstStyle/>
          <a:p>
            <a:r>
              <a:rPr lang="en-US" sz="3300" i="1" dirty="0">
                <a:solidFill>
                  <a:schemeClr val="accent2">
                    <a:lumMod val="60000"/>
                    <a:lumOff val="40000"/>
                  </a:schemeClr>
                </a:solidFill>
              </a:rPr>
              <a:t>How is image a function??</a:t>
            </a:r>
          </a:p>
          <a:p>
            <a:r>
              <a:rPr lang="en-US" sz="2500" dirty="0"/>
              <a:t>Images are essentially surfaces with points having x and y coordinates. The value at a point depends on (</a:t>
            </a:r>
            <a:r>
              <a:rPr lang="en-US" sz="2500" dirty="0" err="1"/>
              <a:t>x,y</a:t>
            </a:r>
            <a:r>
              <a:rPr lang="en-US" sz="2500" dirty="0"/>
              <a:t>) coordinates. Thus an image can be represented as a function </a:t>
            </a:r>
            <a:r>
              <a:rPr lang="en-US" sz="2500" b="1" dirty="0"/>
              <a:t>f(</a:t>
            </a:r>
            <a:r>
              <a:rPr lang="en-US" sz="2500" b="1" dirty="0" err="1"/>
              <a:t>x,y</a:t>
            </a:r>
            <a:r>
              <a:rPr lang="en-US" sz="2500" b="1" dirty="0"/>
              <a:t>).</a:t>
            </a:r>
          </a:p>
        </p:txBody>
      </p:sp>
    </p:spTree>
    <p:extLst>
      <p:ext uri="{BB962C8B-B14F-4D97-AF65-F5344CB8AC3E}">
        <p14:creationId xmlns:p14="http://schemas.microsoft.com/office/powerpoint/2010/main" val="24123229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2440" y="286844"/>
            <a:ext cx="8503920" cy="827369"/>
          </a:xfrm>
        </p:spPr>
        <p:txBody>
          <a:bodyPr>
            <a:normAutofit/>
          </a:bodyPr>
          <a:lstStyle/>
          <a:p>
            <a:r>
              <a:rPr lang="en-US" sz="4200" b="1" dirty="0">
                <a:solidFill>
                  <a:schemeClr val="tx2">
                    <a:lumMod val="60000"/>
                    <a:lumOff val="40000"/>
                  </a:schemeClr>
                </a:solidFill>
              </a:rPr>
              <a:t>How to store an image??</a:t>
            </a:r>
          </a:p>
        </p:txBody>
      </p:sp>
      <p:sp>
        <p:nvSpPr>
          <p:cNvPr id="3" name="Content Placeholder 2"/>
          <p:cNvSpPr>
            <a:spLocks noGrp="1"/>
          </p:cNvSpPr>
          <p:nvPr>
            <p:ph idx="1"/>
          </p:nvPr>
        </p:nvSpPr>
        <p:spPr>
          <a:xfrm>
            <a:off x="472440" y="1273387"/>
            <a:ext cx="8503920" cy="5125050"/>
          </a:xfrm>
        </p:spPr>
        <p:txBody>
          <a:bodyPr>
            <a:normAutofit/>
          </a:bodyPr>
          <a:lstStyle/>
          <a:p>
            <a:pPr marL="0" indent="0">
              <a:buNone/>
            </a:pPr>
            <a:r>
              <a:rPr lang="en-US" sz="2900" dirty="0"/>
              <a:t>B-Splines are piecewise polynomial functions used for approximation and interpolation of data.</a:t>
            </a:r>
          </a:p>
          <a:p>
            <a:pPr marL="0" indent="0">
              <a:buNone/>
            </a:pPr>
            <a:endParaRPr lang="en-US" sz="2900" dirty="0"/>
          </a:p>
          <a:p>
            <a:pPr marL="0" indent="0">
              <a:buNone/>
            </a:pPr>
            <a:r>
              <a:rPr lang="en-US" dirty="0">
                <a:solidFill>
                  <a:schemeClr val="accent1"/>
                </a:solidFill>
              </a:rPr>
              <a:t>Challenges with B-Splines?</a:t>
            </a:r>
          </a:p>
          <a:p>
            <a:pPr marL="0" indent="0">
              <a:buNone/>
            </a:pPr>
            <a:endParaRPr lang="en-US" dirty="0">
              <a:solidFill>
                <a:schemeClr val="accent1"/>
              </a:solidFill>
            </a:endParaRPr>
          </a:p>
          <a:p>
            <a:pPr marL="0" indent="0">
              <a:buNone/>
            </a:pPr>
            <a:r>
              <a:rPr lang="en-US" sz="2900" b="1" dirty="0"/>
              <a:t>Computational Complexity</a:t>
            </a:r>
            <a:r>
              <a:rPr lang="en-US" sz="2900" dirty="0"/>
              <a:t>:  B-Spline calculations involve solving polynomial equations, which is computationally intensive.</a:t>
            </a:r>
          </a:p>
          <a:p>
            <a:pPr marL="0" indent="0">
              <a:buNone/>
            </a:pPr>
            <a:endParaRPr lang="en-US" sz="2900" dirty="0"/>
          </a:p>
          <a:p>
            <a:pPr marL="0" indent="0">
              <a:buNone/>
            </a:pPr>
            <a:endParaRPr lang="en-US" sz="2900" dirty="0"/>
          </a:p>
        </p:txBody>
      </p:sp>
    </p:spTree>
    <p:extLst>
      <p:ext uri="{BB962C8B-B14F-4D97-AF65-F5344CB8AC3E}">
        <p14:creationId xmlns:p14="http://schemas.microsoft.com/office/powerpoint/2010/main" val="38053996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2440" y="286844"/>
            <a:ext cx="8503920" cy="986543"/>
          </a:xfrm>
        </p:spPr>
        <p:txBody>
          <a:bodyPr>
            <a:normAutofit/>
          </a:bodyPr>
          <a:lstStyle/>
          <a:p>
            <a:r>
              <a:rPr lang="en-US" sz="4200" b="1" dirty="0">
                <a:solidFill>
                  <a:schemeClr val="tx2">
                    <a:lumMod val="60000"/>
                    <a:lumOff val="40000"/>
                  </a:schemeClr>
                </a:solidFill>
              </a:rPr>
              <a:t>Storage of Images(Gray Scale)</a:t>
            </a:r>
          </a:p>
        </p:txBody>
      </p:sp>
      <p:sp>
        <p:nvSpPr>
          <p:cNvPr id="3" name="Content Placeholder 2"/>
          <p:cNvSpPr>
            <a:spLocks noGrp="1"/>
          </p:cNvSpPr>
          <p:nvPr>
            <p:ph idx="1"/>
          </p:nvPr>
        </p:nvSpPr>
        <p:spPr>
          <a:xfrm>
            <a:off x="472440" y="1352973"/>
            <a:ext cx="8503920" cy="5571067"/>
          </a:xfrm>
        </p:spPr>
        <p:txBody>
          <a:bodyPr>
            <a:noAutofit/>
          </a:bodyPr>
          <a:lstStyle/>
          <a:p>
            <a:pPr marL="0" indent="0">
              <a:buNone/>
            </a:pPr>
            <a:r>
              <a:rPr lang="en-US" sz="2900" dirty="0"/>
              <a:t>To store an image in a computer and retain it, there are the following three steps:</a:t>
            </a:r>
          </a:p>
          <a:p>
            <a:pPr marL="0" indent="0">
              <a:buNone/>
            </a:pPr>
            <a:endParaRPr lang="en-US" sz="2900" dirty="0"/>
          </a:p>
          <a:p>
            <a:pPr marL="0" indent="0">
              <a:buNone/>
            </a:pPr>
            <a:endParaRPr lang="en-US" sz="2900" dirty="0"/>
          </a:p>
          <a:p>
            <a:pPr marL="0" indent="0">
              <a:buNone/>
            </a:pPr>
            <a:endParaRPr lang="en-US" sz="2900" dirty="0"/>
          </a:p>
          <a:p>
            <a:pPr marL="0" indent="0">
              <a:buNone/>
            </a:pPr>
            <a:endParaRPr lang="en-US" sz="2900" dirty="0"/>
          </a:p>
          <a:p>
            <a:r>
              <a:rPr lang="en-US" sz="2900" b="1" dirty="0">
                <a:solidFill>
                  <a:schemeClr val="tx2">
                    <a:lumMod val="60000"/>
                    <a:lumOff val="40000"/>
                  </a:schemeClr>
                </a:solidFill>
              </a:rPr>
              <a:t>Sampling</a:t>
            </a:r>
            <a:r>
              <a:rPr lang="en-US" sz="2900" dirty="0"/>
              <a:t> : Sampling is the process of converting a continuous image signal into a discrete signal</a:t>
            </a:r>
          </a:p>
          <a:p>
            <a:r>
              <a:rPr lang="en-US" sz="2900" b="1" dirty="0">
                <a:solidFill>
                  <a:schemeClr val="tx2">
                    <a:lumMod val="60000"/>
                    <a:lumOff val="40000"/>
                  </a:schemeClr>
                </a:solidFill>
              </a:rPr>
              <a:t>Quantization</a:t>
            </a:r>
            <a:r>
              <a:rPr lang="en-US" sz="2900" dirty="0"/>
              <a:t> : Quantization is mapping the continuous range of pixel values into a finite range of discrete values.</a:t>
            </a:r>
          </a:p>
          <a:p>
            <a:endParaRPr lang="en-US" sz="2900" dirty="0"/>
          </a:p>
        </p:txBody>
      </p:sp>
      <p:sp>
        <p:nvSpPr>
          <p:cNvPr id="18" name="Rounded Rectangle 17"/>
          <p:cNvSpPr/>
          <p:nvPr/>
        </p:nvSpPr>
        <p:spPr>
          <a:xfrm>
            <a:off x="944880" y="2682082"/>
            <a:ext cx="1732280" cy="95504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lIns="94915" tIns="47457" rIns="94915" bIns="47457" rtlCol="0" anchor="ctr"/>
          <a:lstStyle/>
          <a:p>
            <a:pPr algn="ctr"/>
            <a:r>
              <a:rPr lang="en-US" sz="2100" b="1" dirty="0"/>
              <a:t>Sampling</a:t>
            </a:r>
          </a:p>
        </p:txBody>
      </p:sp>
      <p:sp>
        <p:nvSpPr>
          <p:cNvPr id="23" name="Rounded Rectangle 22"/>
          <p:cNvSpPr/>
          <p:nvPr/>
        </p:nvSpPr>
        <p:spPr>
          <a:xfrm>
            <a:off x="3842973" y="2662259"/>
            <a:ext cx="1811020" cy="95504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lIns="94915" tIns="47457" rIns="94915" bIns="47457" rtlCol="0" anchor="ctr"/>
          <a:lstStyle/>
          <a:p>
            <a:pPr algn="ctr"/>
            <a:r>
              <a:rPr lang="en-US" b="1" dirty="0"/>
              <a:t>Quantization</a:t>
            </a:r>
          </a:p>
        </p:txBody>
      </p:sp>
      <p:sp>
        <p:nvSpPr>
          <p:cNvPr id="24" name="Rounded Rectangle 23"/>
          <p:cNvSpPr/>
          <p:nvPr/>
        </p:nvSpPr>
        <p:spPr>
          <a:xfrm>
            <a:off x="6814039" y="2605329"/>
            <a:ext cx="1811020" cy="96262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lIns="94915" tIns="47457" rIns="94915" bIns="47457" rtlCol="0" anchor="ctr"/>
          <a:lstStyle/>
          <a:p>
            <a:pPr algn="ctr"/>
            <a:r>
              <a:rPr lang="en-US" b="1" dirty="0"/>
              <a:t>Encoding</a:t>
            </a:r>
          </a:p>
        </p:txBody>
      </p:sp>
      <p:sp>
        <p:nvSpPr>
          <p:cNvPr id="34" name="Right Arrow 33"/>
          <p:cNvSpPr/>
          <p:nvPr/>
        </p:nvSpPr>
        <p:spPr>
          <a:xfrm>
            <a:off x="5839358" y="2906517"/>
            <a:ext cx="1011022" cy="506171"/>
          </a:xfrm>
          <a:prstGeom prst="rightArrow">
            <a:avLst/>
          </a:prstGeom>
          <a:solidFill>
            <a:schemeClr val="accent3">
              <a:lumMod val="60000"/>
              <a:lumOff val="40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94915" tIns="47457" rIns="94915" bIns="47457" rtlCol="0" anchor="ctr"/>
          <a:lstStyle/>
          <a:p>
            <a:pPr algn="ctr"/>
            <a:endParaRPr lang="en-US"/>
          </a:p>
        </p:txBody>
      </p:sp>
      <p:sp>
        <p:nvSpPr>
          <p:cNvPr id="35" name="Right Arrow 34"/>
          <p:cNvSpPr/>
          <p:nvPr/>
        </p:nvSpPr>
        <p:spPr>
          <a:xfrm>
            <a:off x="2831951" y="2906517"/>
            <a:ext cx="1011022" cy="506171"/>
          </a:xfrm>
          <a:prstGeom prst="rightArrow">
            <a:avLst/>
          </a:prstGeom>
          <a:solidFill>
            <a:schemeClr val="accent3">
              <a:lumMod val="60000"/>
              <a:lumOff val="40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94915" tIns="47457" rIns="94915" bIns="47457" rtlCol="0" anchor="ctr"/>
          <a:lstStyle/>
          <a:p>
            <a:pPr algn="ctr"/>
            <a:endParaRPr lang="en-US"/>
          </a:p>
        </p:txBody>
      </p:sp>
    </p:spTree>
    <p:extLst>
      <p:ext uri="{BB962C8B-B14F-4D97-AF65-F5344CB8AC3E}">
        <p14:creationId xmlns:p14="http://schemas.microsoft.com/office/powerpoint/2010/main" val="27205466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2440" y="286844"/>
            <a:ext cx="8503920" cy="1237156"/>
          </a:xfrm>
        </p:spPr>
        <p:txBody>
          <a:bodyPr>
            <a:normAutofit/>
          </a:bodyPr>
          <a:lstStyle/>
          <a:p>
            <a:pPr algn="l"/>
            <a:r>
              <a:rPr lang="en-US" sz="2400" b="1" dirty="0">
                <a:solidFill>
                  <a:schemeClr val="tx2">
                    <a:lumMod val="60000"/>
                    <a:lumOff val="40000"/>
                  </a:schemeClr>
                </a:solidFill>
              </a:rPr>
              <a:t>Encoding :</a:t>
            </a:r>
            <a:r>
              <a:rPr lang="en-US" sz="2400" dirty="0"/>
              <a:t> Encoding is the process of converting the quantized pixel values into a format that can be easily stored or transmitted.</a:t>
            </a:r>
          </a:p>
        </p:txBody>
      </p:sp>
      <p:pic>
        <p:nvPicPr>
          <p:cNvPr id="4" name="Content Placeholder 3"/>
          <p:cNvPicPr>
            <a:picLocks noGrp="1" noChangeAspect="1"/>
          </p:cNvPicPr>
          <p:nvPr>
            <p:ph idx="1"/>
          </p:nvPr>
        </p:nvPicPr>
        <p:blipFill rotWithShape="1">
          <a:blip r:embed="rId2">
            <a:extLst>
              <a:ext uri="{28A0092B-C50C-407E-A947-70E740481C1C}">
                <a14:useLocalDpi xmlns:a14="http://schemas.microsoft.com/office/drawing/2010/main" val="0"/>
              </a:ext>
            </a:extLst>
          </a:blip>
          <a:srcRect l="39028" t="34081" r="18039" b="26788"/>
          <a:stretch/>
        </p:blipFill>
        <p:spPr>
          <a:xfrm>
            <a:off x="4632961" y="3048000"/>
            <a:ext cx="4130040" cy="2502747"/>
          </a:xfrm>
        </p:spPr>
      </p:pic>
      <p:sp>
        <p:nvSpPr>
          <p:cNvPr id="5" name="Text Placeholder 3"/>
          <p:cNvSpPr txBox="1">
            <a:spLocks/>
          </p:cNvSpPr>
          <p:nvPr/>
        </p:nvSpPr>
        <p:spPr>
          <a:xfrm>
            <a:off x="581891" y="2706281"/>
            <a:ext cx="4023360" cy="2359838"/>
          </a:xfrm>
          <a:prstGeom prst="rect">
            <a:avLst/>
          </a:prstGeom>
        </p:spPr>
        <p:txBody>
          <a:bodyPr>
            <a:normAutofit/>
          </a:bodyPr>
          <a:lstStyle>
            <a:lvl1pPr marL="355930" indent="-355930" algn="l" defTabSz="949147" rtl="0" eaLnBrk="1" latinLnBrk="0" hangingPunct="1">
              <a:spcBef>
                <a:spcPct val="20000"/>
              </a:spcBef>
              <a:buFont typeface="Arial" pitchFamily="34" charset="0"/>
              <a:buChar char="•"/>
              <a:defRPr sz="3300" kern="1200">
                <a:solidFill>
                  <a:schemeClr val="tx1"/>
                </a:solidFill>
                <a:latin typeface="+mn-lt"/>
                <a:ea typeface="+mn-ea"/>
                <a:cs typeface="+mn-cs"/>
              </a:defRPr>
            </a:lvl1pPr>
            <a:lvl2pPr marL="771182" indent="-296609" algn="l" defTabSz="949147" rtl="0" eaLnBrk="1" latinLnBrk="0" hangingPunct="1">
              <a:spcBef>
                <a:spcPct val="20000"/>
              </a:spcBef>
              <a:buFont typeface="Arial" pitchFamily="34" charset="0"/>
              <a:buChar char="–"/>
              <a:defRPr sz="2900" kern="1200">
                <a:solidFill>
                  <a:schemeClr val="tx1"/>
                </a:solidFill>
                <a:latin typeface="+mn-lt"/>
                <a:ea typeface="+mn-ea"/>
                <a:cs typeface="+mn-cs"/>
              </a:defRPr>
            </a:lvl2pPr>
            <a:lvl3pPr marL="1186434" indent="-237287" algn="l" defTabSz="949147" rtl="0" eaLnBrk="1" latinLnBrk="0" hangingPunct="1">
              <a:spcBef>
                <a:spcPct val="20000"/>
              </a:spcBef>
              <a:buFont typeface="Arial" pitchFamily="34" charset="0"/>
              <a:buChar char="•"/>
              <a:defRPr sz="2500" kern="1200">
                <a:solidFill>
                  <a:schemeClr val="tx1"/>
                </a:solidFill>
                <a:latin typeface="+mn-lt"/>
                <a:ea typeface="+mn-ea"/>
                <a:cs typeface="+mn-cs"/>
              </a:defRPr>
            </a:lvl3pPr>
            <a:lvl4pPr marL="1661008" indent="-237287" algn="l" defTabSz="949147" rtl="0" eaLnBrk="1" latinLnBrk="0" hangingPunct="1">
              <a:spcBef>
                <a:spcPct val="20000"/>
              </a:spcBef>
              <a:buFont typeface="Arial" pitchFamily="34" charset="0"/>
              <a:buChar char="–"/>
              <a:defRPr sz="2100" kern="1200">
                <a:solidFill>
                  <a:schemeClr val="tx1"/>
                </a:solidFill>
                <a:latin typeface="+mn-lt"/>
                <a:ea typeface="+mn-ea"/>
                <a:cs typeface="+mn-cs"/>
              </a:defRPr>
            </a:lvl4pPr>
            <a:lvl5pPr marL="2135581" indent="-237287" algn="l" defTabSz="949147" rtl="0" eaLnBrk="1" latinLnBrk="0" hangingPunct="1">
              <a:spcBef>
                <a:spcPct val="20000"/>
              </a:spcBef>
              <a:buFont typeface="Arial" pitchFamily="34" charset="0"/>
              <a:buChar char="»"/>
              <a:defRPr sz="2100" kern="1200">
                <a:solidFill>
                  <a:schemeClr val="tx1"/>
                </a:solidFill>
                <a:latin typeface="+mn-lt"/>
                <a:ea typeface="+mn-ea"/>
                <a:cs typeface="+mn-cs"/>
              </a:defRPr>
            </a:lvl5pPr>
            <a:lvl6pPr marL="2610155" indent="-237287" algn="l" defTabSz="949147" rtl="0" eaLnBrk="1" latinLnBrk="0" hangingPunct="1">
              <a:spcBef>
                <a:spcPct val="20000"/>
              </a:spcBef>
              <a:buFont typeface="Arial" pitchFamily="34" charset="0"/>
              <a:buChar char="•"/>
              <a:defRPr sz="2100" kern="1200">
                <a:solidFill>
                  <a:schemeClr val="tx1"/>
                </a:solidFill>
                <a:latin typeface="+mn-lt"/>
                <a:ea typeface="+mn-ea"/>
                <a:cs typeface="+mn-cs"/>
              </a:defRPr>
            </a:lvl6pPr>
            <a:lvl7pPr marL="3084728" indent="-237287" algn="l" defTabSz="949147" rtl="0" eaLnBrk="1" latinLnBrk="0" hangingPunct="1">
              <a:spcBef>
                <a:spcPct val="20000"/>
              </a:spcBef>
              <a:buFont typeface="Arial" pitchFamily="34" charset="0"/>
              <a:buChar char="•"/>
              <a:defRPr sz="2100" kern="1200">
                <a:solidFill>
                  <a:schemeClr val="tx1"/>
                </a:solidFill>
                <a:latin typeface="+mn-lt"/>
                <a:ea typeface="+mn-ea"/>
                <a:cs typeface="+mn-cs"/>
              </a:defRPr>
            </a:lvl7pPr>
            <a:lvl8pPr marL="3559302" indent="-237287" algn="l" defTabSz="949147" rtl="0" eaLnBrk="1" latinLnBrk="0" hangingPunct="1">
              <a:spcBef>
                <a:spcPct val="20000"/>
              </a:spcBef>
              <a:buFont typeface="Arial" pitchFamily="34" charset="0"/>
              <a:buChar char="•"/>
              <a:defRPr sz="2100" kern="1200">
                <a:solidFill>
                  <a:schemeClr val="tx1"/>
                </a:solidFill>
                <a:latin typeface="+mn-lt"/>
                <a:ea typeface="+mn-ea"/>
                <a:cs typeface="+mn-cs"/>
              </a:defRPr>
            </a:lvl8pPr>
            <a:lvl9pPr marL="4033876" indent="-237287" algn="l" defTabSz="949147" rtl="0" eaLnBrk="1" latinLnBrk="0" hangingPunct="1">
              <a:spcBef>
                <a:spcPct val="20000"/>
              </a:spcBef>
              <a:buFont typeface="Arial" pitchFamily="34" charset="0"/>
              <a:buChar char="•"/>
              <a:defRPr sz="2100" kern="1200">
                <a:solidFill>
                  <a:schemeClr val="tx1"/>
                </a:solidFill>
                <a:latin typeface="+mn-lt"/>
                <a:ea typeface="+mn-ea"/>
                <a:cs typeface="+mn-cs"/>
              </a:defRPr>
            </a:lvl9pPr>
          </a:lstStyle>
          <a:p>
            <a:r>
              <a:rPr lang="en-US" sz="2400" dirty="0"/>
              <a:t>The total number of pixels is called </a:t>
            </a:r>
            <a:r>
              <a:rPr lang="en-US" sz="2400" b="1" dirty="0"/>
              <a:t>Resolution.</a:t>
            </a:r>
          </a:p>
          <a:p>
            <a:r>
              <a:rPr lang="en-US" sz="2400" dirty="0"/>
              <a:t>The more the </a:t>
            </a:r>
            <a:r>
              <a:rPr lang="en-US" sz="2400" dirty="0" err="1"/>
              <a:t>sampling,more</a:t>
            </a:r>
            <a:r>
              <a:rPr lang="en-US" sz="2400" dirty="0"/>
              <a:t> is the details in image, and bigger is the matrix.</a:t>
            </a:r>
          </a:p>
          <a:p>
            <a:endParaRPr lang="en-US" sz="2400" dirty="0"/>
          </a:p>
        </p:txBody>
      </p:sp>
      <p:sp>
        <p:nvSpPr>
          <p:cNvPr id="3" name="TextBox 2"/>
          <p:cNvSpPr txBox="1"/>
          <p:nvPr/>
        </p:nvSpPr>
        <p:spPr>
          <a:xfrm>
            <a:off x="581891" y="1524000"/>
            <a:ext cx="7620000" cy="1138773"/>
          </a:xfrm>
          <a:prstGeom prst="rect">
            <a:avLst/>
          </a:prstGeom>
          <a:noFill/>
        </p:spPr>
        <p:txBody>
          <a:bodyPr wrap="square" rtlCol="0">
            <a:spAutoFit/>
          </a:bodyPr>
          <a:lstStyle/>
          <a:p>
            <a:r>
              <a:rPr lang="en-US" sz="2400" dirty="0"/>
              <a:t>The standard </a:t>
            </a:r>
            <a:r>
              <a:rPr lang="en-US" sz="2400" dirty="0" err="1"/>
              <a:t>quantisation</a:t>
            </a:r>
            <a:r>
              <a:rPr lang="en-US" sz="2400" dirty="0"/>
              <a:t> has 256 levels(0-255).</a:t>
            </a:r>
          </a:p>
          <a:p>
            <a:r>
              <a:rPr lang="en-US" sz="2400" dirty="0"/>
              <a:t>Every sampling Point in the image is called a </a:t>
            </a:r>
            <a:r>
              <a:rPr lang="en-US" sz="2400" b="1" dirty="0"/>
              <a:t>Pixel.</a:t>
            </a:r>
          </a:p>
          <a:p>
            <a:endParaRPr lang="en-US" sz="2000" dirty="0"/>
          </a:p>
        </p:txBody>
      </p:sp>
    </p:spTree>
    <p:extLst>
      <p:ext uri="{BB962C8B-B14F-4D97-AF65-F5344CB8AC3E}">
        <p14:creationId xmlns:p14="http://schemas.microsoft.com/office/powerpoint/2010/main" val="18871592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2DA3603-6DF9-5AF2-60D7-3BB326AAD4F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791200" y="3922325"/>
            <a:ext cx="3200400" cy="2378538"/>
          </a:xfrm>
          <a:prstGeom prst="rect">
            <a:avLst/>
          </a:prstGeom>
        </p:spPr>
      </p:pic>
      <p:pic>
        <p:nvPicPr>
          <p:cNvPr id="13314" name="Picture 2">
            <a:extLst>
              <a:ext uri="{FF2B5EF4-FFF2-40B4-BE49-F238E27FC236}">
                <a16:creationId xmlns:a16="http://schemas.microsoft.com/office/drawing/2014/main" id="{A6FC531E-FB3F-CE1C-21C5-9FA7EAE427E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3082" t="3239" b="-1"/>
          <a:stretch/>
        </p:blipFill>
        <p:spPr bwMode="auto">
          <a:xfrm>
            <a:off x="5289436" y="1143000"/>
            <a:ext cx="3462310" cy="2367205"/>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FFB09616-B395-EE81-4063-4E75B612681D}"/>
              </a:ext>
            </a:extLst>
          </p:cNvPr>
          <p:cNvSpPr>
            <a:spLocks noGrp="1"/>
          </p:cNvSpPr>
          <p:nvPr>
            <p:ph type="title"/>
          </p:nvPr>
        </p:nvSpPr>
        <p:spPr>
          <a:xfrm>
            <a:off x="1037153" y="380107"/>
            <a:ext cx="7374494" cy="458093"/>
          </a:xfrm>
        </p:spPr>
        <p:txBody>
          <a:bodyPr>
            <a:normAutofit fontScale="90000"/>
          </a:bodyPr>
          <a:lstStyle/>
          <a:p>
            <a:pPr algn="ctr"/>
            <a:r>
              <a:rPr lang="en-IN" b="1" dirty="0">
                <a:solidFill>
                  <a:schemeClr val="accent5">
                    <a:lumMod val="60000"/>
                    <a:lumOff val="40000"/>
                  </a:schemeClr>
                </a:solidFill>
              </a:rPr>
              <a:t>Image Formation</a:t>
            </a:r>
          </a:p>
        </p:txBody>
      </p:sp>
      <p:sp>
        <p:nvSpPr>
          <p:cNvPr id="3" name="Content Placeholder 2">
            <a:extLst>
              <a:ext uri="{FF2B5EF4-FFF2-40B4-BE49-F238E27FC236}">
                <a16:creationId xmlns:a16="http://schemas.microsoft.com/office/drawing/2014/main" id="{64E86008-88C1-6BF3-8C6A-06902F984571}"/>
              </a:ext>
            </a:extLst>
          </p:cNvPr>
          <p:cNvSpPr>
            <a:spLocks noGrp="1"/>
          </p:cNvSpPr>
          <p:nvPr>
            <p:ph idx="1"/>
          </p:nvPr>
        </p:nvSpPr>
        <p:spPr>
          <a:xfrm>
            <a:off x="381000" y="1066801"/>
            <a:ext cx="4190999" cy="3886200"/>
          </a:xfrm>
        </p:spPr>
        <p:txBody>
          <a:bodyPr>
            <a:normAutofit lnSpcReduction="10000"/>
          </a:bodyPr>
          <a:lstStyle/>
          <a:p>
            <a:pPr marL="0" indent="0">
              <a:buNone/>
            </a:pPr>
            <a:r>
              <a:rPr lang="en-US" sz="2400" dirty="0"/>
              <a:t>When a light ray falls on an object, reflects from it and then falls on a film or a screen, it forms an image.</a:t>
            </a:r>
          </a:p>
          <a:p>
            <a:pPr marL="0" indent="0">
              <a:buNone/>
            </a:pPr>
            <a:r>
              <a:rPr lang="en-US" sz="2400" dirty="0"/>
              <a:t>Some models were used to make a clear image of the object-</a:t>
            </a:r>
          </a:p>
          <a:p>
            <a:pPr marL="457200" indent="-457200">
              <a:buFont typeface="+mj-lt"/>
              <a:buAutoNum type="arabicPeriod"/>
            </a:pPr>
            <a:r>
              <a:rPr lang="en-US" sz="2400" dirty="0"/>
              <a:t>Pin-hole model</a:t>
            </a:r>
          </a:p>
          <a:p>
            <a:pPr marL="457200" indent="-457200">
              <a:buFont typeface="+mj-lt"/>
              <a:buAutoNum type="arabicPeriod"/>
            </a:pPr>
            <a:r>
              <a:rPr lang="en-US" sz="2400" dirty="0"/>
              <a:t>Aperture model</a:t>
            </a:r>
          </a:p>
          <a:p>
            <a:pPr marL="457200" indent="-457200">
              <a:buFont typeface="+mj-lt"/>
              <a:buAutoNum type="arabicPeriod"/>
            </a:pPr>
            <a:r>
              <a:rPr lang="en-US" sz="2400" dirty="0"/>
              <a:t>Lens model</a:t>
            </a:r>
          </a:p>
        </p:txBody>
      </p:sp>
      <p:sp>
        <p:nvSpPr>
          <p:cNvPr id="12" name="Rectangle: Rounded Corners 11">
            <a:extLst>
              <a:ext uri="{FF2B5EF4-FFF2-40B4-BE49-F238E27FC236}">
                <a16:creationId xmlns:a16="http://schemas.microsoft.com/office/drawing/2014/main" id="{0BD2AAC5-C7F5-7E68-EA2A-A9652154F976}"/>
              </a:ext>
            </a:extLst>
          </p:cNvPr>
          <p:cNvSpPr/>
          <p:nvPr/>
        </p:nvSpPr>
        <p:spPr>
          <a:xfrm>
            <a:off x="381000" y="5111594"/>
            <a:ext cx="5181600" cy="1681641"/>
          </a:xfrm>
          <a:prstGeom prst="roundRect">
            <a:avLst/>
          </a:prstGeom>
          <a:solidFill>
            <a:schemeClr val="accent5">
              <a:lumMod val="60000"/>
              <a:lumOff val="40000"/>
              <a:alpha val="50000"/>
            </a:schemeClr>
          </a:solidFill>
          <a:ln>
            <a:solidFill>
              <a:srgbClr val="13B3B7"/>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
        <p:nvSpPr>
          <p:cNvPr id="10" name="TextBox 9">
            <a:extLst>
              <a:ext uri="{FF2B5EF4-FFF2-40B4-BE49-F238E27FC236}">
                <a16:creationId xmlns:a16="http://schemas.microsoft.com/office/drawing/2014/main" id="{1BC3499E-6881-A5F9-A3EC-C0AF9097D018}"/>
              </a:ext>
            </a:extLst>
          </p:cNvPr>
          <p:cNvSpPr txBox="1"/>
          <p:nvPr/>
        </p:nvSpPr>
        <p:spPr>
          <a:xfrm>
            <a:off x="550112" y="5238963"/>
            <a:ext cx="4670714" cy="1554272"/>
          </a:xfrm>
          <a:prstGeom prst="rect">
            <a:avLst/>
          </a:prstGeom>
          <a:noFill/>
        </p:spPr>
        <p:txBody>
          <a:bodyPr wrap="square" rtlCol="0">
            <a:spAutoFit/>
          </a:bodyPr>
          <a:lstStyle/>
          <a:p>
            <a:pPr marL="285750" indent="-285750">
              <a:buFont typeface="Arial" panose="020B0604020202020204" pitchFamily="34" charset="0"/>
              <a:buChar char="•"/>
            </a:pPr>
            <a:r>
              <a:rPr lang="en-IN" dirty="0"/>
              <a:t>Depth of Field(DOF): The range in which an object is limited be placed, in order to have a clear and bright image.</a:t>
            </a:r>
          </a:p>
          <a:p>
            <a:pPr marL="285750" indent="-285750">
              <a:buFont typeface="Arial" panose="020B0604020202020204" pitchFamily="34" charset="0"/>
              <a:buChar char="•"/>
            </a:pPr>
            <a:r>
              <a:rPr lang="en-IN" dirty="0"/>
              <a:t>Field of View(FOV): Describes the viewable area that can be imaged by lens system.</a:t>
            </a:r>
          </a:p>
        </p:txBody>
      </p:sp>
    </p:spTree>
    <p:extLst>
      <p:ext uri="{BB962C8B-B14F-4D97-AF65-F5344CB8AC3E}">
        <p14:creationId xmlns:p14="http://schemas.microsoft.com/office/powerpoint/2010/main" val="23367721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3543494B-22F1-19DD-3712-41507167314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200400" y="152400"/>
            <a:ext cx="6093910" cy="3891293"/>
          </a:xfrm>
          <a:prstGeom prst="rect">
            <a:avLst/>
          </a:prstGeom>
        </p:spPr>
      </p:pic>
      <p:pic>
        <p:nvPicPr>
          <p:cNvPr id="5" name="Picture 4">
            <a:extLst>
              <a:ext uri="{FF2B5EF4-FFF2-40B4-BE49-F238E27FC236}">
                <a16:creationId xmlns:a16="http://schemas.microsoft.com/office/drawing/2014/main" id="{98E5A231-C98D-8721-0E52-09EC56D3050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7199" y="4191000"/>
            <a:ext cx="4114801" cy="2350429"/>
          </a:xfrm>
          <a:prstGeom prst="rect">
            <a:avLst/>
          </a:prstGeom>
        </p:spPr>
      </p:pic>
      <p:sp>
        <p:nvSpPr>
          <p:cNvPr id="6" name="Rounded Rectangle 5"/>
          <p:cNvSpPr/>
          <p:nvPr/>
        </p:nvSpPr>
        <p:spPr>
          <a:xfrm>
            <a:off x="6324600" y="5029200"/>
            <a:ext cx="1676400" cy="838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Lens</a:t>
            </a:r>
            <a:r>
              <a:rPr lang="en-US" dirty="0"/>
              <a:t> Model</a:t>
            </a:r>
          </a:p>
        </p:txBody>
      </p:sp>
      <p:sp>
        <p:nvSpPr>
          <p:cNvPr id="7" name="Rounded Rectangle 6"/>
          <p:cNvSpPr/>
          <p:nvPr/>
        </p:nvSpPr>
        <p:spPr>
          <a:xfrm>
            <a:off x="443344" y="1752600"/>
            <a:ext cx="2819400" cy="10668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Relation b/w </a:t>
            </a:r>
            <a:r>
              <a:rPr lang="en-US" sz="2000" dirty="0" err="1"/>
              <a:t>DoF</a:t>
            </a:r>
            <a:r>
              <a:rPr lang="en-US" sz="2000" dirty="0"/>
              <a:t> and size of </a:t>
            </a:r>
            <a:r>
              <a:rPr lang="en-US" sz="2000" dirty="0" err="1"/>
              <a:t>apperture</a:t>
            </a:r>
            <a:endParaRPr lang="en-US" sz="2000" dirty="0"/>
          </a:p>
        </p:txBody>
      </p:sp>
      <p:cxnSp>
        <p:nvCxnSpPr>
          <p:cNvPr id="10" name="Straight Arrow Connector 9"/>
          <p:cNvCxnSpPr/>
          <p:nvPr/>
        </p:nvCxnSpPr>
        <p:spPr>
          <a:xfrm flipH="1">
            <a:off x="3505200" y="2057400"/>
            <a:ext cx="1219200" cy="1524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a:stCxn id="5" idx="3"/>
          </p:cNvCxnSpPr>
          <p:nvPr/>
        </p:nvCxnSpPr>
        <p:spPr>
          <a:xfrm>
            <a:off x="4572000" y="5366215"/>
            <a:ext cx="1524000" cy="8208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287651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2440" y="286844"/>
            <a:ext cx="8503920" cy="986543"/>
          </a:xfrm>
        </p:spPr>
        <p:txBody>
          <a:bodyPr>
            <a:normAutofit/>
          </a:bodyPr>
          <a:lstStyle/>
          <a:p>
            <a:r>
              <a:rPr lang="en-US" sz="4200" b="1" dirty="0">
                <a:solidFill>
                  <a:schemeClr val="accent4">
                    <a:lumMod val="60000"/>
                    <a:lumOff val="40000"/>
                  </a:schemeClr>
                </a:solidFill>
              </a:rPr>
              <a:t>How are colored images stored?</a:t>
            </a:r>
          </a:p>
        </p:txBody>
      </p:sp>
      <p:sp>
        <p:nvSpPr>
          <p:cNvPr id="3" name="Content Placeholder 2"/>
          <p:cNvSpPr>
            <a:spLocks noGrp="1"/>
          </p:cNvSpPr>
          <p:nvPr>
            <p:ph idx="1"/>
          </p:nvPr>
        </p:nvSpPr>
        <p:spPr>
          <a:xfrm>
            <a:off x="472440" y="1273387"/>
            <a:ext cx="8503920" cy="5491480"/>
          </a:xfrm>
        </p:spPr>
        <p:txBody>
          <a:bodyPr>
            <a:normAutofit/>
          </a:bodyPr>
          <a:lstStyle/>
          <a:p>
            <a:pPr marL="0" indent="0">
              <a:buNone/>
            </a:pPr>
            <a:r>
              <a:rPr lang="en-US" sz="2900" dirty="0"/>
              <a:t>Colored images are stored in the form of a 3D matrix or Triplet Matrix of size m×n×3.</a:t>
            </a:r>
            <a:br>
              <a:rPr lang="en-US" sz="2900" dirty="0"/>
            </a:br>
            <a:r>
              <a:rPr lang="en-US" sz="2900" dirty="0"/>
              <a:t>One such model is the RGB model.</a:t>
            </a:r>
          </a:p>
        </p:txBody>
      </p:sp>
      <p:pic>
        <p:nvPicPr>
          <p:cNvPr id="5" name="Picture 4"/>
          <p:cNvPicPr>
            <a:picLocks noChangeAspect="1"/>
          </p:cNvPicPr>
          <p:nvPr/>
        </p:nvPicPr>
        <p:blipFill rotWithShape="1">
          <a:blip r:embed="rId2">
            <a:extLst>
              <a:ext uri="{28A0092B-C50C-407E-A947-70E740481C1C}">
                <a14:useLocalDpi xmlns:a14="http://schemas.microsoft.com/office/drawing/2010/main" val="0"/>
              </a:ext>
            </a:extLst>
          </a:blip>
          <a:srcRect l="21376" t="14818" r="21154" b="31190"/>
          <a:stretch/>
        </p:blipFill>
        <p:spPr>
          <a:xfrm>
            <a:off x="1417320" y="2865120"/>
            <a:ext cx="6052312" cy="3660987"/>
          </a:xfrm>
          <a:prstGeom prst="rect">
            <a:avLst/>
          </a:prstGeom>
        </p:spPr>
      </p:pic>
    </p:spTree>
    <p:extLst>
      <p:ext uri="{BB962C8B-B14F-4D97-AF65-F5344CB8AC3E}">
        <p14:creationId xmlns:p14="http://schemas.microsoft.com/office/powerpoint/2010/main" val="8203179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6221" y="0"/>
            <a:ext cx="8897619" cy="1352973"/>
          </a:xfrm>
        </p:spPr>
        <p:txBody>
          <a:bodyPr>
            <a:normAutofit fontScale="90000"/>
          </a:bodyPr>
          <a:lstStyle/>
          <a:p>
            <a:pPr algn="l"/>
            <a:r>
              <a:rPr lang="en-US" b="1" dirty="0">
                <a:solidFill>
                  <a:schemeClr val="tx2">
                    <a:lumMod val="60000"/>
                    <a:lumOff val="40000"/>
                  </a:schemeClr>
                </a:solidFill>
              </a:rPr>
              <a:t>BASICS OF PIXEL RELATED OPERATIONS</a:t>
            </a:r>
            <a:endParaRPr lang="en-US" dirty="0"/>
          </a:p>
        </p:txBody>
      </p:sp>
      <p:sp>
        <p:nvSpPr>
          <p:cNvPr id="8" name="TextBox 7"/>
          <p:cNvSpPr txBox="1"/>
          <p:nvPr/>
        </p:nvSpPr>
        <p:spPr>
          <a:xfrm>
            <a:off x="454269" y="1114212"/>
            <a:ext cx="8503920" cy="1639423"/>
          </a:xfrm>
          <a:prstGeom prst="rect">
            <a:avLst/>
          </a:prstGeom>
          <a:noFill/>
        </p:spPr>
        <p:txBody>
          <a:bodyPr wrap="square" lIns="94915" tIns="47457" rIns="94915" bIns="47457" rtlCol="0">
            <a:spAutoFit/>
          </a:bodyPr>
          <a:lstStyle/>
          <a:p>
            <a:endParaRPr lang="en-US" sz="2500" dirty="0"/>
          </a:p>
          <a:p>
            <a:r>
              <a:rPr lang="en-US" sz="2500" dirty="0"/>
              <a:t>If we are given a matrix with values between 0-255, can we generate an image back from it??</a:t>
            </a:r>
          </a:p>
          <a:p>
            <a:endParaRPr lang="en-US" sz="2500" dirty="0"/>
          </a:p>
        </p:txBody>
      </p:sp>
      <p:pic>
        <p:nvPicPr>
          <p:cNvPr id="9" name="Content Placeholder 8"/>
          <p:cNvPicPr>
            <a:picLocks noGrp="1" noChangeAspect="1"/>
          </p:cNvPicPr>
          <p:nvPr>
            <p:ph sz="quarter" idx="4"/>
          </p:nvPr>
        </p:nvPicPr>
        <p:blipFill>
          <a:blip r:embed="rId2">
            <a:extLst>
              <a:ext uri="{28A0092B-C50C-407E-A947-70E740481C1C}">
                <a14:useLocalDpi xmlns:a14="http://schemas.microsoft.com/office/drawing/2010/main" val="0"/>
              </a:ext>
            </a:extLst>
          </a:blip>
          <a:stretch>
            <a:fillRect/>
          </a:stretch>
        </p:blipFill>
        <p:spPr>
          <a:xfrm>
            <a:off x="5275581" y="2865121"/>
            <a:ext cx="3103669" cy="3137042"/>
          </a:xfrm>
          <a:prstGeom prst="rect">
            <a:avLst/>
          </a:prstGeom>
          <a:ln>
            <a:solidFill>
              <a:schemeClr val="tx1"/>
            </a:solidFill>
          </a:ln>
        </p:spPr>
      </p:pic>
      <p:pic>
        <p:nvPicPr>
          <p:cNvPr id="10" name="Content Placeholder 9"/>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1102360" y="2865120"/>
            <a:ext cx="3070860" cy="3103880"/>
          </a:xfrm>
          <a:prstGeom prst="rect">
            <a:avLst/>
          </a:prstGeom>
          <a:ln>
            <a:solidFill>
              <a:schemeClr val="tx1"/>
            </a:solidFill>
          </a:ln>
        </p:spPr>
      </p:pic>
    </p:spTree>
    <p:extLst>
      <p:ext uri="{BB962C8B-B14F-4D97-AF65-F5344CB8AC3E}">
        <p14:creationId xmlns:p14="http://schemas.microsoft.com/office/powerpoint/2010/main" val="30917369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5000" dirty="0"/>
              <a:t>Histogram</a:t>
            </a:r>
          </a:p>
        </p:txBody>
      </p:sp>
      <p:pic>
        <p:nvPicPr>
          <p:cNvPr id="5" name="Content Placeholder 4"/>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4803140" y="451325"/>
            <a:ext cx="4015740" cy="2344590"/>
          </a:xfrm>
        </p:spPr>
      </p:pic>
      <p:sp>
        <p:nvSpPr>
          <p:cNvPr id="4" name="Text Placeholder 3"/>
          <p:cNvSpPr>
            <a:spLocks noGrp="1"/>
          </p:cNvSpPr>
          <p:nvPr>
            <p:ph type="body" sz="half" idx="2"/>
          </p:nvPr>
        </p:nvSpPr>
        <p:spPr>
          <a:xfrm>
            <a:off x="472441" y="1830494"/>
            <a:ext cx="3108590" cy="4567944"/>
          </a:xfrm>
        </p:spPr>
        <p:txBody>
          <a:bodyPr>
            <a:normAutofit/>
          </a:bodyPr>
          <a:lstStyle/>
          <a:p>
            <a:r>
              <a:rPr lang="en-US" sz="2900" dirty="0"/>
              <a:t>A histogram in image processing is a graphical representation of the distribution of pixel intensity values in an image.</a:t>
            </a:r>
          </a:p>
        </p:txBody>
      </p:sp>
      <p:pic>
        <p:nvPicPr>
          <p:cNvPr id="1026"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1891" t="38941" r="59197" b="9135"/>
          <a:stretch/>
        </p:blipFill>
        <p:spPr bwMode="auto">
          <a:xfrm>
            <a:off x="4566921" y="2830518"/>
            <a:ext cx="4330699" cy="39670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736101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2439" y="285186"/>
            <a:ext cx="4488179" cy="669854"/>
          </a:xfrm>
        </p:spPr>
        <p:txBody>
          <a:bodyPr>
            <a:noAutofit/>
          </a:bodyPr>
          <a:lstStyle/>
          <a:p>
            <a:r>
              <a:rPr lang="en-US" sz="3300" dirty="0"/>
              <a:t>Cumulative Histogram</a:t>
            </a:r>
          </a:p>
        </p:txBody>
      </p:sp>
      <p:pic>
        <p:nvPicPr>
          <p:cNvPr id="5" name="Content Placeholder 4"/>
          <p:cNvPicPr>
            <a:picLocks noGrp="1" noChangeAspect="1"/>
          </p:cNvPicPr>
          <p:nvPr>
            <p:ph idx="1"/>
          </p:nvPr>
        </p:nvPicPr>
        <p:blipFill rotWithShape="1">
          <a:blip r:embed="rId2">
            <a:extLst>
              <a:ext uri="{28A0092B-C50C-407E-A947-70E740481C1C}">
                <a14:useLocalDpi xmlns:a14="http://schemas.microsoft.com/office/drawing/2010/main" val="0"/>
              </a:ext>
            </a:extLst>
          </a:blip>
          <a:srcRect l="52010" t="12479" b="2252"/>
          <a:stretch/>
        </p:blipFill>
        <p:spPr>
          <a:xfrm>
            <a:off x="4724401" y="636694"/>
            <a:ext cx="4354360" cy="3765062"/>
          </a:xfrm>
        </p:spPr>
      </p:pic>
      <p:sp>
        <p:nvSpPr>
          <p:cNvPr id="4" name="Text Placeholder 3"/>
          <p:cNvSpPr>
            <a:spLocks noGrp="1"/>
          </p:cNvSpPr>
          <p:nvPr>
            <p:ph type="body" sz="half" idx="2"/>
          </p:nvPr>
        </p:nvSpPr>
        <p:spPr>
          <a:xfrm>
            <a:off x="472440" y="1034627"/>
            <a:ext cx="3937000" cy="5363810"/>
          </a:xfrm>
        </p:spPr>
        <p:txBody>
          <a:bodyPr>
            <a:normAutofit/>
          </a:bodyPr>
          <a:lstStyle/>
          <a:p>
            <a:r>
              <a:rPr lang="en-US" sz="2900" dirty="0"/>
              <a:t>cumulative histogram is a plot of the cumulative frequency of pixel intensities in an image.</a:t>
            </a:r>
          </a:p>
        </p:txBody>
      </p:sp>
      <p:pic>
        <p:nvPicPr>
          <p:cNvPr id="6" name="Picture 5"/>
          <p:cNvPicPr>
            <a:picLocks noChangeAspect="1"/>
          </p:cNvPicPr>
          <p:nvPr/>
        </p:nvPicPr>
        <p:blipFill rotWithShape="1">
          <a:blip r:embed="rId2">
            <a:extLst>
              <a:ext uri="{28A0092B-C50C-407E-A947-70E740481C1C}">
                <a14:useLocalDpi xmlns:a14="http://schemas.microsoft.com/office/drawing/2010/main" val="0"/>
              </a:ext>
            </a:extLst>
          </a:blip>
          <a:srcRect t="11354" r="50000" b="4255"/>
          <a:stretch/>
        </p:blipFill>
        <p:spPr>
          <a:xfrm>
            <a:off x="551178" y="3024294"/>
            <a:ext cx="4409441" cy="3557720"/>
          </a:xfrm>
          <a:prstGeom prst="rect">
            <a:avLst/>
          </a:prstGeom>
        </p:spPr>
      </p:pic>
      <p:sp>
        <p:nvSpPr>
          <p:cNvPr id="7" name="Rounded Rectangle 6"/>
          <p:cNvSpPr/>
          <p:nvPr/>
        </p:nvSpPr>
        <p:spPr>
          <a:xfrm>
            <a:off x="5275580" y="5889414"/>
            <a:ext cx="2440940" cy="692600"/>
          </a:xfrm>
          <a:prstGeom prst="roundRec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lIns="94915" tIns="47457" rIns="94915" bIns="47457" rtlCol="0" anchor="ctr"/>
          <a:lstStyle/>
          <a:p>
            <a:pPr algn="ctr"/>
            <a:r>
              <a:rPr lang="en-US" b="1" dirty="0">
                <a:solidFill>
                  <a:schemeClr val="accent1"/>
                </a:solidFill>
              </a:rPr>
              <a:t>Ordinary Histogram</a:t>
            </a:r>
          </a:p>
        </p:txBody>
      </p:sp>
      <p:sp>
        <p:nvSpPr>
          <p:cNvPr id="8" name="Rounded Rectangle 7"/>
          <p:cNvSpPr/>
          <p:nvPr/>
        </p:nvSpPr>
        <p:spPr>
          <a:xfrm>
            <a:off x="6220460" y="4443284"/>
            <a:ext cx="2440940" cy="719740"/>
          </a:xfrm>
          <a:prstGeom prst="roundRec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lIns="94915" tIns="47457" rIns="94915" bIns="47457" rtlCol="0" anchor="ctr"/>
          <a:lstStyle/>
          <a:p>
            <a:pPr algn="ctr"/>
            <a:r>
              <a:rPr lang="en-US" b="1" dirty="0">
                <a:solidFill>
                  <a:schemeClr val="accent1"/>
                </a:solidFill>
              </a:rPr>
              <a:t>Cumulative Histogram</a:t>
            </a:r>
          </a:p>
        </p:txBody>
      </p:sp>
      <p:cxnSp>
        <p:nvCxnSpPr>
          <p:cNvPr id="12" name="Curved Connector 11"/>
          <p:cNvCxnSpPr/>
          <p:nvPr/>
        </p:nvCxnSpPr>
        <p:spPr>
          <a:xfrm>
            <a:off x="3937000" y="4996658"/>
            <a:ext cx="1181100" cy="892756"/>
          </a:xfrm>
          <a:prstGeom prst="curvedConnector3">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360238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2440" y="318347"/>
            <a:ext cx="8503920" cy="795867"/>
          </a:xfrm>
        </p:spPr>
        <p:txBody>
          <a:bodyPr>
            <a:normAutofit/>
          </a:bodyPr>
          <a:lstStyle/>
          <a:p>
            <a:r>
              <a:rPr lang="en-US" sz="3700" b="1" dirty="0">
                <a:solidFill>
                  <a:schemeClr val="tx2">
                    <a:lumMod val="60000"/>
                    <a:lumOff val="40000"/>
                  </a:schemeClr>
                </a:solidFill>
              </a:rPr>
              <a:t>Histograms For Colored Images</a:t>
            </a:r>
          </a:p>
        </p:txBody>
      </p:sp>
      <p:sp>
        <p:nvSpPr>
          <p:cNvPr id="3" name="Content Placeholder 2"/>
          <p:cNvSpPr>
            <a:spLocks noGrp="1"/>
          </p:cNvSpPr>
          <p:nvPr>
            <p:ph idx="1"/>
          </p:nvPr>
        </p:nvSpPr>
        <p:spPr>
          <a:xfrm>
            <a:off x="472440" y="1273387"/>
            <a:ext cx="8503920" cy="5125050"/>
          </a:xfrm>
        </p:spPr>
        <p:txBody>
          <a:bodyPr>
            <a:normAutofit/>
          </a:bodyPr>
          <a:lstStyle/>
          <a:p>
            <a:pPr marL="0" indent="0">
              <a:buNone/>
            </a:pPr>
            <a:r>
              <a:rPr lang="en-US" sz="2900" dirty="0"/>
              <a:t>A color image histogram consists of separate histograms for each color channel (Red, Green, and Blue) in an RGB image.</a:t>
            </a: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66139" y="2944707"/>
            <a:ext cx="3970686" cy="3458958"/>
          </a:xfrm>
          <a:prstGeom prst="rect">
            <a:avLst/>
          </a:prstGeom>
        </p:spPr>
      </p:pic>
      <p:pic>
        <p:nvPicPr>
          <p:cNvPr id="2050"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3379" t="28366" r="62784" b="60576"/>
          <a:stretch/>
        </p:blipFill>
        <p:spPr bwMode="auto">
          <a:xfrm>
            <a:off x="5012261" y="2839099"/>
            <a:ext cx="3654716" cy="11380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rotWithShape="1">
          <a:blip r:embed="rId4">
            <a:extLst>
              <a:ext uri="{28A0092B-C50C-407E-A947-70E740481C1C}">
                <a14:useLocalDpi xmlns:a14="http://schemas.microsoft.com/office/drawing/2010/main" val="0"/>
              </a:ext>
            </a:extLst>
          </a:blip>
          <a:srcRect l="3373" t="25481" r="62704" b="59375"/>
          <a:stretch/>
        </p:blipFill>
        <p:spPr bwMode="auto">
          <a:xfrm>
            <a:off x="5036488" y="4050042"/>
            <a:ext cx="3654716" cy="12308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2" name="Picture 4"/>
          <p:cNvPicPr>
            <a:picLocks noChangeAspect="1" noChangeArrowheads="1"/>
          </p:cNvPicPr>
          <p:nvPr/>
        </p:nvPicPr>
        <p:blipFill rotWithShape="1">
          <a:blip r:embed="rId4">
            <a:extLst>
              <a:ext uri="{28A0092B-C50C-407E-A947-70E740481C1C}">
                <a14:useLocalDpi xmlns:a14="http://schemas.microsoft.com/office/drawing/2010/main" val="0"/>
              </a:ext>
            </a:extLst>
          </a:blip>
          <a:srcRect l="3469" t="80769" r="64189" b="9616"/>
          <a:stretch/>
        </p:blipFill>
        <p:spPr bwMode="auto">
          <a:xfrm>
            <a:off x="5036490" y="5412382"/>
            <a:ext cx="3630488" cy="9912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9303526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2440" y="286844"/>
            <a:ext cx="8503920" cy="906956"/>
          </a:xfrm>
        </p:spPr>
        <p:txBody>
          <a:bodyPr/>
          <a:lstStyle/>
          <a:p>
            <a:r>
              <a:rPr lang="en-US" b="1" dirty="0">
                <a:solidFill>
                  <a:schemeClr val="tx2">
                    <a:lumMod val="60000"/>
                    <a:lumOff val="40000"/>
                  </a:schemeClr>
                </a:solidFill>
              </a:rPr>
              <a:t>Histogram Equalization</a:t>
            </a:r>
          </a:p>
        </p:txBody>
      </p:sp>
      <p:sp>
        <p:nvSpPr>
          <p:cNvPr id="3" name="Content Placeholder 2"/>
          <p:cNvSpPr>
            <a:spLocks noGrp="1"/>
          </p:cNvSpPr>
          <p:nvPr>
            <p:ph idx="1"/>
          </p:nvPr>
        </p:nvSpPr>
        <p:spPr>
          <a:xfrm>
            <a:off x="472440" y="1432560"/>
            <a:ext cx="8503920" cy="4965877"/>
          </a:xfrm>
        </p:spPr>
        <p:txBody>
          <a:bodyPr>
            <a:normAutofit/>
          </a:bodyPr>
          <a:lstStyle/>
          <a:p>
            <a:r>
              <a:rPr lang="en-US" sz="2900" b="1" dirty="0">
                <a:solidFill>
                  <a:schemeClr val="accent1"/>
                </a:solidFill>
              </a:rPr>
              <a:t>Process</a:t>
            </a:r>
            <a:r>
              <a:rPr lang="en-US" sz="2900" dirty="0"/>
              <a:t>: Transforming the histogram to be more uniform, enhancing the overall contrast of the image.</a:t>
            </a:r>
          </a:p>
          <a:p>
            <a:endParaRPr lang="en-US" sz="2900" dirty="0"/>
          </a:p>
          <a:p>
            <a:r>
              <a:rPr lang="en-US" sz="2900" b="1" dirty="0">
                <a:solidFill>
                  <a:schemeClr val="accent1"/>
                </a:solidFill>
              </a:rPr>
              <a:t>Steps</a:t>
            </a:r>
            <a:r>
              <a:rPr lang="en-US" sz="2900" dirty="0">
                <a:solidFill>
                  <a:schemeClr val="accent1"/>
                </a:solidFill>
              </a:rPr>
              <a:t>: </a:t>
            </a:r>
            <a:r>
              <a:rPr lang="en-US" sz="2900" dirty="0"/>
              <a:t>Calculate the histogram.</a:t>
            </a:r>
          </a:p>
          <a:p>
            <a:r>
              <a:rPr lang="en-US" sz="2900" dirty="0"/>
              <a:t>Compute the cumulative distribution function (CDF).</a:t>
            </a:r>
          </a:p>
          <a:p>
            <a:r>
              <a:rPr lang="en-US" sz="2900" dirty="0"/>
              <a:t>Use the CDF to remap the intensity values.</a:t>
            </a:r>
          </a:p>
          <a:p>
            <a:endParaRPr lang="en-US" sz="2900" dirty="0"/>
          </a:p>
          <a:p>
            <a:r>
              <a:rPr lang="en-US" sz="2900" b="1" dirty="0">
                <a:solidFill>
                  <a:schemeClr val="accent1"/>
                </a:solidFill>
              </a:rPr>
              <a:t>Outcome</a:t>
            </a:r>
            <a:r>
              <a:rPr lang="en-US" sz="2900" dirty="0">
                <a:solidFill>
                  <a:schemeClr val="accent1"/>
                </a:solidFill>
              </a:rPr>
              <a:t>:</a:t>
            </a:r>
            <a:r>
              <a:rPr lang="en-US" sz="2900" dirty="0"/>
              <a:t> Improved contrast of image and detail visibility.</a:t>
            </a:r>
          </a:p>
        </p:txBody>
      </p:sp>
    </p:spTree>
    <p:extLst>
      <p:ext uri="{BB962C8B-B14F-4D97-AF65-F5344CB8AC3E}">
        <p14:creationId xmlns:p14="http://schemas.microsoft.com/office/powerpoint/2010/main" val="200984071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3700" y="318347"/>
            <a:ext cx="8503920" cy="1671320"/>
          </a:xfrm>
        </p:spPr>
        <p:txBody>
          <a:bodyPr>
            <a:noAutofit/>
          </a:bodyPr>
          <a:lstStyle/>
          <a:p>
            <a:pPr algn="l"/>
            <a:r>
              <a:rPr lang="en-US" sz="2900" dirty="0"/>
              <a:t>It achieves equalization  by effectively spreading out the most frequent intensity values.</a:t>
            </a:r>
          </a:p>
        </p:txBody>
      </p:sp>
      <p:pic>
        <p:nvPicPr>
          <p:cNvPr id="3074" name="Picture 2"/>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21821" t="34579" r="20292" b="21518"/>
          <a:stretch/>
        </p:blipFill>
        <p:spPr bwMode="auto">
          <a:xfrm>
            <a:off x="157480" y="1910080"/>
            <a:ext cx="9156838" cy="46160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408835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72440" y="318347"/>
            <a:ext cx="4174861" cy="668196"/>
          </a:xfrm>
        </p:spPr>
        <p:txBody>
          <a:bodyPr>
            <a:normAutofit/>
          </a:bodyPr>
          <a:lstStyle/>
          <a:p>
            <a:r>
              <a:rPr lang="en-US" sz="3300" dirty="0" err="1"/>
              <a:t>Thresholding</a:t>
            </a:r>
            <a:endParaRPr lang="en-US" sz="3300" dirty="0"/>
          </a:p>
        </p:txBody>
      </p:sp>
      <p:sp>
        <p:nvSpPr>
          <p:cNvPr id="4" name="Content Placeholder 3"/>
          <p:cNvSpPr>
            <a:spLocks noGrp="1"/>
          </p:cNvSpPr>
          <p:nvPr>
            <p:ph sz="half" idx="2"/>
          </p:nvPr>
        </p:nvSpPr>
        <p:spPr>
          <a:xfrm>
            <a:off x="472440" y="1034628"/>
            <a:ext cx="4174861" cy="2228427"/>
          </a:xfrm>
        </p:spPr>
        <p:txBody>
          <a:bodyPr>
            <a:noAutofit/>
          </a:bodyPr>
          <a:lstStyle/>
          <a:p>
            <a:pPr marL="0" indent="0">
              <a:buNone/>
            </a:pPr>
            <a:r>
              <a:rPr lang="en-US" dirty="0" err="1"/>
              <a:t>Thresholding</a:t>
            </a:r>
            <a:r>
              <a:rPr lang="en-US" dirty="0"/>
              <a:t> is a technique that creates binary images from </a:t>
            </a:r>
            <a:r>
              <a:rPr lang="en-US" dirty="0" err="1"/>
              <a:t>grayscale</a:t>
            </a:r>
            <a:r>
              <a:rPr lang="en-US" dirty="0"/>
              <a:t> images by classifying pixel value as either white or black.</a:t>
            </a:r>
          </a:p>
          <a:p>
            <a:pPr marL="0" indent="0">
              <a:buNone/>
            </a:pPr>
            <a:endParaRPr lang="en-US" dirty="0"/>
          </a:p>
          <a:p>
            <a:endParaRPr lang="en-US" dirty="0"/>
          </a:p>
        </p:txBody>
      </p:sp>
      <p:sp>
        <p:nvSpPr>
          <p:cNvPr id="5" name="Text Placeholder 4"/>
          <p:cNvSpPr>
            <a:spLocks noGrp="1"/>
          </p:cNvSpPr>
          <p:nvPr>
            <p:ph type="body" sz="quarter" idx="3"/>
          </p:nvPr>
        </p:nvSpPr>
        <p:spPr>
          <a:xfrm>
            <a:off x="4645660" y="318347"/>
            <a:ext cx="4176501" cy="636693"/>
          </a:xfrm>
        </p:spPr>
        <p:txBody>
          <a:bodyPr>
            <a:normAutofit/>
          </a:bodyPr>
          <a:lstStyle/>
          <a:p>
            <a:r>
              <a:rPr lang="en-US" sz="3300" dirty="0"/>
              <a:t>Image Negative</a:t>
            </a:r>
          </a:p>
        </p:txBody>
      </p:sp>
      <p:sp>
        <p:nvSpPr>
          <p:cNvPr id="6" name="Content Placeholder 5"/>
          <p:cNvSpPr>
            <a:spLocks noGrp="1"/>
          </p:cNvSpPr>
          <p:nvPr>
            <p:ph sz="quarter" idx="4"/>
          </p:nvPr>
        </p:nvSpPr>
        <p:spPr>
          <a:xfrm>
            <a:off x="4799860" y="955040"/>
            <a:ext cx="4176501" cy="5443397"/>
          </a:xfrm>
        </p:spPr>
        <p:txBody>
          <a:bodyPr/>
          <a:lstStyle/>
          <a:p>
            <a:pPr marL="0" indent="0">
              <a:buNone/>
            </a:pPr>
            <a:r>
              <a:rPr lang="en-US" dirty="0"/>
              <a:t>An image negative is produced by inverting the intensity values of an image</a:t>
            </a:r>
          </a:p>
          <a:p>
            <a:pPr marL="0" indent="0">
              <a:buNone/>
            </a:pPr>
            <a:r>
              <a:rPr lang="en-US" dirty="0"/>
              <a:t>.</a:t>
            </a:r>
          </a:p>
        </p:txBody>
      </p:sp>
      <p:pic>
        <p:nvPicPr>
          <p:cNvPr id="4099" name="Picture 3"/>
          <p:cNvPicPr>
            <a:picLocks noChangeAspect="1" noChangeArrowheads="1"/>
          </p:cNvPicPr>
          <p:nvPr/>
        </p:nvPicPr>
        <p:blipFill rotWithShape="1">
          <a:blip r:embed="rId2">
            <a:extLst>
              <a:ext uri="{28A0092B-C50C-407E-A947-70E740481C1C}">
                <a14:useLocalDpi xmlns:a14="http://schemas.microsoft.com/office/drawing/2010/main" val="0"/>
              </a:ext>
            </a:extLst>
          </a:blip>
          <a:srcRect l="1751" t="50000" r="61488" b="22837"/>
          <a:stretch/>
        </p:blipFill>
        <p:spPr bwMode="auto">
          <a:xfrm>
            <a:off x="4919376" y="4456853"/>
            <a:ext cx="3779520" cy="19100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19376" y="2308013"/>
            <a:ext cx="3779520" cy="1910080"/>
          </a:xfrm>
          <a:prstGeom prst="rect">
            <a:avLst/>
          </a:prstGeom>
        </p:spPr>
      </p:pic>
      <p:pic>
        <p:nvPicPr>
          <p:cNvPr id="8" name="Picture 7">
            <a:extLst>
              <a:ext uri="{FF2B5EF4-FFF2-40B4-BE49-F238E27FC236}">
                <a16:creationId xmlns:a16="http://schemas.microsoft.com/office/drawing/2014/main" id="{A8A4293D-B077-DF5A-5940-39B8D3FC323A}"/>
              </a:ext>
            </a:extLst>
          </p:cNvPr>
          <p:cNvPicPr>
            <a:picLocks noChangeAspect="1"/>
          </p:cNvPicPr>
          <p:nvPr/>
        </p:nvPicPr>
        <p:blipFill>
          <a:blip r:embed="rId4"/>
          <a:stretch>
            <a:fillRect/>
          </a:stretch>
        </p:blipFill>
        <p:spPr>
          <a:xfrm>
            <a:off x="708660" y="3327482"/>
            <a:ext cx="2980919" cy="2726245"/>
          </a:xfrm>
          <a:prstGeom prst="rect">
            <a:avLst/>
          </a:prstGeom>
        </p:spPr>
      </p:pic>
    </p:spTree>
    <p:extLst>
      <p:ext uri="{BB962C8B-B14F-4D97-AF65-F5344CB8AC3E}">
        <p14:creationId xmlns:p14="http://schemas.microsoft.com/office/powerpoint/2010/main" val="126269726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5000" b="1" dirty="0">
                <a:solidFill>
                  <a:schemeClr val="tx2">
                    <a:lumMod val="60000"/>
                    <a:lumOff val="40000"/>
                  </a:schemeClr>
                </a:solidFill>
              </a:rPr>
              <a:t>CONVOLUTION</a:t>
            </a:r>
          </a:p>
        </p:txBody>
      </p:sp>
      <p:sp>
        <p:nvSpPr>
          <p:cNvPr id="3" name="Content Placeholder 2"/>
          <p:cNvSpPr>
            <a:spLocks noGrp="1"/>
          </p:cNvSpPr>
          <p:nvPr>
            <p:ph idx="1"/>
          </p:nvPr>
        </p:nvSpPr>
        <p:spPr/>
        <p:txBody>
          <a:bodyPr>
            <a:normAutofit/>
          </a:bodyPr>
          <a:lstStyle/>
          <a:p>
            <a:r>
              <a:rPr lang="en-US" sz="2900" dirty="0"/>
              <a:t>Convolution is used to  apply filters to images.</a:t>
            </a:r>
          </a:p>
          <a:p>
            <a:r>
              <a:rPr lang="en-US" sz="2900" b="1" dirty="0"/>
              <a:t>Image filtering is </a:t>
            </a:r>
            <a:r>
              <a:rPr lang="en-US" sz="2900" dirty="0"/>
              <a:t>changing the pixel value of a specific image to blur, sharpen, emboss, or make edges more clear. It changes the appearance of the original image. </a:t>
            </a:r>
          </a:p>
          <a:p>
            <a:r>
              <a:rPr lang="en-US" sz="2900" dirty="0"/>
              <a:t>Mathematically it is an operation used to combine two functions to produce a third function.</a:t>
            </a:r>
          </a:p>
          <a:p>
            <a:endParaRPr lang="en-US" sz="2900" dirty="0"/>
          </a:p>
        </p:txBody>
      </p:sp>
    </p:spTree>
    <p:extLst>
      <p:ext uri="{BB962C8B-B14F-4D97-AF65-F5344CB8AC3E}">
        <p14:creationId xmlns:p14="http://schemas.microsoft.com/office/powerpoint/2010/main" val="272738578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51180" y="1313700"/>
            <a:ext cx="8346440" cy="5772900"/>
          </a:xfrm>
        </p:spPr>
      </p:pic>
      <p:sp>
        <p:nvSpPr>
          <p:cNvPr id="4" name="Title 1"/>
          <p:cNvSpPr>
            <a:spLocks noGrp="1"/>
          </p:cNvSpPr>
          <p:nvPr>
            <p:ph type="title"/>
          </p:nvPr>
        </p:nvSpPr>
        <p:spPr>
          <a:xfrm>
            <a:off x="472440" y="286844"/>
            <a:ext cx="8503920" cy="588609"/>
          </a:xfrm>
        </p:spPr>
        <p:txBody>
          <a:bodyPr>
            <a:noAutofit/>
          </a:bodyPr>
          <a:lstStyle/>
          <a:p>
            <a:r>
              <a:rPr lang="en-US" sz="4000" b="1" dirty="0">
                <a:solidFill>
                  <a:schemeClr val="accent5">
                    <a:lumMod val="60000"/>
                    <a:lumOff val="40000"/>
                  </a:schemeClr>
                </a:solidFill>
              </a:rPr>
              <a:t>Convolution Process</a:t>
            </a:r>
          </a:p>
        </p:txBody>
      </p:sp>
    </p:spTree>
    <p:extLst>
      <p:ext uri="{BB962C8B-B14F-4D97-AF65-F5344CB8AC3E}">
        <p14:creationId xmlns:p14="http://schemas.microsoft.com/office/powerpoint/2010/main" val="101111922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2440" y="286844"/>
            <a:ext cx="8503920" cy="747783"/>
          </a:xfrm>
        </p:spPr>
        <p:txBody>
          <a:bodyPr>
            <a:normAutofit fontScale="90000"/>
          </a:bodyPr>
          <a:lstStyle/>
          <a:p>
            <a:r>
              <a:rPr lang="en-US" b="1" dirty="0">
                <a:solidFill>
                  <a:srgbClr val="00B050"/>
                </a:solidFill>
              </a:rPr>
              <a:t>Averaging(Blurring)</a:t>
            </a:r>
          </a:p>
        </p:txBody>
      </p:sp>
      <p:pic>
        <p:nvPicPr>
          <p:cNvPr id="6" name="Picture 2"/>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2135" t="34119" r="69833" b="17544"/>
          <a:stretch/>
        </p:blipFill>
        <p:spPr bwMode="auto">
          <a:xfrm>
            <a:off x="314960" y="1591733"/>
            <a:ext cx="2923895" cy="28651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194"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60142" t="44952" r="27560" b="33894"/>
          <a:stretch/>
        </p:blipFill>
        <p:spPr bwMode="auto">
          <a:xfrm>
            <a:off x="6259698" y="1631527"/>
            <a:ext cx="2849850" cy="27855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 name="Picture 13"/>
          <p:cNvPicPr>
            <a:picLocks noChangeAspect="1"/>
          </p:cNvPicPr>
          <p:nvPr/>
        </p:nvPicPr>
        <p:blipFill rotWithShape="1">
          <a:blip r:embed="rId4">
            <a:extLst>
              <a:ext uri="{28A0092B-C50C-407E-A947-70E740481C1C}">
                <a14:useLocalDpi xmlns:a14="http://schemas.microsoft.com/office/drawing/2010/main" val="0"/>
              </a:ext>
            </a:extLst>
          </a:blip>
          <a:srcRect l="3623" t="11382" r="52423" b="15043"/>
          <a:stretch/>
        </p:blipFill>
        <p:spPr>
          <a:xfrm>
            <a:off x="3691158" y="4934373"/>
            <a:ext cx="1858949" cy="1560849"/>
          </a:xfrm>
          <a:prstGeom prst="rect">
            <a:avLst/>
          </a:prstGeom>
        </p:spPr>
      </p:pic>
      <p:cxnSp>
        <p:nvCxnSpPr>
          <p:cNvPr id="22" name="Straight Arrow Connector 21"/>
          <p:cNvCxnSpPr/>
          <p:nvPr/>
        </p:nvCxnSpPr>
        <p:spPr>
          <a:xfrm>
            <a:off x="3228340" y="4536440"/>
            <a:ext cx="708660" cy="397933"/>
          </a:xfrm>
          <a:prstGeom prst="straightConnector1">
            <a:avLst/>
          </a:prstGeom>
          <a:ln w="57150">
            <a:tailEnd type="arrow"/>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flipV="1">
            <a:off x="5550107" y="4417060"/>
            <a:ext cx="709591" cy="517313"/>
          </a:xfrm>
          <a:prstGeom prst="straightConnector1">
            <a:avLst/>
          </a:prstGeom>
          <a:ln w="57150">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6265689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2440" y="238760"/>
            <a:ext cx="8503920" cy="668196"/>
          </a:xfrm>
        </p:spPr>
        <p:txBody>
          <a:bodyPr>
            <a:normAutofit fontScale="90000"/>
          </a:bodyPr>
          <a:lstStyle/>
          <a:p>
            <a:r>
              <a:rPr lang="en-US" b="1" dirty="0">
                <a:solidFill>
                  <a:srgbClr val="00B050"/>
                </a:solidFill>
              </a:rPr>
              <a:t>Gaussian Blur</a:t>
            </a:r>
          </a:p>
        </p:txBody>
      </p:sp>
      <p:pic>
        <p:nvPicPr>
          <p:cNvPr id="4" name="Picture 2"/>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2135" t="34119" r="69833" b="17544"/>
          <a:stretch/>
        </p:blipFill>
        <p:spPr bwMode="auto">
          <a:xfrm>
            <a:off x="314960" y="1352974"/>
            <a:ext cx="2981462" cy="29215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218"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62034" t="40625" r="22559" b="32692"/>
          <a:stretch/>
        </p:blipFill>
        <p:spPr bwMode="auto">
          <a:xfrm>
            <a:off x="6135663" y="1432560"/>
            <a:ext cx="3041886" cy="29936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40068" y="5173133"/>
            <a:ext cx="2707952" cy="1512147"/>
          </a:xfrm>
          <a:prstGeom prst="rect">
            <a:avLst/>
          </a:prstGeom>
        </p:spPr>
      </p:pic>
      <p:cxnSp>
        <p:nvCxnSpPr>
          <p:cNvPr id="7" name="Straight Arrow Connector 6"/>
          <p:cNvCxnSpPr/>
          <p:nvPr/>
        </p:nvCxnSpPr>
        <p:spPr>
          <a:xfrm>
            <a:off x="3228340" y="4297680"/>
            <a:ext cx="472440" cy="875453"/>
          </a:xfrm>
          <a:prstGeom prst="straightConnector1">
            <a:avLst/>
          </a:prstGeom>
          <a:ln w="57150">
            <a:tailEnd type="arrow"/>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flipV="1">
            <a:off x="5669280" y="4426243"/>
            <a:ext cx="466383" cy="681145"/>
          </a:xfrm>
          <a:prstGeom prst="straightConnector1">
            <a:avLst/>
          </a:prstGeom>
          <a:ln w="57150">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7379017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3700" y="159173"/>
            <a:ext cx="8503920" cy="747783"/>
          </a:xfrm>
        </p:spPr>
        <p:txBody>
          <a:bodyPr>
            <a:normAutofit/>
          </a:bodyPr>
          <a:lstStyle/>
          <a:p>
            <a:r>
              <a:rPr lang="en-US" sz="4200" b="1" dirty="0">
                <a:solidFill>
                  <a:srgbClr val="00B050"/>
                </a:solidFill>
              </a:rPr>
              <a:t>Derivative of Image</a:t>
            </a:r>
          </a:p>
        </p:txBody>
      </p:sp>
      <p:pic>
        <p:nvPicPr>
          <p:cNvPr id="10242" name="Picture 2"/>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1288" t="30305" r="52184" b="11804"/>
          <a:stretch/>
        </p:blipFill>
        <p:spPr bwMode="auto">
          <a:xfrm>
            <a:off x="3355407" y="1193800"/>
            <a:ext cx="2789737" cy="19724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43" name="Picture 3"/>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19231" r="51351" b="12981"/>
          <a:stretch/>
        </p:blipFill>
        <p:spPr bwMode="auto">
          <a:xfrm>
            <a:off x="5984239" y="4297680"/>
            <a:ext cx="2821458" cy="22341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44" name="Picture 4"/>
          <p:cNvPicPr>
            <a:picLocks noChangeAspect="1" noChangeArrowheads="1"/>
          </p:cNvPicPr>
          <p:nvPr/>
        </p:nvPicPr>
        <p:blipFill rotWithShape="1">
          <a:blip r:embed="rId4">
            <a:extLst>
              <a:ext uri="{28A0092B-C50C-407E-A947-70E740481C1C}">
                <a14:useLocalDpi xmlns:a14="http://schemas.microsoft.com/office/drawing/2010/main" val="0"/>
              </a:ext>
            </a:extLst>
          </a:blip>
          <a:srcRect t="18990" r="50586" b="12981"/>
          <a:stretch/>
        </p:blipFill>
        <p:spPr bwMode="auto">
          <a:xfrm>
            <a:off x="572170" y="4297680"/>
            <a:ext cx="2950141" cy="2308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6" name="Straight Arrow Connector 5"/>
          <p:cNvCxnSpPr/>
          <p:nvPr/>
        </p:nvCxnSpPr>
        <p:spPr>
          <a:xfrm flipH="1">
            <a:off x="2204720" y="3263053"/>
            <a:ext cx="1139121" cy="1034627"/>
          </a:xfrm>
          <a:prstGeom prst="straightConnector1">
            <a:avLst/>
          </a:prstGeom>
          <a:ln w="57150">
            <a:tailEnd type="arrow"/>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a:off x="6141720" y="3263053"/>
            <a:ext cx="866140" cy="1034627"/>
          </a:xfrm>
          <a:prstGeom prst="straightConnector1">
            <a:avLst/>
          </a:prstGeom>
          <a:ln w="57150">
            <a:tailEnd type="arrow"/>
          </a:ln>
        </p:spPr>
        <p:style>
          <a:lnRef idx="1">
            <a:schemeClr val="accent1"/>
          </a:lnRef>
          <a:fillRef idx="0">
            <a:schemeClr val="accent1"/>
          </a:fillRef>
          <a:effectRef idx="0">
            <a:schemeClr val="accent1"/>
          </a:effectRef>
          <a:fontRef idx="minor">
            <a:schemeClr val="tx1"/>
          </a:fontRef>
        </p:style>
      </p:cxnSp>
      <p:graphicFrame>
        <p:nvGraphicFramePr>
          <p:cNvPr id="10" name="Table 9"/>
          <p:cNvGraphicFramePr>
            <a:graphicFrameLocks noGrp="1"/>
          </p:cNvGraphicFramePr>
          <p:nvPr>
            <p:extLst>
              <p:ext uri="{D42A27DB-BD31-4B8C-83A1-F6EECF244321}">
                <p14:modId xmlns:p14="http://schemas.microsoft.com/office/powerpoint/2010/main" val="978863962"/>
              </p:ext>
            </p:extLst>
          </p:nvPr>
        </p:nvGraphicFramePr>
        <p:xfrm>
          <a:off x="2047240" y="3183467"/>
          <a:ext cx="412080" cy="770128"/>
        </p:xfrm>
        <a:graphic>
          <a:graphicData uri="http://schemas.openxmlformats.org/drawingml/2006/table">
            <a:tbl>
              <a:tblPr firstRow="1" bandRow="1">
                <a:tableStyleId>{5C22544A-7EE6-4342-B048-85BDC9FD1C3A}</a:tableStyleId>
              </a:tblPr>
              <a:tblGrid>
                <a:gridCol w="412080">
                  <a:extLst>
                    <a:ext uri="{9D8B030D-6E8A-4147-A177-3AD203B41FA5}">
                      <a16:colId xmlns:a16="http://schemas.microsoft.com/office/drawing/2014/main" val="20000"/>
                    </a:ext>
                  </a:extLst>
                </a:gridCol>
              </a:tblGrid>
              <a:tr h="382016">
                <a:tc>
                  <a:txBody>
                    <a:bodyPr/>
                    <a:lstStyle/>
                    <a:p>
                      <a:r>
                        <a:rPr lang="en-US" sz="1900" dirty="0">
                          <a:solidFill>
                            <a:schemeClr val="tx1"/>
                          </a:solidFill>
                        </a:rPr>
                        <a:t> 1</a:t>
                      </a:r>
                    </a:p>
                  </a:txBody>
                  <a:tcPr marL="94488" marR="94488" marT="47752" marB="4775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382016">
                <a:tc>
                  <a:txBody>
                    <a:bodyPr/>
                    <a:lstStyle/>
                    <a:p>
                      <a:r>
                        <a:rPr lang="en-US" sz="1900" b="1" dirty="0">
                          <a:solidFill>
                            <a:schemeClr val="tx1"/>
                          </a:solidFill>
                        </a:rPr>
                        <a:t>-1</a:t>
                      </a:r>
                    </a:p>
                  </a:txBody>
                  <a:tcPr marL="94488" marR="94488" marT="47752" marB="4775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bl>
          </a:graphicData>
        </a:graphic>
      </p:graphicFrame>
      <p:graphicFrame>
        <p:nvGraphicFramePr>
          <p:cNvPr id="11" name="Table 10"/>
          <p:cNvGraphicFramePr>
            <a:graphicFrameLocks noGrp="1"/>
          </p:cNvGraphicFramePr>
          <p:nvPr>
            <p:extLst>
              <p:ext uri="{D42A27DB-BD31-4B8C-83A1-F6EECF244321}">
                <p14:modId xmlns:p14="http://schemas.microsoft.com/office/powerpoint/2010/main" val="469276519"/>
              </p:ext>
            </p:extLst>
          </p:nvPr>
        </p:nvGraphicFramePr>
        <p:xfrm>
          <a:off x="6961898" y="3501813"/>
          <a:ext cx="866140" cy="385064"/>
        </p:xfrm>
        <a:graphic>
          <a:graphicData uri="http://schemas.openxmlformats.org/drawingml/2006/table">
            <a:tbl>
              <a:tblPr firstRow="1" bandRow="1">
                <a:tableStyleId>{5C22544A-7EE6-4342-B048-85BDC9FD1C3A}</a:tableStyleId>
              </a:tblPr>
              <a:tblGrid>
                <a:gridCol w="433070">
                  <a:extLst>
                    <a:ext uri="{9D8B030D-6E8A-4147-A177-3AD203B41FA5}">
                      <a16:colId xmlns:a16="http://schemas.microsoft.com/office/drawing/2014/main" val="20000"/>
                    </a:ext>
                  </a:extLst>
                </a:gridCol>
                <a:gridCol w="433070">
                  <a:extLst>
                    <a:ext uri="{9D8B030D-6E8A-4147-A177-3AD203B41FA5}">
                      <a16:colId xmlns:a16="http://schemas.microsoft.com/office/drawing/2014/main" val="20001"/>
                    </a:ext>
                  </a:extLst>
                </a:gridCol>
              </a:tblGrid>
              <a:tr h="382016">
                <a:tc>
                  <a:txBody>
                    <a:bodyPr/>
                    <a:lstStyle/>
                    <a:p>
                      <a:r>
                        <a:rPr lang="en-US" sz="1900" dirty="0">
                          <a:solidFill>
                            <a:schemeClr val="tx1"/>
                          </a:solidFill>
                        </a:rPr>
                        <a:t> 1</a:t>
                      </a:r>
                    </a:p>
                  </a:txBody>
                  <a:tcPr marL="94488" marR="94488" marT="47752" marB="4775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900" dirty="0">
                          <a:solidFill>
                            <a:schemeClr val="tx1"/>
                          </a:solidFill>
                        </a:rPr>
                        <a:t>-1</a:t>
                      </a:r>
                    </a:p>
                  </a:txBody>
                  <a:tcPr marL="94488" marR="94488" marT="47752" marB="4775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bl>
          </a:graphicData>
        </a:graphic>
      </p:graphicFrame>
      <p:sp>
        <p:nvSpPr>
          <p:cNvPr id="17" name="TextBox 16"/>
          <p:cNvSpPr txBox="1"/>
          <p:nvPr/>
        </p:nvSpPr>
        <p:spPr>
          <a:xfrm>
            <a:off x="946183" y="2308014"/>
            <a:ext cx="2202111" cy="675057"/>
          </a:xfrm>
          <a:prstGeom prst="rect">
            <a:avLst/>
          </a:prstGeom>
          <a:noFill/>
        </p:spPr>
        <p:txBody>
          <a:bodyPr wrap="square" lIns="94915" tIns="47457" rIns="94915" bIns="47457" rtlCol="0">
            <a:spAutoFit/>
          </a:bodyPr>
          <a:lstStyle/>
          <a:p>
            <a:r>
              <a:rPr lang="en-US" dirty="0"/>
              <a:t>Derivative Kernel for vertical derivative</a:t>
            </a:r>
          </a:p>
        </p:txBody>
      </p:sp>
      <p:sp>
        <p:nvSpPr>
          <p:cNvPr id="23" name="TextBox 22"/>
          <p:cNvSpPr txBox="1"/>
          <p:nvPr/>
        </p:nvSpPr>
        <p:spPr>
          <a:xfrm>
            <a:off x="6456680" y="2308314"/>
            <a:ext cx="2202111" cy="675057"/>
          </a:xfrm>
          <a:prstGeom prst="rect">
            <a:avLst/>
          </a:prstGeom>
          <a:noFill/>
        </p:spPr>
        <p:txBody>
          <a:bodyPr wrap="square" lIns="94915" tIns="47457" rIns="94915" bIns="47457" rtlCol="0">
            <a:spAutoFit/>
          </a:bodyPr>
          <a:lstStyle/>
          <a:p>
            <a:r>
              <a:rPr lang="en-US" dirty="0"/>
              <a:t>Derivative Kernel for horizontal derivative</a:t>
            </a:r>
          </a:p>
        </p:txBody>
      </p:sp>
    </p:spTree>
    <p:extLst>
      <p:ext uri="{BB962C8B-B14F-4D97-AF65-F5344CB8AC3E}">
        <p14:creationId xmlns:p14="http://schemas.microsoft.com/office/powerpoint/2010/main" val="358791216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2440" y="286844"/>
            <a:ext cx="8503920" cy="588609"/>
          </a:xfrm>
        </p:spPr>
        <p:txBody>
          <a:bodyPr>
            <a:normAutofit fontScale="90000"/>
          </a:bodyPr>
          <a:lstStyle/>
          <a:p>
            <a:r>
              <a:rPr lang="en-US" b="1" dirty="0">
                <a:solidFill>
                  <a:srgbClr val="00B050"/>
                </a:solidFill>
              </a:rPr>
              <a:t>Edge Detection</a:t>
            </a:r>
          </a:p>
        </p:txBody>
      </p:sp>
      <p:pic>
        <p:nvPicPr>
          <p:cNvPr id="7" name="Content Placeholder 6"/>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448213" y="3276600"/>
            <a:ext cx="2870525" cy="2901390"/>
          </a:xfrm>
        </p:spPr>
      </p:pic>
      <p:sp>
        <p:nvSpPr>
          <p:cNvPr id="8" name="TextBox 7"/>
          <p:cNvSpPr txBox="1"/>
          <p:nvPr/>
        </p:nvSpPr>
        <p:spPr>
          <a:xfrm>
            <a:off x="472440" y="1114213"/>
            <a:ext cx="8503920" cy="1896588"/>
          </a:xfrm>
          <a:prstGeom prst="rect">
            <a:avLst/>
          </a:prstGeom>
          <a:noFill/>
        </p:spPr>
        <p:txBody>
          <a:bodyPr wrap="square" lIns="94915" tIns="47457" rIns="94915" bIns="47457" rtlCol="0">
            <a:spAutoFit/>
          </a:bodyPr>
          <a:lstStyle/>
          <a:p>
            <a:r>
              <a:rPr lang="en-US" sz="2900" dirty="0"/>
              <a:t>Edge Detection in an image is done using </a:t>
            </a:r>
            <a:r>
              <a:rPr lang="en-US" sz="2900" dirty="0" err="1"/>
              <a:t>Sobel</a:t>
            </a:r>
            <a:r>
              <a:rPr lang="en-US" sz="2900" dirty="0"/>
              <a:t> filters. The image first undergoes smoothening/Gaussian Filter ,then its derivative is taken which finally gives the edges.</a:t>
            </a:r>
          </a:p>
        </p:txBody>
      </p:sp>
      <p:pic>
        <p:nvPicPr>
          <p:cNvPr id="11268" name="Picture 4"/>
          <p:cNvPicPr>
            <a:picLocks noChangeAspect="1" noChangeArrowheads="1"/>
          </p:cNvPicPr>
          <p:nvPr/>
        </p:nvPicPr>
        <p:blipFill rotWithShape="1">
          <a:blip r:embed="rId3">
            <a:extLst>
              <a:ext uri="{28A0092B-C50C-407E-A947-70E740481C1C}">
                <a14:useLocalDpi xmlns:a14="http://schemas.microsoft.com/office/drawing/2010/main" val="0"/>
              </a:ext>
            </a:extLst>
          </a:blip>
          <a:srcRect l="1757" t="26994" r="70538" b="23559"/>
          <a:stretch/>
        </p:blipFill>
        <p:spPr bwMode="auto">
          <a:xfrm>
            <a:off x="5970249" y="3183467"/>
            <a:ext cx="3018225" cy="3061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10" name="Straight Arrow Connector 9"/>
          <p:cNvCxnSpPr/>
          <p:nvPr/>
        </p:nvCxnSpPr>
        <p:spPr>
          <a:xfrm>
            <a:off x="3740150" y="4714020"/>
            <a:ext cx="1968500" cy="0"/>
          </a:xfrm>
          <a:prstGeom prst="straightConnector1">
            <a:avLst/>
          </a:prstGeom>
          <a:ln w="571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3592085" y="4154613"/>
            <a:ext cx="2264631" cy="417893"/>
          </a:xfrm>
          <a:prstGeom prst="rect">
            <a:avLst/>
          </a:prstGeom>
          <a:noFill/>
        </p:spPr>
        <p:txBody>
          <a:bodyPr wrap="square" lIns="94915" tIns="47457" rIns="94915" bIns="47457" rtlCol="0">
            <a:spAutoFit/>
          </a:bodyPr>
          <a:lstStyle/>
          <a:p>
            <a:r>
              <a:rPr lang="en-US" sz="2100" b="1" dirty="0" err="1"/>
              <a:t>Sobel</a:t>
            </a:r>
            <a:r>
              <a:rPr lang="en-US" sz="2100" b="1" dirty="0"/>
              <a:t> - Horizontal</a:t>
            </a:r>
          </a:p>
        </p:txBody>
      </p:sp>
      <p:pic>
        <p:nvPicPr>
          <p:cNvPr id="12" name="Picture 11"/>
          <p:cNvPicPr>
            <a:picLocks noChangeAspect="1"/>
          </p:cNvPicPr>
          <p:nvPr/>
        </p:nvPicPr>
        <p:blipFill rotWithShape="1">
          <a:blip r:embed="rId4">
            <a:extLst>
              <a:ext uri="{28A0092B-C50C-407E-A947-70E740481C1C}">
                <a14:useLocalDpi xmlns:a14="http://schemas.microsoft.com/office/drawing/2010/main" val="0"/>
              </a:ext>
            </a:extLst>
          </a:blip>
          <a:srcRect l="-205" r="57625" b="5612"/>
          <a:stretch/>
        </p:blipFill>
        <p:spPr>
          <a:xfrm>
            <a:off x="3310108" y="5422945"/>
            <a:ext cx="2434884" cy="1643257"/>
          </a:xfrm>
          <a:prstGeom prst="rect">
            <a:avLst/>
          </a:prstGeom>
        </p:spPr>
      </p:pic>
    </p:spTree>
    <p:extLst>
      <p:ext uri="{BB962C8B-B14F-4D97-AF65-F5344CB8AC3E}">
        <p14:creationId xmlns:p14="http://schemas.microsoft.com/office/powerpoint/2010/main" val="187722781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6"/>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484176" y="1623227"/>
            <a:ext cx="3034519" cy="3067148"/>
          </a:xfrm>
        </p:spPr>
      </p:pic>
      <p:pic>
        <p:nvPicPr>
          <p:cNvPr id="12290"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12434" t="37500" r="59860" b="13942"/>
          <a:stretch/>
        </p:blipFill>
        <p:spPr bwMode="auto">
          <a:xfrm>
            <a:off x="5905500" y="1623226"/>
            <a:ext cx="3116467" cy="31038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4"/>
          <p:cNvPicPr>
            <a:picLocks noChangeAspect="1"/>
          </p:cNvPicPr>
          <p:nvPr/>
        </p:nvPicPr>
        <p:blipFill rotWithShape="1">
          <a:blip r:embed="rId4">
            <a:extLst>
              <a:ext uri="{28A0092B-C50C-407E-A947-70E740481C1C}">
                <a14:useLocalDpi xmlns:a14="http://schemas.microsoft.com/office/drawing/2010/main" val="0"/>
              </a:ext>
            </a:extLst>
          </a:blip>
          <a:srcRect l="58262"/>
          <a:stretch/>
        </p:blipFill>
        <p:spPr>
          <a:xfrm>
            <a:off x="3191361" y="4730567"/>
            <a:ext cx="2714139" cy="1979718"/>
          </a:xfrm>
          <a:prstGeom prst="rect">
            <a:avLst/>
          </a:prstGeom>
        </p:spPr>
      </p:pic>
      <p:cxnSp>
        <p:nvCxnSpPr>
          <p:cNvPr id="7" name="Straight Arrow Connector 6"/>
          <p:cNvCxnSpPr/>
          <p:nvPr/>
        </p:nvCxnSpPr>
        <p:spPr>
          <a:xfrm>
            <a:off x="3700780" y="3541607"/>
            <a:ext cx="2047240" cy="0"/>
          </a:xfrm>
          <a:prstGeom prst="straightConnector1">
            <a:avLst/>
          </a:prstGeom>
          <a:ln w="571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3845957" y="2966220"/>
            <a:ext cx="2059543" cy="417893"/>
          </a:xfrm>
          <a:prstGeom prst="rect">
            <a:avLst/>
          </a:prstGeom>
          <a:noFill/>
        </p:spPr>
        <p:txBody>
          <a:bodyPr wrap="square" lIns="94915" tIns="47457" rIns="94915" bIns="47457" rtlCol="0">
            <a:spAutoFit/>
          </a:bodyPr>
          <a:lstStyle/>
          <a:p>
            <a:r>
              <a:rPr lang="en-US" sz="2100" b="1" dirty="0" err="1"/>
              <a:t>Sobel</a:t>
            </a:r>
            <a:r>
              <a:rPr lang="en-US" sz="2100" b="1" dirty="0"/>
              <a:t> - Vertical</a:t>
            </a:r>
          </a:p>
        </p:txBody>
      </p:sp>
    </p:spTree>
    <p:extLst>
      <p:ext uri="{BB962C8B-B14F-4D97-AF65-F5344CB8AC3E}">
        <p14:creationId xmlns:p14="http://schemas.microsoft.com/office/powerpoint/2010/main" val="162043732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2440" y="286844"/>
            <a:ext cx="8503920" cy="668196"/>
          </a:xfrm>
        </p:spPr>
        <p:txBody>
          <a:bodyPr>
            <a:noAutofit/>
          </a:bodyPr>
          <a:lstStyle/>
          <a:p>
            <a:r>
              <a:rPr lang="en-US" sz="3700" b="1" dirty="0">
                <a:solidFill>
                  <a:srgbClr val="00B050"/>
                </a:solidFill>
              </a:rPr>
              <a:t>Canny Edge Detection</a:t>
            </a:r>
          </a:p>
        </p:txBody>
      </p:sp>
      <p:pic>
        <p:nvPicPr>
          <p:cNvPr id="13315" name="Picture 3"/>
          <p:cNvPicPr>
            <a:picLocks noChangeAspect="1" noChangeArrowheads="1"/>
          </p:cNvPicPr>
          <p:nvPr/>
        </p:nvPicPr>
        <p:blipFill rotWithShape="1">
          <a:blip r:embed="rId2">
            <a:extLst>
              <a:ext uri="{28A0092B-C50C-407E-A947-70E740481C1C}">
                <a14:useLocalDpi xmlns:a14="http://schemas.microsoft.com/office/drawing/2010/main" val="0"/>
              </a:ext>
            </a:extLst>
          </a:blip>
          <a:srcRect l="34719" t="21268" r="16086" b="39366"/>
          <a:stretch/>
        </p:blipFill>
        <p:spPr bwMode="auto">
          <a:xfrm>
            <a:off x="551180" y="2906643"/>
            <a:ext cx="8591405" cy="39067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316" name="Picture 4"/>
          <p:cNvPicPr>
            <a:picLocks noChangeAspect="1" noChangeArrowheads="1"/>
          </p:cNvPicPr>
          <p:nvPr/>
        </p:nvPicPr>
        <p:blipFill rotWithShape="1">
          <a:blip r:embed="rId3">
            <a:extLst>
              <a:ext uri="{28A0092B-C50C-407E-A947-70E740481C1C}">
                <a14:useLocalDpi xmlns:a14="http://schemas.microsoft.com/office/drawing/2010/main" val="0"/>
              </a:ext>
            </a:extLst>
          </a:blip>
          <a:srcRect l="34721" t="52219" r="27695" b="29665"/>
          <a:stretch/>
        </p:blipFill>
        <p:spPr bwMode="auto">
          <a:xfrm>
            <a:off x="551179" y="1115673"/>
            <a:ext cx="6614160" cy="18117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9102135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2440" y="286844"/>
            <a:ext cx="8503920" cy="588609"/>
          </a:xfrm>
        </p:spPr>
        <p:txBody>
          <a:bodyPr>
            <a:noAutofit/>
          </a:bodyPr>
          <a:lstStyle/>
          <a:p>
            <a:r>
              <a:rPr lang="en-US" sz="3700" b="1" dirty="0">
                <a:solidFill>
                  <a:srgbClr val="00B050"/>
                </a:solidFill>
              </a:rPr>
              <a:t>Example: Canny Edges of Image</a:t>
            </a:r>
          </a:p>
        </p:txBody>
      </p:sp>
      <p:pic>
        <p:nvPicPr>
          <p:cNvPr id="4" name="Content Placeholder 6"/>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393700" y="1193800"/>
            <a:ext cx="2440940" cy="2467187"/>
          </a:xfrm>
        </p:spPr>
      </p:pic>
      <p:pic>
        <p:nvPicPr>
          <p:cNvPr id="14338"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1622" t="31250" r="70402" b="17789"/>
          <a:stretch/>
        </p:blipFill>
        <p:spPr bwMode="auto">
          <a:xfrm>
            <a:off x="6456680" y="1034481"/>
            <a:ext cx="2513623" cy="26020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ight Arrow 4"/>
          <p:cNvSpPr/>
          <p:nvPr/>
        </p:nvSpPr>
        <p:spPr>
          <a:xfrm>
            <a:off x="4015740" y="2096729"/>
            <a:ext cx="1417320" cy="370457"/>
          </a:xfrm>
          <a:prstGeom prst="rightArrow">
            <a:avLst/>
          </a:prstGeom>
          <a:solidFill>
            <a:srgbClr val="00B050"/>
          </a:solidFill>
          <a:ln>
            <a:solidFill>
              <a:srgbClr val="385D8A"/>
            </a:solidFill>
          </a:ln>
        </p:spPr>
        <p:style>
          <a:lnRef idx="2">
            <a:schemeClr val="accent1">
              <a:shade val="50000"/>
            </a:schemeClr>
          </a:lnRef>
          <a:fillRef idx="1">
            <a:schemeClr val="accent1"/>
          </a:fillRef>
          <a:effectRef idx="0">
            <a:schemeClr val="accent1"/>
          </a:effectRef>
          <a:fontRef idx="minor">
            <a:schemeClr val="lt1"/>
          </a:fontRef>
        </p:style>
        <p:txBody>
          <a:bodyPr lIns="94915" tIns="47457" rIns="94915" bIns="47457" rtlCol="0" anchor="ctr"/>
          <a:lstStyle/>
          <a:p>
            <a:pPr algn="ctr"/>
            <a:endParaRPr lang="en-US"/>
          </a:p>
        </p:txBody>
      </p:sp>
      <p:pic>
        <p:nvPicPr>
          <p:cNvPr id="7" name="Picture 6"/>
          <p:cNvPicPr>
            <a:picLocks noChangeAspect="1"/>
          </p:cNvPicPr>
          <p:nvPr/>
        </p:nvPicPr>
        <p:blipFill rotWithShape="1">
          <a:blip r:embed="rId4">
            <a:extLst>
              <a:ext uri="{28A0092B-C50C-407E-A947-70E740481C1C}">
                <a14:useLocalDpi xmlns:a14="http://schemas.microsoft.com/office/drawing/2010/main" val="0"/>
              </a:ext>
            </a:extLst>
          </a:blip>
          <a:srcRect t="9371" b="5467"/>
          <a:stretch/>
        </p:blipFill>
        <p:spPr>
          <a:xfrm>
            <a:off x="6058" y="4282301"/>
            <a:ext cx="9286557" cy="2479431"/>
          </a:xfrm>
          <a:prstGeom prst="rect">
            <a:avLst/>
          </a:prstGeom>
        </p:spPr>
      </p:pic>
    </p:spTree>
    <p:extLst>
      <p:ext uri="{BB962C8B-B14F-4D97-AF65-F5344CB8AC3E}">
        <p14:creationId xmlns:p14="http://schemas.microsoft.com/office/powerpoint/2010/main" val="44490393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2440" y="286844"/>
            <a:ext cx="8503920" cy="747783"/>
          </a:xfrm>
        </p:spPr>
        <p:txBody>
          <a:bodyPr>
            <a:noAutofit/>
          </a:bodyPr>
          <a:lstStyle/>
          <a:p>
            <a:r>
              <a:rPr lang="en-US" sz="4200" b="1" dirty="0">
                <a:solidFill>
                  <a:schemeClr val="accent4">
                    <a:lumMod val="60000"/>
                    <a:lumOff val="40000"/>
                  </a:schemeClr>
                </a:solidFill>
              </a:rPr>
              <a:t>Hysteresis</a:t>
            </a:r>
          </a:p>
        </p:txBody>
      </p:sp>
      <p:sp>
        <p:nvSpPr>
          <p:cNvPr id="3" name="Content Placeholder 2"/>
          <p:cNvSpPr>
            <a:spLocks noGrp="1"/>
          </p:cNvSpPr>
          <p:nvPr>
            <p:ph idx="1"/>
          </p:nvPr>
        </p:nvSpPr>
        <p:spPr>
          <a:xfrm>
            <a:off x="472440" y="1034627"/>
            <a:ext cx="8503920" cy="5363810"/>
          </a:xfrm>
        </p:spPr>
        <p:txBody>
          <a:bodyPr>
            <a:normAutofit/>
          </a:bodyPr>
          <a:lstStyle/>
          <a:p>
            <a:pPr marL="0" indent="0">
              <a:buNone/>
            </a:pPr>
            <a:r>
              <a:rPr lang="en-US" sz="2500" dirty="0"/>
              <a:t>Hysteresis is used to improve edge detection by connecting edges that are strong enough to form meaningful boundaries. </a:t>
            </a:r>
            <a:r>
              <a:rPr lang="en-US" sz="2500" b="1" dirty="0"/>
              <a:t>Apply two thresholds</a:t>
            </a:r>
            <a:r>
              <a:rPr lang="en-US" sz="2500" dirty="0"/>
              <a:t>: a high threshold to identify strong edges and a low threshold to identify weak edges. Connect weak edges to strong edges if they are in the neighborhood.</a:t>
            </a:r>
          </a:p>
          <a:p>
            <a:pPr marL="0" indent="0">
              <a:buNone/>
            </a:pPr>
            <a:endParaRPr lang="en-US" sz="2500" dirty="0"/>
          </a:p>
          <a:p>
            <a:endParaRPr lang="en-US" sz="2500"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81101" y="3342640"/>
            <a:ext cx="7231281" cy="3126861"/>
          </a:xfrm>
          <a:prstGeom prst="rect">
            <a:avLst/>
          </a:prstGeom>
        </p:spPr>
      </p:pic>
    </p:spTree>
    <p:extLst>
      <p:ext uri="{BB962C8B-B14F-4D97-AF65-F5344CB8AC3E}">
        <p14:creationId xmlns:p14="http://schemas.microsoft.com/office/powerpoint/2010/main" val="356827193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2440" y="286844"/>
            <a:ext cx="8503920" cy="668196"/>
          </a:xfrm>
        </p:spPr>
        <p:txBody>
          <a:bodyPr>
            <a:normAutofit fontScale="90000"/>
          </a:bodyPr>
          <a:lstStyle/>
          <a:p>
            <a:r>
              <a:rPr lang="en-US" sz="4200" dirty="0"/>
              <a:t>Image Sharpening</a:t>
            </a:r>
          </a:p>
        </p:txBody>
      </p:sp>
      <p:pic>
        <p:nvPicPr>
          <p:cNvPr id="4" name="Content Placeholder 3"/>
          <p:cNvPicPr>
            <a:picLocks noGrp="1" noChangeAspect="1"/>
          </p:cNvPicPr>
          <p:nvPr>
            <p:ph idx="1"/>
          </p:nvPr>
        </p:nvPicPr>
        <p:blipFill rotWithShape="1">
          <a:blip r:embed="rId2">
            <a:extLst>
              <a:ext uri="{28A0092B-C50C-407E-A947-70E740481C1C}">
                <a14:useLocalDpi xmlns:a14="http://schemas.microsoft.com/office/drawing/2010/main" val="0"/>
              </a:ext>
            </a:extLst>
          </a:blip>
          <a:srcRect l="8313" r="49080"/>
          <a:stretch/>
        </p:blipFill>
        <p:spPr>
          <a:xfrm>
            <a:off x="3650520" y="4159269"/>
            <a:ext cx="2230882" cy="2626360"/>
          </a:xfrm>
        </p:spPr>
      </p:pic>
      <p:pic>
        <p:nvPicPr>
          <p:cNvPr id="6" name="Picture 5"/>
          <p:cNvPicPr>
            <a:picLocks noChangeAspect="1"/>
          </p:cNvPicPr>
          <p:nvPr/>
        </p:nvPicPr>
        <p:blipFill rotWithShape="1">
          <a:blip r:embed="rId3">
            <a:extLst>
              <a:ext uri="{28A0092B-C50C-407E-A947-70E740481C1C}">
                <a14:useLocalDpi xmlns:a14="http://schemas.microsoft.com/office/drawing/2010/main" val="0"/>
              </a:ext>
            </a:extLst>
          </a:blip>
          <a:srcRect l="22504" t="50000" r="21739" b="18745"/>
          <a:stretch/>
        </p:blipFill>
        <p:spPr>
          <a:xfrm>
            <a:off x="393701" y="1394497"/>
            <a:ext cx="8744522" cy="2785533"/>
          </a:xfrm>
          <a:prstGeom prst="rect">
            <a:avLst/>
          </a:prstGeom>
        </p:spPr>
      </p:pic>
      <p:sp>
        <p:nvSpPr>
          <p:cNvPr id="7" name="TextBox 6"/>
          <p:cNvSpPr txBox="1"/>
          <p:nvPr/>
        </p:nvSpPr>
        <p:spPr>
          <a:xfrm>
            <a:off x="3781711" y="6533027"/>
            <a:ext cx="2202529" cy="385747"/>
          </a:xfrm>
          <a:prstGeom prst="rect">
            <a:avLst/>
          </a:prstGeom>
          <a:noFill/>
        </p:spPr>
        <p:txBody>
          <a:bodyPr wrap="square" lIns="94915" tIns="47457" rIns="94915" bIns="47457" rtlCol="0">
            <a:spAutoFit/>
          </a:bodyPr>
          <a:lstStyle/>
          <a:p>
            <a:r>
              <a:rPr lang="en-US" b="1" dirty="0"/>
              <a:t>Sharpening Kernel</a:t>
            </a:r>
          </a:p>
        </p:txBody>
      </p:sp>
    </p:spTree>
    <p:extLst>
      <p:ext uri="{BB962C8B-B14F-4D97-AF65-F5344CB8AC3E}">
        <p14:creationId xmlns:p14="http://schemas.microsoft.com/office/powerpoint/2010/main" val="364686081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2440" y="286844"/>
            <a:ext cx="8503920" cy="668196"/>
          </a:xfrm>
        </p:spPr>
        <p:txBody>
          <a:bodyPr>
            <a:normAutofit fontScale="90000"/>
          </a:bodyPr>
          <a:lstStyle/>
          <a:p>
            <a:r>
              <a:rPr lang="en-US" dirty="0"/>
              <a:t>Image Matching</a:t>
            </a:r>
          </a:p>
        </p:txBody>
      </p:sp>
      <p:sp>
        <p:nvSpPr>
          <p:cNvPr id="4" name="Content Placeholder 3"/>
          <p:cNvSpPr>
            <a:spLocks noGrp="1"/>
          </p:cNvSpPr>
          <p:nvPr>
            <p:ph sz="half" idx="2"/>
          </p:nvPr>
        </p:nvSpPr>
        <p:spPr>
          <a:xfrm>
            <a:off x="472440" y="1114214"/>
            <a:ext cx="4174861" cy="5284224"/>
          </a:xfrm>
        </p:spPr>
        <p:txBody>
          <a:bodyPr/>
          <a:lstStyle/>
          <a:p>
            <a:r>
              <a:rPr lang="en-US" b="1" dirty="0"/>
              <a:t>Feature</a:t>
            </a:r>
            <a:r>
              <a:rPr lang="en-US" dirty="0"/>
              <a:t>: Features are the local </a:t>
            </a:r>
            <a:r>
              <a:rPr lang="en-US" dirty="0" err="1"/>
              <a:t>keypoints</a:t>
            </a:r>
            <a:r>
              <a:rPr lang="en-US" dirty="0"/>
              <a:t> in images based on which we can match those images. These matching features are used in object detection.</a:t>
            </a:r>
          </a:p>
          <a:p>
            <a:endParaRPr lang="en-US" dirty="0"/>
          </a:p>
          <a:p>
            <a:r>
              <a:rPr lang="en-US" dirty="0"/>
              <a:t>Plane and edge are not good feature points, but corners are as they are not the same in both images to be matched.</a:t>
            </a:r>
          </a:p>
        </p:txBody>
      </p:sp>
      <p:pic>
        <p:nvPicPr>
          <p:cNvPr id="7" name="Google Shape;205;p26"/>
          <p:cNvPicPr preferRelativeResize="0">
            <a:picLocks noGrp="1"/>
          </p:cNvPicPr>
          <p:nvPr>
            <p:ph sz="quarter" idx="4"/>
          </p:nvPr>
        </p:nvPicPr>
        <p:blipFill rotWithShape="1">
          <a:blip r:embed="rId2">
            <a:alphaModFix/>
          </a:blip>
          <a:srcRect l="4828" t="6306" r="4719" b="5174"/>
          <a:stretch/>
        </p:blipFill>
        <p:spPr>
          <a:xfrm>
            <a:off x="4566920" y="1114214"/>
            <a:ext cx="2444221" cy="2467187"/>
          </a:xfrm>
          <a:prstGeom prst="rect">
            <a:avLst/>
          </a:prstGeom>
          <a:noFill/>
          <a:ln>
            <a:noFill/>
          </a:ln>
        </p:spPr>
      </p:pic>
      <p:pic>
        <p:nvPicPr>
          <p:cNvPr id="8" name="Google Shape;206;p26"/>
          <p:cNvPicPr preferRelativeResize="0"/>
          <p:nvPr/>
        </p:nvPicPr>
        <p:blipFill rotWithShape="1">
          <a:blip r:embed="rId3">
            <a:alphaModFix/>
          </a:blip>
          <a:srcRect l="5532" t="9450" r="7560" b="4772"/>
          <a:stretch/>
        </p:blipFill>
        <p:spPr>
          <a:xfrm>
            <a:off x="6929120" y="1114213"/>
            <a:ext cx="2403283" cy="2467187"/>
          </a:xfrm>
          <a:prstGeom prst="rect">
            <a:avLst/>
          </a:prstGeom>
          <a:noFill/>
          <a:ln>
            <a:noFill/>
          </a:ln>
        </p:spPr>
      </p:pic>
      <p:pic>
        <p:nvPicPr>
          <p:cNvPr id="9" name="Picture 8"/>
          <p:cNvPicPr>
            <a:picLocks noChangeAspect="1"/>
          </p:cNvPicPr>
          <p:nvPr/>
        </p:nvPicPr>
        <p:blipFill rotWithShape="1">
          <a:blip r:embed="rId4">
            <a:extLst>
              <a:ext uri="{28A0092B-C50C-407E-A947-70E740481C1C}">
                <a14:useLocalDpi xmlns:a14="http://schemas.microsoft.com/office/drawing/2010/main" val="0"/>
              </a:ext>
            </a:extLst>
          </a:blip>
          <a:srcRect r="57163"/>
          <a:stretch/>
        </p:blipFill>
        <p:spPr>
          <a:xfrm>
            <a:off x="4566921" y="4058920"/>
            <a:ext cx="2362200" cy="1830493"/>
          </a:xfrm>
          <a:prstGeom prst="rect">
            <a:avLst/>
          </a:prstGeom>
        </p:spPr>
      </p:pic>
      <p:pic>
        <p:nvPicPr>
          <p:cNvPr id="10" name="Picture 9"/>
          <p:cNvPicPr>
            <a:picLocks noChangeAspect="1"/>
          </p:cNvPicPr>
          <p:nvPr/>
        </p:nvPicPr>
        <p:blipFill rotWithShape="1">
          <a:blip r:embed="rId4">
            <a:extLst>
              <a:ext uri="{28A0092B-C50C-407E-A947-70E740481C1C}">
                <a14:useLocalDpi xmlns:a14="http://schemas.microsoft.com/office/drawing/2010/main" val="0"/>
              </a:ext>
            </a:extLst>
          </a:blip>
          <a:srcRect l="57597" r="78"/>
          <a:stretch/>
        </p:blipFill>
        <p:spPr>
          <a:xfrm>
            <a:off x="6929120" y="4058920"/>
            <a:ext cx="2327966" cy="1830493"/>
          </a:xfrm>
          <a:prstGeom prst="rect">
            <a:avLst/>
          </a:prstGeom>
        </p:spPr>
      </p:pic>
    </p:spTree>
    <p:extLst>
      <p:ext uri="{BB962C8B-B14F-4D97-AF65-F5344CB8AC3E}">
        <p14:creationId xmlns:p14="http://schemas.microsoft.com/office/powerpoint/2010/main" val="322665971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2440" y="286844"/>
            <a:ext cx="8503920" cy="906956"/>
          </a:xfrm>
        </p:spPr>
        <p:txBody>
          <a:bodyPr/>
          <a:lstStyle/>
          <a:p>
            <a:r>
              <a:rPr lang="en-US" dirty="0">
                <a:solidFill>
                  <a:srgbClr val="33CCFF"/>
                </a:solidFill>
              </a:rPr>
              <a:t>Harris Corner Detection Algorithm</a:t>
            </a:r>
          </a:p>
        </p:txBody>
      </p:sp>
      <p:sp>
        <p:nvSpPr>
          <p:cNvPr id="3" name="Content Placeholder 2"/>
          <p:cNvSpPr>
            <a:spLocks noGrp="1"/>
          </p:cNvSpPr>
          <p:nvPr>
            <p:ph idx="1"/>
          </p:nvPr>
        </p:nvSpPr>
        <p:spPr>
          <a:xfrm>
            <a:off x="472440" y="1273387"/>
            <a:ext cx="3622040" cy="5332307"/>
          </a:xfrm>
        </p:spPr>
        <p:txBody>
          <a:bodyPr>
            <a:normAutofit lnSpcReduction="10000"/>
          </a:bodyPr>
          <a:lstStyle/>
          <a:p>
            <a:pPr marL="0" indent="0">
              <a:buNone/>
            </a:pPr>
            <a:r>
              <a:rPr lang="en-US" sz="2500" dirty="0"/>
              <a:t>When we shift the window/patch in the image by a small distance, there is no change in case of planes, change in one direction in case of edges. If the window is on corners, there is change in both directions(</a:t>
            </a:r>
            <a:r>
              <a:rPr lang="en-US" sz="2500" dirty="0" err="1"/>
              <a:t>x,y</a:t>
            </a:r>
            <a:r>
              <a:rPr lang="en-US" sz="2500" dirty="0"/>
              <a:t>) on shifting.</a:t>
            </a:r>
          </a:p>
          <a:p>
            <a:pPr marL="0" indent="0">
              <a:buNone/>
            </a:pPr>
            <a:r>
              <a:rPr lang="en-US" sz="2500" dirty="0"/>
              <a:t>Thus on shifting very little, there is significant difference in both directions, and hence corner can be detected.</a:t>
            </a:r>
          </a:p>
        </p:txBody>
      </p:sp>
      <p:pic>
        <p:nvPicPr>
          <p:cNvPr id="1638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38915" t="30970" r="17449" b="11051"/>
          <a:stretch/>
        </p:blipFill>
        <p:spPr bwMode="auto">
          <a:xfrm>
            <a:off x="4094479" y="1671320"/>
            <a:ext cx="5147200" cy="46160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6802413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2440" y="286844"/>
            <a:ext cx="8503920" cy="668196"/>
          </a:xfrm>
        </p:spPr>
        <p:txBody>
          <a:bodyPr>
            <a:normAutofit fontScale="90000"/>
          </a:bodyPr>
          <a:lstStyle/>
          <a:p>
            <a:pPr algn="l"/>
            <a:r>
              <a:rPr lang="en-US" sz="4200" dirty="0"/>
              <a:t>What are the issues with this??</a:t>
            </a:r>
          </a:p>
        </p:txBody>
      </p:sp>
      <p:sp>
        <p:nvSpPr>
          <p:cNvPr id="3" name="Content Placeholder 2"/>
          <p:cNvSpPr>
            <a:spLocks noGrp="1"/>
          </p:cNvSpPr>
          <p:nvPr>
            <p:ph idx="1"/>
          </p:nvPr>
        </p:nvSpPr>
        <p:spPr>
          <a:xfrm>
            <a:off x="472440" y="955040"/>
            <a:ext cx="8503920" cy="5443397"/>
          </a:xfrm>
        </p:spPr>
        <p:txBody>
          <a:bodyPr>
            <a:normAutofit fontScale="85000" lnSpcReduction="10000"/>
          </a:bodyPr>
          <a:lstStyle/>
          <a:p>
            <a:pPr marL="0" indent="0">
              <a:buNone/>
            </a:pPr>
            <a:r>
              <a:rPr lang="en-US" dirty="0"/>
              <a:t>Issues with Harris Corner algorithm for corner detection:-</a:t>
            </a:r>
          </a:p>
          <a:p>
            <a:r>
              <a:rPr lang="en-US" dirty="0"/>
              <a:t>Translation Invariance</a:t>
            </a:r>
          </a:p>
          <a:p>
            <a:r>
              <a:rPr lang="en-US" dirty="0"/>
              <a:t>Rotational Invariance</a:t>
            </a:r>
          </a:p>
          <a:p>
            <a:r>
              <a:rPr lang="en-US" dirty="0"/>
              <a:t>Scale Invariance</a:t>
            </a:r>
          </a:p>
          <a:p>
            <a:r>
              <a:rPr lang="en-US" dirty="0"/>
              <a:t>Illumination Invariance</a:t>
            </a:r>
          </a:p>
          <a:p>
            <a:pPr marL="0" indent="0">
              <a:buNone/>
            </a:pPr>
            <a:r>
              <a:rPr lang="en-US" dirty="0"/>
              <a:t>To handle scale invariance we use </a:t>
            </a:r>
            <a:r>
              <a:rPr lang="en-US" b="1" dirty="0"/>
              <a:t>image pyramid. </a:t>
            </a:r>
          </a:p>
          <a:p>
            <a:pPr marL="0" indent="0">
              <a:buNone/>
            </a:pPr>
            <a:r>
              <a:rPr lang="en-US" dirty="0"/>
              <a:t>Image pyramid is a multi-scale representation of an image, constructed by creating a series of progressively smaller images, typically by repeatedly applying Gaussian smoothing and </a:t>
            </a:r>
            <a:r>
              <a:rPr lang="en-US" dirty="0" err="1"/>
              <a:t>downsampling</a:t>
            </a:r>
            <a:r>
              <a:rPr lang="en-US" dirty="0"/>
              <a:t>. At each stage, compare image with the other.</a:t>
            </a:r>
            <a:endParaRPr lang="en-US" b="1" dirty="0"/>
          </a:p>
          <a:p>
            <a:endParaRPr lang="en-US" dirty="0"/>
          </a:p>
        </p:txBody>
      </p:sp>
      <p:pic>
        <p:nvPicPr>
          <p:cNvPr id="4" name="Picture 3"/>
          <p:cNvPicPr>
            <a:picLocks noChangeAspect="1"/>
          </p:cNvPicPr>
          <p:nvPr/>
        </p:nvPicPr>
        <p:blipFill rotWithShape="1">
          <a:blip r:embed="rId2">
            <a:extLst>
              <a:ext uri="{28A0092B-C50C-407E-A947-70E740481C1C}">
                <a14:useLocalDpi xmlns:a14="http://schemas.microsoft.com/office/drawing/2010/main" val="0"/>
              </a:ext>
            </a:extLst>
          </a:blip>
          <a:srcRect l="40290" t="24287" r="19420" b="58957"/>
          <a:stretch/>
        </p:blipFill>
        <p:spPr>
          <a:xfrm>
            <a:off x="2283460" y="5764842"/>
            <a:ext cx="5590540" cy="1138436"/>
          </a:xfrm>
          <a:prstGeom prst="rect">
            <a:avLst/>
          </a:prstGeom>
        </p:spPr>
      </p:pic>
    </p:spTree>
    <p:extLst>
      <p:ext uri="{BB962C8B-B14F-4D97-AF65-F5344CB8AC3E}">
        <p14:creationId xmlns:p14="http://schemas.microsoft.com/office/powerpoint/2010/main" val="363905243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2440" y="286844"/>
            <a:ext cx="8503920" cy="747783"/>
          </a:xfrm>
        </p:spPr>
        <p:txBody>
          <a:bodyPr>
            <a:normAutofit fontScale="90000"/>
          </a:bodyPr>
          <a:lstStyle/>
          <a:p>
            <a:r>
              <a:rPr lang="en-US" b="1" dirty="0" err="1">
                <a:solidFill>
                  <a:srgbClr val="10A085"/>
                </a:solidFill>
              </a:rPr>
              <a:t>Downsampling</a:t>
            </a:r>
            <a:r>
              <a:rPr lang="en-US" b="1" dirty="0">
                <a:solidFill>
                  <a:srgbClr val="10A085"/>
                </a:solidFill>
              </a:rPr>
              <a:t> &amp; </a:t>
            </a:r>
            <a:r>
              <a:rPr lang="en-US" b="1" dirty="0" err="1">
                <a:solidFill>
                  <a:srgbClr val="10A085"/>
                </a:solidFill>
              </a:rPr>
              <a:t>Upsampling</a:t>
            </a:r>
            <a:endParaRPr lang="en-US" b="1" dirty="0">
              <a:solidFill>
                <a:srgbClr val="10A085"/>
              </a:solidFill>
            </a:endParaRPr>
          </a:p>
        </p:txBody>
      </p:sp>
      <p:sp>
        <p:nvSpPr>
          <p:cNvPr id="3" name="Text Placeholder 2"/>
          <p:cNvSpPr>
            <a:spLocks noGrp="1"/>
          </p:cNvSpPr>
          <p:nvPr>
            <p:ph type="body" idx="1"/>
          </p:nvPr>
        </p:nvSpPr>
        <p:spPr>
          <a:xfrm>
            <a:off x="472440" y="1193801"/>
            <a:ext cx="4174861" cy="636693"/>
          </a:xfrm>
        </p:spPr>
        <p:txBody>
          <a:bodyPr>
            <a:normAutofit/>
          </a:bodyPr>
          <a:lstStyle/>
          <a:p>
            <a:pPr algn="ctr"/>
            <a:r>
              <a:rPr lang="en-US" sz="2900" dirty="0" err="1"/>
              <a:t>Downsampling</a:t>
            </a:r>
            <a:endParaRPr lang="en-US" sz="2900" dirty="0"/>
          </a:p>
        </p:txBody>
      </p:sp>
      <p:sp>
        <p:nvSpPr>
          <p:cNvPr id="4" name="Content Placeholder 3"/>
          <p:cNvSpPr>
            <a:spLocks noGrp="1"/>
          </p:cNvSpPr>
          <p:nvPr>
            <p:ph sz="half" idx="2"/>
          </p:nvPr>
        </p:nvSpPr>
        <p:spPr>
          <a:xfrm>
            <a:off x="472440" y="1830494"/>
            <a:ext cx="4174861" cy="4567944"/>
          </a:xfrm>
        </p:spPr>
        <p:txBody>
          <a:bodyPr/>
          <a:lstStyle/>
          <a:p>
            <a:pPr marL="0" indent="0">
              <a:buNone/>
            </a:pPr>
            <a:r>
              <a:rPr lang="en-US" dirty="0" err="1"/>
              <a:t>Downsampling</a:t>
            </a:r>
            <a:r>
              <a:rPr lang="en-US" dirty="0"/>
              <a:t> involves first smoothening the image with </a:t>
            </a:r>
            <a:r>
              <a:rPr lang="en-US" dirty="0" err="1"/>
              <a:t>gaussian</a:t>
            </a:r>
            <a:r>
              <a:rPr lang="en-US" dirty="0"/>
              <a:t> kernel, and then </a:t>
            </a:r>
            <a:r>
              <a:rPr lang="en-US" dirty="0" err="1"/>
              <a:t>downsampling</a:t>
            </a:r>
            <a:r>
              <a:rPr lang="en-US" dirty="0"/>
              <a:t> or reducing the size of the image by a half(or any other factor)</a:t>
            </a:r>
          </a:p>
          <a:p>
            <a:pPr marL="0" indent="0">
              <a:buNone/>
            </a:pPr>
            <a:r>
              <a:rPr lang="en-US" dirty="0"/>
              <a:t> Blur                        </a:t>
            </a:r>
            <a:r>
              <a:rPr lang="en-US" dirty="0" err="1"/>
              <a:t>Downsample</a:t>
            </a:r>
            <a:endParaRPr lang="en-US" dirty="0"/>
          </a:p>
          <a:p>
            <a:endParaRPr lang="en-US" dirty="0"/>
          </a:p>
        </p:txBody>
      </p:sp>
      <p:sp>
        <p:nvSpPr>
          <p:cNvPr id="5" name="Text Placeholder 4"/>
          <p:cNvSpPr>
            <a:spLocks noGrp="1"/>
          </p:cNvSpPr>
          <p:nvPr>
            <p:ph type="body" sz="quarter" idx="3"/>
          </p:nvPr>
        </p:nvSpPr>
        <p:spPr>
          <a:xfrm>
            <a:off x="4803140" y="1193800"/>
            <a:ext cx="4176501" cy="636693"/>
          </a:xfrm>
        </p:spPr>
        <p:txBody>
          <a:bodyPr>
            <a:normAutofit/>
          </a:bodyPr>
          <a:lstStyle/>
          <a:p>
            <a:pPr algn="ctr"/>
            <a:r>
              <a:rPr lang="en-US" sz="2900" dirty="0" err="1"/>
              <a:t>Upsampling</a:t>
            </a:r>
            <a:endParaRPr lang="en-US" sz="2900" dirty="0"/>
          </a:p>
        </p:txBody>
      </p:sp>
      <p:sp>
        <p:nvSpPr>
          <p:cNvPr id="6" name="Content Placeholder 5"/>
          <p:cNvSpPr>
            <a:spLocks noGrp="1"/>
          </p:cNvSpPr>
          <p:nvPr>
            <p:ph sz="quarter" idx="4"/>
          </p:nvPr>
        </p:nvSpPr>
        <p:spPr>
          <a:xfrm>
            <a:off x="4799860" y="1854715"/>
            <a:ext cx="4176501" cy="4543722"/>
          </a:xfrm>
        </p:spPr>
        <p:txBody>
          <a:bodyPr/>
          <a:lstStyle/>
          <a:p>
            <a:pPr marL="0" indent="0">
              <a:buNone/>
            </a:pPr>
            <a:r>
              <a:rPr lang="en-US" dirty="0" err="1"/>
              <a:t>Upsampling</a:t>
            </a:r>
            <a:r>
              <a:rPr lang="en-US" dirty="0"/>
              <a:t> is increasing of the spatial resolution while keeping the 2D representation of an </a:t>
            </a:r>
            <a:r>
              <a:rPr lang="en-US" dirty="0" err="1"/>
              <a:t>image.This</a:t>
            </a:r>
            <a:r>
              <a:rPr lang="en-US" dirty="0"/>
              <a:t> process is also called Bi linear Interpolation. </a:t>
            </a:r>
          </a:p>
          <a:p>
            <a:pPr marL="0" indent="0">
              <a:buNone/>
            </a:pPr>
            <a:endParaRPr lang="en-US" sz="2100" dirty="0"/>
          </a:p>
          <a:p>
            <a:pPr marL="0" indent="0">
              <a:buNone/>
            </a:pPr>
            <a:r>
              <a:rPr lang="en-US" dirty="0" err="1"/>
              <a:t>Upsample</a:t>
            </a:r>
            <a:r>
              <a:rPr lang="en-US" dirty="0"/>
              <a:t>                        Blur</a:t>
            </a:r>
          </a:p>
          <a:p>
            <a:pPr marL="0" indent="0">
              <a:buNone/>
            </a:pPr>
            <a:endParaRPr lang="en-US" sz="2100" dirty="0"/>
          </a:p>
        </p:txBody>
      </p:sp>
      <p:pic>
        <p:nvPicPr>
          <p:cNvPr id="7" name="Google Shape;238;p31"/>
          <p:cNvPicPr preferRelativeResize="0"/>
          <p:nvPr/>
        </p:nvPicPr>
        <p:blipFill>
          <a:blip r:embed="rId2">
            <a:alphaModFix/>
          </a:blip>
          <a:stretch>
            <a:fillRect/>
          </a:stretch>
        </p:blipFill>
        <p:spPr>
          <a:xfrm>
            <a:off x="551180" y="4934373"/>
            <a:ext cx="4015740" cy="1671320"/>
          </a:xfrm>
          <a:prstGeom prst="rect">
            <a:avLst/>
          </a:prstGeom>
          <a:noFill/>
          <a:ln>
            <a:noFill/>
          </a:ln>
        </p:spPr>
      </p:pic>
      <p:pic>
        <p:nvPicPr>
          <p:cNvPr id="8" name="Google Shape;248;p32"/>
          <p:cNvPicPr preferRelativeResize="0"/>
          <p:nvPr/>
        </p:nvPicPr>
        <p:blipFill>
          <a:blip r:embed="rId3">
            <a:alphaModFix/>
          </a:blip>
          <a:stretch>
            <a:fillRect/>
          </a:stretch>
        </p:blipFill>
        <p:spPr>
          <a:xfrm>
            <a:off x="4724400" y="4685346"/>
            <a:ext cx="4302376" cy="1882285"/>
          </a:xfrm>
          <a:prstGeom prst="rect">
            <a:avLst/>
          </a:prstGeom>
          <a:noFill/>
          <a:ln>
            <a:noFill/>
          </a:ln>
        </p:spPr>
      </p:pic>
      <p:cxnSp>
        <p:nvCxnSpPr>
          <p:cNvPr id="12" name="Straight Arrow Connector 11"/>
          <p:cNvCxnSpPr/>
          <p:nvPr/>
        </p:nvCxnSpPr>
        <p:spPr>
          <a:xfrm>
            <a:off x="1259840" y="4456853"/>
            <a:ext cx="1417320" cy="0"/>
          </a:xfrm>
          <a:prstGeom prst="straightConnector1">
            <a:avLst/>
          </a:prstGeom>
          <a:ln w="28575">
            <a:solidFill>
              <a:srgbClr val="385D8A"/>
            </a:solidFill>
            <a:tailEnd type="arrow"/>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a:off x="6220460" y="4456853"/>
            <a:ext cx="1574800" cy="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4904194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2440" y="286844"/>
            <a:ext cx="8503920" cy="827369"/>
          </a:xfrm>
        </p:spPr>
        <p:txBody>
          <a:bodyPr>
            <a:normAutofit fontScale="90000"/>
          </a:bodyPr>
          <a:lstStyle/>
          <a:p>
            <a:r>
              <a:rPr lang="en-US" sz="5000" b="1" dirty="0" err="1">
                <a:solidFill>
                  <a:schemeClr val="accent2">
                    <a:lumMod val="60000"/>
                    <a:lumOff val="40000"/>
                  </a:schemeClr>
                </a:solidFill>
              </a:rPr>
              <a:t>LoG</a:t>
            </a:r>
            <a:endParaRPr lang="en-US" sz="5000" b="1" dirty="0">
              <a:solidFill>
                <a:schemeClr val="accent2">
                  <a:lumMod val="60000"/>
                  <a:lumOff val="40000"/>
                </a:schemeClr>
              </a:solidFill>
            </a:endParaRPr>
          </a:p>
        </p:txBody>
      </p:sp>
      <p:sp>
        <p:nvSpPr>
          <p:cNvPr id="3" name="Content Placeholder 2"/>
          <p:cNvSpPr>
            <a:spLocks noGrp="1"/>
          </p:cNvSpPr>
          <p:nvPr>
            <p:ph idx="1"/>
          </p:nvPr>
        </p:nvSpPr>
        <p:spPr>
          <a:xfrm>
            <a:off x="472440" y="1193800"/>
            <a:ext cx="8503920" cy="5571067"/>
          </a:xfrm>
        </p:spPr>
        <p:txBody>
          <a:bodyPr>
            <a:normAutofit/>
          </a:bodyPr>
          <a:lstStyle/>
          <a:p>
            <a:pPr marL="0" indent="0">
              <a:buNone/>
            </a:pPr>
            <a:r>
              <a:rPr lang="en-US" sz="2500" dirty="0" err="1"/>
              <a:t>LoG</a:t>
            </a:r>
            <a:r>
              <a:rPr lang="en-US" sz="2500" dirty="0"/>
              <a:t> is </a:t>
            </a:r>
            <a:r>
              <a:rPr lang="en-US" sz="2500" dirty="0" err="1"/>
              <a:t>Laplacian</a:t>
            </a:r>
            <a:r>
              <a:rPr lang="en-US" sz="2500" dirty="0"/>
              <a:t> of Gaussian. It is determined by first applying </a:t>
            </a:r>
            <a:r>
              <a:rPr lang="en-US" sz="2500" dirty="0" err="1"/>
              <a:t>gaussian</a:t>
            </a:r>
            <a:r>
              <a:rPr lang="en-US" sz="2500" dirty="0"/>
              <a:t> filter on the image and then taking it’s double derivative , which yields in very high intensity blobs which are considered amazing features.</a:t>
            </a:r>
          </a:p>
          <a:p>
            <a:pPr marL="0" indent="0">
              <a:buNone/>
            </a:pPr>
            <a:r>
              <a:rPr lang="en-US" sz="2500" dirty="0"/>
              <a:t>We approximate </a:t>
            </a:r>
            <a:r>
              <a:rPr lang="en-US" sz="2500" dirty="0" err="1"/>
              <a:t>LoG</a:t>
            </a:r>
            <a:r>
              <a:rPr lang="en-US" sz="2500" dirty="0"/>
              <a:t> with </a:t>
            </a:r>
            <a:r>
              <a:rPr lang="en-US" sz="2500" dirty="0" err="1"/>
              <a:t>DoG</a:t>
            </a:r>
            <a:r>
              <a:rPr lang="en-US" sz="2500" dirty="0"/>
              <a:t> as </a:t>
            </a:r>
            <a:r>
              <a:rPr lang="en-US" sz="2500" dirty="0" err="1"/>
              <a:t>LoG</a:t>
            </a:r>
            <a:r>
              <a:rPr lang="en-US" sz="2500" dirty="0"/>
              <a:t> has high time complexity and it is difficult obtain.</a:t>
            </a:r>
          </a:p>
        </p:txBody>
      </p:sp>
      <p:pic>
        <p:nvPicPr>
          <p:cNvPr id="17411" name="Picture 3"/>
          <p:cNvPicPr>
            <a:picLocks noChangeAspect="1" noChangeArrowheads="1"/>
          </p:cNvPicPr>
          <p:nvPr/>
        </p:nvPicPr>
        <p:blipFill rotWithShape="1">
          <a:blip r:embed="rId2">
            <a:extLst>
              <a:ext uri="{28A0092B-C50C-407E-A947-70E740481C1C}">
                <a14:useLocalDpi xmlns:a14="http://schemas.microsoft.com/office/drawing/2010/main" val="0"/>
              </a:ext>
            </a:extLst>
          </a:blip>
          <a:srcRect l="6487" t="40626" r="34047" b="6250"/>
          <a:stretch/>
        </p:blipFill>
        <p:spPr bwMode="auto">
          <a:xfrm>
            <a:off x="1520288" y="3740574"/>
            <a:ext cx="6571761" cy="30242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4293599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2440" y="286844"/>
            <a:ext cx="8503920" cy="906956"/>
          </a:xfrm>
        </p:spPr>
        <p:txBody>
          <a:bodyPr/>
          <a:lstStyle/>
          <a:p>
            <a:r>
              <a:rPr lang="en-US" b="1" dirty="0" err="1">
                <a:solidFill>
                  <a:schemeClr val="accent2">
                    <a:lumMod val="60000"/>
                    <a:lumOff val="40000"/>
                  </a:schemeClr>
                </a:solidFill>
              </a:rPr>
              <a:t>DoG</a:t>
            </a:r>
            <a:endParaRPr lang="en-US" b="1" dirty="0">
              <a:solidFill>
                <a:schemeClr val="accent2">
                  <a:lumMod val="60000"/>
                  <a:lumOff val="40000"/>
                </a:schemeClr>
              </a:solidFill>
            </a:endParaRPr>
          </a:p>
        </p:txBody>
      </p:sp>
      <p:sp>
        <p:nvSpPr>
          <p:cNvPr id="3" name="Content Placeholder 2"/>
          <p:cNvSpPr>
            <a:spLocks noGrp="1"/>
          </p:cNvSpPr>
          <p:nvPr>
            <p:ph idx="1"/>
          </p:nvPr>
        </p:nvSpPr>
        <p:spPr>
          <a:xfrm>
            <a:off x="281900" y="1114214"/>
            <a:ext cx="8694460" cy="5650653"/>
          </a:xfrm>
        </p:spPr>
        <p:txBody>
          <a:bodyPr>
            <a:normAutofit/>
          </a:bodyPr>
          <a:lstStyle/>
          <a:p>
            <a:pPr marL="0" indent="0">
              <a:buNone/>
            </a:pPr>
            <a:r>
              <a:rPr lang="en-US" dirty="0" err="1"/>
              <a:t>DoG</a:t>
            </a:r>
            <a:r>
              <a:rPr lang="en-US" dirty="0"/>
              <a:t> stands for Difference of Gaussian. It’s constructed by subtracting two Gaussian-blurred images at different scales.</a:t>
            </a:r>
          </a:p>
        </p:txBody>
      </p:sp>
      <p:sp>
        <p:nvSpPr>
          <p:cNvPr id="5" name="AutoShape 2" descr="data:image/png;base64,iVBORw0KGgoAAAANSUhEUgAAAYUAAAGFCAYAAAASI+9IAAAAOXRFWHRTb2Z0d2FyZQBNYXRwbG90bGliIHZlcnNpb24zLjkuMCwgaHR0cHM6Ly9tYXRwbG90bGliLm9yZy80BEi2AAAACXBIWXMAAA9hAAAPYQGoP6dpAAEAAElEQVR4nOz9d5Bn15XfCX6f+Xn/S++99957n1lV6bNMlkehgEKh4A0LliBBECABECAAggQpsh2ldlIbdbNlupszmhlptJJ2Z2K1OzG7ERu7OxETM6uIllbTMxu7PZrP/nHfL/OXWVmFKrZht5Av4kTm75n77rvvvnvuPed7vscC0PF2vB1vx9vxdrxJsn/eFTjejrfj7Xg73v76bMdK4Xg73o634+1429uOlcLxdrwdb8fb8ba3HSuF4+14O96Ot+NtbztWCsfb8Xa8HW/H2952rBSOt+PteDvejre97VgpHG/H2/F2vB1ve9uxUjjejrfj7Xg73vY37nOTdCx/g2RRorD2TTQyYvYlRU+bCJeV8bfbzvDD79mMvXSJ8axruiyLweEdfnCjkjM/mEVlZTgSgxLSCJJFc7N4ckw4fUKX/iLq6iBd2Ps9cumS+b/2Iiocv+9yAoPiBUdUSDiuGNo9+ryndYlLvTah0FmksiPPWV8XkxfEe+98B8f23V8d+oX89//chSqkRjV37L+gYWxZ6NLIndeViaJy8Vb2vlqhq0IdQmpFsR60lVWnQA2KFXvHD0lQ6GPx9NM5/OD7p8jPF2cl/BKXJCQbaQgNC1lHXO846ELm3bVySSmiAR8fnh2k4M16lm/fplViJD9G79tbVErMys+gzlGjfP7uyRNEczPlNSHlHCi/QyJ2RNtVSAymHuWrn13l+7d7+YfPTBL0DSCJPq0zqyRSAmnjwHXLKuA1LZNuFTd6zvMDdVA6Us+wGpmUGPlZ+7Dfj77zHe93m3fvn6GcISG7GSltfg+Ii43C+hnKcr/Ry/n10B3772usP1YK/3FJl0SbRI5Ek0ShxC8pwfwjX6a8XPifSFGd7sOShUIhlEwjrXFBn1GuFfw1Pex9nEXC3hZV4TjSeU7oJLm6QLUr7Mq/nPqPzhaxc1JMn8qjvjeOdIq9j+QeUlotqmzzv3Nmk+FfLUb9EXP8giiwC7AaLB4NljD09A/w5fxXSBN3L7NZuH015FmWty+Ahs6geiFb6LyIxcTmpnf+QD4KOPf9nHH1k6eTKLWKgk1Zx0Ywg/EokkhIhDLH0iKcFi8pTXF1gMCoOJMnNCJU6j27XPLVgIIB1CXk5qJAgtxSUa4IKogjS7yiV5i2voOqo3v3Dnv326+LhVSNarSnFIIKclqnUaHIk3D3zi1GqiFqh/mw4CUUqkelt4lIpNMpKp65gSqEPeGnSmcJys+Q8ujSBaZUwMPrxSTbI6RSmfIKKZUIHmo3VxZPqJAC+SnXMLHaEPlVDnKqKNJFrsuhSecpzL4uIHRGtPpFaU52eUWopoAmFfITiRVd8J75/vtr0cPCum5T2DXMeQk7pwT57xyM70teFTO7RZR+Jby3rzBPaOXBy9p4v4/43w2h0lJyLuZz7bN5tLV8rBS+yPKCLf6vW2u0rog2fytXdRVJNEq8KbFk26zdvInaepCmsSRcW6w12Fhta0h+yhdK6fe9jk50Iz1M5oM5cUK4rjCz/L+Y+p6ScCQ++51PUfsyUvD+r68RMy/ZuD6xtrWFI5vZpgZUVYnkQ46YDkzjPumiojuvd+QgO+tZXKGPxWPa5S0tevuPqlPC7C9x0QvfRMHUAz63gzo6UGEhcoROCWkR2TbamkcSl3v6GHqyAp9sXpRD7ykxZveyP6u2KZDLm3K5VLdGuCXMuJ5GhXl7q4N0WrwyO8WPVzvRTKN5vsxz3pZZbUiUSTRnt4lXvuJCs/Lev2XquiBG50Q05pVlC2mBaNTP+98+gawU0gBVEl3RMAvL4+ZaXwCdOIHSVUzP/DFXlIf0AZ2dIdraRFdXpm3mkaa4Y0Lg+NGpj3BWhewxHCuPgH2KE24Yy7aYc21ijpiTsEeE8vevza17mK+9PE2u6+JzLBwJx7FwZONzLFy5++/lPt/hd/PWcHqWmNU6krD7xUbOGtZRK6vPkZMSTs/BOn9HwpL94N/U1JtorQBtbNA/Pk5aV9Fi67FS+CLLxoJofTOJEtpf+jc2EQicpFgFxGdnSTY30yIz28uXWDxpM/zMU1ycfAO7aZ4rqiJiFaHEwU6Z2Cvz/P3XqT2rHmpBex+gV6bMMvnVZJJyxZEsIhK1EsrTkYP5ngTaUeFpZPlIPv4OTc4U/ktCTaVI/xjt5h1xXSFSPpLY1S7a3kaBgHesESWDPKsJhpX09g0h+Q+V8QnSw8j3Moqc4EFnmdIOkp+YRLVk3pXOoQUbvWnOCYdn8ec3sap1GnSDYCJzbYp2ldNZOsil9G9RrFOkA1XGJCQhdSA1I/lwCkXsdIxE8ojBrlBmJn1gfwXn9ThmcDxLMNJOQ5+FVIOCQ2jbOy8mowziQqtCascXtBj5Wy2oziitfInqhBi45NXJuogSCVToENu5To6ewShX03ZNzcLvN2VJMSQHn/aVlWwbjY1xLiEcRdmtcbGmnmbpW+9QPVJI7NNb2DeCtLUJK6Z9BShRXN/PQ//sZd7+ytf49Okutt0qvnl+jLOhC3z61T6+0v47WJaD2ndRq/dsB9olRJ3qCSuHVpXgSCRjZTRVnyUgszp4TLWc3lhhaOjBv9nEod8lKqFdjdRp6YHLamoaIBAI37H/WCkcC/HgNiNbU4w8N8LcE0+i4CpKlKBoIeddl9YtCzcUR/kO+iSGpp6i3V+E3WyuPyszW2m4n/stygzgElIYKcse36E9pWBZrcTj7pFlpKpExYj5P/K0qFuUmTkVxe9x744Dv5tt4W8XUgip4cCxREJmpvv2EmqdYV2iRHneuZnzmggoyaOao21vltZ64HkCEsF4O1OyKbn5M9iQ/SJeIMbHx2ivrKRGLsHgIwTCIhqLcmn3K0iDd77PVIKP1mcpWv46nSPP0lUWQjlZz5+00eoqKrmJdOPgO8hIWKhKuJMuZ3TmiPpV4rqVRCLm97Nvfo+ffnudAvfQebbQWSFl3s0E0WCQf37tH1LnDKKoaG0RjT+2ad6OISWRKs17yJSRn0+kNsjGlQnO6zu88sok6fTBd+qTaMmc77OJf33sUH1d7/2I9dV+bpRH6BhLYB0a1BP1N9HtbtOfioVUTafKkdOO2mwe+8Y3sGzL9NU2oSmhsuwyrlGvJiLKpS1UirMpFI/zUs1J8mQmFLWqo2PzuwxOCW0NI1WbFWBBAOUH0OoMSjRxZ5sHOJMM4sb395WMl1DRlku999uSOCGzojMK0/TNqMwqWxJjEpUSLw20kxd6gurbSXZ/+WOafvtT1qf/9rFSOBZxQg4hx8Z2bcadKdr1LDUfdaHnv8rSUwXImUfaRFYu8k0iOcxI9EnkzZvO5pOYl8ygPne3e80ix8paDfQjld553pwIBMTK3eyklvZmaKk80b834zqDMSf8jG0RELol1h/zfvtsZFlMSeTraaRuzMBSjCRWalZYe+T/jmwfc0Uyg0RWefWqpOVUHXafsB779MHrMyFO/h0RDNpYloXksNq8wVK/GJ8bp9ApQllmg1GJiITOr+I74UOb7kGTlyzzDs5F0KllZNkHrpeEKoQahAaESkw7O3KISwwNiLKk8UNJovCZ64w83Y9mZnGvJhn542fJaTjCt+MIaRXJQXPr+P1R1lc/Il1nMfjbFi8kZmnZiqDAwoHr1iSGhi3avvocjW+146zbOPIx5diE79pu8zjys+p8+67t6vi+irt20ShGJ9M+PqQp1usb0e0XjrhuCSnE95YWvXfh7bd1yMF+aKXlePc8VJ5lOdi2kGOzZ25rakTNzWbf+sYRdajHOddy0H/QpT3TniTCCrKicc/xvIjUheIVTA6LnKtCTaJTokjCWXBQdINLm2J53kfluz7e7j17rBSOJSN5hBSlc62AVFULsZZSlPspxdW3MWaUzOBxE6mQIolciWDxfhnFQVE6UEKgKsBZncUnH1I1UjmSi3KK0feEfkUogygJyThAs5FAxfdfb79fdOUaP4hiLvpOwZ5D9W5yUcLyicpzQo2ipNSgWAZtocl8lBc19dUuOi8W7UUKVchpiaCSSDVIy4zGbjDW0IAsUdwilNq/hy3xmqJIcWaeFKUdxWxL9xjMzCyvcu+3RV/R13i8dhd7u4qSRTE7u0FMcaJZ1wQdh8d3+4h+5Sb5ynbqCkVlZry5QjfNvipPoWXa4Y56ROSZqESZLvJ9iUdklH5enoj4RUIOUgXh6gD9udfxFTXi9/u43dVMRSCAUc538fcUC8cOUVnxU/zXeshtEfLt16n60Pmv5Z2k1dd3wGxy0xXJc3eWPT4+TlXVCPL50SvfOfr+ElIBUjlVVdqz61cohKOnaX55guIMuu0OGaD4s2lkW6iq6i/2+1sTSrYjvcuD+eFy2F+Fybu2wPxfKVQXR76o6Qd15t0+ItEv8VSZyPHdWeaxUjgWQhLvq4UuddK2PGVmvBVHn+tXN5Z62dxsxw0J2WZJHHAj5KQcXvzV14hVZH8wY5gVQdYgsa392U1KxjabOTatA060+5FeLfKUkrTv7Qvc9VyfhB0QQb94zxJaFJ09Ii9gBuXJxkbK8/JY0dFQxz3xOwSCu/u/Rw8etyyLke1tJIvxFj/F6XuU5ZM3IxfDErLEsn+OjqJcLtRO4DaO7JvcXCEngDSNdAv5fNQPXqQgMxAogAIWmvQbH02DzGBQaJ5vRDIrIu+ee3XYsZB10IwUskvw+WbY94PMIuVi/CYDtKiIX9ASIW0TCYueHmF8IPd+Xz5XDA3VIlXilx8rYiNXjPvE6bM6ANvttiyi2zN3lnOHj8NIQAFk+9HIt+5Rh2WkON8a2cLnraQGZGC2v1T6GZ2z9/D7jO6Y1cW3774S+auVGpSl6A/IkPc9Hdp/VaLHtumb8hEK33n8WCkcCyGJyxrAUa2BKVqlZPD5Qxo6cO6SRItcGkI+NNnE0NYv41OY53v+iJL6egL9r6H458+i/BK9EkoKNWUdCwjZQ/dd93hctLcPcXpwjprM/hwPFnrE+aMSZd8WPesOyRmDW7ckTp827bAjMzgHdQj7nS8Du/R+26877Dx5iZBEV7P3HHKR+sw5ltBUiAFFCekk9t2eISD0lFCZ6OvpZryhAbUUcXIxQMEh005vdy+TA5OoeQfj34jsHUtItFguGngf7cRR+MQdTlBLYrBY6FnROCNSxTlI9eZ4KAeD5jGzSFfirfY8vve9VwkEM/cJsLdirK/HyS1gUFsE1cu+GfD+oJY1EnX6ES/YL5L6cgp1CP+jwu4TPWvCvzdYWRSFTmetoGQU49bR5Z7RGWzZDGgSDeoIR7AwExSL0BF1nf7oSpYj/ijxrgn9jJDSn7f0Cb8jcptbaPqDxwwQ4NA5x0rhWA6II/EN5fCZctiSGFM9ZjA4Y2aXKbHY0s+NX/4tLF8Vb765iBSiJvb3KQ41cuLxKnK7X/7c+8QlviQZc8Ud5p76e15bkPX/IyFRUV7JdF0rlY6MqSQqtovuYap5U9QE8il5rQHli/NKUycfsbw8ZFlHm1XiQgXe36BYqxGJq0a5VZbKOGblINWYdkrnoDqX2nzdE3poF0fYrtlitOwiDz9URVNxMUrtw1YrVMknJ09T2XiR6qpqmn3NSCKVEj6fOJ0ngmMjhGtqKLUsVFd3z7arSwk151NiWUQURXoC4/B/DsmiSU3888gKoS2LaDTKB6PFpI8wMaioCMViPCuRqxz2YaFtaA+iexfZEXVr4vWODspVvr+/RChSQLWyzGC2RfKtC+T13X8fthwfdbuvmxXSUW1/TfvmS08CAXHmjGj56nOk7/G+8j002t9YqRGyRaShgZLLl48851gpHMsdYml/lrwk4V+zWdpyOPWc0G1RY1Xzh0v/mIATQM4JZFk0N1tUVKxhWw4nl7+LrAeFXt6/LO39b2HJKLKnJBrCwprMHPMha/noMmwR1BTftkNoUYxYw3QqRcvcHPIdHZ18KvN/u4wSyxo4LA1Tqny6M+ekbDQ0hpRAC54TUaf2y0sLvSF0UYTmxXQGsWMJxxJW6iLjkzP0SDynOfxdPlRsHPlRWazqPMPPzZLzgkxsQMbcMqP9md/hgc22cSyHZ545SfMrC2jxkN06tYwmDKR0YesV3BMrSEVobgiF74GBd4ROiH2fUymBQDvLS/d+h23nOygfO7yiHET67TvPt6wHith1ZBA4+/vKkTrN/7lCfzyDimOckLJWcH6kJVLr32XIttDJQ+X6hJbF0qlP/1L79l+N9FJQUMrQ0NHv9VgpHMvniu+J8ww/e5n0oNDfEuoRN7tS+GQRf+WblI17tvWWJ5Bs0k0jqLf3L7leHUjmvqckVmV8AOsS0jBSOepLGZv64WsvCMdnM3K2+b7vl87+PRtB82ZAi6uZNSXwy2eQPxLSIxhbbwsmTsNGSuM0NNLk8xnc/6O6w3fiqoF3e3w0t+URT5whqrysMlu5onqSGuCWpnHiCbNyybreSogWJ1NHHXDY559/liVrieLiNMloM/XJgwNCiyvUXYtCaZQTRakkkp+GoWv4uh++d/ukREDnqPMUg89yeS7ZuG/OOyyNjSYOoeehQ8di7DlJD8lX1ETwPgO0LFukmkVLSxDLqmNU3VQ0RZh1RNIn6sr6CDhhUgeus5BS6LNFZC+isR6alaU0LFGUEuPptPdu/4aajySkKD5fFbGY8dW0yEwCkxIlur/h/pgQ7wu8xSRtfvQb+t9+8T/oT/5dqVb8P1Tqv83VJ/+HRf2ZEnJ++cdKRVxZlqTAtyWF9Cf/zT+T/tW/kqLRz7/B7s9aMyT9umJPnRML0p+qWf+TOvVbkmK716RoUvqX/07Of+sorIgaJfVkbvnLMfFnUf3Pfyd494c+tP1J9mG/Lf1vPrVJqjyTq992/if9//Rn+p8lSUHp0V+X5Cqm/6ekfy1NSbslS5Lfp4As6X+QIt+VnH8nXc3d0ekfx6XxKv2vE3N67l9Z+j//H/+N/v2f/ar+NPlvZF2VFJB25deP5Ne/03+lj/TH+g///v8t/Y/7dTpXKKlP8v8Hr/5/KOm/3z/+//k7H+ifhP5T/Y///Z/IffglBeauHHi+wP8qacon5f1/pT/5U+nP2iUVKPJnP9D1878kyX/3V/FvJVd/WynNSCoQSH/67/y66Ej5Ycnea8+wJEeb584pBEaNayGroP9JBx5KUkRLspWjv6eA/kzWgWN5knYOVSXmoQP+bUDy+8slbSpcUyPfR20KT0tOmXRpdFY58bj+rc5IcrwrkfRvlf+7/4sW1nekP52VX52SpPJd6VtsaOZ/mdB3d1+RbQWkQ3X5m7X9B1H83yk48Ueytf9mHUnu/RZxvFL44sqmRCgiJn56CVWP4yyeRMlNpCTqvI3y81k55RAKeddYs2h6C4XD6EtfQvmfY4M9HOz0INLUyMa1CnyOMLNxM5PcLHEZ+9LbBEIpqpTmSx5Fhy3RLlE8s4kmltBS5OhyN+99301rBjmmPNtd4yCEsBs9UoXVb7E+bWgN5AjX8gLxGkTisrg9IFI9wh1ycb8xhMpKszDzMqiR6+LUhvD5D0FNPZmZ2f/ftbSHidda5v9CzGpFfOd0LvNTt0kqxrntK0wE1+98NkfG7BQW+pKDzlq4EltuG5/n54lLzKufjG/BlijNFz+dEUUfZc4bQyrAdV0siZnkIuo9GKCYL8PLtfeMcrJm9O3M5OUz2iNCkyKlaRZlYZzcjeY5N435aErCkN35UUkJ6mxFTjOyilheHiORiKJp9w5H9GyecGYdJJuQbEYkLFf4NUVzZzf/4KV/gG0NcRAG+jdLWjXAbFsXf/obXZwJi+loFHtoiBnv+H2N9cdK4Ystti2K21MoGkGyiKvUfKi5uVQGG5H8KH12L3irqbSUrXJh5eVw8dGvYeCTdym/JIRmjzYZfK6kUjzfEWG5RAxf0F6nVkgUFT2J83gcf1wUqIi4/KRlSABDpWKrRETvArs9UmZlmEDXhN4vRZaDKg5ReNhi6PQJ6n+pB10RiRZ55G0FVCjMeQknKfyNoqBAyG8GsO480RxupkqFfFvl+3QN2XLxzn2lpTJImdNCF4uQvOAvn4zTVmEyg3RP6UWWVYjkI//RCn502rpnzIRyhOofRcqnV+LvyU/p3aCPe5KHFOBLZ0Tj7AiqqaHQEq4HJLigAjoqV3hWH3FVIUrLe9BLDyP/vnM85L0jSQaZ5VGXuJEE3dtfoyEUYuCmqJ8XyvkyOlmKQWEZ5/yohCWLkmwHdiTiOe/T3rk3TF1f1P6kxCPEK33tVTIQXFcmyMuUU0xSOTTqLU6qiNw76Ez+sqWYOylUfjbJkSgNprna1kqtK0rzfejRQkpVy2UNHyuFY7k/6akXtU8YnH9ZQwNVbT1IYqL0PL6hIVQrrF2DiJHE6KgIusL2ZzqyH/OxHXTkWlYurq/7Aetjk7HpbieEukxYf7WEz3MUn5QI1XahklqkHkoUMxxJEtvaRj6Xw7TJe+IX8gknIJzNhLExT2ybY23GJ2Db4rWZZlq8mbi2zTUaqUcqZkni7TJRVSUMIieHIRnqC8mc6w/4CUhcaxG/lrvJoDoIesyne88ZctDmEEdSeG/v/x8sFO6czGw/JkOJXS4TmSyZOIdZH9oKELKW+Nu+b9Ghks9p5xwy1BDnFeNld+hoJ6sj5Iopnxio3Ob5vlUms2NFmoVaRLs6aJpYp8kn/K7YDQq90o9KDwIC/D4/O+s7KG6hbvM+05Fr/P7GB+RLjDhiblQYH8RB39Wc/Diy2dCMCcJbFC9IvKkAAX0NqRKffIYBWJtIDtuZd74mdn/wMfJnP+MY2yo2/UldSLVoWUZp/lV+gwu9KBm95zn+ByivrbiNX51+jpA2zMo4s2I6fbxSOJb7Ehe/eigOG2ZJ+XzIdx7JRY7DVwIBkhK5uWJh0VzT6w9wfaeLjptnzXnaxszUDhJ3FTcXM3XjwagpcnMq2a75Jj4FCffv74/Gopw6ZVA+ITlUaZgC3cmfFFEYfbULLaYwgXUHB7r5s6JhXbRfEy3hjAKKoFgQfW0DxePYbU3MvevzoraFIqK7u3tPKUUlPsuU2SAvjkFIFUxHa2h/oY0zN/c5hfZm7eXyZsctSN0o3Id2A0gOtmz6MnEQEnkRUe3rQT0+nr4sZp6TCQTM0G042g/ycoSCJ1DtDdRssfDCOuXJ8jva5m5iS4TmF+jPzT10zEbtfWhEBFdEwA0z5E/gqmfvnBKfWPf10SKb+f5+xja6eXeinodezccK6YAJp1/CrzCXwh9hlJJZ/Vg5+cx/85zH6eO1U+Gd9byhszTKIawdZIVQqJ2ExIwsfEoiuZzQCRJKoL4wsrPaPix+9fYUrfPZZQaJyCEkYcmP+l20oSz+rp9deuTD1eEJUZDDPF2STOT/kTEXRiyJMw9w77K2NpaeeppShSkOG+qSuNePj5XCsdyHOEh1mEQ3NoeZT2slktEosVCI6pMW00+d5/dcl5ov13Kz5XPKjpSgstkHqEuCRNzPRrEYl6hr9PbnCjNz9Gb/gTAFv/URKY9muUkh+jLBXnnCGq8l920frhr2bNZh5fCRLLYviDLLlFlYl0v6U6FCcbryMYKvhlA4jFVRTkODcBIivb5FVVUlV67U4bpGCZ1SmiEVIolEmTEZqaoI2c/QFSqmsrLyjmdLS9j5MpBVVZIbDBmqCu+4JYsGNZBMitVV0VNby+bHP0FtEXSiHP3+zh5FxVFy8tQpStbSRBZlSNwee4m72cbj2p95RnpEyCM/bJQIh8Nsb3srJ1lIDRQWipq0eKhWvPJhlEjwlb2yciVG1ECFLD5sfItG1dGsUpSXJG2JwtwQj+hZdrTDmIT8LjozfLBOrvaj4DeFqr12SuqAXyqiPMpcoXNi1wlgp6uRRJ2Eoxh5FwIovYacJGrIvQO6+xtdP+Clm8te5HjmXQhpCynM+bGfLaHNHRIUdTEHR4fjSvwYapjsfT60x8T7YBJRhPARSKmqdJqHWycolEOORLn2leOxUjiWB5DMjLoWqclz3lrMzfno7f1FuiqneNkWu5a99+FYn0MVnZ8vBgbu7/7mfoNYVh5zykquYsks6bPr6POh5xcN/4uEVIWtFhNIdsJiaXaWV/sjTPWIVycy5yzgykdBkXj9dYed7WVOL3/CtDfQW/MLJuJbFtacqD9jorKnrEGMPd3MqHMkRq0vo5VHkUR/vyh4RejFWRQMc+IuwVEz8pLYJMTEhFip0AEKkGlpD6JqWULl5ajrDaQ1c//ZkSMjVPfbz6JG4hkJRxayHmFO3QSPMAn1SHtJaJoknkiJ8VdE2vNt2JYhNpx3p9lZjnD69AqvTNsUyMKxLbqsbm54Jq967TPo3pBFtzVPhwLcXDnBlD3N2ZVXiaqJWVmsSEjLWNba3juXhLUk5ArbsrHsLBLAEZFKnciq+1WkQWSJkyUr2G9kgwC6WLEq0LSNYmJZS9iHYK65P3UY/Qc2VvykCayczrSdOc9aEZpQ1srv/sSRxQk7iwyyTKg9gKUFDHWIieKPRsUrszZdpaV0dXUhiZycHMbGRg+UZ508+H3ZGueEkmhpCcvrr7OWRY+aqL5DyYj8/Hz+aPA2BToEtjh1rBSO5WeQHIUYV5hZidu6QDrdgG3XoNwgWrY4uJK4cM+yfD5DVXE/931K4o9UTnFVBI0aJ2DyAep9RmJu4jzl5e/wjc18KlfOExsQXUmDz25QA/9a5fS9FueZa6LWySGoXGoqKmkK96L6eg8hdIHVK6KoXjysfQbMgMQHMrz+CSVRjoPfL2p7RNxv7iGJ3PMyg0PT0fV0XZFMmv9b3AYa68yAlNIhts1gEEX/DtLvINWiq2to9N4U3TnKYV0r2NpCEmm/H/vMUdTYMgpmWsgnci+LZLVwPZPNuERliUjPpijIdQgES6iZqeXD8AV+PXia3J1cSjy/Qtire61ESZXIHU3zkGxKlYtl99G4u4jtnSMJv5PmTINNnuQpCfHlHBG0xK+8/Ltcn/odfDL29a6qKuKhfX9Lk3xkVj9POi04qWfNsXpRPL5N4syvoSfnUVLkNCprpeAgNaAfXcBOOpzXk/vtEBcvlb9EoiGBmpqoShp/2f1/MyX4fQv8s39+jrap/f2xBotXxtOoxkeNEgQk0oUJnv4Xn1BaVUVD1Dzjakklt8/c2LuuXOKj3Cb88hta81CIEzNdNARdIjk5bFkWam4mdfGrONnO6Xrt+5hKRGrWwtE4RimZ/c0TzcdKQQH9+WCRXyA5KzNzq/WJNb+wg0JOBOkr3G15m4i8QPBeKS3lcL8Z1IKyaFcXmfy2lTLpHu91Ta5sFhUi4ouwnRK+tVqkFL0JceGGyPWleV0f8srZXOrUzZYayHFyjCNxtIOnP2rhlReb6IvNoK4e5O4Puj5PDvenSFZ/ClwUHT3GNFSrMAf8F1nUDecc4QbFTkREvGA3yWHo4b/FxEePHPlsZtUwjPQBUjVaF6lf3Hf2R464plCFrGnNmyEnyJAH2jpLSBa+SJbDMim0LfwB85wLWmBYufRlledIvBsRy0VF3P6l2+TGRJUsAkpz46zpE4MR8YPT4p84WWgej5TPUSfv6VOvXbyEL47w9/jxRXzGsX3tLD3evfrOLdOhbgKRHXRGPP1sM21V+w7Y7Lqdseuwwy+ZtukaoCnaRO3mM+w8HyaVsFCvspSCi9RNZNKs9s5EvBn05CRqq2Dk9sdMP52iZXeSFi+504N8O45fTPydiHG6nxByhX9GPO8TdY5DfzBISOLhy2dZ74qRowxjbD9nNMFTno/GtsRgWPyyPtjvB9FKtPOsWdloGwV8PNzbhm59jIkSb8Tyvt+9OjkOiobRuzuoq9Kg2Bwx/cMfHSsF9cjYJ3/e9fgbID6JIYk/ahDVbTLMoEXbHJmkRaJV4s3tACNHOHv3pRCDX7+POoRjaCDbUd3AXRkiPbGUxqc5tuq28HXKIIQkht4V8f9GpBsslhXC77MIyM9w8wiTXxH694PoZhR/yN4bZDUaQL5Thtm106wIWg7fs0dsZfenA7xBJ7hbJKyvWGhS+NbFFZVzo+ePSSRymU/8Muuvfnokc+zWZOb/IJKN7RN/q0t8s8UMbFuf156T/yVyr6ExkSMfs5ao2zR8+5lzRiWelzEBuXJxZB1crTiib0O0WRY+n0uRxDUFuKY3+cj3PI4ttjdEyGf6zh7cNOu7M876KIa91Ozb0Q5f3voylmOh782hMZnJm68YuSNo3Yd8RgFuT03u1yctk2NgXPgSW2gxQ+LncPHiJd57b5Wvjf42xdGiI9vk408msR2Huc2PzD7XRXY5X/f9F8w5aertj1GvfU8z3WFJT4o+x8/vzv4uFVaF6ROVIvBVsdEpijrymZycRKrE7xvHpzf2rm2QQ8vkTQasaTRhzEu/vyyendz/5q7K4kbvELF4zHyL18W5kxaaGMNAcBNIfQcnMC2F6NYYVb2tVLQ2mWRBO+J7P/rhsVI4lgeTYoluHW22KZMfqYAmeQl4tO+8SupoKupaiXOfd98Nh7K288aZ/Hj2sTTyzAixljI6E/smmowEJDpViF9+VJpAO2+iH4coqxaVr/Tg97dwrUt8/2Hxsa5TnfslyrtFcU8JuVU+cnyi6Iq4WCj03GUUvmRmVVkUE/P5JpfEwXoXYegQ7r9tfa7FuXOlRBXlk8JXKKvLpyHczM3H/inhcMud15Tv/19XZgK/EhLva5deOXcktD8oeai8GwVz0Qv9ZIK/JLPC+GRSVFQYSul6mRn+IyrkZT3MWd0Jf+yp9vFGcRHPXKzl6xqm3CunqEjk+MpISBRonuCeEs96dxK5rkvHhWcJjdbjnxA3B1K0zHvPXF6OqoRKvYxi/m30YiYzmYXm/1M06GWgqw1iXcijdFjGbm/JOKiHxWpOPR2RBm6+eYW84jAG5uut3Ep2kBOifHMUnbQof2lk//nCoqS9BGfY4ULjK1hFp5D/MArr7pIuNxTg31ttp6xtf6UZlM3pnBJvhi80lkATuWRPdE5IDJeLQsdGL19g1xXFxeLrWe/+mkR3URF+D/6d+5ho6L6IVIJZAfm9/rh/TTAk8gpE8lQXifZ2s79CjB8rhWP5c0u5iyaFusRUzVUMxNMcc+RQZtmMO2bwLz/i+hyZmakt3ZVeesl2WZ084pgt8myLb1o+dh6e4rMaY+u2JILe6iRx5jFuWi8T1xU0E0RdN9CZPIKuywdfe41Yfz39N+XlqXZxAw6bxc8yPPEWrZNRWiNicFT4DuQasDCZxLwPvEtZKBUZzLsziHSKNa3hyMGyLAKBz0ue4iBNE1OS4ZlhrG0HyaHVaaXAuneA3+anottzMIYlHpMo8Gs/ylnCkstpCeOY7iHblnxYxqZE/4B46WsuZyNrxLTBgPqZ9p45KBEstAhMOmy/Kk78swi3Rgf3/AKZCOyhEZvWK3M86x7OPtZIZvCrkGi7FOLGazfIrfDq1NtD+pEhZqwFA8UMC42IaRUj5z3c6VMmF7PEpqZN/mef2HRzsO1OJidFYs1iYTFrlTp4CVUts/DlJ4gXR5EmyUTB+0fFKb/QwidYjsvGRx8ZhRIQKhQrt1YIBUMczht+P5LrildlEjlVKsFekKH8yB3DRGTPoap1o/wcURkU446fHp2iyosjsDdE4JzQ+Cjayh7kN8k2S15vc3k2L/MN2uTKziKRFJJrvjtbaLIFqZFJmUncD394rBSQRE+0BzX+/OvxN1Kqz6FPZQZF375t198lHnfGGC9tY3GillIdpLzelwRSHR0y5qbMfp9ER6VQjojoJLYOOlBdic5+UVSbz649T/CsWRXUySQReb99g7AvjK7/AFlRlB+l61nheOYcy+cQ/QdX0HyZcfhui1DjW2y8P0+05hsolMse8+ecOFdwbu/eMRXSoB+QiaK9Q14RLU+awTnqzYbLO8t5/3duEg5/XlRqF1ITC+FFmvufoFz9xky32XPv62qF5k6i7gQmbajNuffT9Fyuom9VKLcHWys8rBRmhm6R6tnPdBZRJs1mPpFIGa/+Y1H0mAjliqgVJaIoWxLbPeJiv/jvtqv5v+S1Mh+a4lqODijFmHx8tbLD+GUcB107Q/SMDigoScaElPn/IVF3SiRe6kXqQKPT9LfOENaG+TZ7ZGifky6urrHTNYGazGohqjwUXUWWQzQrI5ttFxGJ3N67T9VUEzkNhYQHTmJHDvYnSya2RO9FsSwxEY0aE9EHQm1php9rJxC2UM/ZB2ZJLT4nVttEb0CEuiNsWheJKWZWnJtCegHDout9PzOi7mPxybBFpyKcjBqU0YVoN1+PGnh1Ipo9wcgOaosQ1PqeUu5SF+NqMgF6EsZ8uWEmQXXCrCL8hNSA0xPjh8c+BfMxdFdNoceXSO+KA1j3Y8mSQUpUx2mJlqDoOiJjk6v9ZOu+RlGfiCF/PVI5BcqyJx+QKFIFYRmKA0lcUA6uREOJjLNzVYSSxjR0RXGUU4izLRpDIidHJJM2Hc4u3zx7lhrXZVAySAufePLyBlZyBaVFY+H+asTnD3Dzq/8K5YyhahGcDxIpnUfpz58JJqW9LG+OI5KpOH75yAkGOX3jBgqLniqLPOVQWpHG2rSoiPsZb5/by1R3b8lBEqmz6xRNLyFZaKUFrSe5I6eyZOg3auQhmtpxnLMkkxY51dU0V5TQOi3cVDNxJTGrERNQGG8xq7e01/bVEk2qo1eFlJXFyB30k/alefeHi5xvb+Z3zorlSTHfKubnSxlOJMiVuOBRaSzE4xT6fMTk8mpJD0oGcHQP82Dz/v+xpM1TVzepzFnA+Ip8jO1FDQeRwqgshmJ+pA16NEGzPJbbwCB66JsmvkElSIb986YTYD1Zi8ZqkYYoWSghOZZktU8kIyJDAVJVJb73m+e5/Nxlcj57EssRzXvpYddQYoDBp18jMDmF/l4jK/bd+vLdxa4TTX4RaAowZ80SUQTbskiVpSgvFltKofQsyuvw0roWI0Wpi4qZQCGWkjRrm7P6JtVaIKpSzIB+hlyJT2XQedoVsXzxUNl7aGrKrLBKhHYTqMXdRx+lK1HbBupMo7YU0pOoOfLFXimUlIjOTnG+rY2x8nIsy8rCj98fRe8XSyxyZMwzqtUenNKyzKx+XiK1LMazMfh9feja796z3MsyKSifbmigrrbWlKnHkNr37itH1C+ZmIBZDaGTD2FZFu1t4ic300xNDZNIGHy8ZYkVFSEvUnQ151exXp44ENRVIDHoupw4sUxCSV7Sbb5/4/vs9v6/0JfCJgmLI6zFBqRbSM7e7LBDojNHDA9OIEWJRsXMzBClyqPb78f60jK6ISYnp+g58ys8t7KM63eQirEX/hiF7rK6OCAnzHNXieCrG8wsLRkfxtgMWjyCxM8SUi62BllUPdFoAzMz4uTJk3vnpCVGNYmUICKL6f4+ruVfYWBGLAVbkCrNPXXCiw3oo6igmNuDS/Sd3OH1pMWXp0w5waCYnTXlzsohphXz3kaeoyy3gXYJS11kqDnuK9grEsF6+WVO/vbVvX2XToqXLJFUNYZuow9LRV5+BYu977SqkmDnHzGTQS9lsPslwv6KvNwIFroqlt8W018VsWIhrZAhM7TXLJwNm5O/sYZGHWRlAA1DSN0s2C8RskIs2xb258TeZJ55P1Ynn9mpAbYj4rRivDw0QWeOGAsEeO/2Ank3xbg9x+KJs+iMheaFlr+Gz3+DF35pnoq1K2hkDFsWjuXsPZ/lPaslMyFzJKyo6JsXpVrDsiyjeGuExsdQOr2PtsovRINjyFox5rlhC10U61/klUIgYPDxsViMYCa1Xloo73ilcF/iZbW6ePEmlooNNDQvF3kDhFyhcaHqfGpqavboHw7LQP0Fzl4WT0VGUdhzFipIrWI4EoV6gXktGFqB1nrKaiy6JS5ohydiIcqDPiylGJJ4MiYWNkS3AkgJCiTqGopZSacOwI79ipJQKT1apCPQwROV0wxXtPFkap7dbheVXcCpEedKIpjBchFd+BpSIXGJoE9UJdP0yaVDQmVlhnRNtRRedElsvYlyclGRsZnPzIjSpja2n3yScLjhgdrZLrDJzTN2dkfi3Hwu2ixG1n6CmkKJuMrR2mnyEmF0OCBJBez5P9KiqbqOM1dTDPtLSeSKfDvKQH2IKktMDoqSSfHQw5O8UvcKOQmz+ksHRWVlBQ0KYUfFxg0dTJEpISUJynfv3NYZGfT6UPa+lg300XVUfBZJvJ53gW+tGKZW1xXjNcV8u6GXhk1xKdqD9HUkm2RDJ0UjZ8mtsSiRmPXKS+YGWL1a5T17IUVLW9S2dPPmQ2sU5yaplxlY4xKzDWK3SajkOexLy5xP5+GTqJ6ZQc1lbD/5KFORGON6E2PqOdofkyOT3+NNNfBBeAD/trioKgpztvgVRyzI4WYyzXKTWJ5xyN0ZQ4ojR+TtCpMjxEH5DxM6fZ3HW8pR+yPYL1fw2flxfvHWAu7tUtp6e/jXxeJmvpgbELcs8cmgePK5OiqbbH4rKhZKqnlSPlKqp6KigqKiEAUFTRSrniK9SamuoDmhdaHXhOpF44++wEphX/qozhvi5NycSVZfY3G/uPkvlvSRQdO4ErvfFK5fqCWNprND9Q08MuwXq2eE0qKrq4tA4GiziZ20ibQG2NkRCdmsKMgZid4N4QaEY4ucLfHmXCtt/9lDNPXZLMqsUEIJP0/UvsKHCx/w7ukUJ7PK9YVCPNdrUfh0DlpcOHTfFFKDIY0bFFZ7K2cUQ/5e1G1m9Sc7J4kFha4IhUXYX4H81YQGharCdMozISSfQq//S5RoQerhzBk/wx8NYGy3NmZWt4hy2vHV9bClyZ+p/cPPCk2KsMrQfB36oGMPAdUkUSLbJK0/fO26ULAaKR8tL6OWFP3l/dgyTuwdxfhd3xbPj4gXLfHkmmg4L7q9GIpVrRJVlEjEpuO5Xj4ojO1nett734dnzkGOnlhNsY+C8XOH0/bRecLjXXspRaMSrV5/8vvFme56lgeX6XZ9pLYveSlQzcqv6qEQ+sbB+yVVy4pexkSbV1M7eJW8lmE6T4hQQvTv7GA7DrmV4vTTwjcsdOZhr/4hQrIYnlhEa0OEHp2ldyhA57sfI+v+LAkhWQT8IZLxMAEZ+GzAZ5FUEFtxpCjyn0ZO3sFrA+JsjdCQQXm5sRhqbaVWxZQHK1BXFzkrS5yvEyOVIvqQaFtcZG1tmIr6R6jvdvjltlJ0/SnKFaBIA7S1tvFKbYyqqlnq9Da1TjNNgRuGl6tEqFsoJWaOlYKQmnjcamXJ128cWu1R9ma7x3KgneSxajaWid5MRrPn89B4U9Z580hpNGIShH9euUVqYcK+iX9aWKMJfNYifgl/VAwNGxqMbyyJojMOTtihXYYy4dGJIU5/c5jgS28Q8Ufw+S2ckNBDrWaZfOoU/ngYufZdU2xquxrNm4Tzgaz9a7Lpkc8sz3eFZsX26i0Cu/WsukL2dWy7g61RocQNtPZd8lVMo4TbLJxqYYj/HkPBNtS/hmQjdxP/8O59tXeXPIIyT3aCaRz3IZ5ViHJLBsbomQL6JQaUz1RG4YRF+0NiNaUDA7jl83HOsqgKhlB/P1I3fl0j0u3HqTNmwMOmHv9eRGwK+ebx1+mgg1grGD/c4Wcw1/UpO1e2j30F0ss+ZLcUqQq50+zYXV5fO9SfZOJCciVcBdlo/Bg9vd8Gml5HkYPveTzybQJ94f19LSPoqRrk70NWGM34jenE1t5KcjzwWxh00LeJKspK1xpadjn16DfoPvcIz/5wHqu3G8WOeuaDsq4kE0Nv8S+e22F8sJ+Tz4S42pTgTzqWqD/1LaRddEFm1ZS5Liz0y+34W1P4XPGEjIk1E3cSVJR+rTCuPAZ1lUBtgPgj4uHBQa4rxSU5uBKBPBt1ulRXi3NNwuoRARVhOMz8qMg2+SQyuUOmhPLFp8eQVCHlMlRWyqVLXUjvoDtYC48l006Zj791pJXuWa+dXrqBjkpm3vIcOn0/TtUQsgqJV4p4pdlXqzBjkRTlLxgzX36uOB0b5dH4ODfn58grLqanvJxcx6Fa4sS6uPDkAnInUe9jKBymRKJMSS5c+BqWdTjto5HEfBXR4RIz474mkxho52OaVUWhu0P8+79GemSXArWhWC7KfZ6RkUvU1ATRRiFaEcY0sU5EXnR1rlCtOLW0SlrTyE2hMlFaGcK/8ChnfyuMGvMwfoO7t0uxROAAtXUIqZeUfPsBc7VCwzZSC9UKkyexpGImfAkee3md5pqLB8q0Jf6BxKx7CZVVIUUoUgeOHI9SIh+VZA2sJSUU6jCUVJjI4+1D+3wclUqzVHdGfdsycQ8l8nNKraRLqjBmOiFF0HYHinjoGkvogmmHfIlw2UW0EEAv/z1Usp9ONTz0LNv5QcMm6u2rDNdh9RTu/T55NUX7cJhHC94kz1dseLE8pVJUY2M/X8Tmxc9YlkuJXkWKo4JNNFFJ0aMXyM9p4ObNPqzSLhS4N421EQepnCoJlZeSqvOR7xN9XSLUFEXK5WSeaM8iPZRPqLcQhXKwd1KUh0RlVj9IyziUX1eEZ4O9xP/IIXDxGd4sfoT/WgGeldjRJK/Ul/P9UnH7F8TaZCFtJQ8zpJtcVY5R/MEgvtxcXugS6kmhgoeRAlR/kR3N2bJTW8fQCy+j+vUDBGTHcqfYslhXVtauOWEGhFOklWZa01iqxdYfc195bAuFRkVNSwvPNDRgS1gqxu8243dtrjfeoP/pcR6uruZ6bQ2OIypcl3G/wwsnxS1tINnYmsGfEPISxs/I4URfI6prRbMvoYeyHLyWkC02OjaYbZhlakjkpO6sW01tLW1VTzM8/hTqy8HtN2aDvDwxNiM004zUiuPoyGxt9RIvrxqE0qwKcNWOa9vI9t0Jz1QRcoa8/9cxpqcMe6wZIB2ZXNQzyp7Rx+l1/oAXVEy/bGY0swdHrNIWb/hthk86PLtx8H5+OVgS45ohkBngrZfQbCVm0F9Gs7OMaR8VdkDuqH8UQ7lx57kHlUoZkZU+fhrs5g/0Jpb1JJppw1UtjkS54zCkKTImXMuxWHcX9u5pWd4KtFGsV+63Q2hqivXHA1h9llHWMZmMa1/9MhkzVcvVyxQPr/Lm8E+9iOa1vbadmPURWJhk8fpn2F93WLiybhhqF4VVIL7ZLqbUQM36FXSvzGvrXv/y+pj6xelKH+uLNufHxPrsGgtftsn32qW1V5TXHC7HwUT6t3q/Z00f84678uOTjd+1caZsbNk4En7LmFv9trA8gkjbttm0EzylQdpsiydsm5BEYe4jTHT3Mi+hqIXGBpCVZutYKRipdop4IrKF/OP7/PPHcqQ0SRTc8UFYSHHicuhRhEb56VUed9qajxBXqK8FJRLEEwHqm8VzEr93QXzn/BBdbq/J+LZUiDqK0Eui/t1d5qxNYrEQJxSnoamJ5lCId84JNyWS6qLBv8HOx2GTWyAaRaksnH+p0KQIbgfxzw8QWWzEyct2zsY5EI0cFgrVsH1xkEDAOD3DZ0VhopfT6mdtRqhROG2ifY/Wogm/QuTHRK1qSExXcmZ9nSs33kJnvoNWrEOJWnLReqtHlb3fvu2+EE7r5t7veJEORFMraBHaipGWWLeaWe8M8lJAtDeLy7pMvjVNOLZNZXGU+vpVpBAxxfh9rdEsw97Zvmf+iWAGJAszyCe4k8ZZKORDm6137j9CbBnOnU55A3jKh3UuRL4/xLpy99hTvx4Qiy3iqd1dntUGvgySaMUifuucgWm+Jkpbu/jwIRHtLiF+bn+FGgmLH5y/QIWvC50XSopgSYTmN/tRlzHZVVwNkR4OcU5TpBXB0Ksc9A/szvxt7IJGzqbiZlCPivKUWK4ySr4k3nXvfp0hd6yX8VmFxJuXX+BHyWnKvy3K++P8MGrg1dsSgZDYvTyOMhTagThqXr2j3BMnRDolYoEYay0f8oca5v/mjHG1vY+FSAPfbxA/aRTf6Ongo/Fa2n49ySmJwe5ues41sWo1EDk9z8PXzvKW00ZfvIlkzTRvF4lQYZKmuZOoQEz96PEvtlIISOxIRPLzqV1cQXr7516nv87iSkydFNHU0TQXYZnI5cZk8gAx2edJvKEF23+Zc0HxeL34qYzZIRwJ83pBB9uXPubtnS06yudRg/C3i1JZLCnBRYna+noU9FYlp06RmLxM+Xj2PWzv3WZI4Lz926No/iLmgwxzWqfxa5YKtbGqqrvUdxjpdSRjzpjXeUqVxicR7triH+6GqJMwOY2DxCR+T5U0fa+MzZUVwp0rqC0HY4vPySo3zr4JZV/aXFHeJPwpF0dRzhZ0ovpW5k/tU1tHJJ64JVbcPm6/NcjJQAcNDUJqIxgQ13dEJBKh5qnvotTzSCbA7y0JZ1O0hGWU8yE+nzLFmTqiTmbm3XSX9vEkEzvh/W5VDpYSKHmLxG9ew16c4cdv1FEv8VZLCxcGu7AbRfutFIPaJLAHLz2L1GjMKk0TKH7Co0PfRm3ze+WHIlG2fuENVFmJWQHEKQwW0tDw/F7SodKrIjVcSnz16ziJCGYmfmiAH19CyXp08aa3L4o66kic/0U2FGVE76DYSeTk3Pv5D4iPuKI4CpKrIImYDqDhkhpiT/kGZJy/e9cOouycC36hRjEmseiIihbRHRYf14p5NfKSLmOrmvg3EizKOKpDbWLZqiW8VYZ79UWanE7aGoV1zaG18izBblH/y0KFYvJHF7/YSiGDr1c6jYZHMHkC7p2g/IssdRL/0DYQxZPhOZyJrKjKJqFyYdkWi99ZfaBEJHMSUW8JbEu4JaUsP9XKy4Pd9D/xJOMLPty4vYcPL5X4qvxsafnAfebmhDM+gopvHEqeYmHy8vYgLbCY2b+9jd6b3zvX9tBChTJEcEfX1yJjclCtiNYm+LLmyJfh3O+0PTqPUXmzxjCuJgxNwYFyPh/BUi4xIvFvJfrWCpCGaVQDNarFscXDpeLJJ/1c9z/F6EYJ0hyWkyCmGM9qnFyZic/JTMYu296ruyXPrGN7ppqUDF3JoTo8aEKZEolWzSDLv2dCqZkXtZFzaHwRaZPl998nmEqx4XgYe8tiIWrhTAhtrLGoACHPdGYNz7KQ+DKGFqOHAnXQPdmNwm0sqA5LQ0gpgskkM++/i1EIpm1PLcSw7UmkRSTR1itKuvOZHfxPiN9BpDiNFGBhdRXN2ehsxkQ6hIq6eaf7jxlrSlNZbqNX7Kw8HZ8veSrgJQ0TVRPnVc/cmAw1imeqXr3n9RaHFVdPj7iYt2icwyHzjsZGRCppEQnZTE0JOYvmfYaEtIAli8UKEWizmZZYXJIX7GibFc2i+b3xwxNfbKVg2aKgWlTG67je+RImDd7nowq+cOLxsZTli/OezV4XC1Dxfmftj4vGtNBjJyhsvX+ysGxJpcTq6iK1oS+zWZ+gyBaqDbG59jiPJyfYVedB+/SQzDJdIllzmZaCeZN8RmbAOyvReEHIEk06T59M3oBaiaLNTXTqFPrffxs55jnO6MHy3CoqfFE/FRpGKuD1qmK+MbpLYX09yl1Fbj++mEPlZhbksF/ohPmQLxxRZq7EhwMtnFwt59ULJsfAuEReWOw8Lt6Jj9OuIb67IL5bVUtT/Rg9dj0hhVjXFkk9jiuXBuXhlzirAC26S74ECQMSOKSgIkJbh8/LQTp5YF9YotgSqjErx08XRHWhSCufKtno3THWSj+jtOAmHY6wPD6eL73/PrFEgtnaII+WP8atwDhvXexmqdgofG1Xo0gJF2SuKbxajJlJJwkoSSovhRxRWFODVnJRng/b9pOfP3Cwzl+7jDYLUO0Y+vYwiRkRaq5m7aHvkEzuo5Jqq6vR6CaSTWGt0KpNTfN5gzDa3ESNfQz8+DXy2odoLz6BLstLmXq0lEm01jYgmfqkdJDCRddK0DshE1C5IaMgvGM+GS4o87z7iXVOyTiZM99JRU4h270ifN7sy7kq2n+hicHBPvJ3Jrk4uo3OTCNHXFAh9rJ4oVLYj4h8vyh8I4xVXEpNzhaqbjfcURJf+6L7FPyu2OgX7XVJXr7dzyUN/dzr9NdS+sSITzScNr+DjW2oY99G75eXhD1moRcCB8nhfhYJimAyiN5ZN+H5Osp+nRVLEgxSMrJDhSr29m2eXmUqYj78BYl8leGqHr9f5Nkez48rNHYJvxU8mIEreMQ97iKheJpnVy5SqFfp62umKdJPQTRz7Qh5UfHTkwZNtHfd8N3Lq5TYmZ4jaHXRWRvkb/Xu8qr85KaEmk9QrpgZOD3xBUX/uo+gHAKBFSwrblYo7wkVGpNff+b8gLxVUZTDA/yDicXwcIClcvGYLRPrIYuAP0B1xGFWPr4uoSuj6HmzYhiUt1I6Ld56f4x4ws/i8MO0d7VTEhFVlkU8EMBX6eCbn0Sb+1xTClajYNXeis6VRws+tMKJ4Br5to2BwD6PzlRxQiLtBjnnCtsvgn4HXYqjWAg5KTYCj5O0Iyho+u7HOr33vu1hsxKekPApiF9+fNEiZnyvEGhI8GHd/OdGND8XmOP86P7EKCUDp5XEzo6wO1pRwjNj1gk9sX9tWCbCXxXVaHD8yLaXAigneMjM9GBy5sYN7PY2pn5x0IAzPF/qJ190pSCZ5fUTdWucvD3Hxb8G9fnrKhdVy3iwEEtiu6IV1e4rhbCvn482/CiWg/pfQKVRs7p4oHtUIJXSJpE4LdY3RCDXUzBHIML6tYZPIUYktLiIksms46MEdgJYYfPx+iUa1cBj6mJiRJSWeuetC01fZE4L5GZHqJ4WxsyydY/6WkjDaGQbX8jBziiQ3lr00iYmTiGJZYlo4O4MsNniyOQcKNsZ4dfsLn48fo0/cM8S9zD/tkIMa+TOawMDnFYVry37KYp7KR+jujPR+6I8Xh1vYPkZ+sGIhBTC51vF55i2ragQA6cT/PrsEulbVfjUb+I+7AK0NrXvfJXQjBh/f41AIkQ8PkN7ezcqiRB9IspPfusEy91lDE+OoEAz8igttLOD3tUBuGlAQlGLlRdeJn+1msHxQdzhGRSsIiCH9rYtupvDaLqb04OD6P1/RN3E75Nf1cb6qz8lWVSEtsRkh6hMBjFKZYO8+Ajvtpv30B48z43eF1l+fpB3hqcId+8Q/IP/mi7bNuR5R0g0GmXghQGs3IOKw5bNkM4SCJTe2aZZtOtxednmnGrkOyrPSBQDZ/4oa98RfeJzJBicwZHYisrAqD0LQPDKlS+2UgiExJmnxMsVTVy8nmPgkX8N6vXXSooMDHV06DqF9b1mX7IwCzkTxM7vocouIS+Qx0rpoygRMB3tvu/j0KUnaFOKhySD6w7KDM4hoeLsc+eQiqmUcBKL1FR17nXofakhf/tx7HAMXSjcm2HWPfc0hWUBJA+/nyN8t3xcOnGZ/I4OHg6/yu9c/8+pCjVh5edT6GY+4EUMRDD7Hi4qfB1VJ5CVBdFVHiYT2sFB4eIhPnvzYR80s/llKJYDqmFYZRTUBMmXiSpuVhOWfGzpNdoy1xzqr+XKmL9M7IQk8+wFh9vn/qRMxgS3KtGsC8jL8WwXi4JCoUAJG9dmqaoSBb1iyDLwVbtIFBQJFRWh+fmD5dYU8eLtHWK1Ib7z+ia/X/ET0t8rQrdE8YiIZHILxFdQxJhfIk0i/ju6Exn4qlBPKW82dXC27ix2TWa1l4dR6n5yVI5fMaQi8jVg2Emf7EX5ZhU5VyyKw/L6xFUUHDXoNAn5fBRVVBCuENsTfsL6FVSzy2uZPnqEVAZ6KCv7CQdidwLCSltUq4+jmHVr7uNd2BLnJUp2RYFr+nh2f3/Qd3tRY6ZvLAm3TVxY3OWFF17lctHlL7ZSUFTofdGkNLftYQ9zfywHZEH4/FFunXrfmC1sB+kTIhIL9hAl6qR/shc7OINPwp6VNxvVnTPVe0mzhRqyB9LPd8TaLR2otPzIY5OaJKgg0jxyRM2amNyZ5e33XLRRzMKprxM+c4a44gxbI2h+nqCWmep4HhUVYo9NMhu+jXFwmrocmO3bMv0lJvSGDmRGW9OdDtr1ku8af0LWPsc5Or9CSinmNE21TEKjDnVQpELMQPcyWm0w95+/j3b1aS/5fEYiMia1A+c5wjhbr+zvs8S0bezZkvHBbToWOyct5l+WsYX3ClkOjiU0NoYGcvG/JKYWlNVm2c7SBZy1ZbQcZGFhAcuyqJO4fSqC42TRkXjABUlU1NTR8vIrJguaJRZsL9Xod4RGhJM81C80Tia1Z788W3wggF5dRuViTqPEDtBNO+zFgqwtMWfbvLn6PAOn+llwFiiR6JcPtb/M2jPVjFj2HhvwgLJMg7bF/Lp5pr26OINYuaWHosDvLolTNnNHfjee89w5y5SXoc4nk4RnD/hwWO71/RVcRG8Oo5ebifY1MDrbj5Rmc/H+hvv/aJWC44rWEfFGZI6X6xdpb//51+mvpQQt9HACaRidqEOpBHZMxNcj+OQj3CL6fCV8WpHLyisi1xHFERkn2n3foxMFWqmRx2uvbbJNHAU6mI8hoAA7eh8D17PYZ1U9KEPhMPVP1RGoEWNBPyNDzaitmvjaLiWp1MEczz55dM4d3r4gQVXSoO+hjhGDK5dQe9a9bBmnYxbEMCFh6J/3g/eSvuQeV49kUFq77xxNeZEvh7OK0SYxeeCYi/S0WYn9Od6nrYMUGpIMnYcVIxsmG28Zo+palVE+jaL+hHhht56Hd/oJpGQUghwKO8/ydGs7djSGrru4YZOmNKoOnpFIqC2rTcVWPEEoa+AMSBQmbPbjMxykVsISdfUWualneabwEXyyUJmIT3nKJtGOZLHrlVMhkYyJtWrzfIatVaQ70iz6l3FnO+nwlxPTCs4Bf9F5jKkwxO7EI/RZ9dQmC0iPRRhw4vgkIrJQqJDxfD8ZOHGrTNY4n0yQWNulS2hoH6rbGu5ncvMKlXdJVyu1eO80Sma2fz5xltSRg/wJpDQ6M2Gi5L1nM31tl4zSbfXer8q0jyZrN+3Unl1ej4uKYijSh8KBPThyUl90peCItjbxyCMG1z3eIXTm4Af+RZSDA4aPra0QodAAu7uXkeoJKEBevIhvT69SWvKiYVhMluCEc4nWG7qHw2kxP086ZTp0rTJKIU62CabAK9MwcFahrZE9G3NcFhfUgZlNZaHH+sRwd5iGhh4a1cojF35Ee2cXCZkPqiko8vxCi6I+T/T7hB4VquzEDExvE1Qfvesf465skYgnSFgJ1LmIMWPd65kayVYKPl8FyYIP2LHC6LFdZFskxh+sjY6Wg+0kmUHh85hKpyRKKoT/A/FuWHtBZP6En6B1GcV85HReofWpW8YXkWeCt4pl4iO2wmPsrlWiaUNZUZzoICYL/5VdHgoZzp4OdVLreG164P4BpB12H8vHDMaHVoWWg+JthLVLfYNFXniWMpUQk0EnTXrnOeqgMCrSjok3qtcYyXiliY+IG5pzSyLdWcWvustcbq3mm7sfIf0/2KPkmNVBJNF8hMblOkLnhL/9DM22S8V5Meb303d6h9+VOKEVcpRDm/ZXj0nHpnM0e2KSR5v6ce42i5cwAApPKdi16Ow93llUqC2OutrvbC/lIi2hhA7UaU86jELuyN43Ia+crDp7OSS+0ErBJx9TmuKcM8ewxCcScma463LsCyC2LVZnhYluHUUqw3F6kWwcxzhX69VD66m38PlPYVkuclwaNc3zEtM/432z+eeNrHDYGRqTF1eiBeSYD2NOhirZJD2JsJ/qUMgWSVs8PfQyyXgVlrOJ5OPT+XlciVOtMugPewBLSWyJ9k5RtOfD8CHZjE8Okpefw+aJTTYCGfbPe5u3rGGL2dgs4XCYsbExekoKuf7lZ2kJBSnbWsSyxdraX8Q7u1c7ZUsKqd/g6+vMwGFZQj7haxLzzwgNi+m1GnbCXWhJdHR28sStW8xIxOObPP30MFeeESebRLDfximzcGwxWyfiPxFzrqiodujv9sr33sGdFCCTSGGcrRTSq6gyYRSHI6RCNNuOtkX2dxieFkuuKXNvIJZ4c1Jcy8lQadho3uTfyEAsjazjyJzjOi4HiPkcGZ9VW9b5dqYuXkyH46WLdQzZnK0RsoMg8yX+IDhO7oeZSYCF9H/CBN49wLusF6qdPbpvvWah8rVD8TdZYtkouz/ly6zkZu5y/rqQPUbto2GuXxfWgFDePPqim49s2RSqkF/UJkVa5sUqsath3C9Ckp2k0JoZQDImFJOa0UJFVUgumss3H4zdwFDled4sKMBeusR5+cxxlaOL5pqEirxI3p9NZmTw+IuLovBuDn+fD/WXoUdv7+37ko4IsKqYRhMT5vhL/Xzpf3eFhqJcjGnkNMXFs1iyqMxE6y53ovw4iom1t8TbORdRqZjZFeOqwjguAziKUjHygiGiy7rfnMwMuqJCOE4eBcrne/mP0+p7h5Tj8FhBAY0Ksq4mEnKIaNTQFQeMbXzLK8eSn0q9TI5yOHkAMprPnTkSPHEcVFFx9DEJu0JUOEK6xinlkY7KQwMVEmkL881+Ec/pp7hlGeWZ+iQUQdqiM6eTJztvcfKceM9XQWtLPv7WuMkVUSGqVcJpfcrvT8Rpy4praFSQc/oIEwx6sD4Xq829zcDnR8o1s+C+GHr8JgrnoEITh6A8oRPetUVCtmjU4UxuJRxQisUXcZ0ddt+9QVWPH6u0FHWJy2eCXLp1mlA0RFFZEfJ1oN1Oc5/Ql1HqI8zKzrz7Kr+QTxSWm++jyBa9lbkkFMekTI3iypisgqqm2SrALfKUWMkKChxUHHdITFTkVTOu6n1Hc0wo9jwHKMVzcwnejFGcX4p8n5fKNUvqhXZkEgw15yB91/SjsDyFG0JWJ/EGl/p6r63fKUY/+aI7miUkP7OBWeSIwIcBDOf7f6wrhQB++bEC+/bUgoBNnVykfj7aeRHzsXoQN5/PRMG6A2jIv5eQ5KIcDC/+Vw6WHxLzJ8Rg2lA/m3LuhOAdFkfiRRml5J9eNFmh9o5byLPJBgrD6O/3opRB2fTpTuTGuESxxggoYBzNsVECXeJafQldXdVmMLDLCSvAM3qPV1LCWuhEihsKgQEZR3mr+eDL9AtIJwlcNCvLQQ1iFQjf1BpScu++FXY1T777Lv54G1I7i+q4gwrklE+E3hSqG0VdFkqKQGT/eMB1eO/cUaRyjRQpj4mj2s/nQ4NeciJbB4POdsTWoJ8pv0Ei+SWa5PAVObhqIXc9zeXLholWO6N7s9CwjHO5s7OTW7duIXVgBRrwL4vavCJ6rtSidw3VggJ+XJ+FE/HMQDsmJmGPGfWk0EP7ddoZM9+ctM7O4WdpuYHSWTEpVgD5LVS/vRfglSOHZkVRZ5RUw1kW1IWUYn3dxR/22kB+JIuRcBirp8egr+qEWy/SBUnaentR2CIgy5wbMH6NDH261S1GIiKa2ORL/dO8pmJaXfHRUzVMNxYjDaD6OOe6vMj3nd/CjBseR9VzQtV3vqt9evZpVJDPYN04PnmwU7+yVgGT7KHd6lqJFxby4uLLJHNLkWPa1s1uY+1w0ITo9+4VQAoaJ7uEGdcixndmp9g3Xx0c777gSsFgkz/88AyOZXM6dBrj4Pz8PL1/o8Qvzyl4hpODa8Q+echwuNst6MNOpH4kP6FQlj1+METzE8+SbGojM+PLG1rgA7XxtJowsyWjXHrkQSFvisCqqLANJYYa/Ayl70/BbpeJ06ViObCC7Gz4ZgEGFSO2F4SzY/avuyLe55kNLJnnGTAMkbbETs82F/yvIxWyJLHqmiQnGh1FO8+zKfGwQsQsfQ4JYhgpyJkr+4GNBbaYDmySrRSc3hrC1xc8zqczBNSJdWh2H5So7hCFpcYJGm0QH77Xz+iQ10Y+EbpoYJkdHQfrYetzoq0TQ1gtYiALy6+wGbj91UHiBeIFiTw1Ec84fXNEb3Mv/n4/0elB2r1ByfLqWtHZydytW0i1pL5VzuKacAuEP+xHoV60LPRrJ2mfjdH8RsgMyBX5qCYDkUygYMsBB/s+42rwCFOjnwOmk5zTxhzkhsxApgaMDfxD5PsQy+2iTyKmWoLBXpMQqVuYwLysvpwvfGfE467o1BDnrRVCWy1sX2yhrecFkreWOH/R5fdGzrCmNdQpdFFMPrvImDtKyKvT0LkqmqcLUccLKFlBMEN+GIpiBmDPfBTQHcgfx+vjKpF37iFrxIpQQoRCA5zvCrE0VIB6W5DPKJpgMIjdYqGBIBPduwwq5cWMiINsxGGkVc5oCKOkLqPTp710srVIX0fDfg/ZZVOmhykJN6PzLShuHP1faKWw43XSz+ovYDlCz/786/QXKSuW+J0LYtDV3sxlY2Cb+OwNA6N0y1B92KwG8vK4WCTWPnVIJHdRXR6lZc8QDscws5YhM2NTOQqLWDSf78jiJZkZvqFrLiCtNHlyjUmqWLwZvb+69ueIsrQwPoHDMQEiv13on8obHGSW/dmUw3VC3TG0tYEaKsh9egLbzSc//00sWYzKmAtzE7kH7cf3LfucWBUylBiRSIRIxIM2xoRTmFm55GO4lrJt/RVIE5w4189v/qiRSksEFWaqeIHhmoOKMxp06a5IH1mPfInzcrGV4+VT8I6FW7HKUtRJ5LvidJ2onChgYlR8WjBER+KrhpMpLIqi+eRtbqHOGqqfrsbtcAnW11GpDPWGjZRLXWcTG7cuIOXhq88jx0qbKNrp62j7NTQock8Kx2fs+6sSejyOCjJ5FR7FrBTbyaCPCjIxItLdzY2WhfIMNYglcSE/36PeMMnszXlRXIXpSmtvcB4vSlAVOxSFnhb5zwhnRNQ4Iqx6xiwRGMxBEzmUVpcSjnXhTDiMNAzTpz7jdxkXzbnN1KgGMzF5DOXXoFtJVFlBfrr8AIGgmyvOfV5SqWbtR/tfOPocv7+OsaoFNhaXGf3Jb6BYiLaCb7J05TdQfr5ZGVaNIUWwpIPoubv0VyNpdAcKyiJHtaT9IjVWhi8URir4YiuFjMPqM3vVYItX/gb7ErJmeZl9jkx0pOED6kUqMY6nDS/q1baQbbO0Fsf/yrtm9mAJyURszkqcUil7iYdyhMZkFEzDApYcVCzsvsw9lxjRKAkl9jnl76PujsQtNVOrBsZk+H+0pL2sYa5sFrWKFq0jePz3JSIx59qo1GJmwE9weZmlpSXsyWkW028Q0jeY7n7vzxmk2EWOynhZonullrqT+zmXl3Qwg5vlNGBZLyI5FBeL3j5hnetgZabGw7JX8dniH7LiejM9V2hFJBRnNIv3RrKwJRy/WDghpBiyJ41z0VqiR8M8/tAnuCPPcaJBLEyeZehPF8h7bolZGXNQXp7Flyccej4+ycvrC8z2DaKifAKOOCWLVQl7732FkKYp6Cyk99YgliwSSmTVyTNV5InJPi9m4A7pQcqKITkhZIsl2zZopnutzlwXzXnoLssyEeuyPUI/4c7NsRK+SFxzjI4IXfIcwepCKjKIIs8sNzpscTHnHve6Q04hzWBgqpl9y96+fk6pClsWi5WLZpDvEyo6hb6uA7EqB6RIaHQeLUS4n/ib/W/aEAYuLy1jjU+geA/Svs/BlfFn3VdZzhi2ncr6Jk8dOD4sywNrrHyxlcK2vJXC2+PYjk3L7v2lSvxrKRNC5WJLDazKx0ZLCydrRH1YDJwW8keR/DSqkS51oWQPWr2Fzj9HKmVhxZLeIGwjncORmf2l5ccoFNcMWvGD9231m1D5cHZdmoSGRfkjIl5+f/Uv0Dp5WmFLHilaSnsdeLXOIRH4jGys+0GpRQri5IrkP54mfruUMstCKS96NJlAl8oxg9SdEaUPJhGkNIm6Kpx60VzxNarlo00mkMguKUZjKWTbtLz1Lbq6jJ/G7xfRqFg7N8Xw6VNo+Qkkkfr6k1gdWbDAA8l+0pho6ke5UFKJPpHxebQl0XOrqOY8XUNFPKyH6KqeZr79OdIhoWguKkuSnBIVs41ccV0mr4jriZNEi2sJh4UqROuPW9l9uoFfD49wKq+R5eXMfX1IDagzB91qYaVwhfGcG9xXfgwJM5v/BlKWY3RUxqTyzgUDcriPCUNfSNTUCI0LFT6EJs6aiUsyScqOopagKSctrrjiXEMZUsIQzdlCSRE7NY97xMrz7pI2ZehQ3uQGofJa0ulis0L1zHTlURH3p42jdvcuZT5Zgto2vW/rPT6Xdlwyz1Bq/DP7K6ogai55sKBQFdIyXo/16Xc4/0weTafN5ELa51UakVjVPFIhbW1fcPNRRron3sN2HCauP/Jzr8u+5LMPrzyaudWyxLlHzLGQhFsq7NkuXnvnIs/sdpnBOWpw/5ZCSJd4Ve3MaxCTF8A49S7IhNCfUyH72b6M7EpE1Y51x9LzGiG59JeXE/vWMvFwHCeZJJIfJZb8Cgr0UD0tkm7m/vd+3uKOYopaCwkrAy/cwiB+HMItZ1DwLkgOR6yEm0krxOlLp3E7Y6Tk8pwyiipmVh0PNFv8PImhlnpUJbqe6aLBsYn76lByBj27zblfHDIZwprFpbfHcF1vdrghNjqDjJakMDNph8jgDdZHPR4pV+i0yLPT7ERWUN0nqP9/QPoGae95YsUi1i7UYkxVj8jMGEtjdazWP0Ys0MYjL7ezsSFuPfwyde/cYNQXIxnLJxIvpPmjG7w9JtznRPdmN1ZNO3lRPzkSy4qQs4cKaqM0N5fJtjZKtkvIP7NLeOUETs65LMLAI8QnFHQ5HExojz9CxN5A3SIWjRG34jixrHd0qJyAxEzkHE1NlllZeNQTZdK+w73r4H1H26uocFJmgLa1Z96pqTnH5KTYuoP59W6ygpQy16/JDPbvirGBOlpLSog0RXDCDmfiCZ6JxfaCwrpkiBYXlW3WCRGLu6jORKa36jpHEzwekrQO0XObOsU6Y5yNruEejqWyhM6J/QRJKcyKr4Tub76G5a2yvr03gcukHY7xjbMmY5tkaLmPlYLEzHdcbJ/D+ne/+3Ovy75k8fZnpQ082BEs3J0NFoNBbo+OUmIJOcL2u9heKsDSzRleVYAZPYdUhSNRWyMqK42DOCUzqBix7riPKzMDDsqsHG4pExi1xYhciiyLtcgZzkx+l/Qf/AGzP32JjWt+FLZp/2o7+SX5LOtuJoYssUXUFl9SD3lKkVki56uRcT3P0bPUJmZOl+BOG6Xjui6dGiFXRbgyAVml2kDDlpl5/SW8pyl3yjCs9legK4OozcatMKaPelt0LnyIHM+34Iqmrk7Ku7vRrdsonkbhXZzl6f0yXZFKisVZB9l+5ARok8tXZ8WrI8P8IBzmo/VpXNs6gNkvSOUw29PPepON78s2bkCUWX4G7CA/0dP8F995m+nFt7EfvU7AEZ2uMdP5fOL1U+JrCTHcP0P2Ssoq7sAZvkFdpyhvFFOuQ87zLuqa4K5gjEodSekQW1vnpb4pnsw5z2vf+EN2El8jd6OF23Y/sen1O84/LTF5xD328kAcIY6EVSj0NaGomF431By27eI4unMgvatkfQOOeSdaFeeunOZrk5O8rBkqlSL/l87yjQ/2c4fYqiOpCkaUPQkaYFNl3nH7IBvvA0kmI57FUyMOT58/4hxX7KVSPXsLdRgk27T7PQY0SEIJNt6XQWntlZlRMD1k8m4fKwWJ0c8uYvlcKr77XTM7OCLf7s9LKo7anxYVbYbL3v91UT7kUFKUlTQklTJIgnwRqSklVw7FKiYUClFQcIP4ZJz4iJnNBI4ov0MdvJvJXVCZ2T9EQPW0F58i158mv8JHqWXgpnbYpfyjISpqmlFB5145TVO55JQ/iiUv8cznSERipbCdYDDBGXkImMrrSHl0yEQ9Z861ZfPY0DSr04XYZaVceOghpHJyZRO8ZM5JpkVLTAaS6P/LeT8lKsGSZRA2aaHUCRT5u5gPuBWV/JpJOKMIKu0m6ThEr02jjldMndwAKu0/UKZfWXw64bNs7Ph55+WLlBYVsea6tGiEfSXpIJVRFUhyKa8NdSR4+TeSXHVNdOtNnaVPtTTWChVZxFVBuXb5DbnUhcN7Dt2SkgD//Op1SrJJ+hpy0NlmEtJBVtCzJQYqekR7XKw4tM8SOiXU2UFe3u/wXnCKdHEbckzcSKGVj69U7O4Kt0R7ZpkFiV6ZCUludnlhUVpYilvuGmdtxgxVXm58DiUyPgV5ZshFoRdqOaNhgke9w3l5hIsBpDOmryzZSBeyznsN6RMWkxusR3splDHpOBWiqETo4kX8EreV4BXl8EZRjwcDNe9GEj5ZvJTtY/lzSJ7Er5QefcxxHMrKyozvcMdM+pYvVFNwogt/vt+0j9dmO9rgMcUxE4HrZFCGX2ilkMH5fvaZH5/P4bt/jVYK2xLuksW3H/Pom90wslxOyiVUK8bPmY8mKWM6mnAnKQ/2I42i6mpUWorkItsi5KxxctBHujNNu8fbs6VNM2vJRG/2a18BOA5+j6ytfEJ8TacIahSpmoWvBmh/ZpuW7+8ysHEb+Ytx3TCjo6OM78SRvxu7UTi9osV1ybWDOLpXJjNPWg0b5m8+/TSN9QY5MeyIq59mzmnGcMVk3p2P7+sRRq1i9FYfKo9i6KpPmWdyhZrFeMlf/rua0ASFe3bri+T6N5nWjPm9sYnPCSHloaGHUCBAjk4yO3fbZPwLBtCrz6Jyk46xWw4LsnnJK9sv4ZcP+f3Yjo+LG6I8OYFOZmCNIaRhGqwGnnSfpLl5mRt/uEKXT6RlE5DLWq8MVPNLi5QlT1GVsfXn5aHmZgy8uJsedWfRYwyjnA7UendTx50Q2Sk0kX9wn2ujD/dzTAdUwa5meW/gG7z4wYssnVzlsfAN09/ahHL8SD66urqprTWDlK3gPl1EjhjsHCQ6kyasEIvyotlHRoyDWkJroi0umhIJphaXGHhhm9G+DDrqcZa+9S7x/HdJ5LWy+vEE558sZNUvptccmuXiUxjHH8A5KxR22fFm9yHHT9AW1pwYT4t1hfF5QYaOT4z6RVRReruvm0mZP4H8X0cSEZ+fD/XBn7+/RYVWPBPaSWXRifvwy+VaIMoHz85QXFvDpDvKc+3t7Na/jaV+1OygrzrGxOc3fcCRcC3hC/uwwxaO8wVXChvdBs722Wff8pTC1Z9znfZnjBEJRSzC1ybp7cvFnv4pKhkipNH9pWlrGw2RCG9rguWxXSpf8COFKdeGN0jNo7pcrL4woYAOIHfCmRy41TLOS7+Q692/tZWdtjaPGqCfpEJYCiC5hN5Yxm4sRdEICgfRWQdD0xw2kZKLoqFV9AyJuoeukrr+GfeT4rS02nDxnAgGKfbsnxOD1dTvZXHzkQ2pG1KAS9rErYnR9p+fIZwTxsyeQ6hcdE114d96gAjQP4cE1YmjDIR0jKGzVzyGVhFNn+BUp2cecRzU24utaYJ9fShuo0gA/aOL6MaTSGJAXXSokZBEf774sDLErtbR2bNIp1A4htJFaOslTHYuQy9tF6QJznTh8/uZLfLRdUYoUYk0RNgvoyRDIQ/Bs0PG/OM4orennjuDDAOk5FB/j+c+e+B32Ou/h8wjHUK5Xl9rbOSDRA4XdIXisVskTiSIfH+Lh39zgZ2vXMO1bQw1xDp+fxLXdZEsGvRletRDnUzWMe26dF14i4/0ZTZlYeeLoa0e+jKss6eFPyF8tk0wFCKQCBPwe7b0eIzQlTTWoymSj/g4/StBrjU4pCR2w/08q2Hm7W/TdOYGnbeENieJqAS/fLy9ucXrY8IKCdkirD6kGAP9i2in3rC2Zj/7xQA6bQJBX3u1k8r8o2HGDySW9hVBqAtZfqISbVrkjIbJ1zi7gfdwbn+T4Hg7YZ8fuSXIOkv/x4/Sk+wzFoCzhoKjXWIkKU58MEv1RwUMDHzBlYLqxJAr/pPPGrFt0dggdC73r5QQ78DSWI0GqudlOLNtcf58Aw0NPizLCwiyctDOHOrqQtWV6OEgUj2K21yo9aOpPPL1HdI62AHjihNQNdtK8D2JNkcoleQgdvlrSCKcG95XGmo0S+EPTptYgGeEPs5FEZHQDP7MYNIv45S7mEJt00h9lJSUEOsrJkelB0i67khD6Yj5XxBTU8ZsYBLSh5G+ytFUAQHqFDOxEeVhqium6GkJMD9/Dssb7GpVi/tXFoRYhp6JYAbbEI0ls+jsTSQX3Roh8S/n8NeUIjuI6l/H1QrJW696zlMf2n0f/e6P98o7r1xOyGL84wvUr+7b0NfTIu50klQvq+pG8mGFRM6OkK8GJV9AEZe3U7k0TFkoYsxQZ6U9XHxIIiIHef3DtkV9fQFSCksGcGDbETartmipFaVTn/PsafP+VFiI0k8fOp5nJh0BmUxjTzxBYyQT0DdIvr7KkmRAAJ81kGiw8PsryCBjzueKtNJUh4qIFkQo2doiFpVh//TJIIJOCd0SzeP1NNg2eRKOXM7pHIY91FNSllDOIoVaYkE75A4JnbzI3EO7fOnCl8hTgLzoaVRRgJY+RaE0iogZJaiRnyoJ+6TQkEjJwtV57NwGciyHxrf6kF2Fzj2MmsPIEhcu5PGE7ackZ5DqEvHCv6ghVejnuu4v4dLniXFk1yK5hJRLpVYIhUS0QF5Ue5RNPUmhooQURJqicWyeeokpxXnNm+RJXoa7pMiLBVF19RdcKVjC6hDfv2Xtz76tJf7iaS6M/dWS9nIIS2LBtvnF5eW936dOlSB1HYDr2Y7J5vTS7AyvFRfRM/gl9FwfqqrElsWJzLk9wioqQOoz90vIY0I09+1WN8V6BUsD5lkTQlNDSDloQcgvrubbjIyJuqdOUP/MqYMxAR7VseXYPPXRCk2bFv0y7KV2Vn2tiQm0az5Gy7J4+GQht2cHCIe9mAndBYlkeW2TKSuYQAvv79U/+9wyldClTto7xM2bl5BGsWyxtGyWv3/1fWkQ60Te3nvW5Rys0VeQEkSiW9x+eYmCAssMZIsWKaV42XmNpJ005/f3odLr+22oZeOncCyscAhrfh7pIazpARTxMPnW80jPE5CYt2SQZs9OU3+ih8ZTT2EoRvKYk/HNZNq1RqJRYTJR4tliybCb9oXE7IvWkXmIK6T9JD8SMzOWSYxzVmj6cD4MY46tr6+noaEBWTYnTh38LixZSCtYUfHESxYdBSXI6kWWOPlrYmJinFeqdmlp8fpgYSHq6zPXrwg54sRJGUTUgpe1TCY9qFYsA4XNEQunhP/VK+i138IZfZanPq2n58evMzP3GpbVzcp8F6eudaBvVCBnCj2RQM8sMTA8RNe1Al6cM+1SKTE2LlJJi/RSiHd8c1nfawtSNRobw8q5wNpakJXlOQosMfS2aCi8R8DefYsZn1ZOnNjbl0qZOlXNiJYdmRgYy7TBppqZUw1jlkX65k2CL7Zz29dDqVXifdPeOxsRK53l6JVXvuBK4RVRVCR+4/0L3kw8iBp1XxjqB5GAdqmRza1a8enQPhKnT7WU5+w7iJ9+OkAGnheWqHSqafnPgvSunKdyK5+qGj/JWIwGidwmsaIVxpTjUSscElcGD66shPT9fcYhJxmY3ZJMINeQkE989tYFnv+u0NYQujp013ZYDLUw+tg5tGBTERUfbYlw2Kx6lmVmdwU9rzCxc5bBKj/xjivIjnnBMXeRPBHIFTULXp3OnEXFxRTqMONnOdcUISnRc7GI0okmZCfQbg5+fz610zJ217/SvhTn68rFxEE0oKfzOVmzSDoogqEk/f3XUNMFb7YqlFtO9z/6N/T/kjchODVJ0z8sNxz4mTIt0XS+nqvnhtgtTCMVYyvBeL54MlfcWEhSU/gCZgJTj5qK0HPzhE+GCa+Gkdr4/DSNS2Tj1SXRkRY1mUxtsRgNZWUHlEBQB5FkqfV1nHjc9KcMft4JMnLlQ2prBqhRHanwEOFwGOkauU/faUpsacmhu1usz1ymurQDbcXQVCE5k2mUrMbAJz1F4Pfv0TFkJHfMe+ePHHq+HO8b8ImhoQZ86SSqqkKJBOGyMLGyclJWEilGUzpGSzyKSoNIKZTjopwc4gkLf7FQWtTYZuVlJcV5VzRftMltSROTmJXNbP4EOXVpdD5JyudjeViccUVDg7j6rMjvEbk/UzR9toyYd1495lFmiJgrus7LrDwjPUxoh/ILZhW4NF5FbUkt3dUzuME09gsRKgLjBC5UovV1FI/TOSRq10RSFyhS8xdcKXSJSp/47T5xQm2kFEY9O8j+izE7hMNhLMsiJDO7GpCh5zYO7rO0q53QAd6SKGFLWKkAsYvFNFnPoJNhVBphUmIoIiZ8ontbJpLy0KAdkZC7inY8KoBF4d6OEMhA0C4tYj3aScrfh8/XdaAd5Bozws3vfYBqE8TeOE14/dCKKU9oXjQ1ic73J9HZdZQ0M5PInllAlKqUup46s9JoE7r2+W3VtxNhZC57FprxEWR+m/KDasBRgkggwB/9xnMMrxYyvxpCdiGBQCkd29pThvctIaG42MoN4984/2DXevIt9xYKNLCH/24VCotAUDzZIZ7v228fR1Em2i4z/b392fr3nxB6WMa34zNmnjEZdFhQ+8nqf69UFBeLppOzxIoLsOQSVhcFcTHbKIOkKRGGJ+hhTLBU7tH1Ptd3x76CAtHUdJn39REvfn2Zgd97mH8yJt5448yBjGL7soF0zeQh8ZRC0A2x2XUBRw79JwYJJca8COMG7skcqnrORUrM/4EK5MvHzL6TWPJ7+PpSFF6iy7JozFyX+RbCdytXdHV1eT4KIdm06vQBZdcnMdAvVJvPsuZJSWR8L+fOGWDDc73bFAwLLS4h5dCTEs4bBuxxZtXmTNMazcWFfJgjWnr6+O1/+iHnd/20JRyeaghSqixU2c8qV3qQz+HhdN8eW29UubRokaQi+L34F8nEHqytNdJX084ft+3wxFkzLgQ0QuJcBTp1CsVGGX+3hfYlkfu0qFL/F1wpePLZ5CR+ZcwUd8uS9OCyvLxMNLqf9m9aYkOjBA45TaUwHRokrS1O+kXwqz2ooQZZLrpQji7/Lq7jx9n2OIZ8R99vO1P/zHGfRc3uFt2r5prN3EK6e8b4hVPrLC5+g8PYf8uycEdCKGxx2Z/khG/w4D0sIdfMQJygkHrYmcrl5myI05+8R1wGETVdWsdWbeeBa+7ZVn6Hjo82aPVMP0UqpFEvss8dZGMGnzBP6BGalWZUIhH04Th5uCvTqF1HMlN+vkygF3vRiwl8a/MosrOfseoBxNfvQ5ez9w0gnUDhEO7gIwT06N6xHIl3NE/a9wQmc5w492kuctvMc9QbKvEBmXScgzJBWz5lED/LaG6UyQKLgAyjaVo6YsVoYwbhtUP7Q0iPIF/OHc8xIaE1PyFfiNKgyyMzU6RiCwSDRzvtbQUYr5o9QCc+qlkiOkt+qoGJvqdMH9gII2fgc9ux5JNtWiTUJeK1JpZGqiOsTk60tqK8fLSyihOJHLTNh2TQOIff7YE+3ohUyIBErNKHXRk27ynzvh0h28KVe2As8HnfU7Pjo8SVh3KyCIyL4ZBZIbd551gpEXrHwnrsJWZCI4R9oliFTGXYUP+88sk4Cjicy+6jk1NYlp/b55+i87FaNNbKZO5j6LGbaP5VLP0RIQ1S5dulXvUMNjs8c2Ha8ChZDvLFDcjEox75wiuFIYmro1k8M6X62cxHHhb++VIRzCyji4pQrktZi1jSIp/oBQzKw6ZMwioVJ66Id5XL5fnHqclKUF8QKGPputBE3KTTOzRLKzuiDnv7eoRa7jze8NQr5M+LqdppfvLpl7ykOYfOKxN6SijhQ/PFhn30iHvtvtiO63uTpfImniqbwqksw58nCldEbECkHspuxy10ICfuQXEssVtmBr0iiUjt2+QM3zlgua5LZ1EXIQUprd7BuRWiLGpw4IoLJUu5HyqGconpLdET7aW57Dq6VoTKAqh0CNkuF78vLJ8o/dIDvP9INcodQxpCqkf2G+ilUeTzMfPc85T+Uv2B+8uy0GM7KGWgqA3l3+L01hyKuviVcbb3YEw8h+/3ZaQyyi+KoCKc1rMEA0UU5i9TpiNWOukhFM0227gYGGrWKrWkhJMP/TY9ysV1HHaLn+THZV/nn12oIel+D7+/iMLC15D8KFyKbtgobOzWZcky019UhCIRStu/juNEUNvrqM0jwNutQs7n06g3L4qtTQupFL/8PKwCcpuajB8hLw+Fw2bS87681Kn3kqy4gKDQ6RykCMUSvoRQuYvWi/dyQX+enJOZ2BXK+GacMlFiGVNvgby4CMn4Op4z36MtUVtbwrlzs3TpoD/mZ5KyMmRZhL/+Fjk5OQbgsVBuvrXWGOpJobI8KkLdqLuLZHUeMfUgFVOkFmqVJjdPhJuyc3D4kPbN2F9spXBSKCI++3SBBWuZpAbRZOs9Sdf2ZWv/f58MNXVCfHtchF2xeUYsDQ8RbQ0zdcVEVdo+C0c7DA1t8aUKMTUopjJ8+uMBygcs+t/yOnBq2kBF73L/KQnJolYbe2n2lmThyKGzs4vGxsas80NIJyjMOc/YE7Oo3eKjv/9R1nL6kFQJNzPrnj76/uuTSzjO/uzH8T4AR2bFtTqxhs99gFVXi4g2iUF3Em2dOfKccNhlaEjY/kqcySHULaZLp5nXPEklWdPE56Q/FENyKVExrvsOsqJo6nu41jzSTfTeewyEw5QtnMXeOsXkj4bYUOMDokW6kapZCLzB1Y/NgK+OCbZ+swI5PqRVPtn0nIFlF1FdM5LIf/YM3cP/GCmXy6kUg3NzmAQyDVllO6hl3fi99vb5kcbQ/5+8/w6y7DzTO8HnmOt9mnvTe++9995WZlZWmqqsSnhTsAXvDQkCIAkQJEAQJIj2ls3uFqUetVEbtUYarWJWsbGzEZqNlTZmY6WVNBs7M909UrdW6lX3b//4zs28mZVlCILsjkBFvFE37z3mO9/57Ps+7/OkhN0nprbOKFOTUEnOu3aTuDoGOKjLRm/eiwYGCNQHiAxGGB29iqy0gdFqklgsxguDf4f87WeRJozGb5FYX18mFotyVyLC8uIQVlUpWw+1Efb3s7NdidMjtiSkKRzZN6f/lriQLkNtX0ZaQlYCOcPUS3Rqg7N28TPy8hQ2lEOg6P1/Yodqnv8oIzrb9h03Z/Fic7NFRYNsymQzKOPKuySx6X12XDG52cFZ8Ov8gmK6eqd+iDZ0E/OeKZ1+hra2e5G6sTSAY816muibJ+qpTseJo6UyWf5tOql3fto+35PCqNC4+G7314hqD1slGM3b9luf23u88u29V7S0iah6uUvGDxx9wPj4bZUypmLa9Qg179UxFYxxcDlKME+EGmR2EyXNKPQ+blMxwXMyjTQttGBWJaXqRrJJpUTtlk64j3yKHmUl/8FcG/fW3cvOzg4LCy/kNHALKYKjCgY2vkswFj/h1jrL9keE05H7XSW5JGETgQBO+3E99XkNblmmk+b5o3R23KIOc81vrHG+m1jdMf9STDrGyvfsI9vhwnv1PHTwJL7BOlRXSFhhbI/Z9eb3iRDUFq5cNjfvpSkap1n3s6IY0lW6olGiEu57D6BLl1BZmmiP/4fcOQaRfIRXL5Ko+DnvuxUq7vhjasZrkaJMTZl3nJYo19tIIcpeLuPR9k8IKE6m36Y1EqZQZ2SC+6NHg1+BDBrG/BZDduMR4uw6i15CTRYqErFfvsiGP8e3HziP8pZps1r546F36Q14XExlOnG9sMI40XoUqkDv1aDKPC5dGiKRDDNti2hE1LwywNzQPgdVzczkr2HrmKtotkE8Hb95/UXnh1DDLOquRwUtaGkJn0TgBjvNsDyIZ1THBIpqJ6YA+/vG1WmONVxaRRJzto32901fnz2HivPoVDU+DXCWWpwxhwrdR1oNWDIw37hMpvdRu4sGyB2QfTK6yInmduofOA3X/ZS2J29icL22FqCgN8iSFfYAFqfqqUzGi/FD3OPzPSkM7RDxh+i5Nu6xLbYiDZH1897M/N2iIi7sPNESFDW1IqwWzGojRYfEBW3Rqzp+X9doUi1qiXjsn1H0YICNKpEoLERpb7AN5JOKihGJlvx8KiVaJDJqRrKJx0XZrIi4yknZb8YoNW0zNJFPxVgrKyWrfNzwogf3M/7mLKzz2S1RkO2YWaTPWc84Keafm+M5fwmK5jGkMurVxLq9RN6BaM73k3juQXxenkJEIqjLZCcin09G5i/nmnk3qEtH4t4uEW4Xz8Y7afJ9++i3iHIGvo+E/GIiKRpLGxkb2mWsfpCl23jXwWYRPh9BH37zCIGVUZj8g3tZtizKS0VvxMZWCq360C/eQddkEe2/HSJecLz6vLH5T3VIC2keKYxmRPz1jyhbNXXV0pKtj2aKdI2YXIpjoqHCDCSlLeJxmVjCZvZ6pbpOb3c0IO70dpo+RYhbVQaaelb5wkLVCZOlPJUDe075kf0ExcVpXrn0Kr0t5dgSKU2iM2kZUuypGL8uGRW7O+pR3M+bSuLqHGrNoPkG7i5tZOTRGVyJL2XPvVdGJvJm/Wr4y0Tr29HvPIsaj3NtItpnO2fADUtE5Ria9uuuU88JhtZbWoJGld7iHdsUqYk8iQNZFOkyBZEIedtetvZ502cOWgwstlBm0m+SiLbnUflEO2HligzdrmXHI4v8UP7ZwfTJfOOyOuv8jG5KBtml611an+9JYXGBK8EAX/7kHFOOxf5aLbemtbXo7RVdSyu89LgIe3TDlgyGu09JZvVVPpaYl0VMwpHNsLxt7pKQvxtZ5bgyK2vJBBULy9ZZ7DEDfv76Ol+wbX55edmc4whZJfisIX6u7UlmqqpOlEkyGO7ZlweJRGzW1s5he3GIZR1TeliWaFQjdapDlvGDdmqe0+LvkrAcC7tMqGfJy2j28N/egDJoWUfbUMOzY+5XJdFimTpZlXCcBRYXz/ORpwtwXZ06omVZNCTijP39FyloTF93TL1Ew7qwXPGd1VUvr8HCsm5wzVNWa4m2NQsFHVRsoedmUbgPWXXYlqh6VHR0BJEWWM1k0MQI1koTVqqB0ZnTSYZnWY7uhPLRxBjqfgI1tZr6ulqK+nvOOG+VAfl44HTde/V41GFXdd2OpaJcdA8Ka0EUrK7yogxTZ+ONXCATr6LuipPup4VZFAyTOrjM1NQUkgjLYv4mbhTba3PpjMXAqFfemNCkjSpGCXQf8qu6kxFr+OhZpOvLf1bfKim26eu1UId1iiXUOpGv0iLRqwSTmrzuOnMS297no36XY5MS0XqhBq/f3Ub7keUiLSCJKZkEtk8UYsOaO34262QezpYMRDvTnmHgiWGa9GnyFCzyJMYmbNZ61o4n/ZXcY84ZbZQf4ro3Yy3+fE8KKmBh2OaRf/Ql8i2bYnVxlkB6V0MDVVXVKLiP9B6JhI9APH0EfWxQkFVNUqkQCdkUqIB0RNSU1TKoNr5ycED+io0vZ1VeJJO9m22QSZmBpzggA++TqJYoLyw0UFBLxH7rA0ovPsT+7ON0d18985nu39kn0XM/TbrMeqWFQmaVm6tlHFGEVCBMdbWZgB50ypmv2yceFqoQHQ2iMyGzMi+pQScEX7Lmp0w1RGLyCMWyz1JJqDlItF9M6YDpN1spcwooHFmlUL/JDUVGCkWgLEL1h71noquGlc+oCpi/u5yu0VeNKHlIpNNiefkcOpXBnWu2xBvNov69i5RXV9HyOz9g5r4dZDvkS6znHj8h0lU9SGV0L4j2dt18R5W16i40uUOmLkODvsJy3gF5a60Ubr+L5CPWHqDkYg6+vqoKdXYSUYQLufEp9RJQC1UyQfe67PfpKyfvVy4aiwcIlhSxtyE0/DT5Mi6N+/UQzolrepaXR0PcNRBkS1yIiYsl+WRUQrLwDWRZNDeIfl3kZii8uCteGBepvlLa7vQGRUcsdi1SFF7CVowritGmIJsSCe+8cpUTOaN/HdnsLJodQ+uTqDaDapPII9g73YYl03arTr07VZl+VOR9l9L1HE15Ek64A0WMjvat4hyqFPrQQuGT0N7CehvLPgWICOhoMotKXJW4t72B5BN3fepxyteYJpW3fBLFlyvoU/Alk6j3Q1zz8Ca/fb4nha0txuYnufMf32egWc3fMVwtp46bGxykvaMTRecIycQMnHCMjY1LRKMfMLj3DpZ1GSlGyNpmNOSnMim6mnoJnrGSUZaL5tT3BQpTFxT+yyFcGV6SXPGa7qt93HXXg/T1VfPlho0zZ3s3IHbe8f5uE5dTIurPQvuOrSQsXuwUzr6I+MReryiMm3M0rzMH5qJCm/X5AM0SnQrSpG5SeTL0FxLh/DRafAW19qKhHvz+Bgr28mj8htC0MDDNGzfe+pIS3vnii8YPnKM1HJThdunUCue7H6YhrwmFtpAVZF9mNZa6yXtelsWK9hmwRE9nA3krK0hxurTHiPL4upYpkAh53EklJatMvfcKisUwQXoL6ezg95GFK7B8dbRO1JBWG9IiJUt7VGxbSEvkP1tPfX3O8R1daPYTjK/bZ0SNQiGT82GLjqAJBrZa4lJCJ8EPiRBzz66xUfeA0UP2i4v+OqJXVrlSEibhuRici7kDXhhLNoPaM4gVW6ymRX2bqPJfoMidMKvdm4Abstfx+0P07G+SrBNNR7uOPUO4Fp/BCorQeQ/Z5Dhodw+FwjTPNFNSnMip02zdyfBm5faJqio0VISeNn/7ZeC5uWWJeH3kdBmDyq6E99CsTU3G7AjM7/s4MlK89yrHPXfa3OM+4Ej4Q8I3J9wWc31bMvkRp0Epzwi9YD6HvHKU57ez1HXtU4xRXj2d+U4uk3WR5WudRW0a2o+e27x2WEf1cPq3z/ekMOln6L5W6v/lE2ZScA5MsGbg1HHjxlUxfnGc861ialCU7T6B3z+LFEFzIdTbzfhanK2Qn/C5k/wmY0vCyr1mLiNpjk2kv4+vq5PHXt6k9gyKAduuxHUncF1xh33jLaDfX4PGLyLLoqXWCGecPiaqMUZkUe0/hW+3hV7VEaR1R6JpWMgv0lYBS75Zjygv93pDSAF+LlFA7+AKanZQn8PIiCir0E2TinLtmmXxzxZ9dKRFw6aOcNNrEufkkJLD1yd9vFVk0bThR8EG/OPF+HTz7bBPwhoPMB8OsrU+SIFEq9ZxlIcri4gGsBRnSyF8OodtF+OG56iyLA7G7sCyB8lMzN2EHK4D7T6Af0ps7sl0ZPlRqx91LyFtoyf3z/D3+wnKz5BEqfL5ytrzJgkwFUULJtgbCk1z4e2xE7DJsYn3CQRWsVVkFhjfbsS/8RbL31xi6p4LvLa9QLczRJdfDGoYkwD2+HG5JKQ2JsrzcCdcRt6fMK4fy7T1m7+nnZPXsW00NobGZz2yvR3i/iBfeWDjOMDp96NvbKOww64lpA3kEQaq30J3jp9NbW7phjk5ubYn0TriaZHLuCxjXv3KZ2hYjuMFptx+mcXdDXcJTTI5IzLQ0uFt0fO+qGs0GfZ5MoplHRKN+fm0tnoMvsHjMm9512+/2s61R679UGNTOj3BXU1fxq/42cdM1GLgz8KKFeDrXjET1O3SvOzqqB5O//b5nhSeKWb44U1+9o7fPArKytVJugEJjYm0LRrerTLbtnKZRm09gEqiZoAvLaGq6bRf3kU6oKpBqLwQKYAt4xYozfKhdwq9a17ma8sP4Zw/z/6haJgwVL+ng7N7OwfUh++9xbPlca2hk412mVWkhD9vAoWqkeugrx3gb6+iTKKsQackIEVTLEZTUzuWVUS7aiismEOOWSln7AwXn6/yILHixQfnUd6XkTK8eV8VZaWrNylXMSp88Yi297T5v/wopQ+eJxY49uEfSpyXCYj55NKmNgoU9FxVBajqbFW6o2uWivS9YuBVce8lF9tXQbhUFMlHiS5xLf95Plkv42nloyOggDk3JdHV7cPaKuPh18ZOxRUy5v0mDtBWKVIIDdrIX4z8pZwrzL67SiRDTqf0DlKYF2QmsebmZob7+738EiOaroRQ1I+BowrpJU7AHOOTVLUfYMmggVIHV9FoOWUFUay0aCoVcdVTpHsIaQATLM5gUDXLDEejTDfHyZ/P0PxSPXbIpfLdYRT3tAuqZMp6E5WysMxioVQy+RZVVSSrqrjPShNQDdFoiGe+uuehYUw9PTv6LO5ZTAEPbaCi3FhLJdIkGhxAJ2DVN7YOiUylqPCQRudl3GiuREZLqPSHkeO8gZUUo/Is3NlCukKtrjCnCirCYTKZzBnnCNmivaeda23Xfoj7FRDpaKL3fMWNIdbVx59LA+LuklO/51DGl551/uGN7//5nhRWZ+jrCfFA6U9haYEbpuB/S7w6L+oKfYRls6IhpDeQ0+W5RY4tKOPO0HmdmrX7sNw8o30gMTcnI/DhIYEcifK5u+l3+lGLcJ8wKki56lryGvq0OpFbm9NAz/DTx4Qe0zHlQ7uO/OKtEm/fIZaWxPwdQh0ujkyWpi2H+2pquP/+Jwj5J7ArxfkZEV3v4bzqed0a4fXZLeplVhkLvZfRfddw1IVUzoxyXDlDoqSshJHwV9H2JZSKo3/4OKq7PjFNEtp20Ws6mqSyuxHbsdnUJgkV8Zjz23Sfz6ffL5Nncv7m7ziRFIMjosKuo9HuMDuhBeEEXKY3NjCC7CZZStGraPXUwOUIyaXaXqE/bBsBegkjZ3qMNiqX6J/0ofAc5++eO7HbNB27mizN9dyp9+nYDsXWNm8oQKR+i2SlzaxEjU4KCy1KRGvrUHUNcvyUbJfSohakPubynsDuF/fNiqdkKLGfeOJuJgb7vZhJAdIUC1ULbD2wRZ8j0loi5Pg450mwOnLMjuuc0Qc4u04tQoqwqhXmJVbkEFUnm5tvM2C/QkrfM6vlc44XWB5FivDRwjfx2afiFI51y7ySs/rAjWxAOQlkMj79EcmI7gSEXu9Dlf3o02QXz0yg5ZOLvqCCPOKMk862E9skYh4dM2XyF14vaOOJnsdOtGlZltHIcP34HBs5No7fMrut8X6sTFHOMzvX1ZNlHcNtE3Jy3GOezZ0/+jyrreNF75Gdv+Gzfr4nhdgFpqxpLus9mhUjdKMgaFy8FrN46coXsdRHVCGkswc2S97WNS6TUBMXXSHRuCFmH8xnLxfmFzUNKS6zK/ClfIR+fgDFXQ6ufhdLFi06OTAYq0eX9pDVhEndP9ZbPrauGz53QKIoJWI99cxVRtl56gr7gcsoR6N5Ih3kwxdaGGkQv/ixuDMdJK47icp00JjEb9eKlnzhD51n16PajkjeBCET5K526f/oQ/xP1piOc4dQ0aVTZWpFCtCV9xWsi47X4UxSkCRazol0Is5XEj34NuL44iLkk8kzuQXuXQURtNyIJvz4N4K0Tci4YrZEaUkTaeUgnS73oqkuuruFZFOsTjIXk8g+R1Ptq0wPDx3p/kommFnsffZJhAIBtLNDPC4kC2W6KCgRL2sa6WWOM4gjmCSjLe7ub2Tv0fO45a2kNU156STF6WYiEiUqoF6rVMkhFRfR2uzgWEz9w39EtCeDK9F+qj3GvLbX3+djfi5GTB0YPpwIfgUYVIA5iVIdcOE1P0XJXSSxohXylU8kZlbbZ9dpA5YGiSlGicSGtrH1KPF4BimKuuPICqLFCydoR+7/cvy6iWbxIM3ikQ75ja1J18fEzrKQjlF2WauXl0dgCaVDyBdCCpsFUrEwO6jj3WZUut5N2H3q7yYZl2hEx4uSLaEJcan52JWZkHhdYjTu8kSd6R8Xvf6jgVo6/v5HXLn8Ed84WMJ56WEu/swV1HGIwvNUu28z6lSiDpHWAdesNUJdKTO5tYqKCjF+5Oq7zxsHcssZv8FnY903ckvpczQp2DIZiKe/HxoaYru+noa4CN7EH1cfE2HHMI76PMuyRR7oJj7tri7a5t+mbtVh+sH32dGOaUzX+VDnULIE/dQwivtRZg4tLZE887olFBTcwd63XsHJL0DyM6nmk4lOyXFisnCV9L4bR6pCMgPuUw+Lb/9+LXv9ERbKzAomKSFng45L4xykB7Cea8T4YCMMzQxR33acv5GUqK4yA5BlWSSTxUgBLMvm7nd+ntBE+OjYwfubCT7nDb6WDKNmTlnjeh5bFbRd+jksewW/ik4E2Bu9Mn/n5e9wz+P3mA6ZFBoROkurNmv9Qo33IfsJ9Ho+vhKbZiWQytH5TYqjrRSoAFki+UiARMUI1mvttHcIySajNrMKlEjWJc2ucOf4+mmdzAwNSGZyTPmRLJKF7YSKbAYVR0kDkzTCLL+A9BGB5AGhr5SgblFeXs709DQ1xaKswFyvNlBCafg8FcojGXPRk1dQPM4lNVNf8wyRiHCDomXnjGePbiLfFIHAJLu7rSd+a7MPsBNmEgm8kuCB5MlVZFI21k2J65LcCDBw+auXze/z1skYyluXiPqcHN/+EBNn5ANd9tVhRZZPtPuAbo3vD+l4EaFNHS0WanSWPriD0pe8mEc1uTu+iETtulDKDOCuhNqFf9vPt8N7JrBdv0oqfIPdbo5VSLwmkZfno739VFJZnmgpE9WKUJiqJdZYh4LtOMlx4rLxZ6opibdj99soIBqtOMXtDnbIJjGYMIioCXOtgoP7WLFulVsVI1cSoP2yVw+6m6P4jmefm0lBOrkFLZHxRba3W9xfYWHN6Obi7tOmoWSvUSyTXHTyuhZas+h81lByS6K+0aL2HzjIFUu2a7ZxPTqDb8XrZPYy2ZwB27Y5d5PnmXXnSelXr3s2Seijc0zaNvnaOHl9GYx3iyN8Y+Le58TjbX78muHbEpKNZdssycaxhVHTuhurpx2r2uNYWTAwzuxW2BcOs/qNf4hRArOob3yG9s52IwSUybB4ziV86WmvA44cxSckUahCXtQAUbWi5eeQ7VIhg7c//bzJwySLby0abqdhGey+feP6abZEpWVjWS6LW0sYv/0SaVn0zKyj8B6LcWGPWWxcu8rqs0/hC/hQoZETnc+51oa1YZ7dFmZVPnDmPW11sbhRhS1DVBfRJgtaRpvH+H7JxbIcvrqxwR32nBGoz2Sw+/poa2qkrqoKS+Lb1dWocwjDf5RB9hiyhK1zKFdA6Kw6GB1H6SJmZBGyjevp6LdIHC28iJTGt7TOufV1kkkxPGJ+X1Merr58474QWEXT/UjF1z+/baPZFTTiP4KTSmLBdhiXjiZZqZ2NxeuT4+zSPnz9D7LWfNxHanV7nEFHfeAmbeLYzvYKLOacf6JP2eKybGYkxiybOxZl3FI3IHtc1CLbMjlCbZk2Hh957Abl6KFw47EjudrY+jrzjkPZI5u80rtMsCuIqlJYepFz1QkiPREWFhZQcRHq6fLKZt+Ge22SE7Dtozpq4zQ1x+dqUsi1YEwkM9UcLjnseTDUNl0Pe7u5bWNWGQGkqzTWfZeh1z8k+UeTBAvNlrQyKsrrhCzR0HNIeksYP2vtiWvN6zStbk66/Z21lNRZRFSHWe3n+r1zgmg5waPWKvF2RRn/TEG+u7/PZS+4WyVRnC/e7/ezelDByJRoSNjYShtXSKWQX7yQuIvarRoUS6PHGlEozpH7o0iYlcejSBHjH21rM+palk3yo0cpWClAySSHwSDa96GXHkDJCLIK0ZWfPSpnQAFSStGd3037evv1CU41NVR+4bfw+5PUfkmU1YlwnfF/12iIs7bGWYtLPHjF7GSK9MxRADXw8iGpfSFHFPmECoTCRSieQbJQwLBd3pgfxs+ZeRG2UI0oqsv9vgyVjKLBziNFPSMKb1ErkVKGtCwUCOCmUzz2QDVJjz7aYO1rkKb54lQVmhf53SLlcfLX1YmRkZu30eLqVkaKP6TR0yBozbbx2cdReSf2pEXNcxl8JSL/DqHhJLqUQc9cn0BoEvSC5jnTSU6vMEslQnUilHHYs6uRxKY2SSpJRgecFK9aoq6o84x7NBHUBi/FdduotZNWZ1w6J9yKh4bB9o7c7zowA6WRSt2V2W1k8xvUKtQT8/q4ebdzNabuCrXO3UUFKOMiq+rMchSpiAOZWFN7OMW1krbbIsQ7SAjnOv4qH1K+ab9Z92VTEG0krx8rfkg7q0yf20mhslAM1/dzf7+PyVoZyckz+eJvbZZVwFqgi4IRIb8f3+WP8BX04l8TW7EOVndfR7bNULE4aM6+5JsH2Ao1w9eWRapQKDZEc69NSiNI/cgXQI6NmYwaCAaPtRFcuVzousD8V8WdPR1sKYZliVhMvHIgnt10ePkHO+y8HiZodWMHgwSDYmvLNPzA0CpWOM6hQvSrxzBT1t9oa9qMlMIvsb1zCS0afYDi9Smq//6BB83bR+45gk9PoZJWJAsFv8VxclQxCkyhSrF7uIttnVzB2ak8hu7tIRwW7307SNeQSI6IqK4wqHsI6gzUxylbtETerjeA+UTQ9ia3LqGuoJmI9uqQ+m7jfQeR9pCMSysoCylAcM9Brs8EmEeEWd2n0JUg6riC6tcMjvwG1y2VmPCJqi9VUdKYZaysQ8GnkFw++MDsrtaUs+oP3qqs++z2j/Bwx51kSjOmTE0pLxenGVuFhMZ8DAbFnm1hBQL01tQw21TNbt/Ja6UkltSBFDM5JBsBzGrbb6CbLWZRlZjdM8f4Bk4ALQ6vBAk7Oatvn4+Rg+M+YEkEJoRKzA70usDpbduI8bvnLi4cHQ+mweCnum7QEaEx71qWCO4JhQNow2sz52QWF7nnZOuuPUXLtZZP+Tw3sPJyNDpids0vj5o4zlnH3bKNmKB1IHD89+d2UrBlgkp/t1lMlAotLaFk8lNdK5Xa5dziMd3CXY0+1gocJgOip8qlo85kcTpPn8d3UI9BoVQfnR9SiF71nnxR8V1i/cJq0RFeelSjaMBFw0OoPp8uLRBVOe9eaiA0mtMY3QCLUdHXKT6IjRIKia98RbzeIPwBEWwLoGrD2X/+gw/wS0wExGhGrEz7icsipdsL7hlUSxMB9xK6NGNWkd91GPpf9nBDPpQXxG0PsH3XLipdQJYoenye2to973wbrfmojIk7vhHAOrUdz2QamZ5+DKmCwPRvIg/Bsqk9ggqdmXyTtRqJYo0yaNnEZ00wVaNir+yb5rMrRj58H8uxDf3FLbQ0fL4Yg4O/SUIVdPb3sjMX5sLIFo79BfaClZh8jezxfkpVTtXli8i9AYBBJUftwJYZRIajMvGSbiE56Pwe8vuZmw1iS1xRJa0qM6v9PRlO/MEb6RQEyZf4al8d8Z4G7uzop9GxqHKDqKWP8rxyrr05QiApCvPz6Vlc4g92f50ZNbObVTrLtkflYNoDITS+gXEfTRoXSva97c2i8a+gj6Ne0lUvUpiPvn2BBZ9zvBLv70etHq22SomqijWfGLVNe7rROxi9nTa5phOAAFULvS1P/3zPtNFTO6wBnQpSl8pIjHpuln2Jb/UI1Zt39X5QDFuiLeDRaJwB4/3qkGFMTpWmaJ1vvXW5fxizbfPufUKRKqRnj9tTkwzfkSu0fetrJRJiefn478/tpKCQUFIcHoqJSYOLd3O3Z7dpMZmA0ndWDkmny5DCPJD5kPFotcGpV01w+YOPWHFsirq7Ufr6bblPPipOk48FTcNsjUToiRlXVK3GsBpsrlypZkiiW2t0q5a9wwLsBlFdbWgf3nuvlwdbWvidMjESrMXOiIwlSmtrmdvdoztPfDVlVmS1X6jFkaHUqM1xi/h0BkOnZCg3jvI4ZskKlwyogKYn29F6ASoVNb+TwQ5ZKBJApfnErt5B3d/9u8ixiX9zisL1k7z/+RJ9tWbVUpTzvV9J8tROZ2ce7/zRN1j+qRVKSp5Hu7soFDpVPgdDNR1AO6IgLBL6AhV3Wdw3lnvc8Xa79vVa5FjoypXrnzWnbEmJvFqH6hcHCSlGaWUlavZTVjtN2u5Dxc0ElGQ/57xktIz8WBbyeta1E2RV0YLVoiht8fKlehSNHGWm2jJ++PFPhF/FfE9PkFHKvJtDmYzh6uoblt0O2VRfGyMYGmG4tIJM62Xye3youBJFRE1VgFL3CYISlZb4+MoDmGzZqpPXunLleCft2Kjq+na8JFFU/AmZD+uwXzcB9E31kVSYV2uEe9o1WFSLrXNcVg1Z9NR4UwHWZtMNXXenqS4+lVlCtSe/q9aphMykTqgb2vLzwMBFepvMBDkmURNxaL2QJj8glDKLqBbPNSiJumpRbIsvlbZzOHfttsrmShxonhL1etfJ4Pf7yc/PJxIRsVjRGe0pgHHtee2pSJ7S3U3sjOTYrH1+J4USoU5xeGgzMWnxqi3Kq3VLFsfTti2DO7dnRlF+PsFomBe/tExnhei1hZrq0dUG7ICosip5ffUVAoEA16th3aCR1FVjNzVgtuorhH3iH7wkOmrEsGxcR0T2xNK6ePaKeKj7uHFPT9ncU2iRnBFfdYXuK0C9vTe4Vy9GeOV6icYTNqaj1YdtO0il2PYAnbaodx9GetGwef70rMdZ/wDSAA2a4/6FBSzLxrLex9q6bFY5mQwaGTGCKY0bSPYJTeY83UO/+mmxRIfPwfFZ+FwLWz6kbhynCtmzSAnWFcbRr2P8xeKIH39YHohgHclFZc5J8SBbyN66oftwwLZp1xZtM8L226RlMbnk47nLG7wSm2dmdRB9598h3eXVvfduq2tQwzOctQOxZPNsg0PHi2sMui7dV0RPt4PaHka9VTgjwnE2SUp8VeI7i1ssa5oLuoziwp47fT1h5wZPJ2QSLYM+NPso0j3Xk6aVCfcLLrOhWTYd4bcsPt58HEPst2SOcYXW27x2kZUPDaAjwahs/dlMTExw3x2/yddWUiS23kUS8xojriiWbJxpm/K+C7z66ibB4DZaEHYu4m9YfKerD7frAWZ/pP7tIJ0787dNFSKNmdV08zluFHCul3hBx5nQyzIurUqZ/rUooXCQrtVJMmldD1uVQU1NSRSrgHHdqN+dtIiMDKu06LWbWVKpFIODg1RXi4aGOSQHd6sUOwt2uN0s5lxbvPFvn9tJIVktKkbF9OEFWieHiK0JJ/XDXyfovfyl3WWaD0Ypf3WI1b8bp2rKq/iLYiD5ZR7/0KViwc9j8TlClo/TgunXNY6IYQV98x5xuD+C7W4jXcayREufKFgOY9nXeOMgn4GUiCeET4bg68liUVgoYrEl8u8oxJIJut5cuzjM7dANW/JQW7EY921t0aI+trfDFEyJu//wa1iNcbNN/6a81W7y+HxPQa5hZJOB37tsjnNdFIlQVC3SDeOo8dTA1WHOH5gXP/uDi2z/vsMrb1Qzqm8g5XHwpB8tGbhdQkKKkJRLpYQZyHJFahJIFrrrMs0RG78WkQrRstDoAL6BQVqyx1oyCX8SWlhARU24reI+d4RGdRJNPElmqpLnU+Klnxfaf5KAwp47KwvnbEXtU8ieQSpDjihdFAUFwrLWePLuxwgVJYhYOa6LoMgLmNjBweMJrDIRrxTJZJKCZpevBB4kaYtzp3a0RSpiXvNklGE+nsE6kBnQL+iYR2pNJ7LXk32i8ueFAqLzIMwTdgMPTyQwg/4QnRLNEv5E0GsfWTy/z6tbP5Yj2i8KXbpEtDdBwSOzlFlv8MX4EFKKWJNwAiIRv8jGzy7ir3uL4uIkltVOdaSCR56oOy5TRCQL6lDlWWpzN7EzdTvOhtQm5SJFzU48eGPYbUAnd6wFEu/JwKNXZcR9/Pmi5R0hdR4lRaqiAzVYmIVJG5LDOcU4p5pPPVadZd+v8jFe6cG+D/Tp1CJvYJ/bSSEl0WSJT/oOqS8+g7TuU1jBnGgtTxAJR/AV+HAdh/39iwxqghZZJrAZbEMXXHKTy7LJa+Zvs2V84IEyGr77ISpN0a0ukkpQ5yvgXNHDfG87ytjDYbJQsr14HL8lHk5MIsUoKbEpLJRJjruNVcSO1wlu9LtliXhGpO8yLoJOiQ7Z1ClGQgNY8TBzSfH+RifWNXPOXv9T+EYfOLpGT3CEoYE7kWXhnyogdLmF3G3w1nIXq2uPoKaNk/dfE7FN4RS1o8YOowUcM267G+WGJHWKPXNFx5zyy2FU6/KybNa1xXevlmE7UfRQHj4ZdI4kk1Q4HsdxbLYPD2kvqybWlqHNtdDBg8h6CnUmCMpAfBNd15BCZgD2EptaWkX37yWRP86LL4pvfHObzgth2oucM0WOYjHRFxbNZUL7orBAhMrE+AOiakDc2SLWc9gxm2t9zAyddKFlEvMsahnraAAPYAToT95rWqK7s443vr3IXQFxv+6jyW5m8P2P6QvOILXSJdEZE4fXQTz9SMMkZNxbWVK6aJe446Uu3HgH91td1CgPNYtAMEBQAaQIlz3k3JR2GIjMUV9fT4tyIMhJYVWJeL9McuLy6XvnWF4eWls9IrEMy5tcYzoBSz3w/g+FhK+wEWn+1kmPuVYpNG6RRbpZXh/I94t3WmX6si16lkRzZae3sOkkrnYsOXSpCZNg9sOMJwksWcRz0XWJBLLjKCb6C0XY0+VwlCP0sxdBPi9b+byOGIwlmckjrpO5Ql3iYlsWAFCL9NHnd1KQRMAvXv7eIeXjuZPCLGb7ufDDX3NerGmN0XtHKXvLbK0dx8H4aHNS6x3Di9N3dG4E54ie2o+lV3GdGkadKToU52lFWNUiZaWPMvzml/Cth7ByVgbO+jpyXXbOb2G2/R498ZRuKrBxdP7Nfi9ewN8r1l4VVp0hF9N91eipZ9DUK2Qy3fT942fZ+PkgOxKWPYSUILLzM0z+4e4RKZrd3sn5+oexZFFTW07X07+HfGGMT72HtgaL5lqbLCrLr2mm5ENpsTAlYrLQhnU0ya1qiqC6OXJh3MxsEx9p0ioaeQmVleBIdKqNFy/UY9nT6MJJPim/4/DNjQ1KS+/gjf/0T3i3qZ8rehUpYPz4tmNw6t7xW3oX6S7jRugTmhSWLSzfJaRVXFf4fA6dEm/l5TEzPY0kZmY82cjLaZZe6Sb6oucaek18o9xkyNpDnVjlRazPTnHw0+eIygRcR60R7rQPj8pgO2JuIzt4HbffFjncpXlG5GXbh4U9LsqtckbWhnFCIl8Ow7I4v/AC9m7XcV0sTeBETsdukkhf8fJajm1iQhQ9tIDWlrEDW0eTdpOaaFYz0hiOl0HeK5sab1FgSVhhHZHx+STWbfPebrmocY7dP1mai7FFEY5e3757e0XFtfMmSLtxm326R8YNZ/sw7keTn5SQmYTWJLNDyD5Hzrlr8oLzBYWo5xZu2axFZFy02sIvP2taM99bFtrcRJFzaNGhtDTDwIBxk+YpK89bwYzThJtFNgZkUFE5447WZNy2zrx33VxqDgvJ9/meFOSIulcPqZ6cpOTcObPy0AjGz1hyG9ewkKqoVjWWJaq/632f0gnq56R8bJZ0HcHhCgtFQfSY9K1aLpbXWV6R+JnhAj5p+GV+sHkntY/7aMw2tocOUZEYKB6gSU1kibk+yzpxtc0ryU9QqgtJHIZKUEoUFhQQiw2hjRLalqJMjTeyXdRGKJRPXmuRIQsLCL3xKiqtJt5WzG/+7AwVwUrcCnHJFc9d+w0e3thEinCxeBu/fQkT2G6je1K0TwndZzqFPVJEUaFNTUzceaqMhgu+yDs3fItnKkRrq4wViI5IEzs7J5OIAgpQVlqGguKiXsDv5WL4LItnqqtxfe+SnnuDovIQ9YUn332quPqI5yn6gzTp7cZT906igzwPmXOILbODqZbQmoVq36a4rR9rZgpNN2Kl8+gdySPhS2KlxTe+8QiLixVo4ldQdQt66DHU9jZuUqQ3RUfdKKsjdx7d77FN0Zk8XU9m51Sv50nLW0k7QhlRVSUmPblNv0ShZVF99QpuIkJFVo+hKoPqHa+d2TSqmtEqm0q7iBdUSpYW5dheoElDXCqcQtFaNrXJpJJ0KYHmt45XrgUFBNMxSq4K5SWQU4ky26g1gnZvDTOWdMMAe5+8DGi/jBylzMTQXyg608Iq9t5B1qI6qU9Q5p2rKpRvHcE6B/IHaIo3kZZxI8l1jYpf9pl6hVq8QPMVExSvllB7Lbp2C+r17FjgCit96+MMNDplPhcG0GopUoRiJW7KGHxsNx7fPteTQsAnfuewmXuLSnlBS6YTb4/cBEJ42hykEd7XGI4sxnIRLoFTx3Z0EEgYH2ZDg8jk6KaO6hi/PSThD9Qh7Rg0R+61Hha+JsNLky8v4/b0fX5Ys8WmKwJy2VUxtqYZrRCqNANIXSDAuxLth80UTTyAlrqMr71K+GYfp6qyh8nti5wPXzbQv+89jwoqsfIjRN7ZNsHPAaGgKLzyiwxZm0g2Sn2AdsMUl6aYnPMSe8IW6jVxjaB/i83GfJIZ+8YJP319Rk/gRr+7IlAUYPEDP1fzLLMy9fmpDduMK0wgcImoovR09aL4LtoaRn4vMdBvE/j6KJnMo7zz/Ot0NCaorzeBx2xmcoVG6ZChSE5fmqSx8TR7bRlSlVmZVdqcH/Exqx7G9BKSZQaTHH4gx3E5GHmeUlWa78LFyK1jeFhUVAtFNpB1LNZi1w3hjhyYz8ow7J8mfNq3vGGoME7sBqPKIfbz+oL3XB8rTEDucZ7AsHBnIjipi2jRRhrDPywGPQiqo2OVM0nsHh4yvD+Fr8N3c23gi/XEf66Izq6cepJQQR9qepCAq1vvEsbGzAo6rBOZxW/LSzwMywzUMm35sGGAC41V2O2noK1peSAHD+vfIw+9k10gmuPcWuGUGHfq2K5MbtPA2Zntkgkyz0gUp4qZbLs9F/WoLmDfBkmg7KeRb8R8tu5BPsM0G9Yp0ahPYZ/rSSHqij/d32c3M8qaAkjWiRX+7dqZvCz713+3fxvX8gVEv0eyNSxxj3QsQOKVLSvyEbCUkyV7lrWTS/Z1lg0PDRO8JKQhwqpDdsBD5gzysGzW9vdZkrBG+xm+87JZNXkDz+Tjj1Oxvk5gbo6QFUa26AgOEN2LE46GePe15ynLKztKRrr6SJqVrleQCtE3L6Ov+LG7RGBR9KqCzplW1LNiynY+STDwVXLzOXLNlUu/b9S4cm70fBfE3oU9grvL2HY+GoigyQ0Onikl4s5y4cIVIjL+YakaJfZRn5kUHNtmZ2qQb9z9a+SPvEGR6qlVLYM6ucpMKMQF9aD3v4F0clIoKSmh4nAHPW2jinKC/lEs+W7xToZRtAl1ieGXM6ivhrY2kekW+noEzc8cHVszWszAnUY+tiGRx6PP9lxP1TIu+v2noJwhGX99znd7MrKxH+t3CaiHXok8DdMkly69SZPdfbxi9hsakLPaf+iTu9BHX0b3Rw18Wd1kd3Mt0jGnkV85fv0SNFhhsohT1fg1zXavjsSbbmkvy7jsvL93dKz2JhlIr3l+kzRq65ii5thundTWq2M5zaHbGCdCMiI++al8upq7butZBgdDR+ynN7XuKLrLA4bkz5xwYQVv4z43s8/3pOCIP13aZLeo/0grWWl96kh+KNRILOYlEpWawPNpf32hDOTsC1euPz+TMSvRYcVIK8RVnQwAn5bQW9OttIMrkELY2eNyOdS9LWpDvBMVxYlrlPu7mtlcSpGsF1I97cojVVlOYaIQWzZjY15mc0TGXfR/fYOmzk6uFogPFgYY72ni99Yq+EZBEMmHmp9ETzYQsMSraeEGAuRVmlVwuC7MTukOivmRknSrgPbxPPSEqMuIkWAQ7e3SKSNqoohOYK+dwEVq99s9ltNlpGpqFc1ZtfpR+qIJXEq8pWpWR17Gyg8QCARIeqiogOQhlRLo8hxq3jf1bFmovp76njGW/nkXXcWV1CuDFCejKnRvAcp3zH1Uzf1/VEd8/CRvfyqVR8HHw6jxWMt6YEA0vXnlevhrxsQGpiT6A8KqFG+kE0hpmh5Yp/D8PAW/sYAzUIfx6W8SjH+DZGaLQolwOExZ2XF85Yg2pa4MFZ9ipfXJ7OqqAmjS7F59EvmWGPvpDZLf7ed3vytaKxooKxRpR+Tnp1lfN+fXxm3s5wvMwJ4UZuBvN2204ZBITy2PfN8xg/69VWjWjzqNvz+X6DBz5Yrx7eelUF2ByX/JF1biDN1kW17GcDnH0NhcK/TqJYiJUx0vFuI6SVliOaI+l5SxWp4f/+YWGxChJmHL4ou6giIRdMG42baVE+zN6eu2RKS9kdJrd5p4U/vN71H/uq5L4DzTogFUbN5did7g8BS0NiDdgEzTs8Mbu+g+35OCLP7oUFROyGDrEzIw0k+D+5Whs21tPf57SiKWnfW9iWZuJcCQf4lHzwh0rS6bzjlvtXmNP/f3k4PI7fDLa9KiKs8E4GZlmSCxHGytoV+Mo+VZNje/gnRIh0T5SgGuM4wjg6MfGBmi+8VDnu2cJaAAq8teORaEdTmMnn+W4kyGp2dEuM9CVRYzM5Ncyk+a+199ELu32+xyFkznHJPQpghqhSX5kQrRXL9xaRzYjC1aFFyVQWpJx5N1nbyVo1cPS0JBsaws1vwhFtV4hCtfk+fW2FxHlo1lv8f7C/9vQgMhMkWZ6zLIqyW6bJusuyDL4W//vSX05WcZ1QKH6kK9d7Fc8SU0OYmiUQz31Rzl679Lp78Xa7mTfFV6WPNjW875nLKMpsaJd+WhbJpaRU1tznfBEN0/eJ6SgRJm3l4ikjPAP2yLActi7kaU7xLyvYvmk9d9b8mi1CrmFaebkMwAMmaJ5WWbsCWWLbGxIZwFsbAnDIAh2wYDSLNmJ9B/8rob50QgsMzcgreKnRRWrBHruizlTpZPJ8hJqEj4uq0TZISSzO5mJvv3WbvDeQxJYTFzmrq5FvRRHzqr3k5+l+ufb5FZQFgS52QTVoiFG1J/W8zbFj6JTHuG4Wujt+6vEva6ASjc+thiZBl6m1TKYXzy5PiQ0c0ZCWx954a//YQnhRKOgiN/05boxq7b596XxeCo0Iv61JPBjcznNPCli36TYfi00EYKnSsj0pKkOO/64y9LKOyg15vPuJ6Hdc859qyAki3RoiKUl48uLRNwCwkrjvQyV9qitKiKO5Witz5C4x19PP54MQbT3cyc5vjOsw/znZkAnbqKYtv4fSLqOKi5mctKIy3RGhTdYVE5I2JlMqu45gGkRuKvxXFe8TrtWpQrm7mJW61mcnxMWEqRlEVUoiqrQVz/MPE7tnDv0fGuoDX3+VowqJoSs0K1hJSHJTGlAiq6K2hoMsHelBrJlw99N89ABO+7l5TKsCqsM+GIJXl5vPyzL+HvNj76CxIPShxsBbDvuEBAGTPQLCygllweGxspyVeu/AIBK8JeKoKrgMkLuYG50onfK7J/2zJukCO+mgYUHab8vSRl3eKJvQLilx8zv9eLu18Xw8NBpF0zqVafcT9nGDX7CYdFjRe/iPljbDVs0VApDj4Q9hHxnIV0mZiM2zIvT0az+9rp8rs0XjfIG16riQmh4Ajaqcas3OvpUJLOQOhEYmiJIqR0WqlQGOW1G+XwVHj3+Sa5dNdZK5dItLUx0CBCp6npXfc6JbdLunSGyM9xpn1MJl6kuMwuplgems8iT5exZR/tOE/Wg3l3zXuDOH7hq6oitrl5W2PG1VQL2zfRMc9avFKUe9TZFZ0v8mjicSSzqGzMHmfLJIWecf4VTWBJx3k5OWW/nX+2PoN/UUmWXEnOZ3G5H/2f86/l/6v/Qdv/8l0VhUe0+JuL0l99BtcNSTqQ5Eqb8iuPuPTXkn5X0v/Lln7H0V+4f6b/+U+uP/WXDqTAXwa184ODMy78DyX9W+9zn37J62GSpEhE2toy95UUk6P8P3GlX/ld+WuSYqpdXz//W/qf/Lbm5OpX9acq+l+uavtPzivx3/7PGvraX0gBn/5Ef6Knf/cf6bloUP9r6Od0ceb39FePS39uWZLfr19K/3+kxd/T//ifpf/zf5IWCKmCWml7VkpVSfqX+g/f/w/6q5+3pVBI+kfSX/+b/1/OM3jsOR9I6E/1ZyHk5MXk/u+S/kqy/6dvKfgbP5B+Wir8C2lHkgrNme1q14f39ct1/kDSv1f8z6T5gPRa0JWiy+q9eE0zDxdpN7KjA0l/Ib9mZUnfScha29alf/Az+lP9W+EinWjRtqSIFHL0/T/8z/pL/bok6Tfk6ju6T/qPBYr+5Sf6a1+X/irYruH/+F9V85//SqZF24rH/1obG3+mX4v8F/0X/kK/9qd/of+q/6L/cJMm8l8l83uTpF7J9UrhStr7r5L+c/bIfyX9+T+T+z+0yWfVKe/v+3TpV/5XyTJVaf1vd4r/m6QL35fjK1I4salTDycVWNIVybYln8989R+tP9cP/L+v//LvK/VvnlvWX/8nS1JMEorp7wnt6qfl05/8ibSrqK59lMjWknRJshRVQPdJJZJmct6tpD//c+nCJVuBf2T6ekR+/Qv/f9b/Jfj/1axPKvaOdoN/Icf3X86onX8t6R8f/WVJ+qKa1KteSa5c/TuF9IKkv7juTFeS7ffrP/mlv7bOuLQ/cOLPX9Gv6K+u6/S/dPTpP0r6gWSGrMh59V0Kq8GWpCX9iX5Xf62/1p/pz07fxPv/X8n/a/+99JdS8V//pSb/639Qp6S2M4p14u5/GtBv3uIYSXL+teR61fS/OT+jP/jff1/SUdO4vjin/v2i/vz6YxU4++Cz/n0WO4U1/egBkM/aAhKv2H4q7Ovl7jT7aa8bMFz25cLVBK57yagynbUlHBtB6znbXFdMSEROUGOfZTYJWQzI4si/6rrIFWNyONA0H83EsK1Bti0j9Rdw27CVOYpxRKNVjI+/gf+CyTiVDN75d3wjPPSHfWwNDTK3ukTGb1Yfk80yUL2c3ZTjPIxldRrdZ6/M1pCYeXMGDT9Ix8rblMjEVaZO1W0gIMafFrq2ba45LRKJKG8uDNMp8Zw8cZRtoRFhR2z2dmwcRxTNzvLqhNgfFsv9FnrBj536Y+zDdpxJT8hlXLgBMTu7jeUusWhld6gdKFdtTSmkOSZqyrjY/bB5jnyhRxwU3qGyrIzX3niLqqpyenvbaLcHKbWq0cii0SWQl2ew98kt3tks4zqVJHikz3Bsbr2OdATukFEdU2cnKu5hY+lNtqPJo2Mv/IsJ7MMryBXpdD4TE69gchQi9OgRdrWL1tZQ9HQQNYK0jNVrMfUL5wgEQkjfwpLLeX2LDblHGdZBneOCDkjKkxF1RUBJxvU1U/5se4iK3mGRmp3FvbiOLphdwKJEfFVoL0z/IyMUZPNmenT2zuYM88s6cvWUFBbybOfLdGjtbG6uz8CG5OVz5Lw7yaG5VVSUiUHLYWtGZsd2G7GI9naLa0+YAPet3L6b0/J0TG5lszmff4mTZIzCxFjOoia/3qIyoJbs37c11n8Wk4Js5RCp/e2wgC0eKjdbqLuz33v0AJVln+aah4TlsONhgB2Vc6A7ScmgECQhx6bg0W6iXVG2Hh2k82v3Y1ARhkM/O4hmrxmXSFWKtGUoB8z3g9yrJi8Nv4wKR9hl4lDlPHphmaros8TKfJSUFNEYqCSsCr5fWEhbJIxxEVSQDrdwtbefN6IP8UlZGZ9885u01tXRYRdRsOpSmDR0zoeqwdY4JSkRiGQo0jJm4ElhAnr5XgP0GmLmO5T5q5DyyVcxIRk3V6lkBtuPV1BPGscRJVl8tyVPaNyHVEREOTrPCqKiIuQTdZU++qxe8pfq6RyoY+zggBnJQB99ZSbP5JHHOZQ4KBb3OqJs7AollkVtVvAlnY/Cp5OxRFRRUnrT3C8o1G4ht5LSt97mjYEB6hRhRCnWN0fp6Kpls08kw6Iy8RLWeR8/dzh2XRzhpJVRfPRuA5wlUCNLhrLBS7xaqjT19mFTE9WFI1il/5xSt8e4zjZFdO0q+RspVC6qqptx7niay51C795JodNNfWU9Kt9DzsnndeVpGYdF8RcPcOL3UnnkmixDusSNGGMrJRzHT0n5IKWlnta4hHyisEgEysrZ1z7BHDRPIt5JMr+PtqeLSNXcrI6EcRF6ORIBXU/cFgpRXFBIfqrUyI4WFxtoaE4f/FHHhYxOy3qaullMDtAXNWR9NWXCdUTZTYjlVCFki2B7HQVPPIdOL/ZOjImPmP4zotsSCQqrLCcY38z18rshsmSLtzKfTlJ6/FgnhZi8AJstFAqg0c0f+YV9luaP+tn81pdIZeoYmNkiN94x+Rndw5GDo5xOGffT9L/cT9F0CT5nmG9v34WBKA5wFvdQeaOofki02+KC/Ljyoe4vkl9Xz/y8uJAnxgLCHRaybdx4mC982eLdoRQvPv8O6/FfRRqjpcUlnRbGBz5OsnSfc2+8zk5REVZjI2GfUZObskXlnaKl1gSoVSFDgeyIhC26faLRKqdd1YxrnGJ1YjqyuKB8LM3hl988i2+K0mulR/kbltcAbcnUydBb7Hzwggkgnr9RHTYiPU5rq8NTV+/kQftBUrspRppHvPvkHpvG5ymGrctHSOJgXvT5RWzKO/Z+cfDW5TPuU4shgsv+beqpdH+ZN14bpFqiX2KkaYSaoho0uoyiccY1jiOHT178lkcV7ZlPN0GxxU/dy5jriNfHHBq9VfH8vPl+qONuKrrvZuUf/R1iZR+b6/rEe9rh3isBNt5/k8lkN+rqpEVi2Aqw4vOhSaEvCyd+coUaUlavoBL5TKb9hC54z3yF04HcHn8fzRpCWmCiVmjYj4aHj/uR9x580+LKw36kfTRwCVWZ56iRqJNJKsu7ZZ8Z4gjaG9cRW6wx33EfqZHZufb0oHgOFYTfz60o0K+zCuEfzFm4aZEsZ9eJyaHbQXXHgehgWEycyve4IIP8ypcM7NcVVkErbs8vIp1ajPiUQ+E9gBQxWd23MSkUqpKWI5aEaqTnDBCjy/y+czvP7Zzd736sk4LlNUBVyTBV3jL79CdrvqgY/2dJChtLmA9+TK74+Y9uSaQmOtVJq77IEarBEjWPDFHw4T6ObfHKwXnKyrIEYBePz4/JBIl83uc9UbF4kTGJyoYuSsrKCIZE2JbXUbpRWRn65nskn4ySF7AJhfLQQB3Dw1X09+tEok1pqcUbb4QISwSD4p3zpuMOSoTadAydc2RWbANCdaJ9RSRSJgM2oMAJt1tYNpbC7GsfRe5Em1dw4o4R8KioIK9og2VZ1Ev0K4ACs4Qf/lmTZDRp4Iodp+sxbqPmID5fOz7fEJJlJqszLBqMc67LZI6GtIWlMN/dF9ayhfK9jNKAuHf+LFePaxLnjtxjXUhBFqMD7A5auDLPfHfN3YwWjKC1IZQ4dv3d+7NhFHBRFtW0ohPkc7drSXXjUxOWJR7fF1U+EXi/FXehj9D4MtZ+2OwUVkVCYYJJP+GJOeIJl+ZmM4gF4vcRWt809TTWw4DfR13ufQJCXSI/r5rdZ57BH/YzoOwu8qucmLDcIQZ3vk27AkhBgyTLCeI6coybSmI+2MJvxX6G3t4IbmQWuYYErk2ljKn0NpOqHscQyZ3+Poxhn7148/MvXsQwpN48P+eEeW38GC4bQrKJSkdyuI5Er78XuZ505YAIW2IzZD7bXaLPu0afREJpsgl5LS0OV6+eDqoP4POJnh4Rj4vm/Q5DBd+v25QTrebIhRS1UdvJdxO+wXm93rMoKcMUe4a63Y91UjiyGpE/dpswyp+g+VyLJ5/Mp35GRlDjM7z2FX8EJTqR3BO5BPkSpXeLut9swvG5vPA7v0Vl5RxSgit6GO16ylYhoe6UiRU0Cn2oowSdzKV1UrPDHB6KZ54RF3WITy2USSTzCyiIr6AXxtHmt7nyGw203F1EY6NQR5PBej8uigLiiRpRF2xjJHYMq6tRjpjKkeWTndSqlSJwtA1OcCNmVVuiOj6Fv67CMHXupdHCSM4xLlIdT/p/His1R0GjcZXUSOjJnHeUFIkOEQ4PU1m5gSWLJq8eR3ScTCTJSER++T5vW30BKUyTCtCVNVRUgAoKkGXx1CfjWD5RkPvOGxvQb68yEbJ4VVe4N6+WlOOnMTCEVbNJUG3EtEjjTgOZngzSk0jVFCTuw9pyeG38CmNy0Bli9Ldn5Wh7BkXNlt+yxBe/dIWi0TATk39Idf84ef80Hyd1iQOvfnVFhobilUbCSR+VHdVUyiHsUUq8VSJUP4Tck+/I8cXIqz1PrE9MPliHK9fELs6wvLwGbPvUIJ1vI+v6BVRSlXTol6l/pQwnkkvrUIGjyhO7hKhuFGMswLhDPn3fy1PWTXfAjaixFZZxTW0e98vj8Sll2qcjlHfcnhsk3OICUnl5qCnH/dck7AHR4KHGqiRCSpKVys1rFG13mRhZdrAOqoliR7x8pwh3iIrpGuTvRwOd163e07riQa/PkIBVFJWHzMJbzRxT3/uR4kQkQq5QKonkoyH7nBE/bnmCS2fUzU9mUrDEgnVzJs6/CYv6/XzjuSU0L/T8Z3PNoMz20UoLvTSLolFWVoXtGJjZwqIYfKCbB//HV5FvkvU/+CPWm5qRhrDUQ8Dq4QXLS6h6bRKVx7GWV7xgrnef9nZUXc3UhChIiTXZ+NTPPSpmeHaRpd5tVCcs28axH2FZ7WYbnBYacdCKyRq2JFRegToH0Q3x1kILX0MBj2bYmiTLFjmoATI3kMMMSTzXa1HULfSqZzUmTyG1ZnDyksUnHRs4j1ssS6xkG+xaFpLXRVNBOU8Ni7WGdf7NH/0bfD7jGpjX9YNKJJJmdvZtViWymHpL30YTLkquGXU912V9fQ1XYsmSyU3x+H/kbCGt4shi9k0RyYh1reLIpbyinI6uTu607mJEI1iykRpYVSOOJaz126VGuXEf8Vkuy56OgSXxsWUTkljo6yPd082LLw0SiVhHUOQ1SwYiG/CjggLsoRd4XFEaJGSZ4yxrkaNsXc+dFZaYkW1oNnrnOZ3Nmwt1npt1CIdPUlkvLSbx+b/q1ZnMrkjiaVk0n1tH9iLGDVTO9LRFLFZPTA3M5LjTOnQDEafiB1Bv323y95wNy56RB1K4GbSzXgYi65VpXrnjk9fGw8rJjVhACpL83vcYe/UP0eWvIbWivj7Wil9Fs/0oLBKJVSYnJ1irSrHZLlZ7e0m/WsrQ2ByNKzFeWV1l1rYpl0WnFrEUQFrD0gzypHNPux0tOUj2CRLMY2tDq9XeOXbOM2ew1E+zRE1CaGKM40nFwoAtBs+sv5/MpFAtdsZuQAfxN2jRQJj373nVuGdO0wN8SrNlVirRUlGxs4WcOE11RVgbT5pj8kRjfInMbz6GqpKEm+4ifO3XkONQrWrmNcYPhkRHvTlW7eJSU/4J1aqBc3U0DZdwrUb8P4Li93QvAT2AWR3YSI00l4rVx8XHKmNFEfPym7MrsHwCAVFbK1RXh4ZH0Wgbqh3OeRaPcK85gfLeQLZxldSui+68Zvx+8cxMBV1tJZROVJCrW9DcnNO5/BWmbj3USULCHWnktcFpQrrAEx8/YaiPm3LrMUvyF6VZAZ6WGJqt4Nn/+wG2z0bNMoPRKUEk22+TqvPiQvX1yOdyWeNY1RYK5ntl9M63ZXZgrlDSBLaLXvsCCpVyRTKuH0e8rjrOawO1JtFCCY1aJKNWNrRBQkkuyVuVvv2jEROWX4kxY5eTf6TjbDHSfJnhsMh7RfhLo8TjJ9X5zs5mL0AqNHTPEbGzc5FQqMsMcI+ZNtWkGJbOUxmPMzHdgVw7552J13U84Z6vs4j6Tu4KRuI27os5q9bsu7Ue4O5PatGrrSgygBQglXqKbifDhF9sXtVJKuezzN+LPzZxW5QwkolZXpf9nGOVOl6dl6iEEiWY0a0WqDVcT3vxLlIK5RehZDUqiiFfBPXGKPBXk10ouW6+0b4IuhRGRH4sRml1DXOJiyj/Cpn8fFJHRJalSPsUqYAFpZAcLl0Szol8qSGu6IvY9jkODk7uFGyJRg0c91W9iRr7kS0WNcC0ZkjLx6iCqHrWE9gKI+3ctE5/fJOCz1hWhOZv2y7hPrlErSjvh8dJSyfUvn50G6VZlTwZ28e6mKAvL4T13XaUMUlnvy0x8N/to2dmUekikdJf5yi4FxbjlpjU4yxY76O+lHEbeX7GcFhYFyq5+AsZ2tvFfiRycsW1YaNoL31hYT2lYzHxWaHf+fpRYlQolKS9fS2nzNU4Wid0FAzrQ7JRf6XXSYRsm/ZIlKtf+10GB7vo3GkgL1lDnRrp0wM0RBrQiuhfMtcM6sa03D2hEM7WFpd+XWaQ7s39/dhX3yDxsIR/fZ35f/Uets9B/fcRvktYYxHPh+ydF4ijTu/vri7k9xO5+B5qs7xkuF4kh8gn9yE7jHqzq6ot0nqCyrd7UMi8h33pSC/ADCoFSNU0B4YocmsIrQl7xofeSSFHRLKZvWf4aG/PkshuQL3m2S2Je7NykB3CyU96VOG5q98ajN63yKiIb2iWMZXQrlIz4SWEcdP1oJhYaTaT35RMUpablyZwoRX5xVROZvKXIzm7sE5dR7rYEwjjjF5Gl0pwNM3e0W9N6JM4eutbKJpNQPsSUgnxjFh/+XbqoQbDvHpW/HGc6zP9zTOGlGRLX0NZMkHPmnQML61WNTUqYFcnF6hVMq5ISVyUMDGN0/fvQvJjP3AvobD3DlIyPGGOg5lEIqbPhEKmv37qtnB75khGqzvXeoUc0a8FpB3KFWBdYayWPeTRtUuj19XTcd0P/RgnhRWhNfGYOllS3g2Dg39TdkkVRP3jvL+xgaVj2b3PxhwsWbz1xS0yZWsoGUVbA8ZF4DXI/Ce/R9dcP5LD+/oYXxYxsS4Gg6JBAdzBEFqrRKGaI/nItTURignfTwnLtjiC78msHNt9OeVwZQaVgNCzQhO+I876LHe6NHV0fFppJnWazfH4+irYQS/OYD8Y9HQiOtB0M1IrjhzsD236AiI2bY4fkQdFlSEkK8+9riXk8+H7O1OGE2bi7Htm383K+jo/c+H/iSMf0iW292eYn9814uVH56WRhz4aGTG5EBd8vuMt8ripk299cgk5q2g8O/m8iNRsFjISmhIbGiKmEInICosDxxjw/v42qqpKWHJFvKMF9b6C5LCjKRPku12e/jPNRdo6eu7vSia2tG7Efx4ZWkGhnEzeIhvd6yCfcceF5FKrU+R3o6MeIsfUoyWh0AS+IYdylTHk4dsvTOnIPTGzKdxsXQwPH1G+H1kyhL58HvktlJPT0C2x9YnQ9CXkz+Lo1zF4+SqTz+Ed2yiPm+k6q8AdWWA88LUz+9XZLqFapF58Cp74fVJnu5dOm0HDmc++s45JC7WOIAXIf+RB5l64ilpi6Pfn0SsPMdU1h7oeReNbrOmQgWdfpuSeAxq+2Y6ujTDVvI26u9HEnUQmW3jQfpDmqYd4SPcyLR9bKdHTNcikWgkvVzH4UCd6KA81+5DGzOTeM4i0ZvqJt5NwpVvAoG88PmnqrHo0eiY/vkkhYezy5cvU3oze+G/QwnaAZ0r3zaB5M5rfH9ImZLh03n5yh8w7y/jkp3jpBVRcdXRMsxp5urgL+Xy8UPYCrnUSw9yXESv3CtXFcd0UJaXebztCYfHSx56+7ZUWDBmZ8T+nzyqTcxGVHQcbE8qlWXjlBs/hQwt3opIs73oeh/oyKhYxvxhpKeM738lQ9vv56FsPobIw/lbRJQt/xRXTcLOuggsiGRXd8lOcKUL+cu7RRS5rHnVdMUinCplVzkPeOftiNGhiEIsS64l1Nh7+75FjJoGnww00P/OcV7ZsEC4PyegllJaW4DgOhzkDQ1l5GbZt8ckrMpOShxFfWSkinc6Kn9uoQhSrBFc+fL46iktKj+vl3Abq7PL+jnMs+9jMrvLNCvRT5OOUS8y4QpeOv6vIdmA9SkhtpEuEXFFebsofiYq3OrMINCFtklDyBEOoyt5DToKMxLItdEW4bjklpRYKV6F8bxFQcbIs2Tq7UFpG1K06Wd5YGD15vZpbRqJhrBwNOSZvRAbmmVQCQ1GxdXRsnjwCuWIhn3AVo0TbSC/jlroMO8M3rCvJoGhaTn2X7Xcn6++0HecxJGR2TDW6+eDaWBAmv6kTySGgOEXFK6gggAbqKRg6x2KoAGW6UIXLkurpLS4h1tBKXlUa9ZRRmd+EMkWoogNfRQHdVjcFFT30qJNK2TRWi6K7Sqi4XICvNkFJT5qa91v48OFJQqFdnrlvnJUHfpu2vD9m6oUetv1CepXg5U/4zXs/4ZMrTZzbEG8/IaZVxre0y5h+mcUL4r2o6FIxL+p+mrfKKbhPlF4Q+rWzdlzGfnyTQta6hZWXnYlvlan7k7ULUXHwvouVEs7gZ3z97W3eth0yU/NGKWvqWaySJiQfQQVpydj83j8ZJ1EcJTafz5K9fuL8GQm5FtILhNx2s729kP3dZfpbQraFW38HG8OP41vdPrscde4RaqlIYtw1naBKxnd5dvDKh+LF6K2voIyF5GdQz1KtEqNidl7cMzWF4wSwZJl32yDiZeIFzZFWyripRh38lsO5QICIXuVOvcXLfUO4ienjttB6GT06ZT7/ontdhmjatZiUy3pzLRstL2IGyYtMuz4CuRw5ro0VtXGP5BvHkAL4tsWcZdwmX9ckIbnMXDzZFhccUWAJ6WsYt8EFhl0DOUwl7mJs8TjQ2n93P5VjVcgRdtsK9pELrohsvsZxcNLQsy+f8V4M6WBuWcvMzm6nB6kBWcLd3sckuj1okrTeclBULEwbBbxiiftlVrcZWczIwZZN4ATi5quc1isujIovrQirqAKn8zRRWx1yjzNhXUWRvnHqmBAGHnrymaamROH+DOdWzhHYHuO0i8KRR/a2u44uBpG1bXI7omb3PCIha4ZgMMTkxns/nn5vmXyQH+acK+k0bW1tDEn0KUG/XqBOKb4SDPK7z4zy70sv8KYmGdZlnnFtXpRDvm0RC4R421njhR0Lx43QYb1Kq5pwNEWDrtJ3TgwFzM4uKNHZ0kJr68vIcfBZ8t79Oe89GJLKKz6HrWw9uiLgmAxo1xWybHxaJOj0YAX2kVwcxyJpx3ncGqTtcI6++4NMd7tYmYUzeJ+M/fgnBWV9dgFOuCL+FthiNMC3398hXSMWHv+Mrx+N8lU5LOtJpGIe6T5H3cMlBHWZr+lD6ktrmPrSOpFIAnv/F4k47+ScX4lUiFaFUnloz28GjKgwweQdFO3FssTFIRENRlHkrIQsC7VeOnIZORIDWyJ4IMbWenhyoZnV1dN4bhtpn6CdpK3gp5BTTKSzj6/5po2utXSUcStNUaFSxhwZF5BERP1cTk/jPyc6GiZ4rn2E1W9MYUXzsZVHRPJgcDvUyE+eU4FCq+Z69+0bqcSc8qQu1dOth+mtaqev6gPMYP4AX9wW8ZDM7sIWuthCzBpkI9J+4vyvTfUSlXERRGUG4r4HREfHJoGAccVsXRNF1UJdUeRYJBSlfkMoLq72r7ARHcLEFKpoujtI0baL5kR7r5+Ocb/Z6fSerntj1p6IXEeFHGFZzSbBScIgW6pR0EUfXiELGLg09V0kH6rpRPWl6IFpFDLxDlsnWTBL40WsN8zRrnbeUgdOgzziv4hpBzmssFZIRIZFV0UNd4wZWcZeZScpH9odQj4zYGxri3EVnSp/EjOBnnyuUMgsNKJvjWEVxchNIhvpEU9YorhKaDGC5ixUl+MKCwRQezu9XeL810U473rCu1tZjW4jOa5IrM+d1Fu4lV2SgWm/L9EmIYXxyaZQojAkrrlRCiRCmsB/sZmwtYhdX8juOxa7MxF+pa2EmY33GYhV0SM/8wrxrJIEIv1MW308GRMfNoi3/X6qhuZpmGvipeI49fLRVTlGtFo81dRKSn3E9+7mCdemtSKFf6yG750XX1qKsPx0M1po4gF9hX8y4aP8eSFt0t0dpbk5zKJaKFQ9d+gd9jVDSe8I05o+83l/IpPC31brjYpvvS9UnUYPLX2m174i4zftnE2j9kI6qxMkK+4+cUz/mxuE25MknF42K+Zz/OP1uKo4Kdo9I668kHuPFjMYvmXgd9sSyj+JEllRgifzc3dnPuq3U/jPXaJ7ooUGu4aWlgja1algYh7+hEP9ZhJVi4v3vE23+zXqlfEU6kzw7nz2eNuPmvZNUPujWtTQS2DaZrAqRXm8/ETjS0hkNE1YF3hiPE5NVTVyZj23yQFGG+F4EGpWkqfVwWBFB8OVxyvYl3dSxEI2elseHC+I9JCpl3w/uu8uFA0z3jJOUmaltZ8nfJZoyRfPN4i8rN+8WiZo2LuHHD9RZTUWRF5zP7IGCChFRGXsNqYYKvMRT1TTkXdIZ2ECPbOJWp7jiLnT1S2E4UNkg/d5trAqYsjvx2e7PNycEzjfakGDLiprQGNi66Mt4v7jNvG2xK7MKrMoIhaqknTIofOSUK1QVKQeSGFFLI52MTLuv/P1olD1NMtMyG/peOeyryZ83m6jSCnePI31DyfRha9x7UbPNzKGfAaq7CQ3OHAm6GrupCF3VxqJGOrxRAWlpZ3cmxzCrX+QlngZmhUDPtHYKFZXRX6zTojopHQ658ksiMrkuUXv1hF6TMm4915uTaV9S4sIBUVCa7gqQAU2U3lbVFypIJ1y+XjqIt9cyKNKCXoDUWYiEaQYxfJTqSSObDL5pm0ZWok2otFW5htEssp8l25uocqupkxRKuXQVNJEuFRUV9d6bbyZSlnEFEcXyiiqFWOlFdi1j/Jmi4HWvqhJylXBxzI7SV0OYlm1vKEGBjXIuERVSxW57rxc+/FPCoNChSuf6YD7WdmqX5xf9f4+LXryI5olb3B4qhE9Vsfo2BiFdx1LKa5IfHFpmpJfjKOiYob/4i8obG3FJ7HQ3kl+Vw/jI+PHjXFWWPYKrk8sLOTcy8q53/q6cV14qAfLmsBe92BsPUIlaWQNITnsrewyMzbNg4eiw7ZysNEO0qrpSNaLqKwQu8foDBRolQlZmAGt6VQQz6s/ZxwpSUgh5jWPrGxOglAiwQvjL3JN/0ek57GsYc6p1Pxui2VZ2N6x8/J0g9XEmPUU6w0NbDQew15te8l0Eq/cNaqjSa8iLaD1ErTUj0LinHWOqTGLZFJYK+adrK6LOc0Q9hAmoxKpKqGO4zYwo2kiivCt5T1ce5byctHVEaCr+znm57t48plXsFY9PVzbZkWPkM0EzrsiRsbPbhenbSUk3Jf6UXExrivWFk+1w+x7yQhrZBZl4cUSVtkKVof3OV/YQzM0KEbjio7QaovLiwQ8bqAJHceSLFmUqIR+L9kp913mfp7XPNHTSJxgEM0vsZFt40tCy3FkT6KVMubfewV/zLg9NGNhxUxOiiVRapXyYuAlXvqF79O1+V3GJl7hiWtJWlssJBvZ1pGWhXK1BY7qYZX5vtMZu9ZJN+j8NIpG0N4ymh333kuX+W1lBdlTaCmK0YiwkVYMMOZFsfKgMHkKpzWVZ9F+H5quYlKWEbDZDmGtLCJLzC+JwVcs5n5/jT+wJ+mteplXOgZY1nP8U5Xy53qTCWX4F2sx/tKe5I/LzP3u/A3x794WL02Jnqh4SWJOFioVq13iRYmX81YYGxO1j4iXXgyzMD9tclBs0domuqtWeUEO+VZWB8TUoZOtR68OHVlYyua5ZJBeQooY3Y6cLOof+6QwnxTT/vSZv/1N22QgzOH+jQKtP6KVCndOXNqKoDu7UZ7NlXu+e/R7WiKvfgjnuXdRvsvO0w9S5a/CkiioF+mKNMspz5edFLpfqL0W61IJBa3ed2fcd3tARINCykdX1w1e3etgJhfAQbpEyxPF3H2Qz8y+eGRmD2c3aFxA5Zsc+6CTdDVvsLMyRpGKeFT1XoMKc6OV1yM6pExF1Gcb5PvCLfVcRq5LKq8Wn44Dt2/m5DcUqoHs5FKQPb+oGS0+w3r+MBsFx/7vF3d3iYWOuWTCeeL+wnpcPUCsUTxeK8Ku+NKXrmD1rqNYAbpYj3w2T0vkK/+IeTMl4VMS1WeOkB1vK5+MHAoLx5AsEkFRlBKxuhhxf5BUykJqoEGmI6b15lFZfOlcQr/bs0MJXbBRtcmItiSuNAqF40zsvEB1aSk1cy/gU4gveh1ewUKTYyNR7BcfJQ2iJ1KYc+06IUeE1Ei31+4KNYT0HKoUOxO1hE/E+lLUK328Eq/RMSora3Y9KrBRpBQ9Podqu1FhN1IeKgxSUGCSsMISFTVieErUjozy31hP0/5akNYPX+Tl1nbiwUpSlsgbFlPTYqpult5XyjiYEPek014WrlCD2Q1fkJD/aeyEl8neYFbdXRLf3RcHR/Qbg0idqDBtAujFMpomEkqnkZWH0g4GreYlcqVNXRVWen3nOmH7fBRNGLip12amXB9TtbXEGkV9nZguERWFoteqRI2VZGSTVgHlErXKJyGHOrnUKY/SoLlfvE7UhUQyT0Qc8V4iwYNbH3EYLOGRuGiX+I6vkF9LGYLE3TqHvYJ8XpTYaRaZhwaIh/4x9dY5Pr5cwGi9i23Xcuj1n3qJjqConrRQ14fUD2Zydln5ZjwoPPl+f+yTgmRWYn/b8hQk8VEwyiOX30d2IQrMn3FMiJtmRd7ESiSmJXzlIv7kAJZts68FTtBC9PTgu3OKgERQy2SZUlUjCtPKUZ/aQXJROg+11Rt3R5HNmbqyr8skE+0VoI4tM2iEQuiUyEeyxGzNFTYIn69LdCzYBFpOcrQUtLxP3bA4HDhkotYEdg3GO0Y2CJZr7bKIhPf5qkRwTGYya7xxPc3kSiuGBo7qO6iseyqO1ELpehtlG+0EZoRdLN7bCpEIeu/GEnpCqMLUU96QqO8JIb/F4KCOmUfDX0UKcvGes/hzMqivGrlmMBteXycci3FX8RT2qkVhg6idEaHeEGZStJHuYUDtXi7D+6bsAyHjutEKP6yglBty2IlMHj1T+Lvy2ksPKi+na+kFggoyEMqu5h0U8iNLXoA5++5yiNfe3KI/HqRbg7R67bJCk0jjBl/vH0bysy9hKYhUQr8qjyCaoW5hBeQ98wImttJn7p3UqaRDsxPxK4QUIK776Xh9jV/7xwnKtidptntJuCKUzAE4WGJ2q5nv/L0xvj90jmV5nGmXqtCM50YclNcuDFeXLUNOqEHRZolUWCTCITS/iSpFaL2XrtgErQkZKHad6VNDEtW6xoY+4D7d57WtdQyf0hb9CvJyYSH6+tdpTqXotnYIBl1DmDe9x9fefozWBjOBTjaK94YP+LhnkM73RV+3uBwQ70m8sPgk+79U7Wk0j3JRlawHRZ6/l6qCLn5udY4nax4nbzLIO++fp21RhFZDdFg27SELKYkbjh3RzWTFfKIKEJaBWMcdkZwNYwUiZDOTNyV2+v04jtmxOjKkljMRGZdibIM+VRv4fUkJmlpGsk7kbIT1E5oUKjXBmI4TRP622F3RKN99/31UkDRp6tnf2uRxnpzjOmbD2zRbBhXSripena3AsYW/6Dl0Z//RysuWeMAvnpVY05McqzbVY6k4BzPtTSTlMkHjUaHxLa+TjjM6mpMFmV0t+Te9Bi+DVQ+HmdjMQ+3tVElU7ghfUCae4DWGx5Vm1p4yrKZhoQEx8ZEfnyuedA+ptydwLPH+eLaTnsF7ZAt94DcN2tV15F7dOqk6tjtxDG0cu3BSivAEB9N6Ddqo5dFe0ZwvdvwbhHInRX85R1nVE0J6CymVk5chRs/7cXxi/pN5M9AET5V9xJR5V2J1zEcsbHHwwQXskI1qiwgMd7ChDaRsmR005tJhi1+emEcKIHfTe2YfP+yCwtmaYObwo6O/dy7n/F7ajmavmc8XsvV6B/qqkTJNK83UUc7JNkfJkJN+XP+xD75MolpRpDVU3oOevAcFsnW9wEl+nXzW1OpRRuyY5zvjmaokmiOi/17x9WSGb+lZfBpHehX5/QS8ybtDYqM/zcZ/00RwRmb32i2ccgdfU4xejZOnQnxD7WyNj3iLiR7MAiSMtM5uzn3Ho8LqE7U74kuXhG/fj2yx6hNJSzgem2z2eFfCVhC/It4Ems3VMay+rkTIslAkgmNZJKN+s3CyhXxRxsI/oMkxk7bjCNcx59g58bighM/nwx80bhq/XAKy8a2KjpEu3mtt5zs+H5V2kE1X5E372X9JrGwsk9fejvNUO3K+ylO7j/EdubRqhA4V8K7e4Ysa4ulgB+6A+HK5+HtvbxMKHRCT6FEP4+NZ0EgLWxON3O90MDc6yvjKOD19FnGZMdiVyLNt2t1NpBgXdNw+9vUTmhRe12tMy8zUL3yKAfbHYYcSbjTK8PvvY1bcOQRXGX1m2YiT3SlGv/+IWZWNTqHXRpAtnlOAjzP30eUmqZKwVIQUwpYoVoHXEbJUxoawq6lUTAaFfiC0XOU16moqX05gVT1q7lkk5CRMZypsJ9KeIrnXSZ5t85WWetyiIh7RSVHvLP/9c4cBlqwCqqq8zlQmqj8RroIs6xEiHvNkVZVpWEVnPnMGVVV7n/NQWQhtF6Gog5RPidaPdo15EvU5ENRRZVfAx1jyKokDibGKSSYqpikqKiBUF0DF15B9jFApLR1FB3NmIqoWO6ogIpcXqkqPfOQvPC0CgTxeq26hpKKE85UVfPlaPtbGOj2NYmnPBH5DMs8uXw+q+jlMADtKMFjA3l6KUoXN+7x8mcudonRbtFS/9iO3FUuVVKru+LsrwrYdiouLUVke+varKB7nOV3GkY0Oq0xSo0/GRbJ4PPgdCdW/V4wSDpKftDIU6AopHWBQXBFUnj4pQxuNcimRwCdxqLB5nyfKGaFE7VgqpVSlOM5jPPK1nyXdO0FZ/yaxUIxNp4CuEtGgUh588AKzW5/Q9WufcLjzCfPRBpQpNG6dJqESUdpSykEqj7L8a4SDreipPQbiu7x1pQnLKsVMRg5SEToU+9vlPBA9pMqfj0rXz6jLIj5r+Ls/KC5+fwU1D2LcTj4adIk9+ShVOUbsapYr+hBHGQ6v+Gl0bJ4oLiaoY0qS0tKTMPCU1w8KJZRMopTZXbZL9Momo4qjjOyERMoVulNExkR68gANfkKgqYkyPcCrVXMoMo0u/Aat1VsMWHeyv/0iq+df4b5Sm/JGMfyhcCtFqk607Qsl4pQ25WGyuPNQWeonMym4jlk1T8lkad4u2dWP2y74fCzPTXFeBeRm9n6W1mCLWlvIEeef+A5qsb0GnodGeo+1iCWk82xJLHmNZNY5xhF32yM8sGAmLtsWBX7x1pzFPW9v4Y4GcabGjRtlXChUj9xuNPA4VfnnaNZFuoZFccXcDWknJKHdfAyvuxf0k9CSiAbEH3zRoSxHKSss43a6/jpDSOc5pzDjQy9QekcaaRxboevee7vE5W97f9utLJ5vxD61s8grtOibdqh52qa2/rwp31w+G5OzBL0AquWI+Q+FveEcDXCOVpCGmdPDx4PeN86hUB/SVaacaVZnNo7Of0wWTbJplzfZLS6hkSH00pvIN3Yc/OzrZKnyEa9+NtnczO7Szt+gXs/Ggt/UtszAsSWRDAT4ysQEsgpwHLOb/VBGXa7ySYfePxaKmuOXlx3iceN/n/D6mTPzHj2BBNVK8or6j7PKHTN5hJxjeugZiVRFBcoJ6Jt3I1K2eNed5v6tXd4L/jzhL8wyXzaHNIbsMFZA+B3hrxZrH67xxDcDHGqO0VER7xL+euE4Dj6rwrSR/h4Kqp9i2llg9kMvx6ZbqMCU2+/abDt7WLOWoZPuCKIj/YBxbrqDXx01CXafZV92hfOUjeptTMwizobEOcc5cvP67Hosq9LrQ0nW9gMszs3QpiIek4mHfbjo4NoOOm92T/dJrCsXXrzp0WbIQNKDwtk5WRZnYgQVG0/COQnlOSdyY46Oy/3b6wNzAeGbEIXtRfRdG0W1tcze245tPc55vYoWWn4yk8LBgeFd71AHVz/LF/Uj2l0REf6SiKuPzwSydspsiTuWi2l7OoMWRfwL3UjTnMzXKOJ4lxInJmGpnGIVcH5tzawcAkKPhImXmtXP1paY/LbIxEQqE+fuO8TenIx7yZbhq7l0Ccuxeecd04DHFtqorBMbOi01eGyxZ4uor5/DZEh3INXR/W6MaDDA+w/vEE1FaWhoIJPJUU3LsYjEhpqoUphmWURC0SNqgx7lKsflWBa62Rnk4oj/Onr1mFNEfWSeotEFijuOibze0wUSRwODRUu8i66YSdiRxHnFCCtMd9edaKUZ5YfpjMVwauTBFH1Ie+b8JREvbPA6s3fvwSiaDqMvFqINk2A0rCAKXeDAl4WFxonFdPT57HZwXKasdd+g/lvlxd68OomrG8t7X/GSOE/NPEVcMeK6iOTgyz8gmBayRFGR2HrpHHbYgARmZZLbLly4i1QojE9RImrEVpeJM22Kg26xfV4UhY/f3/FAUk23kqjVpnS7k9bz4tdXozTG7yVuBbEyIuETDe3tLD+wxV3/hwz/cEt81CTe++UYwXSWpVY8uyB+bjHOw7MbfNjqo7LxCjpM4fgLiCiK4jaBgGhtNff2+8U7u/30X/oGilqG6uO0q+9mdlk3BGJ8WvNLPHVpi8LZMQwBXZivRUaYOW/apCvxlZ5jMsiCQvHFH4R4K7yNK5ewHUbLYuKJiwY5F88QlPh2pWjKyxkLJhqNfG+3zHuyyjm4WkCLZXawBTHx8qWwodSXccWOxS/R1Hvs1quR8QS8ojby5SecF6ZptQmpgF2V45dornC5f/3kxJmFwP9EJoXqR8WkHFrUQlbR6G/W5pBKSLgJrBELMwh+9vexHNH2RAbNppEVM4ND0kJWboZpGilDVOKunstoxkK7rbiZdmJLpsHFHrHZejU76GxTUhImky9iWiUruTcpUZFOo/wk+paB0y1bYvYr7UTDce65kEVZbSLFuaRcrHcQaYe6ZvHg0zKB2U4h1dDefhXHEi0JkaiO0PVILUtTvWyveNoIPqGIabADB0k+tHqpV+wk/85pazgwoj3ScXsICt2dPI5BeLTW0TJRc15UqpIqVR69u/d2dkiEjicFs3pMkvV5b2+LcKSf9o+HkNWLFKM1KewqoW7fSW1syciwao+jOMnzd6DCFGq7hKxjnP6IxDd0GYPQuj267OiM8OXIu7afPiZi6rFJd+HPmVySaickg7ppUjtP6dqJSbP2ci3DyqGDaFTO4BlFSZcdXSCkEJcvR5DqTrb19uNrOQUOpZdKafvZCO9OPMqcnmdND6Mmm+LKNhoKheKivSDAbHGYtQ/GWRqt4qE/epGfmb7IaluafktEAn7yw2F2NEJZ0TfYnhezaZHJeApsNaLZowFxlTpaoPjzL9L0gns8mIdCKHA3txOXCUiEZaFIwoshmKx3XRKyF/CriKgVJLGyg2q99jYh1JlEipFUIZZEIiySfpe4YjgqImkXHy9akhYlj/SRP1OK0cwI8c5+K9O+4zbQI/GmzESYPxyg+pUww9mdq0/c/dOi/1o2blbLrr5OYC+A+opwNM9DyXXUtoWsOGoXiYCFtduKlEfDugjlifTFJM+5G1RrCmkCKcRob4CeV7NtWFQqQlw+mtSEX37eUYgvqB6DNipHShDziero2fX5E5kUdD7XZbRxWx3px2umoS0vLxM47wUrx8ZQ/IdQa7pNa7BFzYKQPY5UgFYCyH993saoRPFWGbL7kL1KgQqYsKfM70ubOP4VpGI0/TQtwSDPa4/po+20qd/l3/otNDZkmFJlVn1LtkhZQd6157zOYKOwsLXAyUHN5qBZDD0tMzAfuXEcE7xeNXGNCVssWQ1sW57wSmkR6u+iQ+LJvA2ckRlqlbp+4Ms1y87Ji9g0/28IfXDuOKM5IIOfbs5HTw/SWLdKU/360btbm7cJHg2AE5gEpnWy7hp7Vihoo61NRkZfJpGoYm5NuG43KukyrqHcMtnCBFp9FEr0TS+hSAyTTGej0lLU1kZnh3i81EYTcyia216WbkjJPGydjL8kdVIoXQPyeKKWye5YLYlvSygYwJ6exipsZ6nvmuELklHIy7eP8zokGddhVN41XkCb6SPY7Wm3XLbM066P4GNzXH09xR/MfoG8xj7czi5sORRlShjs7eVRNfFPd6uYeFnU3F3NyGonq2Eb27KwXQenQSw+u82zz06ysF7B04fdBGWR1jYTp2hUBjeP9dDrtcHzYzYLMa8t2joSvVHHPqqZPaPMubaIZPGgRKeCqH/JxIK89mxcJjaVshgOipU1G1kbx/exziFNsKkH8MvkBWxW5zOrKRJ6mvXI8zgLnivnnA+9+SKqrTm6f9Q2rl5JOFNTPBYKHSvcVVZzoa+Tr08fl7etqZ5HG2rNxF5Wht3bjeaELAvHttg618xCdBBnwiAhl+UnaD+LlsqRYybVp+x1JjVBsUoMDc5cB1fvquGlWdOG5+dEv/sgGXUf3ff3JL7ofQ4Eg0xPL5m46cjZ9foTmBTmkUqoVjWOxpAaPpPB9tNaIiHOb4nDGlH9G7s4Hd5q8+4ClP7suZmiEp1F18dRDn+5zmRe5n5fE0TjZhdRpwzSMkklyc+0IsvicO5+tNNAfNim5vvlyD4pzP3cc8+d+HtFFh36Iq+8ZlPZkmZKYeYKS7zOkkNdEBTaE5X+IvLTC9T+HXHw3QTOd7+NSp7HCQSo2d9H6QxaXmZQuRrWQWx/kpqLMqu0V4RKb69uiiS6D83n/KhI1dYiWSekI4v8zSwUPoN+LYo2opTIxDOef1QszA/zpYYGzG7JpbZJlNZ4AitpIcdIjHZ35xOL+Ri5KBxfM4rkXy8IXyekYSSXgESqUMgVyddG2XQss3ItTdDwZZEJ1aHCylOKZkWkdWN1wdxn8kk5FBcy4ICI0HYVipqsdkvipyUG/TYaTFMaqOHee5/FF/chXSZPNn6JF+QQkRfYLzBllhzmVUiJapDGUFrUjYqKUREYFW9UP8rVj56j7KWPeNiaJl6foSEselROXzLIWLHL6HAV3d33871fvcp9U99je2mAnh4RGkvQMFbM3bV30KoxHtHvMBnNZ7epjHuaruBPFpHJE3ZNhqwkZl5eB3l520gWwcNjiom4RFeBKHJP02gIDV7iStPMUb9xa0SVXYQUwXVd3nvvPVre/jlk2RQpQY1biO3FvM7rPPHuOI9+9TLnVx3qvnfI7N8Te3eI0KG45m7y9de2UO3D3GlVU3f4MKoeZthx2P5iHaPWowRUjGprkWUR/QVR9GA1A//cpWkop4wRF+1UI5VTXfjrXMkk6U+ad/dIWAw/GubRCc/l6Vahl/IoeiFiJqWOEHurXyZ4vgbVxXAkLiuPtjv6eaLITPS7u7uEZorQT4WQJQZTYrJazG4bFJksoYyYVpACj1L8mxlRcpAkuBFE8qHFS1wYzeduD4kYtR0eTlejcCkqmTt6llId04n/BCYFY/0awHdDv+tP3vb3xbgviD+rurUcQKnPNqs5a8NeJ69uEZOTd3N48Q6c5R3sF2fYudclIdfQVDg6gtBl4buVwVLqVGlW69/KuW7OLB+2xEZQSHdyTt6guCvWFtdJF2wyOR/EHREfqAyp+wYyiCKoILYlpoe976ZF8AURuxhkMCSDGlmdu47rJ0/inex1OpXDjXS9BSRsx0E+Iw245632KyTKNIxknYQuX0qgQBut1THaalxaZVba/QrmQFZtut1dHpi/QNuAeyJxbEZ7dHVaRKNiUNs4Y72UdhYy3nyqbIdCfR+QXamvra0Ri8XQ8K+a1aWEfEHqB7ZIaxYDlcwJdu7dvA3kPlO+gif1O5qE8kUgMIZlpZDykLVMcG8P+UWgX8guptf/FCEFSchiRQGqJR6RD19uLCToEpSLf1HEf9Zh9+u7BNsm2Himlj/+E1H2hJiuDDKmPhxHBOObWKEMVfmP8ccLz/Fvi3v5oOld7rw8TGVa+AMiOBzDHqmi/7lv0XNnG/+nO5v5+nA/KYkW9ZLNl5md9ZOpipi2+mg9d1enCciwupaXD3G8Mw0ihYjrDFfakTWSr3oWFi0a8nYZHhR9ThNSPsGgCFlCqXy0tIn0OIP+GtysJkQwSCwUJm6JeDxApCyCekL44nHyHB8d4Tjjs7XERh6jJzlLaaQK9R/gi0RYW5zgMNhNxI5gDQ0Rd2zSEyEaF/rxfRzBnXHNYLwrdCGAYn1IoveciHYJ12ObLaoTbbNi483s8wwSXLuf3YXchcMAhn4kjeQg90nCF+9nxPEmkqDo94tax4t9lYpYq9h5V6jExF4ODsT7+THshQ4k8U5YzD0nyta9e9R1MVzRmLMo9aNAP0rZqCUruJPgca0YxT79uCeFLGFZtjA34Nr4idqIkG3E6jcjm4S+4nVs/xKykp/9/SqFykV7Rzt5VxPEYnfw9f1XqVYtCvgJhFop0gBvqRdVFqKhnJ2UbTG3O8KGROtEC3k1eabx6JTrIywC54R0BwF5u5KgeCmwSp2d5vz75/FP+QnqCfz2JO8Nm9V2r4zbKnudD7SHI7GT/c4vvnm32Pz62wQTcZRJopU+k8eRMylsKDeDt4sjDqAzbF6ioK7OU4ESe7cYTFUp7DkfE/f9AW7bsVbwgDbxe4ORLXGxKYjbcVocXeyOBnM6RAD5xrDtTnyndYDLhJouko0pBEYDWGELzR+ivlykSzvSY/Sq94gmI9uBb/QMLTpJ1GZpF/8ZvvL19fNEoncg2VjysxsMEvJPsDEwgoptNJndRSTwaxlHx/z/qxJ39ovGO1p5OXQ/z71o8/WfqmRqfgpZPmzbIRYTVrnQxSBX2++g7bVzbPxujPDlt7DtTuL+AEtyiSrKQJP4bztHeXjaZXv/DVK+91ny7+LIIqYcEZ4BGQEnCb9/FvuiB41uEW8Vi8dO18f/n7j/irH0OtN0wfc329uIbcJ777333mVGRmRGZkZEGnoy6Y3oPSWKomgkkqKTVNWlqq7q8lVd3aemTXVXNboxON0YgwHmcoCDuTg3c24GmBnMAebmmYv1bxcmSUlUn4sPmbH3/t3611qfe7/3mxEmd3Ps/f+kpDGJ3GEsvY7fb+FYQa/fiVEKly+KeyIyfaL9u0hBNDlJh+vSXiYG/vYy33/sl/x0W/z0Jys8Ofkk+ukREz/9KU1Nk+jiR/Q8OM078f/G6kef8vTTP0RuD2NPPMHtv29BO0PU7EQY0xT/i2x6h67j/N04P3lwioXlNjQo45WVq9A/IzDGwFCQjg6z/mbmxZTPTyRgFLYrlwP3JstOsVLwkWuSJFvooQDx+QQ7ox6SbU+4c2K+pTCHsyHxr5cMdNrvF8fHImgpX5+0KBEaFHbuvgZc1FEUAQmZe54pu4rdt8zU9DLTijKuR7g4k0Bzv2ul4PM2RYUwScAEZ3dU+u8ozUKWqKoSTz7zJNE+s4Ht7ory8jPc2N9WykVZmfjXD9TQ3BTCbOpNJnzhcRj5Emnq95+huTnL3JyBA1ZUiK0ti6RaqJAY0C3C6kBqRPqi5BqRSISDgwMCqqMsVyFcKWrTIugT+rrCJLBvC8v20Tz9Pfwy1nlLviZghpbbp/tetFaJpybfIuJ/yCw+1aLeKLHhmPFuJJ7zi0eOcscMkQsbfBupyv8/xk1FT4VfKisb2Ny8h5aWr0o+b1aWbtkeB46NKk+yxGZR3OFW/y3ul1V0ndzmcqPwtyUqnxDKVJC3Zhu8+fvPulDLnrdwg8y0/zktoSHG9DTNMvQta1qj+qUiWoSsTD6k6BmLuXpu6S6w7KURUj/7ERcv2uh7t5DThhpL34urSjIScy9VMhusoOIzm/Vfircf2qPSn6TS10JDg+XNowrKymySTQ10336Q+zK/IPbP1njiuY+IzAxQWVlBl2zuSNxvpXn4Tj9/0L7Eq9Vf8HHXMlXLuWeoIi2Dwgk3PcPV60YhX27MEO80cfeUNkmqknds0dQ3QyjWcrqRTss5/89LFBPajKPKO2jXQs92caSf4lc9UgRZIlZpQnK3U6LGJ9TTQ8XhIRVhMXipAifbjgaqUDptmgxV2CTsCpolpAyKutTGWuiSRUBRKuwq7OZmZruFlamjdtZPV2UzlyyLSFrYXY2sHW9RvTzCfY+L5VcMC4BvsQzVBzHMxj506xl27EtMtYgmOSypsaTHQ4duks17TGYvqPTmYH9zPx/6BnHqzZypUABbh3nod6RSNJaX8dFzjxKW8FsWRxUVJfPpdYnNSlE/YP4ekejuEdo1f9syVCct4QWsJ9dpHmpmVH6e0BR9myHu/af/TuGjOlUxqlGkF82mIsPJ0fPbbLa/hcxI3NoQSz9ZJZDIFcY4yPn6jN/3k29H+RuLzbzEqE62z1ujZAO1JpH9QOmxjnmJP9QstapkUmvIY7Y8KRWyGN3xocNekl+8y/LMuyiZ4sLFHXybHiWF7UerPys5LiBD0Gc2uAJkdUYi+/U+S6v7BALFMNominNDixLBfAHUFCf5+0tkQV61uJGN3Oe9l1Dn15xC9GRTaHkOa/erko3U51/iyZ1AIba6mVtkud8sosMgWtpjyrZKqJKrZAopc39bEl82Cb3+U+TzjBbbRbLQ2tfINtWvAb/F9rM2qrZ4Vw735M5hC23epR5hSgXunW+Q3quitYjw0CSITW2Lsxnk5cQ+P7j0z3ndfo+/2rhBQMssy49jGbSb6xNlcfHOOzYjjzzFPy29wPRwgP66Q16YmyQVFzFHbMyKpx8Xr9mL/HMFWbpfTC29RqKhET0u5IoqWUx57+PapXXetCzKJKLLK7zrc72ahzlyht64TDjoeb/YWDrnGfeK/z5jzGrldRnsQuv1hlDREbYcL0G8jxzRvmoYQKcmRSol46ltCd0Ri/80R2Q2jJrX0PgkKi9Hy356/UvcJyHNopYoe63yeLAMJU1AYr1M6PUVmq4mGFyNMO9soDtCr4jDiWOWGlc80jrx2gXh+h5B+0O4crmoi1xSboNu4sKFQXy5imov0X9Dpoak2bGYksUbEo/KwSdxxRV7rgGIbO+JJVsEbId1y8zx5k3RoTDSPI72DCx1xSTj13U2bXhvby+tj7XmgR0BXWBRPlQp7HkHx34NJTvQurB8Zr79d1EKPom4XHpUIDQzfD+/6Sb720m/RFlS9LxzgBsJId00m8DxWUohxJl0Dr+WHBP1rNpQyecJ07Ept2E0daCZ9fw9qkvoARFSmgm9R6t8ebTDWVKnOhYTn6GyDE6ymljbAookmPmsD/f9MgYkZFuor3TTtnpE3KsniEnYFUIV5h4WFxbo+UEad3q2cExGpYnakNAPhFGg3zAWUeULaRokFjyLRpNBdH9FESrJSLS2kpbLW6x1vMNGRQUt3j3mIKuSgfj1PyNU9V7+XXV3C19c9I8lTBFQqnQ+Rk7cV8IvVDlDg+WSrK5GKz9Dakf9nyJrH6kFKzhF/Ooh0igx6xJ2bhwfEer4kB45uOo9/cwe5PTbzJXgTDWBoQwG9ljPD65dJuS/jqpfQgdfU3njRSqSKWJWNelc/UO9+Oqi2H3B4qdf9fHhkKirWqUmPcADCtNSJ5ZS4qVd8X9eFPceiuS+ePYtEZkzczKQForFSGcqadyoptsWPtUR8Yo6nYSh/8jIoIf+pTxSui6d6uF8V0kW/53z1jKor8psnK0yCr5GJkRjic4bYjRyHV3xmapfCVPbk0EycXVZMvDRtNirEvEz0VbfUmIxr4DMRoqbe06L1p/MU9PRz4g3DlUJYVkRlPRhySKhZBFTgJ9EIlSoXt4z95eUURr332whoimqJF7VTbYc8dWPxPz7Zn3cTMrkLJauobZ+ZFssHq/yphq4qC5eVQMNakCqYSVcz39tayvxSAZy8ykYzLPkGkhqD5KFXHFw0+WR+WfRQAAdiJavxNTU71Qp5AqgRFOTWJhxGFdfKZ/N/0bSrwhlZS4/eeeAZDjkbS4W0jEqgnJ9l7KvQr9iSVR+r5K1tS9QxfyZVuTgDbHbbfPEA8ekleU1r/ewkTFUxC5akNxmP4zUxWb7MJlIgs+++ozweJhBySi//kfyx7R0icmnryI3gKFzkIGrVZqCrbmFQabXfPh/PINhjryClobQjsHH+yRuJWOEByYwseIYZ1qAQRV4mTzplri6UAjjxAd0SinccStpTWxS+f7bVDZW8ohMnwoFZFqTeovseEkM7RSUwps9ompVjN8SUW3jKMVD8TjJBYNkOUljckNC8T4aLYeMRGRPpvvcV+0eosd7hp8couYxYpawcwqtRSi2QK9c3HNrXm6c87kMZj7fDrOZ4ycH2PnyWZ55poE+bec7ZFkSFQryg0SYP47ew5fuS/zklgi8Ns3cpWZ2W+MkNURYCfYV5a8ff4f/WTP01ImVlOiyxOSAUfa2IqQX3HxYy7khopaonc8w+WEN424YX50PLQpTmFfOmR5qt349pXDjRr5Vr5QwiuB4Cc3soCtFv2sTqjHovZBfpIKmyU2hxWY1OaVwWnIUMd/tGq4JBskE/HRKPJRIcD1Zha/yCk83iXs/8/EH1Q/z+045h9EYz7TfILR2jU8sP/+iW6x8Jda/irPWK6oi67juDFevfUkwewtXxnvN5eUiERF2fUS8ZHxKg0RlUaF19u1GbsV6aFCSRjUi1TIYaaCjvb0kRDno/ZsrGt2UmGlPM75Yi66I6gax/JcOSh5hyxhaLQnjQf8OlYLF6oqFbYtqSwwExNBSaQ/V/61kVrNkleUnP3FIJGQqCL17/k1ZUc+TVhl88ZLGyKoc/5JY9ImUKyZsX8lvqyT6fEJLMu0eJVzHUPw6xUqhsxvVlbY6HJS4uf6VscJXzHPYWkRKsffZHr6w2SxtOawUUTLUNoq+0VXMZvqL08+wL3Y+8hMsv4BJAi7TaG3SZl1Bw8PcdyPD1NYWCkUwrKCvev8uY9g0Pdr0Xm+hS6byusuEG57aLyiQzyUvoVgQJ5NCi7Pota9Q14kknVNo3mNZwrYK53IkBoZEc+say3Iok9i/uMtcwGeqsadOXGdNhqDNZ3iDXna8PMBXe8gt2mB8NrIs1mdELCLjBTwjlDoBorBkMOj5z7x76xRrdQlKwAK2+f28REi9OG47jt/JV4P39/dzu7cS/7DNf9RTfHBpnItL7+HLVOEPC63arCmF9CqdijOuS2xpgZarNUwXbY62bB7SmrHwNc27j97moaeEgqLcEa9qkhErweuXxKw7QbVV7YXRdoue4Sw24W8vVY5D36fyCq28MXMstGojv1ivWGfhKTF4byd9i3W8KjHWIvr7jQHy7ShyNrgb2OE3lc7DAeqXDEzV2dvHub6L3gvydI2YDbkM717mw+R9bK6s4loO2nXw+cT1R4R/0uE13yV+FBc/fGWSTCZNqMzH4r91uFG9xvua5w+1h1bEM/NiM1vHjEa50C1erL3Gy9MTrMYayUTa+Dcb4oYq0MJzKLiN1sSkZUJ3g8tiwRXSOktyeEErPKw1fLLY3PDCkY7I9GUY+4cRFHWIy4SNrX2zvn4nSqFOYlQD/EnVIK4lQs23KbOFKs2CO92ztq+wefyOJSFjtUejor//Go5TjCxpKvntVZ1s5vHrS4M3HvfrJk0DDdj9otI24bOU6pB8qKkJbViEZkXZegA9e4j0MLameVM/9MbmfRNukVDiGEUKlNOuxLMSy7PVZjPyQjvb2yKbFUfPGUIvSfjl40u9nj82LJFsqCRj2wzcfrnk3tclftksAk83cBgtbLjR3kniw7so9TDVLUH88nOkI27Jh5W33qqQDtDtMzyaiFBSzGueJm/MV2QYGqtVTVBZClZgAKmKsrKvKCsrPo9LKQorQQnDZ309Kdclrmp0QSYUoWMWVUd9OHLCO7PQ0hNoslD38ahEuYZoauwzSkxCQZG5LgbeFqpw0MhN0xGsR2dby2dQgSghqiM+SqzcRaF68bhMeOG9tzppsB/hh8ry6ZGovL5H63A3DZl6hkYaSA43IauGVgX5pd3APZU2I2rka/0tST2BZBLDPR5kdjctZmOiRhbtiWriI0KWCIaqKeuq90Ilz5HR/fhUaqjIEmosfoZCQr1GJrZ+1zXQKHRf7v3sE5Yoq5QXYzdU3UokiF0o58t18UVbNZVdory9hbLqakMU92vK5cuXice/W/i7LfFwyzaj1RNcVC1pBXhPJifRHxZ2pckZZmUKC4Nx0Trq0Gw3EA6K6iHR5BNN7cKqSNOsAI4jqrpETbgaSxVUqx5VmxxHvggyKQLhJh6sTNN7f5QnbjzK912XP2wM8cX1HiJOLXo5Q2Z3h5m0+Osq8a+Xxewvq7l32eI9XaTda3a19HITy84Rnzf4GS5robf3ZCMhI9+tUrgurGyWqaUls5kemIWkBbO43cjHOE4Lkh85rmHO9PvQtb9A6jRuuiNyFL6BsIz19h2+3LgMfC+bdejo9xWFKyykGQzt8HdXxNYgoxReXBY9jwlfW46mOIvsF9BB2FBb2zZdEnO5YzMPYa08yKw2iaqWC/o+dXV1TE9Po/EW1F2dj1MHAmHGdRF9XgTJLBOrn4l0Vqb/rfe5I5vlQFGzdltoTrT7xEERO2lO5uaEYl+gy/fmP+uUwd1fOPm8KaGP/Kj8m133fQn/lLhWnxunPur0Fv0aJKEOTExdZGWxpAD1XQ/T0Fwcr4/i16eFd9f5LBprxGd53sTEBC2RAE3ONfKUz5eFwl0med0t7/Pc+arQfmshxHV5B8VjfHKfcIuYXPvk58acjBIICinOoj6kMlCJ33uuwny6ev4YWMqHv3Ib7IqMJbw9u8mUNYKjMD4rw9riJT6dFG99OsYP/0OIvqMZtqxBpIcxif2o927Fgfeu+xb7uFqZQvLR1Sq6q8WAX6h2AN3oZ96RhwyaKBoHP6c8ZUfnVr4W5pRHU+2NXVBB9nKV6qNCYWEFAgR8Phy7iYh/nimJGcVZ2RxAfbXoZqPJTeWUa0uL4fz/NdaaK2HbVezsLxCLOSjgGTLemLh+Q4fh347SG4/Sq4hpgWv3IL/JmVkhi92oj6QVRpZXcxGwceVj/vgYZ3kZ6WWkBqbDAfouir2UcLpNCLJTJucyXCW+97d+ZsITlAVE/9gOM6EYMzMJVle2uJL17tt1UVMU+0MfB3FhHcSJOjscSQQU4Iej+7zSeo0t/yaVShZVzF/Pw88DgVzeM0zQcgn4fYS94ka5IuSKqD9AKDCP/Baa8NPTLx5/5uxx/G6VQkhU2DbLuU0oJBMKqUyjQC+H79/HdIuDtIW6ptGnA+jyAlr26IJHZEIMVgDt2xw0BfAFR36tiXGeDMlYxZYmCMomnTni6C+m8J3spTsROtUD4LeROm/B7wTEjH2JBbV4G4dtFmPIG6ch04pvwTsublfQH+hjUmIy+CWR4SUcx8Hv99M02UTlXGWeKlkHFvIFUahI81ti9Pt9JFpj6MoVA8ubmsJxbK5enSj8rllFPET3nbh/w1U19eHnzFwsNNRxZZRXzosakYnzV9pCcxsoXszJX46Ge1BgvOTcQQn1ilBFjrvHhwlNWAYy5/3OVgUBZxV9fxb1ufl78ivA5eI4vRtCx8Z1zsMgr4rr8yEGtElU5SgoOuZEeZ0wiv+g9HmDol2G5nj4apBQwiK0L+NpeJvdvvY5nJLBpz8kJIuh7gQX/tAo2mCzTE7GEpr8hl4cocL/bYn3NUxaAeok/kQW36/4P3Hv0F/w6Qdx+v3iMGEqZS2JEfWS0D5SjFa9ZyxqxyV07SfmnEPisLwBaYoxNdOSqUBrFia34cOvE9XXk8KEXcrvfs8nxJZ4SHV0J2pMS0uZVp8hBUkkxO0eiyVNsPbxx+yuP0tDZS8f7F9nNRikWyIYEDW26IiK4V2hQ+/cTU2o8hsg4qtCt+R1nxtjWt3UV2UJbgawrH50zetjfniIgmLysnhFFewEPyVlfYqrH6ClNVT5OdpfMJ7gkxku/nQDq+wXKPrP0UUXHdYhzTAyOUl7VxfGw5lm3DrACZ7wrCJCA0ZR+nK1K4fyjrHQpEUgGCjQjkxMoNc/RYllQpaIhyw+VtCDzoq4L0isKkRoLcChLK4qF2INseetwevXH8eytpDe5J7wMAeXZnletTwrEbgkHj0Qn760zhNvpFFzCGkPu074N84e1+9WKeRPnKLU2o4hVVIhlUAD89J+8rOLaPxZlHGRmgmolP//N5FGeRb6jTbkbBCLLZY2p8lJq04lO38bSclAxTYkKvUZp/nphfwJ1LhPkwp01I3Pv0GD6pmVaA39GdbY6zSokQWtkdXTJIuJBTNNyDphlfpE/dAdgqEGnrJFMC3U3m7i4zdmqHaztKfEA60qsgT9lHYLq0W3w8zNvc7CwmDJ+VufEbbnqTT7RfWR947qdaKQK4qaapGv9fRzdwplimlP2pBMM5BcP4AXVcm2NrnheQ5GcbUZi/JQp88pITWg9AK6NIG+6KTeMkooI6OgowGVomAsb3NRhipZxHSbprTwu+Lmn/0A+6CUFts/J8qURnLQDVHbIAY33kUSU22iLReaaiuERAPnzf0iGdc4QQWpkfhQ28wndshWZ43ilqhyxTvPGuTUQ3qIX2mTuO2jMrNBXEEcuTwSeZtIRAbamU+mV3AmTPi2MN5M2DPGUqjCZ+osrEVU8bPTx2Rl0GfWPJJpH9uqNK7KaZPwzwh7VuxlRF+L+OwBl6/0Dm1tbdhWHbmK8SmJX1SIr78SLeUmn1acb4xls4TySCMhWyTSInBbJqLwsdBhCs1f9OZbq5mvZ9XIhFQgtvvWYlhFJRklf+r7NlqVLeWeksy8bLjLedv0G+4vu3wrhW3LhEoDoikpfGmhMm9dVnrvL3efrUJOFDcboa1c+DxP7ztWCg7G/Vzgt0n0WBLPSPR6/6/Ye4QxTfDbIQqKWjfOitoH6xjeHM5vYJYMr/lvfv67SRxp+fQE8q5rFf0/Z73t/GIb27LZti8SyW6z9p6bv/++ftE0Ki8sJ/TpOgrlLBYXaccsglkbyeKTkIiseNd2/OjCz7h6vMkrizapBoutYQe/htndHUKawLJNg+8ZiaxsPtva4eDCidafG8pDS/MWZ5mwFhaQyozV6BY/aw/SieK4h4XteSldEp3F7zcgtCkyyjCrReyuF1FnpzcHrMICOGfMN5ZFKNiPrKfzn61LuGMWVYNiYuSM47bXTDghK1ZfEdGI0NYWchx2n3iCraEh/BL3b4mJE3N8d8cjnusd8EAAFnI28xtApUops89KmC5ZK6ZK+qJYWJjngfJyQkHxxpYXXnIcXtm8QIvMxvtIWvTF/eij58i1cm1rFW1t549LiVgWtu1iDVjomUvInqd5M0HvuhhzxZ2vL+DKhFulBJpfNAniNeH4TcjIkY0tm5hMB8HU14YaY3XVJDUdWeyqE0XHmF5ZIXtiDJatJRJ2AkWEtW7l51KPBmhQC0vLFrdvN6NQL8PLRcSCtrhoGa/k3LWek1qhvl8HQGIhbRbW5Jb5zFEfJXnHnV8g95IpDFtXCaJtV02cD9HOrUUDpy54bCf2N1s4uToVj6n3PG6tvIRkeitUqIR14JRkhF5cRZFhYl+8yYuza6Tu20V7e9+1Uvianu+IBTVHfLYgUf90JZeVJqofEAyK1tbf5JyXzMROCN0S/o5hIn2mOnJcJlxxVvHHdyMOzUpwRzLWcZF30p/JMJA1FuWQTLJVEjd/IWxH3LhRjj3yAcnJPmOBzNu0LnZRPaqC9VOmE7mRnLW/Rbmy9Lwdwgod5Cd5d2cZPV45vrpHKVv9SyylKC/3Yzni6HiVAa1xWaKh9xbJzsew3NGSZ+oumqAH3rtKu2I7HkdyTtyTMAVOJxTLlrh12fw/JPGA3jNFShKyOlHSwe3posx5meMHXvCaphvqbIVl+lFLtMoiqB6TJ/AUxaREQBHUs2YsolyopnsBX7o+zzaak/JyUd3j3fPQFInRRux65Zual1dVURaJYJ2YJ4FAgPX1deq/eJSAxHVFkALmPt6T4cWXMIaBIS1Lq1AsKPlQ/RqqjaNnX0HRclQuhuNx/sx1iUZcnn2ow8tDFd7tRlxUut79JovffTcBKc9jc1eJN/D6zz9jbW+RjqVdpG1GJMLyEVUHlfM/xlIOKunQMjRMOB4mLPHZnPi6UXytq9zRncI5y8vo6mzAcTu5edOsuzJVIjtKzOvolvttT49I2AmcG6YwbfnyMq/U1nrfL6L0KomjbTLZIKeYEEZEebdZtyfBIO3aL6EgN8bITEZFaAABAABJREFU1Innz9CtpXOUSkGWJV5RA357nj/tCjMTDtDa4tUbzVQhd8oUYyZL13W5AqfvOS/rqKWS4Nfi2m1x0xtfA4kvmls3xU/vFW26iS7uovJyjnQaoSfJwKJzc7xeaLoXA1v3GSCEN2+r1UUeCWeVU9HdR11ZhjYrSU95OSpPfddKwfQKzd1oXGJXK+SbyAT1rYt4TouNNEi4VnS9VfoC7i5TSG8gOfRNP0z/e3Hk7KLy4Tyq4veUZUQbRQvL49r3i+i13/R+T05Ur+hqwCLoRvHlJkBVFaqtRZEI5THRZAlFxfEvYsiyicWOeOj3L+OOvI1Uj7REt2ZLUBkPKJe8dsmTtNkifEvU14v2jwsTxpYYrB5gqLLXKAXfOEo+aPISqsTSKkOqMu/M69N8708eIpxYJ6tCBfKgCkrh8mU/4fA1HImwtjDhQ3PNWlcs7AlFh9BJviGtEft42MTn4+LoaAjbtgwPvgbM8wxXI6eLvsP36Fc/4bDp5CdHXs8H0W1bhI6GDHW0Ny/e1mWSc2F0ewF1bRtmVAk1CzctQqHCQtmWqM6I9noR0izu8H/AGXyew1djeZSST2YjyChInbr51cUv+Gr2C8bHx9nf3ye+FCegAm9URML2GvAsSbyoMqQmr17DQVaEzvdjjMyUoeY/RI1J9PYbKJ5COqJTUeblmEV9lsUZPmsNWOQID/NsAVcCKHSVmKowrV0TxGIx9paEekXf31zGVxamwhEHFRbDN4+R5UfRPrS4iGSMlR9IdHV2MhSJMO6d25XIKkpINlXKGTQpBgZacd1vKGQMiuGJs+lQLvuPCF97kibv3Rzf5TydOl2I2HtJBGJ3ubaEVMWQds5QCudQtDiibkBkIqKrU4QV49p7ZfiCb1F74yVWtcB1CZUfo5/ZtM0cM57L1VXHcD+9xEOrcTR8hMKb+IJvEywXU7+YYrD9Q5MXedhPLOY379b1YcWyrGbjDGcdItkwdlIolkDK4rpBsqFQod95l1DYjxQweYOVCQyqM5A3TDIS9RpAcqiWWLZtqgcHafLmS45t4TtXCifFyYeUhIaFmn7LDdYSWhNKrWDCVN+EFLKR/EzZDrErV7H9FkZTFrjaq2SxmNOeSxHkbOU3gl33t7xfCWmZEdn0VIuurgCjukhD8X3HYmhzA30pg3bYFe71y1i2zeXLG3zxxS8JBNaRKvFpnBe1W2irKPEzBQlpFgMX9JrfJMVL/yTWN8TQ2DryOJFsiSW1kQ/lNFpoZM8rXrMwm5CH/58TKxXiJ3vXSQSvm/aOKmx0uf+bvIxLk8TLxYVrk8KqyX1fFPbJyzRXNp9D7gxSOI/LLw07mVaNLa6fNtnMzQ1TUdGDCUfl5oSF1pfR3hJyncK8GxFqu3xqjlRXi+kiRI0jU0syJDEhmzr5kEydQFRiamSEN6728JC6eEejNOl5dp0AGSeA7fV/WJGhIc5ZcWuWSF4unN9XIdy+ORYHA6ilHGkVq/sy9pDIW24/djzPxPXeV6rovk/0FlhQ3ou5m/hccafL5e9qHsXSf0K6H2tvDzdg2D7nLi0RDAdJXRXrP5Khjw/LVIF/dQVplg6FvNqGMeyVJMsbC/iWfVRK/FCbTCrKpIq9n28hw12o6an83yGJmUGhtHDcEFq9whVvPM+0jO8mRcpyZESlUGaPvK9J4kFvPWjF1IgYw+q8tqoGTFGr3Fz+gqgr5uRgbfpwvBapkosCwrLdQjLZ+hL/qp9/9+oyjd1JtDBH49ghIzPCvmJzUHlkADlXu9j7rBtnRaiiHv+V99n78TUO3k+z9sEyyf+yjJ6/iUbfp/b5Md6feIFDBUisXGZck6juh6j9FtILrKzUIGcBLT2NYr3oySdRwmt7qj6s1RtFXfaWS9bmd6oU7ikZxAEMY+Z3same9YJWmDy6QsZvnbIUTklQVI3WMjraymu/aODqNQu9XWvi4i9OoY5+NFppNuRaobWsaTj/nd3v7/OiGhiJiLIyB6mO2yXfmyRZc22EOS+51ZD7rqGWxukL1NlPY7yAFC1boumyqPpXF1A6zbQcHFVT3PBefnHfa9vUdWfRBy+hYDNSA5ZlUVM/Ty6Uoag8DP8MengOVW6STNaQTJrzzEpMPP88/mi0pMakRoW4eK3MxudXhopc1Wu98uEj1zVsjqVjUm8WV61QTRXLvjHmzqkGtiyLvoYG4hLr6qVaNQQC5RwWJ5prazFxdQs13jY045FyijuN1bvCqhUNdSrpabstkVWMXCLvzS4ZhTI+xH19v+SB2/+SxdkeyvJhuUZqHTF6M8ETiSTOV2J+ttbAd0/ceywmvvxqhdr2WazU31JzDn18WCJbdYCc0lzcUX6zqj3zuBKpEQlfgoGGpKFXuG2OHysTnZEeaqoHGPUnyL76DLX3Psjt9lqqrlbjRBz08wCqGUGDGbRUjq6K26/dRlY9K/W3+cKfwhp5EA21U/NBDVazxUzNbVZXn0JK3T25epZc2EYjQ2YO6Bb3SNSlsygYwn9dHJ0Cn5wlDWd+/pRqSHmGQDYjAsU1JF4TnrhMCNTyPqvWN8frkzJGwgWJtGpp7o5Qc/0qqi2sO39KVJ+E0d+uxaq26N6/SLx/Fem/IjXywqGIBMWbb942xsxrN9FLyncz1NA1Uk6ID98061ZdPbipMmoHs6gtxNWXqwjfcXjw1WUqrUoU7ULJFFIVtbNCVjWqGUC+ctTfj/yeITifQnPrRfdYOre+U6UgmeKNxV9ncpySnLV6+jtHTr6TVE66JR5XFab71sljAoz7LvHRw0/w4d+9zBMvbtJ4e67Q3StXPfxAAuv/9TIHXyfR22Jp7Xmaay5wOg7pbXLfYgKVyiFjettLkvkw1ryfLW9yGijgFHZ9FneiE0l8fkNYu0J7fkJf/JSJQIF/qa3VoasryIiXSPqZDMa9mEajLCrWRzdRdcZw87hCWjDPvngbOfXmt582ontNQ3h/8ioaEA0NorHR5HOu+8VPvlgicc+1c59vyicC+yKlFKuexaxZ5S02n1RCb2JCLDO4cy5241X0/W2aVmI813XGuGaFvWwz99TjqKcfqR/Vl6OJu423jXwujtWGbR0j3zrSJLNHgzjzLmt+8/5DEq6/gi1tcKflM0I/uI/35t/j1tN1Bm6aSxz6hILiqk8ExsXVxgUmbXHnSoNHNXDGPdjywmDfTlISvfJRsNhWKPUUTsttv3AuCQVEVlkWxxdpCDdwe74d2zaIq5CERsVjHz3If375Nf6P0b+gZ+6Q2cEJwpkg193rHCuMfhZHYw/TFutiUEVIMce8y4N6Yf3VGrrwp+wdCZ9PLOg60qyR+a6iHNK34Ao7Nue15OMg98zuMLJrTG1S6JzjWuRRb8hb86dzAhOaJXQinn/p0gnlIJmQzY+FxhsMNLToO9sWjmvefW7uOvKVzM/lWYuQG+a2gkgujnOVpOsweiJEXlVVxfyP5z3orJAGUVOSmTHhc10WlhqQvYjmupH/h0guDWM2E3/o0n7N4fD3/honuMPx6y+RGe/nBxNvIGUMajAgDrRWClxwxdUiQsIDHWDJwl/yXn55emx/N+gjs6h/O6K7FMrF9/1+NFTgIhrSEJ3qPHVMWA6lhUgygxZswX85TFkkRlkojGWPYXiDilo+XvEmflmIcJmNklE2Nr/k5fpmTKLodJ3EnFQSvjlTkknsjg7GJCSLVYV4Zrz4N0eEJCzVoGANGujk+nSCKW/ihh8YR1cdtPUTdG85cgeLjh1Beiu/IO4ZHSXW2YmzWYCTmvfwKlIrOhgxcezc8TsyITiJnaEqmubNmB6NL5U8Q7BTOI+Ke39qMVdVushGNZpX0EPDDv7kCHY0TrC3KCHdJlRmEtH3Fx3blBWNByPMrDs0HIdRKERtaz1tDWcUK00JKyLGbg4h30h+0isiNNLE+PhZlfD1aH+WkbBoTwltBM38CPuR5njsqI7+EfEPs2L68JjLdpiYm8BKBikLluG6rgl1ztWhUCv6/X70prh1xVSqhl2ZfEbq5HVlwqPZcUPd8PXYt5rzbW2irGwcDV5CAeMp9ChI1BvfVp3o1CaZfgWPiImwkCXshE2wy2DQ5/VnDHX6eGXdND8K+UWsLEx5MERM5UhxFjuu8yf9/8Tjs18SUQSFc7z/IhYQQ0Ol14vYMol+N0Y4KbQvkhqjQ09gWqEWG3JXzliPZ2xArlDfNuGwN28XF9Hl583mOXbOca8oTzl/vuxyMjcQDqtATpcTy8xP+R0UiJSs9a4uMTArtGu8LcnHiA7yCfxxiav+dZav/We+X/4SksXQ0Ayd050ltOmScByHQFkAWUZJ96sLuXHkH0GTc2jwTdTldUr76BFj0ExfJxCcRuFxxl/ZwFnf4/7E/Vg+i5CepRA+bSCsZ/J7gfxCT4lInRgcHCEQmGVxPIxtWRzKq2NqFUo9iC15+5MnHv39d6wUZjgFO/xtxE2i1pfv+pu4ciXhFlIaOWnzopXAVpW3mG4hWYQ1RFjD+QFMyWyeGfVg+uOePL+N1I7SNznLIslJKiX+9KKoVhCFo6ZSNRLBqq+jQ4Poxo+R7ZDpPIvAK438adRSR2dnH8byEs+pk11ZlHfMovS9Bo2jBqR5FB1HD3XmLbOj9rdYq2+hfuzxwjhIHCcfo8ZtIHX4JpY/xK1cDHpdxkOSmOxNULXhAQE6TyjcepF5VGTbbDrdgtXaI3GUbs9DbFtbbVy3HYViqHG5sEHUqMg6MrIt0Z4UlfPtyF5CnW8iicx6htRSCilJMOijMZbCmrHQjqFO7rhR2npUTgC1PUNnZ9LcU7qnBOSQE9dN09wi3A9CaDGCPl8kWl9Pfbvo6I2QURxZZXRkxCdhsXpV/FxitVWoL4MC1Wip+RSBnpp1iuBPkklMJztNnqPjLNJCkU7LKOYus/nV1IjmWKcpIgwKpcVjEp1BEY2mqL5g0bUiNlfFhxqiTwaJlmnIEK4Vjx0KTY6w92+vk3h8hj7N0lpvoVGRko2tFBV6nq+0zZzEQtrHF/de4kf/YoamNYvDwxS62WlQNK5orRGvTIpbrX60l2BEEbr1KlbS5pYr4wWlRFRR6nJhyBtCdpKgfAZQEROZQD1SzsO8QYEo0WJSjbSlg+w+KwZfFJGYWLksaruE7APU/l31XdmgpPXsueIgtRlIcq4+wlEJzXtUBZbjTolsVQ/pS2MoHeDKlStEYxcwfF+nz+9IfDgk/nD+Bs9fehTdajbXk4PCYu+pcpJJhxsdXnV453sonUK2TaeErYvcVDl6TOjRXhoy5czrEUzouai2yJXZ9OumaH3sv+G7Z4qFmae5Z/ce8rm1aqEWYctHhwqQ7UzQvLfvVCncjazKL5XSPnsb2jcTXN0dMjYsUX0hlzzeQrFttGgsrIDktT0052hTG+1FfQDWvd/saOfu19nJ1Tic/k13t3jmGbGwIMrLG7CsXmQbRNCMtwnmjtvx+qTmpPDsUaRljzbC/PaCchjsbba3rEISVha9vaKxqfg8lncuw7svy2CsZ1+2KW9pYsN6GZ982DveMZ3Kk9NdqHsMDQx450ojexZtb+evtWOJzzZ3uR7YK332LeXDQ4XnSKL5f4eSpRxSZ0pQ6GWh6pNjOkVdXYoX+tfz7q5t+7hw4R/QdgdT9hSZiyP4rRFelMNI+j7m3lzAvrGLLUPAKKsan15lU0GSyR1efdUiWd6ErB5DHS4brfpQ+AW2NYylebTjha6sk3MyRj7xnhvvbyo+uuDNb+934xIVVcrjxndkrmVZ3rlGxU6V0PtCGZHYFq/PG2u9r3cDjfiwa4Rju/Roh2fjwn7d4tG/2mF8fYONgB9duBfLncZyxE40hvPaayiTYU0XCGgXycbJzZMtYbnjWFYFsnz028/TZDWi14UaxWf7FuFNcemRN3AnnmDH6sLSU2jGwirz3t2qMJxcE+Y5HSFNU6eUoX0ftNipSyN7Bm17Y54fIz8aeB49/ji2LZ6yRKcsb7xO/laY2oCeu4+5gvy2ZH2STO+FGY8GJqyS3NORDMAi9/f+p1tszj3JhYfexmdZbOkgfw9n7Wu2JRzLwbJt6i2Ll3SJicE3qaurw7KXkZ3AksWkREYWWt9EgQDlKmdOs9iysGIWWh1HFyqQtjnZzbJw3YeRPYkskZTNwtw8KitSHju5PXM7/9lOnVD/d6wUbt9lsC1vMbRJxtK4YT5fVi6jf/Ll6JxKwjMkfcubTPPkqxBPXr9FdBbFFIurh7vuev5KpDKzsd882d3L0Ny+8kfCLhfqEYdLwn8gVtTFiAqdxRokwrqF1I6qHZQQe8pVuTpIZaQTKmp678Vou0RTrJ8rlwvKrKVSVHuIinKJWvloUxvSj4ylkOuClthCvnrU8c+QE+ZW7r4bB1GdScCmVUOhCMuHlECpnFewhlRN+tNnSI8/gAmnNZLqEdlj5WsCcnUKklDyTeR+C6VgCzWIroAHU83IJLwbhaqFU9dNe/sq0hSOxFOpOpQKE1cCX/oxrGuP0RD6OY/d/6+499mbPPXsL3kkNszPvxC1r7Rj6TYp2XSFhNUsZsvF6kIHHbaN9BqtZRv47F9haDPudq8O0iBJhalqF3LErVvn/LZdZvzT5vl6bhijJS7hT4u2XuF2mN9ekJjrEmNjQjHRnY6hP61DGRPCaUwKNys66oTdJv5GHfybFx7ge+kUdU4SNV4iUCUmlGJVNtWVouHnov/xflacYdTYaKxelSPZqMsUZ55Vi7O0G2FwKkjzsAjFuvi8421CdpA3f2+S+gf3WD8yubvTz+xDipv2lO/LeE8RIQXRzDWvs9ollJpHnYelRtWaUF8aXWymszyIwei75L3hkusEycPEzxWbfMVva6sJPXvfJZOm0+JvrCgkpDaW5DLo7R1BCU2nkJsgnX4ZR2JGERNia87VHpTKkAbpq/w5em6fgFpp0C5dHU1UNAfRc1fQ3/wcPTlI3BK+nUE0+9eoqhlfTZZbjQnmenqYHB5mWXWMaxyz55XmnQ5lkHTV3e9Td8893uc1NCU+YdUNFYr/9KNzn/U7VQolJ/fpt6hJkFEIHllaba2xxM/+bQDJZVc2MV2imMWxWKw+MVqUvDqSTE7h4ERc7cSkD4efJ25XESoP0WEb6Jrm5DWVCZsXM2ojy6CVQlaEL8q/5uj2VfpVyK88KdEWOUIaQk2uh/gplaOUi1oC3v2NIUtExoQVu0I48o4Zj1kTg671lEedRI/8TGqShGel+OX17g2ZTSwyN2eIt3K1EbXKM3je1lERydaR+TdSWIDHEpfHRHBCGKu5i8ouUfuA8kphXzmlkEb63rdYwDmZYUxXCSuMXWuj6jusde7ybLPwtY8zNXRIKnKV8uuiv6yPPv0QLTvo67e4/PkS6yHRFVH+nu1YhPKIRUAFlsmxqLB7xJ9UiL/en+dF54C6WvHWgkhpCNmdbOyJdJXLQdCPP2xc/aDCRPLeYydVitE5rBNw2RMyZOa8Iy/M4I3josRUuXiiQ/iH5W2cufu+F+1dY6wvSfjzNgKTQ1R0dvKZxM+ePuKRNuEMijUlGBroIBYUSSW5oE+QKhgv2gg6JW/si8Y/LGSF0ZjxTnLFkUEJRxFDG98lIhURescOqKi6xujiFrH4AY83PkR7v3eeQ3mW/F3ebadQ/Kjwt/MsKv8EWQk0OmruQw6X8+vCxtI4o0pQSq8iQ6T3rRBI3jtJipl9Y3zt9vcTCxYKJdNp09NlcnKS5tde8z7vRWeh3Y7Ou84go/LTLhM+jUhERu5lzzHhMVuGuqMiIrZ7zzuHHzvkI9yX+ztIU9MV0m0RrCExV+Nn5JLfUHqMjRLQTQKNTST7m0yo0ZvXV9XOg/UPMvvx7OmwpkwOqqWsjBfaXiA6EUXv1dFj/YpbitIelvH03PPzXb8TpWBLLHQrX0mXkw6JaiWQ7vDr0GBYlorCJydlEqnu7ljmfRlrpuizfGWlT6bKeXjM3FNIea59n0/s7fl4oamJV/7DX2GXxzmQwX4v3hSm6Uiuj8C6QUWEQiz98BoNLaUusCthHfgMKueEstySYR31VYyjrnuRTGjLkUEWRf/kMtsfhMyidE1YIVfV3SZTSDataZ7RM0imiUq7hFZGUDrBpY8u4Qv70OJpVNfDqmc0n7z3IdtBly+XjNOaZlgpRi7YQs48uRhxfizjFho5q27E4aT15/eL6WnT3Wpb28QURfLjykfjonhsVrzo6+TDgyf58a4oSzjYCpoNoLMd38I0ExKtBzKIqitXiN7e5+93HbYlvqdpAuplcbEbWSP4a8VKq8WofFTYS/hc777KbNxtYbW24JsZRhcNlcIr2uamoizIEP49WyVe7BRLnSqh3Q5viUemSy3wtExhkK5cyb97RwbN0jYnaj5XKVLH5yNti5ddMe04dNg2IYmQ3+9hybtJpbL8/YC4IxMudBXidMjTxuDsL5tnq1hEL/lRsMAykHtXsxJVupqfiweLn2NvvMMzD7/AwAP7XPgwjO/pX+LMeoZQfs4enHHN4ndbNMeyAfRBqMB0PDCPyiuKqprTGMbRy0h/SEk9SaeKGg99gzwgNCIcn4lIuDo7fOM4DnaeMdjmTNqcuxiynTJNfkYlDx4dZ0UL+e/7Zfa48/eiXnYjXWzdEZVJ0ekTmvFR1nHAyJ9O8FbPGE/eM8bw8CS/X37ML9XHdId48akHySXBQzLV+pZl4QTPaGZVJD75TH5zx8KSjwe0yPAlmaZOdYvnHvc7UQqWijskFaRcIqoA0hC98jF8Q3e3vDw5C+nToTomw0LfpuK4XflQVELF9MZC5VMo1Y6GqgyNtytUIxof7WYhZRZ1TaCWBwe/QP4JFBlj8QsxVy9k1ZCsbSSmFrb1Otn615AcUqohJXHnmoj/UugDFXh6aov+70mzDJz07Y86mdsz7mBbnais3KXeV46aX0e1jfnfT4yL9zoLE/+4aLGXyHYlyvZT++Kn2EF/YZEtJdCswcvPRiKo3HNB64TZaEzyMCtj0dVf/x4NoYIS75UYVt3pRRUQeuMCseo0SdVS2LQK5ywsUOMBhmRaB+YX0qaITIjhOtHgpAgqRVVVlg99AwzeHGTdKeqvXF5OoCtq4vV+4dbWsmZZ1HaKwXQtjrLU16eRKlFM/OAl8ezxImH9HkcSj4wob7hE68SgU8tgjU2n2hlXhnYlqFecSomOiGhIHdKQClL1mNjYFwPJAX41/Et+9ORVHmmWibMfitsSlyTm1cvinUW++uVX1Nb+Er+9wOMPifQVMahK/LFB9PgSi+tXWa+v41CFHhk7Mlz9R2Hhv5YmFAozlPXGyafSdqhnSpbXI6tmY64psOduTYnhZQNhLgnb1tcjDRFTjDLHrAHVvYHlE3V5aG0Fp+GmPqRXzryHQCBItiLrzbsbKOsYKpJDFRWYVaG6NDEluVJ8fJlKQAqRiLh69Zxnra87+3PdLJmjMyqw7/4mUqZxYpqjytrBf0v8KPIqL181wJqDgwMWo1G6H6hDD1l0zN1mcrIWyabu9RqqtIorUe8T1pCIBkXKNvtBMCgqhqpR2kddn4/K29WkWroZDKRx/lhoOIDsSnpv9fKZhmmQuJ2vSSpD6qZSpbBv3b6NdICSURS7xYVtm8+y9YXv62bPfc7fiVL4RrFluO3zn520PgoyJRVi4SWyfPYxCRUopRVA+eSui7FYbdNUxLJMSKXTWwDvbKGWMkzixsWXHUW9dwoeytgYdjyJ7RpMcvXBAQuBeZ7/ZJN6XcJxnsCyEoR0D6/rJ3TLa4lnq0gJNHIeOuHkMyXXrzA2Ia7HXPbdv8LRT4t+N0gO5dXa1sZAPlF8wkpfdlDKYuWSi+tTftHZu83Ym41I4osq5V1TrdR43cwWkUyFb/mhuOi6xt1PK49akk84rktdrcXspFNQ7mOiLi7atMCs41J79YBteVQEnqdj20YpTEgMXjngMeXCT37zDI0uu6O7BBSgTGUMTQ6VhFyWc8/X2Uny5gAjE0soKkKffMKfBAKsHoo3e02IsFzlrLiruNYVdM8xgf0rWPKb+7UcQzTmitpl8WRgnidnXY51ldkLI2zf+gN0+RdoeRllxglcG+HiB0KNwpHLZbdgqQckgm5OUftw3UIi2XVdfD7LjFmvKKsVj6++SnygsdCNTio1kJaFUsL1+VDQ5cpTdWjuPWRHDefV5CKmUY8POZPImkAbC+a7mIveG2K5wvME5s05N9bX2B9IerH+UinXASuaRvniOhf3ph9N56zRy0jjnMm2et4mWlbG0HAOERZDzgWz7uZUQG5ZRXPq1xBbxTUtS7/28d+JuCcYFWyh5BIaz82LeSSX5WUTCcjl3RYlMmqkGALrbIj9YibX+gP842JXZt2ua52kL3l6nQ+2o5bbjFli5LKY1iV25OOparEwI/bkmne37sceP8AeMmvv6tbG2c/k+99EKSwidZpK2vxn54eSgspZkf18I/Y592LycTYLNUYZSQmjHGbNeVZWUG8VA3/8fXy5Dk2H76An6wkoRZ/6OVYzfv8aV6+KkUiE3q4D3tDD7P3ocxS8hhuLErJMBzdJbGyITGaEiOa5VUxrPaCiMJr77Z5BQsdR+uTwtD4iev2PkXu/sZ6aheoDKGvcdJ/PV9SY+ycl5+gKbxB1Mrw3+x5hN2SKCm0xcEX0ehWo0dRIobNW5eNodQjDVVWN1I4eiRO5cgUrFDLWXURoRAQejPHUwSUa3HqO47OErwoTSrtCVhHqNMT6vENTd5SIbGwNGfDAtsmJjI157zYaw7ZthoeHkR5FuoTcYyKByDeSlRlxyPM9RaOEZEI1URmuKVs2ka0wR6kokQdj/LRsmzq9bBqpR3cZKV/E2hYjGaH6QZrlUK4EirSjrn7U1ovCYeQEsWJBImmZzdu+SPSwsEG+JvHxlRyn0jE7O4ZeIRYTly4tcnxcgw77uXxvK3PKmnPaJzytPaFoLVJFntvo6idf0Pn1h9QP3kahJbTditaqvGd2kA7Q1BZq7kYRrxeIfS9KDxZZ4w1IacKRMPbY2UzD8UgvI13PeX9HkPY5dv8BBR803m3Fb8p6bGF6httoZRdd7KWYadRSgXPn15EhfRNA5Axp1OnaknaVIIzMRt3D+WR2woATIuhHKqWJH1LewDI8QyYKUC4xYA8wPWwoaELqZELrpXtBWESLIwhuFCtojKmoRMQOYx/ZmLxeEeloQPmQly8qQooSkUi6IhTyEdV1VB5FB5u0BZsYC4jZWdH76rF5Jydh3Dd/B0ohh8wIlYcI5RarhHFzLJQay0+KWExcznkMft2FH1/IbUdHZ1Q6R1WwOsLyKiHjtMrH1LVrzNy+xO7IGb2Hh8Trb71OzPWKXC62oPIg/iM/I24b0VSKevmZ1CGXQw/T2rzOukao7FTB8r9ShhrGvEmyTV7hnQyr3DDHnO3xFCRVhGp5+uZNWmVRo27K7R+iZIWxAmtlcMgnWj3GJPzqpkwFC2ookSDuRpl++0PcUMiQpFkycNJcKCnZnT/XLUUw3kzGk0YMuqEeKcbNbMDg638o/CqnTXH00gMcpA4IHy4ifYy0TrtCVJaMg43UhSuv50JKyL6OylaR3sCyLEa6uvIY8PPEUYakGvBXR4lFY0W0E2bh2d5CrPKnKG/w6gFyx5fnximG3++F0uwK5lIVWKqnu9pFbZ3UyiauKNpvQK1ZlE6zIfF6oIe66BoxiQdTKW8+m3GKq4xoKkVUNhGVG68qKVQhbNumLFlPKuVH6qBSdZSr3Hi0Z4ZOt3E0V+i90Pkutc6g93cXyr6E0u+Sa4h0TYWkupN0+Mz5MVMaJ9e5TimhVJV3vzbqvlF6vTIzN0PN9bS8/iQ3g0PYDTuUlV+hzv8FS7F6E3pNiURCRCsCRFSH8ShMKCms8Im1XiwWJUSI3QmkGiISAddF8Tjd6kEaOuf430D2dXb/hBqV9tGQDD1HSVFpN8YLD546fkme969mpBCRUXHlRPj6qXKxe8Ewy1bJhOjiEh1WBwNdOY++ke6WMa5NGa+3JKR1rLwyD1y9yvVQjuDSRjdumJDaZXEWSutUgWOJbFHSAtYnFLM5TVL5u6hots1kb99pp0MdTEhkaoQGN5ACp9prlmC+z8N/53DzeUjbDFIZQYmVERVgnJ0iNiIWFmawlMayLCxrGMt6iiXlKCWs/LWsIoicZYmWlhaeGR1hZmmJoYsXeVWmfZ8luyRxNTIiKh8QK/41wts5NMYZVq0jtClkbaET5zhLLj6ifEL85xcslm3xx1viaqSCtdUfUVUlhoeF+lRKLGgZBFWVdviRI9Je+Gx+bo7y8n0+2bxFxEvCORKbnToT2WGnhCYd1LZV+L6mFg2+gjSOpQbzjmwh6zMzKR+rwhq1sCwbbdtY1ok2nR5ev0vGuluQzBwIWmi9gEnvlAdXPuNYx3Z4anOLYR2yoreofXSIyeFJtoo47y/IWFWvSzw0cpGdv/MMju1tc79PCnWLMY1RVVnF8mumyvXLC3ewrf8VNbaYzWEld22HPKf+lGh8rZ5/HBziSYn37ruI/fIGm9E/Ihp9kL9b/Ec+vfhfmVwd549GX+T9wXrs1y22bjzBlcwIG//wOj9/sIIVrRBUECmJFmZLNqhtWRhqiwhJFTrwleRlloQiufzM9/PPnh+rd0VXte2hkDz5TAVjyxJ60jIh09z366InLB4rF/aCxU5zC6G3+ljftlClhTXukGMYmFsQw/c08rxewjc0hQZr0JTo2uz0INF3n9858WmVFxSgoS2FXpr71sd9azm1j2yzJqsQc7dF26Zo3xSyJ0o3S29MT/eRN4nkZhlGg6RlGIP9J66Vqz859962lDcqLcuPVVxb0SbUocKeOWSV7hmWdeL5rJLrftkor83sWWNyYn/Kyuu2VzwHDW/Zd64UKivF+pfKT/ikTNON05q7HZOkaj7xeRrlSNXyD5DFhF6OCUg0qgwlfdgVIl0tIvEItapFSuO41ZSXF9zTg0px9MQtHt4T/ywhBvQYWjtAnaY1Y6czRVYX+bnEy+NhmpYSWKkUkuGwNxC+IBfUQNo7ZyIhAnXiYZ3RTetQpZWuGXHDKzz5psk8Vi+qvHHKZkKkVE9VRjhKktLD9AdixBMnILddXRz9ZIw1n6i//TwZy6Uzc0xK4gmJkEI8+eQHBIMhbnsTPiOhQDtqskow91W+StaTGyicKcTwc++uQgyOd9Agi/aedo4/yuC6dahjBL/8HOrITLRGUTZQRk13lgfaRP3tDoMMii4S+saagADSAh0dYfrevc7x7wfRO7fYt/YZzLYR8Qs1i44OmbzQbKuxuEvOUYsyI6irHWkRZQdoVCPVYZEtE2oRox1RBlpqcHwiqyUstdGR9OFWtzGftqlSB7WyCptFv1mwae991/uE1SoybgbXcWhJtVCrVux0nOZEjPp4CJWJjHbIOPNYLeJ5v+GGsmUzM9DMTuPrnuJ9EylIVq8hXWVETp6o7V3dMt5Eyzy6/QueT62SdkQg4NLU5HkbOSTUi0J/oRPhkSaUni14trZMgVoxJNYvVg4LlOgZybtm8cbjjcO2SGa85ldxMy+ulotHZ9Lk8fLn1XAUiaU0aVUj3yAauoMCRZXfDcrnQHKUEl26G2z820iGtK5jFVn/4YyIZISU5CyupsyZ58kiJSmzhHtTZNSNpTbUUbiOAmWFcOxZkukr2vPaKenEGDbv5vw98+6SDakkLO/KgFBupoT1lUpYdWsUYfUEEV5G3+O7VwrnYnxzknMxLUzD8CDfxm08Kjo+Ui76tyy0eIhumsXanUryqDqRdtD1PWQPmAX3SYgbPeLpjLgQDJLwW4RykLNRMfG1mD4UtiaMCx4WoVw+IjbJXmKPsBXG5Dw8EipFmPVfo85xuKRLRBNlyOeyvh4knT42WryEzMuH9Ht8M8W3uBA2GGPzd4xcFec9T0TwXQ4xWV+OZkotMrdD+IZzf4c9PhMzzr3yejhcGUV+c/2ggvhDFm54nMCAhX0Gztnn85FI+lEySGO0m8XAIldeuMLa7gR9spnVBGUhExt1Zq8R80c50AFPSGy+KCqvVdI+28DwuDCQ4bOe18KvEI5dTfC+bayfTaGej1jVr7g02cboqIEEl+CwQ0KDYnJSyHXx3xzFX2cTCBS7+p2obgu1LWDoTVp5U71MSTT4hYbF1mQZHUMdXpP4CSSLiQrhbxrlUA6tmiy1truLFuikOGwS0gWMx9pnYtJnoIG6ZJBVub/3QmY+TaxGUX+vR+o3RoH+wYgtEVwXE/UilLDQiHmfo6GL3LZihMMWAwNBwhl5m7efwyKun28Kw1lREdwNoKPCdUsa1QRCBpZ9Rs+SClc0BYrmuC00XkdCPXylnXyx5l0lEEBX/hKFN9nu76MsPHHm7ya+zbnOkIu5eX8XCfXKeNynvjuRSwgEjAEiIV83cguUGSFtIP2wyOKuR5EqY0TIJIgLiCAH6RpKfI12TII5GBzl8mWXChXAE9eumUTwK0eGt+o0j9xVcqCZkPxYGsG2O9lLHpKyz6LROfHu8/MjxVks1mF910rhLC6YvPiR9u5+060yru2wDELB+9wvGa6bmX+JrFoTD2v355kybRm4WVejQ1erw6i8xbK4h6uAoXXe2sKainOlx+sDYAuFXLQ4TUbzrDg2+ps5fvK86c2r98X83/kJ5jelHaQ0AVnMPvQ49uAgc66fnncGqe3owDe+ipWsNotlt/i5+tDsu/l2eneT7LX50s3Ik6PjX+KGL5vYbn/pd+2OGFzwFvD8NW/CnOCE9wt1iflMOTvOy0xfidElEyPNnoD5Tdg2n773Hn/w10c4H+9gP3WETz78/gAJiWFrjO8fP8z/8nwTV1xRd+PvmJ6axi8/QXkb+bnuc5QhjZgKX4V4VrvUV9nsfHKFWOWDyAkbOg7ZGGU6VYAc14vZRvOu52VQadOjYmIiw8rKiV4D14QhRTMLfEcm3joj8+5TEj2aoFlBaufEkD1E/PoF1CO6Jo2VOK7xQpx8QIVQjyv8tjAKIYHCDv3TMtajDMpkzrsPp1Y4RWE+/64fK2x5c2kYQ/VdxBU2IRQ08eh1v9B1sb8fwufbRRLjO36SMctcV1tck7xxehq/Xsyf54pUxJVfKrUSfRI7/jnkr/bmyzRXVYztv4ymfahWXqWumIsKa8RbV7Mn5nijsOotLshH5byMQvmmwlV/GF218ensmoLfRnwaxzo3x2Hm0EGuUdOp70/0Op+bQ9XVZpyH980e5X13eUb4nJyX4Rm5c3NeqGauFCIqIfnR/AoKFKIGfr+5H1/R35IhMTzZUa6wjwqpjl1NEZJLqinL9v/zE6yGs9kciiUkg2jSOczSh/pdo48SMkmfos/Oo8KwJKpTMi5OjZloOq5DPi9cYluoYQifur0+rx0o/Cm6ZgZp3BJjvUNkkn15CmlbNtWqoqrqTTY2bhKTCp2KJJO8qW9AFY3oooX+rJGGMm+SRl6lbiDXIKYmf0yguprxykoUDlMnkVWChKKGarmu6Nw18vhhhGb0rZp1R9RU5LbeJutNlurqTSzrmnH7s8JAA4vI6xq88zeZySLdxieRvXcb1W4h/SHK+GmKhMiTg9UIZTLU7G+ggxX0s5+h73+fOstifHCQwUwZVZUZ3lULP1aAB3VI8PZtqvdqGVweZ6+8nBqJN2dnWVOxN1eQcpUTUhlVlVXUO+9yK/UDai8+xkPqwNFkvpbFrRQ33CFKK0xz7QlnqdA9uMkGGnuqsSyLJpmE8umN7wZaqUTtQdRnozozd7LyECDehhCWqFAd5XJJNNZQbVUT6O9EFSJbb3ITtao1xT+S8QJyKJMyESgT2ewoXV1h4inRW6t8gr9eBfoUJeSRM5bKrVudWFY1JllrqBnaJa7WCblGaZl+4Y9yZFdTWfU5YTXxtHLJxMJ81KGDggX8+YByydAT4vejigyJW7n2mvJ6C9jk+hLkxikRETpYpL6ugdVlUyU829yEXVtBTUcHraMTXL/+A27X3OGyXOJlNwpKs/E2qhdlznmbWm5DsvGrgkx267djPsjtBSUeaS3n0e+fJ1X6Zjr88XHTde2CJdK3hNNzTOVXPvSGcNXMse4x9CISOkGpXnlZuHEVff9bSCqFiiq2/bU1ZN95wJA3lvy2iMXglASR0h6EufS7361SOCm2Tm+Ojo1jWbgSS45QqhytGby+o23krOHWy8DuFCGmFSYdC9dv4RzeZOJH+zz9o8vMz4uLHrRsQfNkLme4Ij/rWiCjcuY1SrPOKF4ZHsVpajYJzQ0HQ/vrcv3yKvb7DioTrlYxScAygktLzLmFUFBfXxttbQ0YrHQpD4mTCwusqBDXvWsb0Zw7b7qUvSFTuPfp+jIBpzTuua+ChRXWIdu6hC5XIb2EFCImMTkulKzFURdy/KjKhz5w6Ll5iZdX9rDHJ1h79jrqEbbj4LMv4/g3ONiP85d3xPs/HOGWDnlCIma7+CyzEXeom/9r5DU+2nTQ6lfIW1BW/rktwrL5Ow2w80Qvr770Bjuh5yhuihJUUaeuGXktCIvOE3SZ2JukQQ1MO4tEdMnUC3gwzh2dR9E+RM1Ihon/dxi990+opYUJmVDai7ljnMI4J7XGiixj3dk2ptdF7alnykuPKF+u4K0X3+J//z/N0Haxl3HJyzeZ867eZQ3Y/rMTkRlZjDgnvclanEAXffMONU5RiGnvc2S7ND3XxNiIoSuwrIKVeZZk0mWsjJ2gNlgrnU+TEgOWRbdj4/c7OHYDgcASl96+zJ+8cj+b62/y5b++l8VHn8H1PYu7Vovk0KNLvOyNl7y1cY+MN1d8vVmJCglpAVt+ypVmaup9FEt78+bsez/v8/NkRxtehfxZ41zw5IplQTrDss9JDdIEY7ZoK3p3IcVYKiKUK+xpxWvZyAcSj/yaz3GWRCQ2h0axsmlsWwwMiOGWVaY1iXVOA6cSuShPCaeRho3n11T6m/9+SqFPBm5VlPEOKEDP0hPcuFhjQhzXhZod9LpB9FyPRPBdvsyNe4UdTrBdc4GNxg2s58Txl+1cW/slyYo0qcp4Sex5UGGScYeYCoibc7uzBRe54buBY9scHz2L9DaSj/cXh5iLvYWsJMdDoqszQjjsmFBCHk/cSyDQRMBfgToiDEVKJ8IlXSKuDqRK2mTwxroqL5btSaXy8eiyshs0NAjjwj5GRF3YChE7jCF3r+Tc8UFhvIUZLCWIKobiLoWY6CAdHWK2Mc21jmP8V/4TangNHYtgMk694uy1WzRGV9kf7uDxD7/Hm2NNOLtRHqmzSSbF8JDYbxQ9+6P8w2Mv82HrGt+TTaXupcLOEItZLA/FadUgD2iUjoiwOsSxOrE0SoVEKCXCk1PU7AfZ2BgqYcc9Ffc9Emu22TiC8Vvc+pt38ZVXot1dlCgtmsq927Peqc8nQrVC92aR30+njNVaKa+A78bjmGTfMI66zNxob0fjizTqJmWelTkgo0xOL/paopFfMZf5ffoDY6woR3x4gO4StpBfjH3oJcpPfV/L/v6iV/cS9t5tmmu+Dvy9V7hxowhK6tXWdKY6WQqawq3KSvHZZwYEcda1q26IyxImsXmaH6xKolOdzM9vct999/Ef/+ObTE+/ztLaHrEnH6Im5DAWjRIvSn7e0A1sWUwoRkaivb2d6M/vYDZM4YupqDgvQFjd+cr1CYk2OVzoeoiy0FOkJV5XCyra2CIyeZm79Wg+S25qguQ578HR3TyY88QlpBD/eayWvo5C3L5s4Ihf2eUGZl0sm0JdxyWRg5s6m+Xh1xVbMaLaY3CwjA9vNxEPGmNgu1OkzsgPnpJv7F39u1YKtlDcaOBIdwLdH8WdbyJ244/Q4iz+oU/pVG9pwics1Gqw1yG7nMjuJd668BUrX62w9uYay/XLqD2XqDaNQWpq7mNl5VZ+QrVonci34lDPycdISRR4hmSoE0sWyfl+dGUShQOoT7S1xQiFHFOIllcKnQwPN7DYleb4yS36GjOEFOIgcmC08Z4IxTcJHl+h2T5HMWWVp+BIDt+k7khINdzUIhfVTrlC2Ep6Ya/XuHJlnvCijHJRG9IEtpJUK0rW14EaLqCPhymf/Vc888wOk3WdqGaHSKSPCb+4Ek/ws5EIF7+u5Ovv7VIXWWCnv5b+nTrcbJZoNEZ/f5Cv/6yCF168xM4romnnLboHukholYV4DY7jcOPoiJTrcvPPb3LPfC89GiQZFrHWnBKOcEWfIdWjnk6qdhIsL9+tmluFxZUU145F4FItKjuJTjOS0GmlYOs0GqxMBupqkmumuM7Mk0ZGVFQA1S40YRZuRqJGcWzZpJLi5hdCz8vAaK8mKUtWUkrTvMp5RIzG6zPzMqNcmC2NdrZPIIV85MjmHIWIqY1AIEU4XlOoOM+NkyN241F0s+CxntqYPAkciGteUti2bY6PnyEfQrwplEgwZtmsp8W/336GztkhGg4a6OrqKrov0xCqTRZK3sQ6FImMkMqwtMdNxelLikcHm2mdL7LQo6LsWXErkcQgy87oL9FpxtYvmb1AKQwQJUlYxcCLby9xjWOfoxRu3jz57jw50Pnd3mTyRc+qlc6i0F2mR2zZJ0LSOZkSumwxpwSNRfP6132W82RsLMOvXuomkPNcntlBdSlvvhUZUCGVGqE5qakxRbwlnxsW6O9UKfSptCWkrghtionqau7v//doeIG2pjFeXFtGZRayTiNykpvi+dkZhl98kb7h/8L41mVGL7uMuhbqFhuNuT4De+RwutbtAazxZwvnmbBLmmN8s2SRFlBbKxef+Xc4ToC9vU1kb1Kw/JaQyswgP6f8Rm5ZJsm4atuYIq8eUzVaI2SLLlm025c4k3zrpFg2CvrQ009jP/hQHsYaWbvIuuMgOaZRvCVkJZm2pkk80kDoxRd488UZHhscRW9No4SFZTvMzjqUHT1CQC/y4tg679aI2fV1+mPjdPk6mXZsBizx4kqATf8zZDIrzM4/j7XxFO7lLmyfjWzhU5AVrZBWin986x95sP5B4rbNhizkOFi2ULe4VL/Bsgoxa7sEcdWL1IqmRF3ybCrmXXkhiEsqND0/B5ywJRWxuxqJKNc/w0iXuvh71WPJxMVNEr/wHiydwPl7C6xC4m2tEVWUuMSaKy8kEED2FpcumXzVYzLNcGxZVMvg2E/fawTJ9MPdVJFhcKKaOasqhr24eH1cvDFjmD0HBs5a0GLq7TnK7UJi8dJ5c8o2Y1qmMiY1aeaPhEaMdzH4402sspAhkrNtE0bLbTTZCjQ8guSY2POs0Fc2wUiAzc0l792Y+htrV9gLMlQoKyt56upV2yap3bvMeW89tQvT/rYSo4h2zj/mG+RdrVFxTvjIzKsz4OH23c/pk3ip65DGhiVzzxviqlZZOwdVWNcgunuDWF6tixydqtH6baR2tIa3/+WYV0EvZM8hK4nZr4ooLHpUkhwvSAZZ4yc+M3PjO1UKiXtK4XD+Sj8N1jSPPPIsQ4l2ZlVJr+KkdlXYtKvF3kwDf13/C5Y+eZC+RdGRTuPr7KQ53oYti4flbTSxNJWRt8mVeTtOM1NNNj/9eYCGa2VU5n734ibqPJ/wqUSyQhUzqHYbJSOop9VDD7zkDZJnqdbJaNz7vJcbLD2PVSdu9YbROXG9Wn2LmGKzTEHXm22o2btuUrT0CKtGDN5ooPK1exlvn+G9537FfRf/mqqWBtRZjpamGZyspMpfQ/rTCd5uaeFv7tvllfo/xda9ZFVJZKCV6mmLVd8j7H11jb/490/x3i9a6TyapfLofkyJfwpV5LysNVpVjS2bvksVjIyJzA/S1L5aR0wxruhL8k2/WzKo+rQlGIlEePLjJ4mWeZDJlAj7zrGuisSR4a1/6aU5NjbWT4/T7DXuGqqRiCtOs8LUyyRQvwmmaOLA39QLooJcq8dWFSzZoM6oWSmShlavIC0jr7biAiau24xkk1JBUbpugHS6lOStYDGnUGcZ5ZlcDPyce14TzdW5+HkWn9KkinNeZWIq1UrXgBi3PYVZV0cyMESVxmhcFF1DbdzoOUQ6LvSJqMxtHrk2qBZSC/4WUW8JqRVln6LCvknMg5uXa4nyluXzwRYRoViun8K3WLPfIBn9enmIZhXAAUEZBJkxOHwUJ4zjLcdEqpepl+ipFE5ymuwLZzOVhsMqCbU1qKEAXPgOJDoa5ck7lYVQ2GP3opqq/Hy66x5ji7ACVJ+kK/fkO1UKkrngzsEO8U/ihHtDTOsWUSfJjE/41YKtPvz2T+m89gkDGkBdYvfe0jirZVkcX/+A2Ssf4Pgi+YcM+toKDefl4Pf/lJtjYS4FH2BEfjokaoNiZXSF7KOFjkS2zkgiNcsUybQItU2jPuHWiHiHmRh1deKDaZewDIZ6YyBAeSaOHnLRj4WtQ+69epX7ymLcca6xPWAT/b8E8U2dHuRrMvHpxLd84T4JRy8RCl3gnd/r5D/cGGDtfzfPo69W03HvGFoJEHFDBBREwSN085jZvvt49GIbXU4vjYeHtNTWEAgIX+cN7lvycU2ie2eax27Z1AevU7vSjkaGCMpYy0HJeD/LASQrn8T9zPu3pUXsV8hUXBcXP+WqZZuaUFVV4fOw0CXR/973ePwXXRwEZaCi1hrnNUKSJbQtlDVjMC4he9p4Zyegs3t+Ebx8xjlOSlC8FAjQcEbXPHkegD8gr17Dj6kbOP9cJmSXZUdiWkF6z6BDOCnzEtXTxpoPN+lETcMEkkO5CqGsVHmE39saJHvd5AH8MhuVuecWNNeY32D35SOgkxafjKVu55AnLUgVBBTAksXBgaGi/xc/XqHjfiGNkFIb6wMDLI4kOR5yGZUoLze9imPenIxLDLcGWZ4TH3wgXqw3YxbUx4SnrjFk2wSvrxCUaFM32es1SHHqVE/vdAM7oTN4vwLyut3FCHhwUL8CXPlWvFcnZFrfnm77HIlL3NYWEZVhEDoj2HXCPy2CV5vQfBUTlti8HiQVmODSqFOYSwfnn3dE0wTvyqf068lQeoj7O+4vfDYQQFE7P5/OOqZVYnTC3Gu3qnisiPa7WL5TpTB7v1CfmN7009Vj8czNad6x+/lXDUlTcCSRkc2qYjjBGFGZyac9lZbey6Y/+F8YCsyjrlmUGsBVN88PDFLTcT+SjWbuwWDFha6/grSA1ICu1uFfG8U+LrS+rFCCJfWWPnyzimoh4kj3sqoIf3sg9lxh22nWZ26z6LnBfmsT69pPUXAIBUSNqvns4E0yc32s3n+bkG3z2nvXGJk8PcgBGWx44htedCYjbt0/zvScjxa9yNbWDnV1LlG/D3/Mz0KFw3Sny/3DN/jHe59h095E16rRcQC/T+zvivu7He5vPObf9tbwZxtivaOX2Q9GCXp46KBtMzU9hST6+8TDCaMQ9iRkJ5H/JSTTN8LpFcHkN0zQ4MnPBpGi5vM5MR++h/mQoWxWMEquWCz/+5miYxPeXCh25S/LFIcVx0UzItrhMhWYZFulBWJGZgr//1T4tzawyssxsMWiBTMo1DHN2rrFpccr8ftbGB/3jh/V6RjzvlCgjRllmZZNou4qbv0BvXLOjekHJaa7TWe+gKNT1AI5KVEKlvhvftEaPBkis2noe4Ta7ge9MawgcAa9REhiZHERVRZ5EHGx2b9JmZIEloQcsbr+M5yQw+TkHJYc/BKO047rFgpKAxL/UWJK03wsi8+c60z5RDQmam0z9t9rCFBbazb868Hr7Ev0aYL2iknuvfefCIersOJxAjtnhIQ2hZIiqg0u5Ps5XyLwm2ygPn1jGOjbib9kjtbZYtEnLncI1YmXZNEQvMbHOpHLKZqjlZXGkMr9besCU0UFhr+tOGkbX2ex57FBvvPceceoQFFvyz7Xc/lOlULrQRWKN1Dv/AWVTyaZHmum0aqlNRRGHRX5OKotm5u6iU9iqLyMwN8OoPo9dCTqVUlaNmr5Y4OyqJTXwaqKVEwkIy1IFrf6Z/NVprdzFmqsHEXLUKoWvf9h4QUpxHouQXTDLIhQSDycvOYVKAWR3icZqSLbJjosEVCUlsZJ2l2XKr+M0vJFOHroDuvH69Rrg2z2WRyngpaWTzjpsp2sx3hgUzRVnv/CJMO4OjnTRKrNpaWhCqUtIq2rjNQs8tWXX7K4WUvzdZsZjbPfmiFrpXmxsoV4xff4j8u/4NruL5mpWmU6Nc5iJsmljMG150M1t2/jsy3enD5A6qOmRoWYpDdOX6m6MNGr5aG6zAZ014k67o2RhpBixnJqFD0Bsd0t9tpExBdAJ8IiZ9E4n/V9v4rw99kQdkc3TWrlA53ut1Gl7+OXOFoz1dUZ5YqDjGtdJZMLqqwUqpxFsmgJV+GmWmlsFFILVoOozOPnU5hEaQVSFS2KUy/hrxdqENUSYVWV3EPaW4DljnhuwBtHW6fgfznplLiR+9snHuk0dBolv8vYlI9NU9Zn1kCrYkznwzgF8cnkUJpVVaiZCIr0YBrfUJK3n2zj0E7x/e//GDvo0vTalGndmc5QqVs8GxEbX4jZ+tusyoRXpBbSaa84URVIFmE1U+8e8tprlYzX1WIpm/cWL0vMJBuYuu9/wl/RgaJRVF7ObY/Rd2pKtOf5tyq9d2NhFPfZFuy3l8ucFcad0QwtxcWCd5UeihlELctit7eCzoSZbwGJ148cAr7T4y+Z0FGmiFbCumzRHP91wC93l2C0kWRl8TilMeGuCu7ab96WV+sU4Dwl8p0qBW1sYLnl+NxJHPm47FimarZK6OklUzLuXdi2hM9yGBkZpvLmJtLD2BLXtM6UZaGHHkKdnaU33NmPmrxexXUbqNtiTKJ2w0ustAk1X2Ju3CZdnGjOOCZJVrxxVFn099lYGqbCeY4FraKmMcKP9fC8I6otB4XF0Os2j36/HH1vESUaKC4aW1hZIHS9NK5tyySzLBUnS7+tOMjv5+bODl/92TEL00s03VnnyU7h2D4cu5Z9+y1+2B/i/9ac4B+t17i+/iLBlU6+54pKR8gVzkWHhrh4a1rUy6L7glUoEHJUKKr7tvckH7leD7at0ipUS2wFROhCPyofRYv/geI4bHZAPP/n4vmQaIzLuPgnrnFe0dCpOoFdMW+LipoJtl/9FwSDZ9OQb2gfn8Rul8VG/VdMy2K4pYW+vj40ITaq93Acl9XVi2h93eSQFhbQrb/F5Kv22NoU+1FhlP04DQ3lDA9vMaI9Ay20hb0ndMn7TeO28S7yG5BIWBZu5BKaL3gn3yrWnUhiv7B8Cq3iLPrZjXyBZEJSD51xbKeKKaVzCUcLyWJmZoZ4bIDPNh4j4IzjKIMURs5nlCfbWJ15hXXZrMomYNlU7V9mylU+QTo5afodm7ngIqXxOxP86uUNftryx9ha4umtbYa9d5ft7GT2//O/orl51NrK7Ogo1RWpE/dsefdpGcROzTk8/yc3trv+5qyYuvNrHH9aXNflhfXnaFEzss17vHj9Ku7FVeNln7x+szfXtwrXt7X6a1/3tESQNhipqeGh8e+Tz6vZUxjU0SeczLWVzLmATIdIpSnu51As36lSqNNFjv52ka/+zT6PdvwNLz+7zj3O2e3penrEB0OHuHK5qVH8inNdGxTizf1Fv/coZy9cRQvPI4l+tSONE9bJrmMJohJuuXDrDEqlPvkBLSdRHAtN6OLDTAyu88MbM8QUQ9km/I1NPL4jXu67if8zP/e2XMdf4XBuz4eEcdd3JMLq51pIrFwRjRJ7r4j2TCXZ/uy3qmju101kWYQSCbJJl2HF6O/OcjjUjrv0M27ONPHAXBVtIYvqgKhWDEcOfTKUFfU3Rb/lcjvxHI4yXJPIqB0lxvPX75KxIrO565artBL7lNzM/386K375tPifQ2K7z1tcDSK+IOxEiIF4Bg0vlC5An+mj7NdpdE6DTL/blXOuPS0xEI3S0tqK+vpQoo89WdQ3+Yi/cA+WP1QyT0ZlKoHjWsCSWNMYHZpAlkXN2BitoZDJh/gWMJtRIv/uItV+9Ho18ieYrU4yvC8GbaH+Y2TZ+P0iPmZxxY1TIWFfFsd/II9qZRU99+KJEKjo7u7mg6HF/Pz3S1w/d5zj5BLGtbUOzz03zCkenldcEhlTBxCV8gSNxRLUWUV9E6gozJR4T8jvNZf3h9H1n1GZvs317ThSJxGNckUL+JL9Bi11ovbBJ5MU74yJJ9od/s3XR1w4/grL8rF280PC3rvrcJNEq/4H5FTn7/nZm8bz6Cm5v24kr5HSfTJcU+dVOdflNrW7yR6nPYWrSAETeVi7y7ERnYnW8YfEvX8QIpD2Y22LGymRmE+g8rPgwJuk+jLULCkfzXB6xNHoN933txEDcc5kfHR3P0GNooYifqvdmy+znMwpHKtgXPXKUxJnodo8+U6VQr0usTy7bAa1sgFVNmI0m3sKBzykXMXjEnrmAv6wy7XglyiwYhasf6AQr77puUnV1eiZNWSbJGQoJAN7lUmGlcUnMDj0XW58KtxrZsE3xAbzPY3zsiSsW9NUzCXJ9DRif/5HHHd+H/8rVXSfx8ceEFaFqFSYe19+A/3xlww//CAjTz7JxYsXKdcgoXgSWXETpuoWVYEqKgYqkLVPjp4gJNPnuSRhq0J4ZGJCfPRllo7tzxk47kSqNr91xZWYiBQpmIDE+HXTnzahG3RL+FWNcgSBEsZyuEK1DHNqo3KVpTpbKQSylAUCxFTIg0xognvVxqVOcSkkqheEkmZjeuAozn33WXwQDmO9NYKeLZ2U5p7EgMpR9FfIMSGGRk/MJD7k6ChO3BZORlhlIn4g7ty5Q2v7OBr4EGMcWCYE84i8fgQ5jvoAYwpySSKuQSwdUzH/DJmvbyDbJjM4T40sDHKo4HaH5HBRMSLpBFadCbXNy9Q2DOQWjzfevj6x45r4/82kQ9PjdziK38GRa+gsGkrHMRAIEAx+cyJaErVKsOgphWiDGH2rnVzdgiSqVcPyq8soI5JKclEXS453JSp3hZ3fwFeQqrhfB4RVTo4zp1sBftyfxc1by67ZSFpa0Na28c5HR5nX2W1wc0qhRyLeWU3bYytc+iTLxQc+wbJ9LNz4FTlLtVZR9nYvomQQ21ujkzIovL6STe44v94SCRnus8e97y2ZotffeBP9NSWi0m54OXHE2JboKOrRcb0vgs++fOZ50jrR7nTKQZOH39l9jg60cufWBrUKklYIRd9ATh2GKuZ89FGfvNzC4PkFvd+pUig9eSemgcMsUvYUvUNHbmIM2+g9C3cizNrh/wMtLiNZqHXNI38bQM7fIBl+mIYyoSnRpDomlrtYGBfpSvHGorhx1Iv0KpIP1ycUCqAnnkD3lhYWjWiEPj3HyIf/ljcfX+S5n44h/5pZ3GfQUCTWxKQl9Ki48D+KH248Qr07jnZ92AmXjXKXydkZhnWNwQtXkX+PdEWakeFhpFZMvHQJrWW96/dSn6kuJLojQrNizbuebZvYreX4WPPuZ3haZCqFs62Ccp20aImv0e/9Zr/IQohLTJVMDseEtO4y0Q7XxIRsVjtf5lddXVxQoZ+1LRtbFpY1zUMP9XPnrTacHfGkxLSzjeuEjEX81mvo0UaWlfMQ15l3xOCK8Qy0uG64W7zz7h+n0cg4at3AafuceblknhWBEbHjiC3HweD8y4jIgw7mejqU3H87YfUwp2G0foOwQvzT0D7Pv+IwY9scPPgl6gwjbZHVPkOaRwqxeqUBe+bvWdO/4PLSEj9xXdbW15DmkMJEtcozsilfr2Fp6Tn8vnXW1tf40ZaPx+77CufSZeS4rN+zXlSEuYZl2Tz22OP09PR8q0VuZYU9ZP6fLBOvviH6koVQkLVuYRfRYNgnFn6nyvk3zmgR1Nd8vyuHoIaQmtC0sGLt+PQ/onwow4d0kcT+PpOu69UpWGdTfJyUTAZnfIqfHbzK1s7rSPPsb/17pGHUK7LV4rX5GaIDUWItpoakQWexnzqGYM8V+1/dQr5+AzjIfX9yTc7Po9Bd4MizKmE4MOtqCclf6iVEImj2HOh6o/LKYd2by6sn1o+jEN+6FeiGUPRsVNBvpBSsUe7YdzBG0RhafgOVnd0qNR43OZzizypkQpySTDjZEqYAs+e7VQq3MzO0xFpR3VPoVAKmAcnhtkxl5c2bXlgitcLtYC2W36Lqzj0oMopk0aTcyypHegcdi/j75ZT7stTeV4u+N4xd9SsqU34CITFUIXxuGfJPsjlRx4sftqLPP0dDQ6g1TKPEfd69HCnFB+qhrLILldslE8jnivp60dccoUp1jI7/MV3/+f/AXzu/IP1SmqpaYVV3I9VTr0pcjVLt6yY7lGG8e4CP4/UEX/icQOBHpFIpjFU6zWb1JpUtuURTkmaFMW5u0li8FaK9v59s1ozbw2qiRmI9IYbLRapSRYytQrqFMlaBMPCE+JTjhC8lC6uzLHzDwyiZpLpaTAbNxh7MiK87TEih2lu8DVVVqCdEwLb59KkG3h0R1qUs7ZNldMbjWKpCkTCqEOMTorNT7FY8yLNv/Jw6eV5Acw0zlni2yqP5KJaKCvTEGJcP36Ux1kcyVniWoEyopdrbnJrKyri3Ikt1XR231U/Dtas4oUZ0u3iRioqVFLcn3iFoi+cahW41kXVs+v/6D0mtLiFdJSiRVgWNIxNU3/qYnb99icHsODVVVVRbFtWvVKPLFSju4t6sptvZouf3f8KVK1vY9nNUv/wylU3fo+0Hf02TmtioquaBvxnkym5uzlcjy6G6+qUz303TWQs9qELtjj9FZugiZf6cp5ZFh4/lc0FNZySrA1VdpDbTDDQVJeRXm81m9HdC7aL2QeGvEO0j+zR870P0Tg7T3sjb+pw3T3gf3yiBAFamkqN7/4npf3sLuRUMvDxr5l0yi8JZstmLuEs1aM5g4pu9zfUwd45albIrV7cguxI1HpVcKyJxsCgDOa2oKOKvOkMqVNLVrlrCJLPt0o6FrmsK9M46R1R578XMQZs9NZa0AG08drB93y557KiOG99JnYKLVM+o0twpym9eqMmQDvjMOHmf1csosw6fyGZLz1OjIo6u/JiEkZLfrVKY+6H3QkbfReF6SmNbExgXNoOlNa4WxapL5XFkXWLh1mdErghfWYS20BFzjosee55oRyfDGsaJBIm7Ftd8Aapqn+GlDz7g1nQfGn0Q3T92Kg46qiJ2yFOTO4Ttj3IU9ZGqdhl/X/zZz96nV3/HLfVRPX/NS5J3YtA1XUgdjKuboMQjZWVsvbLB1T+s4pa/FXdCxpL1ycTCu7uN15O4lr+mQYUE0HAQ/URoV2SvXKGjox9pn7hmeUliqlb0N8pUJv5aVdreZHSE6ztCET96rpGxpTVCx3+D6uoY6BcPJozXFugQdkOII/l5MBAgJDHa14d2ywwy5f5F1GIR9Pt5Kyj6o2L+gx6q+8tRlx8FfN6kCiDNEbgsZsIzHG18j/GLIhiRsUL9Aa7pVaQRE6q4/OdIYzQqZMIVfhm8ddolcnMGu6kF6yc2M+88R2x8nJ233kLKMqFe/Jo6/cw+HwrbZlOYEsZTtagPOPRbPgJ+v0kU+sS066KISe4rZHv3XoTciHibQ1Rmowp0EPBFUdjBGh9nZm2dGc1g9w2QLeugoyQPdkLq6tidXiCkywVEUJFcq1HecyyLiY1i6Kr7CFr4OP/3JzPCPZWjmjXz7ZMepF7z/4VZ5F5CUyaE9dquqC0X23/wV0yufoI+/xy/XI40RWNqnxfXLnyrOVWgXxaObXNl/RgttCM7wF8EfkabxLjaabI62I7+FQlrgmIyxBIZNuMcldexzxa7IR+hqbPCMqeb4fzGcgZ1dkTnAwF8cnnXnaLNMUbKVYmPdDYp46rOyveM8U3Flt9OgkhjpO1hXrryAOFc1GDiAorn8rE+JJtZ713N6rTXVyWvmPKMcfhOlYJ+JJQRQ7pCSLOUUiHnxEYKEdK9Zz50VA30229wz7/K8N5omOWPPuLlF9pN8ZkvxGoywuDtW9z6L2+wMNrD0fQedlOUQCJByG+d6nvb2ip2L23iqMfjny+S0Snkv03sD96l98//ieHfW+PduQHcayIcimKy+ZbhqFnfxMC9Ctp+WCamX2FZPDg2RixbwCEnq5J0LXaZYiO30fs85B0/RkJT9Ni76MZDRoEFczkWH9I8U96E8+tkIv1bSIOM6zsgZtvEtedvop/6Uc8T2IEhJoqa8CSUJTh2yL7rUnH453zprFF17dqJc/rR2GX0WoatC2vU3xE+S/gTYtZOMRJ6Ef8Hc5hGRFtID6LgbWbn5mj/23UUdGiwJqgqK0ebm4TUhtRBu2TiobZMcVq70PNi6v9+g+Dfz/LjXzxH0+ttZnwiISzLMjH6tNDRmFEARfc5IeEs3GHqPz2E2y7Gm4QqJ5ElOq538GnZHAc/uGQoSOaFBgfRWyPohT9i75VmbusKk/Kb9zAm6j4SNZ8KfSJUIYIfB9l/5cdM/esmc8+T5pq2RDo9RdvRD5HPS3AOqDRn5DgE/f6S7l8lG62tvMVs10UIvDSQ/659eol0fQ+2bfJNp5rotKrQVSvkIsXR0pAJZ7UFySm6wL5pufrF9/6SqR9+glZW8Mt4h7adIRDYpapKHizX5E5unLHxWcWfOSL0A6Huh5F2CR0alJqvVTh9YuqfpoiMRU7krUaL1pGBoebPWSeCMy6WFoiqOPcQpqRh/UnxqwT99Y3SoxLONb/E+zqDRblI4gdNuPPGMwhJhDSHdLpBUEDfTMP9TZJOqygPukFhL51A6kH1aYIr01iWpyg3LqHynFKYRaplV+fnDfIFvf061cLzu1UKlW0oHqRR59PQZuVDReXVV5IrrPTXsrBrkseDEg1WA21LQaraRTaTpC7Qzhd37rD48MMcBgI0zs3R1l/Jmdh512Uj1cas2rhkJ6m+08LFp/+WdecBdENkHQelUgQlHnr7dUIPbRIaSFA334jqA0WNsb9ZmmU27KjEL+7cob7Bq7aeTxBpTFGjGubmGpmb7Sf1xFe01lfyqRyCaiGs9tJElET7lNCcg9TCrEyNwVnIrWIJS8SezqKAxWjdbZa/uIKaoqZqtkFUhTtoHfqEedtPox7F0lO0Kk5WN6mXTVhx1DLjueMe3LdfZAdz17h91+u3K0qLXYXbKtOK0RKGqHAeqc2wj8omrda8pxYKvUg81krVfILYD79GqU106Ya55zui/WI7qvCa7NT5UVkZkf5pooOmKK1pQPzs5W5Cbqm3+ZaEXzW0/90+9uECrVmhZJs370TGrcJqzlKvCpJKmxhvOIAGLzEWr+DATtKeydBeJzQs0j6zMarM23Q6hNrFL3+RRbbobxMPymDyY639VM68z5QbM72mG3Q2Edk5EmitI3nZbKiqiaInPIx8OErV548RaxQ+n8tbb98oOc62RaZvBsWL8PeOn7VUI7OxILOVRSiclJAr/tmP9pn7yUc8fOuXlK2JzJGo9lVzu/w2yWQBXx+VsTJ9iqLsWcVkfqQkQ3Oib/ImkoMqBpDizFSKrrj48t1Gqm/6872vmxRkVu8j1aBsznIuKsBrEPo8iMJvUCfDLXX+uLlou9woRFcGBipxXp3CbyN+iaPsBZScIq1y7pfLQ+riWK1n/r5DBgn3mzYQisVEZV/G1HZlB5DqDcAi2opUR1ARWvURtsqQfOhCuTGWSs6TpjhaE9JZVC9RigEN0netFKxXzMs+A365aRkNuqV7sTWDWi+aRuqjomJAOKM2juNSbqVY0BJqbOYXb7zEzsYEqngFa/QMhk1LWJbDnlWJ5Zuh64LN92I1zL/6/yU9/P9jbeIh/KvfQ9t1+cTkRiSCvbBAtcSgbZmq1kaZSXtdlGbufegsvnRPXIkd9ZBQC3OaR3Y50jaWJsixZnZ2tDO82Mqr/2AxkjKoq1PnyvWZ2C4Qh23JoGCKOYJqZcJglgqJwKckutfXkd9l27KwLUOYt1t2i8XFZd5aED1/nMOAC60LRQ0527xEWvVsWVNMDm1TN/wgmjEb74a+jbUziVRhwjG2vhH/fTGZxHp7mfqRRXr7biBrCGUfRJMW2vDCNvNCIw7WZJChV1epey2FJiZo7WijrdPbPGprscaGz77epMXuqIUmbPoGBmhqfQ5bFl/aYlO/wG/tcJ99gVEtoc6QWWjT06hsgLXACL6VFXSP0Jh3vrjQqzIb6tYWCvr5evtrLNvC6raweixD0Lhdg5zXkOcJWLK8Rjkn5WTzdSMVFWJsNBe6SrAw/yrl5eVs6wCf44V1fJZpBlV0XDwZ4OOPt0rHolroB9OY6vKCx6G5JRRP8Kt7/5LNjz6h5pd3GLfGWZNobU7y+uszJfdWJYMWkjrRdtMZ6zqDNIY6e9Bz7SYM8XUD0gDDlhiyxL9/d5XqmlEK9T3VGKPhReytE4WMue83R09Vk4ck1sd0giIkjqVzEsW/pVgS1oULTDoOD+8a4+9ly6JZFnOaoUxJdnWalLF4/NZU7OX/BrQdKysmbL3lra2nlIc9V0k8rxWCCiIl0eLsGQ2dllBPKF8AWq+TUGBhDMHSgr7vVCn0TsvcwAvKs4hKJkwxddVgfbMqZ1NCwTKUFA3torZXvHR8i6+//s/0dCwS1xFSkLKyGqyTnDXBEGptRT3l9F9v5b37/pZbA6+zsn+VUMMx1XKIx+sYitZ7ldA6G5vcJEOxEJGx6BLyYmtHFIi5XEooE1RAksRiorlezCjsbQRxdNMl7pbx+tpNlDCLcUiir1bEftBEVJESd65NbQQUMJC7TaHq0gpDy3uJfol1NfCMYpTLz6EOuel9X55K0V1fReMj9Uwf9nC5fonosCjvy5BIJMgGRVdtF07MMdbufaIiaZLQcYnB/z9vfx0eWXqde8O/vXcxSVWlkkrMzMwstbpbrZbU6larcZiZeTweZs/EA54Zx058bMcUx7FjxwHHcRw6YThvku/kPSdw7BjGOMz3+8ezSyqppYFkzlfXtS6pdm149oPrWete96JL8dUHFW0/LF/JkIjmyODG377D+kB1RAVe+Y6ih89E9ffwtvEYifx8cdExcU+b6He1YqIy6CJ3G3wQVVffpsHooMIlaMyHdtUify4bE4XPJ84Pi9MRLe6xPNPnyqNTKh/cK84/rpqjEyr62MdEXa0S5wT14Xhcd9xkqeXEfWaQNW0eJF4a1YCjSItZNDtBAQfVuv6p1qkhtRzzKpFOiL222v7uiNr/x1Hh3SUqh8WjfyaCue79FhTflnCsV1Av5tlEnd1Ms07PMqmuxWIq8ngUD/6SrIN/JKhQ3fKyfOWbNWBrzVI8nSuOZ6GcTjSpojtHkchWx2aOwNHjT39B/g89ohO/+A1x/CJBo25NB3XLkWolG1DaNcN0YEAIgIFYW2bnNE227d0RHWeJsW7D8pv4huCgwkPIX12j3tOuVTgZ0WZ7uiWImziJLCkHRfGJ3MgpC74Nyo1wSsrfPZCVrfD9k+bmZnVOTysKKkggy0bFN/QqMFSveaqVJKiPwynvQAKxDxmATJk26MIPaOd85e9CbMTdCBehFsvJ0Wxp6To8mNi8cLYGBmJANKdQ0by9vK+LwjABk2O3Ga1No7W2NTk46gKNWCgZRZfHo9p9lq2mjxzR6EBUV7c8qoquYlXiaJNWs955UqaCT6Bdc+i+XwppzzVXKPWJJvVSppWqJqUSCwoSMnbcu44I21aXe48AO9jkK9g2unazeBRdDwYJC7rMIvIIyhmuUF31HnVkHM+7d4tUSt6ckNo+8SUVxTtNMu52RG+uZi+/SgUFUUVAFoOCKjUv3KCcnLTybNssYDfdJP/QsB4koJqjXln2vI4fiWsAdIwaJb15igbzFRuJKe9jaM8hRH6+hqtKdF1rlaanckV1ROtaSRgxElX7WLucoLPub9nbjpbvMh2tiy5T7xUepS89qhnHkm9tQL61lNi1X8cKMRQFWxbnPNDNk6isuEyjjJrj49twu5S4g8TCmKjCYXnddhmZnVX5B7oFS/L7Y8pPBpXPkpxogTiIBv3oTNByM8oZ6VFwplfh/cjjRYHAQUFK0S73OQWIYnTO5KQ+eU+nRquaVVo6olRqSHsbm1SRDmm/L6w7Wg+oK+ruMjo279y8tKsNR7Euk4xnAKOhNoOinK/HZ0Y0csQrqBX2nLhuVvzLrPDt0k0VN2hoaFoBfO/oA4o6nBKj0kKezsrYjRMYYsBmxN77lSE5ayG4STNtaGjQxMSECCDH22UYM30+4RtQbW1Ysdj2CJ2xL3xBziOPKPHANQqdc5Eiq+2qcmK6OdStfBpU4ka65nCqjb0IdCiCnE2Lv1/k7BaRRUWPfVFQrkECqipO6Ib9dUrTo2yiwZWVbHqVDOHlYdUwqxyKxdmIMyPuuNtitipBjL99/a6wfbT3f0k8yH/UL1/KJ8JXCadMo7xdhHpKWK0icpsAOfi0xn3v+nkVePQwxxUkaPpLiqyFMqSeeLe+f/Vpyg0Z3yZhdtipd+pIolHWPDvGexzBtQpUIwbe50Whp6lH5YXlwkaeFeSJesQlXTp+uFl3+Jr1+ALynndAzv3ILvDItpFnC+IjB9TX1y9aYtp9bkiXee5Q/vSl8iyg20ZQy63I8TqyKi1NtCPvaL/S9GqEEVMpvs30u6dxalpA4BSs+wCb7W3ToBBefYj9goT6mFIMNAHy+BAHi2Ww7LbAVq8zoBwrbt7F0y0rr1BOp/sMOyrHGZFlGTujH1skLNHnUSPopmhUztxuUeYTbY58dMn2VMrC0dke1DGPfmUMXVHSpaWBr2mta03WKHJ2bZTX05Zp9L0yaUvRwFSfpu8/U3T7Rf+oKDWNP21XayVxpuxBW0VFqPEChA9ZHo8cUKOnUU05zeoadVRgIfbdLwKnYqAdx3DCrGPmDxyQZVlmMcyu532m00bL4uq/eUZVmMm4fWhIrX1l6rx4SPt7e/XZG/p1r71HqRUDGHDYiN2Yb27ROa39ut0ZUlkZ6u0NCfbrwJZEIU63I3/RdXI4R9R3i9Lr5bEGtHIgpkUmFCSwHvD4XmSFw1p+cEH+uF/EzxXdg6q0b1TV4ZtEn09lrdVqu/h2dfkD20JO88lXK62Ceh1IlMia2vy7RZEchgQoGkP9wxgH8u0eN7o3LbaYSiqHh9V3+umiB+WXG3MgjY0G7caotvrcLNAU6OgXLtL4Iw/pMt9vaNQZ1n4PSiYqtWvqhvX+3Eab8mnWuqIWRfQbP1rnfrZEHO8Xn3hQzPu0svsKQaNsemQVdMmZ7JLZYW8QUno2gUFmBbkyu3LHjJ+DU2L/qoy2PbXpHYxyYf6fmto+tamHd/bFvWfxoo79HYY7adoRcUuLvAMIJBdxnzsf2cgz+e6pwS3K1tF1B/Iwu4TczO/DKqVIY5P2xi7gRoyie8q9bHmwTJ15tn/Wel25c+L7uiiQQCQbdHHxBUo9kKucR9ByZ0r1NQnlkXDxwpulANRYgbBt7TmvTMf7ytVZUChf4iyVN6N2GwVL3QKXIU5cLqxFEUbFXcguefvKTbA5/V452zt/0m4D34iJ5KyrQFZJqVodR9ETJ1RgWfJh8L2Z5O9dWPJ0HxD3Nim/uF1Jf0yJEGJ1WU/HmzWTMW34wqJ4XmQjT/yoOIW85ApvrjgDnaw5uQ47PVl+UgeWF/VHlyW0qxy1FZk0o/mlSZGfENGorH2WToyeMPbvJAa9U4JmB+IafzimgpJ8leAzGnpXuwjnyUeBniBHFDeJO1BzGBW1oMO2sVN+5BDKfcB0oFTaaPR+ntAa52+uMw+i66gI1glKlEh4FI36BYWnONDxII4ir8/YzjPHkwfHleipVEdrofK8KcXcjFHZZIKZe5WNt6thtkc9xWnR2qbVI5cquOaIETefAzFBXOQdFcmLRWpFe+YS6uu5SBSdJ3zXq4xrZONfR9e8F6k4ia69qlShkC12+8U1+YqN5yo2cbFIeRRKlCvRsipsYyYpKtqcMzlI0M1nkKtsypQwR3UI76Z4C58XFaQRt2zAOMu3K3NBWNRmmags3Khqr8jKEJYtJaD6hx5R/8MfEveNiBKfOHJE/pJWFZ7TqZg7ZpIkFSShddoZL5tMwmNkxVt0los9g8K2dPKbvyqG9hlzXiSgizlXs1Sog9x3Xdelhx+UU3cqWVuKCYVCu0TxmjiKSrYZ+0FQAY7AOOR3g9KRGpEc2vmZYffd3o7uxUaJsoRi2UynR9mZjgN0xAnJV7S60TbF76HPVVXJPzpq4jlOmudzokVEJ8TKijmnEDPZ+xEdhcK3mQushC2LY3lWzFKwWBTsErSrnItlZflS399F4cFV0bmkvvaOnfOg+vzCH1LT3V3qvOMOtXocXTaO7vZ41Hb6iI4Wj6kHwyeyaWvmsE5qN41B5jC8JDyb7aYWZsLOYIn9GOTJhPv7KDs4UG3kO4H25KCb5lFyHDE4qCa/X1WWJa8Lf1zGLB55oItwlPRNy2Mjb3+3imJnGeQJaK0ZjV2MaGkRM73adeu5KiLXfac+QYX6QCHKZYUr5M0i7POCAuO2PHhFQ71ou03gKHUINQ0iWmrkKykWIeSzbOHNMhOMeFV1X7VKuks2IHq5KPjDJtk9jbJp06gP5YRztLt3t8ap1PrWPh9DUz26pW58Q+JOn0F3eBF+n7Hvn9Mqkil5vdO6tnZNxcVVgpt3aHdkUGf3q65uSH19fRptG9VwukJ/5vWq2FMlZz1Xxhbxoor9aPAounsE2X358px+gWBVPOYOOEoFVfLQpbKulAbPRjXUqPjg5fL1+nU8ekhzHNYqXj0z/t7x7o8dQpNL98vrj4ilS2R37NaR8l8UdR+XITIcFxxUN0FVgXp6cPMtv7Nsp21aWLp+8ml1uVrx41k+sQyyz5fGIKIy1/kRY2iFkBz6dGjb5/n0qfwjuv++B3XoC0+KNqO9Xle5X7deN6ASDO++B2RTLOZH1k1dHnZA0ziVWkmUydlj6dD4MwLkNHjkSXs05F1Q2OpUxplZjq1+12dnbZ20XJnx3q0jWf6YzPs2g/KSSTOmdqjLhI3avO584Vjy4pWVNhQl5pyAIORaFDwCr+n3bYhhM2fMkcVnNIphAB5FNZfUqLim2IwByyzePnee2VoOGxc6nLVoZCsJts/EymRf4/OZdt+gtN7vlveQ5tit3PrcLBitLVg27xJD3q4BWVsQVwNsgROPZf2fQLTZgpMac7MT/t9ZFBLh7bcoeUlRXy0OVorL7hI3/b7afvUT6p2YWO9scZBFhSKRGq21HFF3ekqD5aiTWvVtonjtU8BF32yyN9qIXtOYj2B2ICfcSrHXK6dY65nCtjaig9b+2aQVDAaNttTkoIPd6OJkUntcJtY4JhrzaLxPn2/z6OnPHNKuZnTtNYho2EzEHpRMovYOVOL1qsjv1b6ggff1uwMzO8tULIYWXCZKP8Ymehkp7WLWYPG9ueZcl/+IFbPo2I+gtWS9ONRlOl+8X9QvGkedxwy6vnwUrEQP9taovD5p7NSrJQoHSzTQHhR9Hq07eW12dkrlus/eZ4kLsjlcysTyiEKhkOjL19b0mf24162icDiqtdYx9U9Ma/j4cZ132nla6erT3+y/RWeNdGu2eYc8x/sQkyh3b0CrN7erJ41OHEd4Q+pbt80XCko1wXkqy2+Wv8XsCgsmJ7XXuk7XcpoiPafpqOPT2TzytpP0dhIKo5VQyNj0+7rlcJ3OYFYcnhWOrb5LENXH5SP0nkwX4z1o5RRqlT6BrZzas+RzUVChIxu/H3b79JHt6qkJhZZxs2tt+d2yRN+a8uYv1tADDyk03ChONyapVrtCNweuXj93lFqVkjJUMa6JZhfbk/Axj0JziKClyb4vCao0UDWowbxBTd+0T6TblMHZe6iQ3zWLpNgwD2bLoeWodoeMomKRiX7u0U7JY6BPXgbVyVETEX1Fg+hHweZcXck1KmBGKyvd8jd5xPwVavP8voIP3ii4UTT8isipFn31YqBbob4+BWmXzaQgoPr2Ds3tR/hRua9CBZ60AYUk0emH0CHvNvWM4c66L4h8y+Z7t4NOrm78XnUE9a+wDlt2HHT4sMkWuMFrFRRUiWiFgk1Bkx53fWEpk8kOaXYHu1uuUTKcpVTFcVOcvo20IwIlMoiwRpmFu/J9XhRIqQhUk0AfiZXrI6VVSp1VpRMdeTpxxnU644kbRG6uSTUZrxPlYWGZyduHT2tcrmCwSJMVUwrGO+XNR137i9V+x0VaIUOTUK+MD8IGJcfQDRVoxmKT1hQoTensqKXpaFJPnWM4dI7dd5loT51SOV5Mlql7xsr0VCqsVVD0RLmK7TFFulG02quaeFwfz0Oz4bP1Pw4e0RmRBk10ovi+iOIlQVVWIDqC4kRM5FYqnvSrpRRVdHaorLVVxmzgVUmmk5/YrqFOrP9/ArecweAGigoz2BllE/wsH2Pr9UXuNo4497gFuisXsxCUHBHXtblb5JTS4Rpd0bOoVMN25Xh7aYZ1Rz5XIpKWsJObWULDiIOZvMhumwQimuy8WYOpOs2k02o8cp5SbYd1z/K1ao3tU3JbHhmvSOQoNDqo2MyKEr13Kz8f1Z+BKER3kdFeE4KUpjldJa13i6OooA/FlxrEyQ+I1j3KqzMoElJbKNnJFSc8WrsY+fyx9YEGeUbjdOv6cMlhBdYCYjJXzHUojwt1jMNysNUQYzOFQjxuaBSyn3OQTZQqYHIK2DYmsncyc7xezFvinjpBv2JkQx93yFoHRvsrwKDqtkOBJRDNKd31mUv08C03KTV1ozhqtMsb86p08Xz2Lu+YKG0Rk5ZMNHJQe9kB6ZNCx2ocOUtJffnuL2uOOkULkT+nUImqXXK2jdcYUD612rPN/WzLVl1enVIYQktz3MS7ACLpFbGjSpZklKkG5dpN+vPklCroFfUt4lHk73R0Q/x6lXKnLE5TstARo15VxXfJV79LHGsVlVMiPKyipiP6+Git2hoaZFOle4Lt6kp71XLZNRoerhKx81QwdZ7inVOKk9lJoUQM42+JmUCxTGBhILB5p1jNxo5nLRfd8dEbVbVapZMfPqmHp5p11WpCDaG0LgvlKQ9LVaBoMiViw6K+W4mKuNJu2+eAiv2IWI3WlcuKLhGIuv3DMlH4JSuCCW2gCU1/MqZWvzE7B1PuNeUyi0Ph+7woWPt0dV6eXrxlRJO3XKae7ps1OX2zLFKyrIAsa49MblpbVF9iVnRnI2TewjIDcDxj37LV09OjdFGRLAzbZlX2JIPRXhxMaHkYFJ1Hk/aQSs8/TR1tflntu2SVmnP2WZYiEeOgMuUw90kkTtPwTWOyY5fIoUGOZWlhydJefLqlZbc6b87VLROjOm2fpTC2brEcnZtGM99A3WONqqqq0ugoSiQqtLTcq1u/9Dl19vZqAEsNFurJsTQ9OShIaldmgG83aPdtcM9YzLsJwqvFcmYSK9R2HOhHDwb1rT2zSq9j4JvEfJWb5hDDf+O1xP6ztB6BGY3JmpzOGnSbJQKbHcYZGUfELO0lLIdpw7U/4xWBbXjwM+/oOAbjT464/lZVTCfU1oq6rHNVxD7dPXuTCiIbdnartFTWde3q8HWodN+smLxSdT0L6pk4pum7ptRfgs68ZU4smvSS2c/sBxWcZ4seS62tqPIyxG0fEBdfqkctd9Du20rnMCysuKzdCG+XOzgcwR4z4CfQvn3I2m0JP9pHnmxnWJfPX65GGsWQJfL3axMWfXzcJInarj7WpVIZmHN6H+oFZXIfMG6p/LR9asUgacxvbplA1jBZwUrucydsEds5rmZ8wlLs2F6t7rU053M0v+8r8tKt3aAEVRrn5vUyWfS6/c0RXKn1XOXbiAXaR45sa1Ll1tfVQZvaO1FJF5oashWlXtl5SABjrnFZZTPO4nUTxt5ZsRSQMTe6yDb2iF6PKNxnYoq6LYPbt82OsDeA5maQxZmy6JflIHJzNTI5pTxrUQHL0i4bkcoTgzcLVje1x6wX9e9C5fvcsswhlsPqs25UQWGB6Jo1UfRTlboZw+sVBM10Y2Kdeg15YWZ+Gi9HR1s27r+LDTPT0BDq+vOv6eZrb9YtgVu0q7FUv/nVWR3u+hPtrbtcwwO2bk6dr47ZO0TvH4oL/1RT3KJPVh8RV4XV59yoM889W3R5BbvduhuTUTx3a8MKsVNshOnj03ehcAFaW5vXrbeO6tbO03Vr+/ttPjqJvF6vKuI5ckYwnDhWJuLvsIzp5lRNZ9OWtDAljn1dNM6K+oeF3b7eMcL5KJ40Fd8IqvegyVp0K8as44CcJIqTI7Yhn0qCQg7qjbO5HN5CVXfH1dnZoPNAT01PqePhEiWx1Jpu1kxiWI9egj6xq1HTvRO6mg+r2FemvArU7CKYjhxBzUV1ak31q7Iyqqpkm2bKzlRHZ0qTnSX6lXi10jsMqnUZ3VI3Cxjn1Lp26RObUvpZorFR9n+zlSh0TWyNiNPCIrkNz0reotbD5dPF4so7tilHtcAvhx24onJt4RxTkoDgoDacpmmxQyJwLMtlRk2InE9rIFqkpQiiOKpILKn2e9rlpAvX2+SEv0Cr5XXKsyLy5xm6kfb2AY3tmdDS3dXyV1UqMn2NOOzTxu7KZMqKlaK8+j0qjk1psvqEOh5YFidPE+l7NXQb8gS2tD2G1iEY3Kbc2X00DznHmlTX1qQ8wrLscl0zEtIiD4mDF4jyJ2U4+9+B32Y9Qx0y9mKzC/SRCVTsNv39yIICRXlG0WFzkJQfv+5frVZ1KcIJiDrXmemxxB0jbj85NcNYro2cy9DR4WF5brhBxKpklZUpWV+vwmCVjlXevF6mcaIqiyZF6dTmsRTHxP243z2gy0H1nCmoV03N5zU4WKiiOZSzBy3esKgc/wmtU1RUYnyDEUTA7JKOHzf3msI4R2sTCXls20xulbkaDqDx3KTseyzhy2q7pLlfoBjlzqDaBgMEmXPQ0aOd4th9mtu7V+mRp7Q6NajAo4jqRlmYHWwD7kKU0yjKHDFRr8ZazGLRNSK6CoWd1afDiKAxUXsw8VcNW+o4IwGyKSYalSArhwmI5rx1847Xi3IqcPPPh0zMlNfktzZZ//IEcSWDHlFmCAzJKzLjHxObMF95iZKBEmMt2SGINJvMjwiKH0ROMKWCgnpVVuSqMjKl+cj7vSgMYrD/s/tET47oCQhrK0nYOdsW2DiHh8zg3tOs8O580Y1wapTJIOUrRTel1/RNbO3liLq8yOl4h4l2iwTJSvZyAPWNo5pbjqi1zdL4TI8IoN1JNHozeuhhrxobP6O1gqt0uBeFk4i4JZZCogTZH1pUd5aGm49LDw1yysoUaG9Xe3uJmkdqxL4+nWITtRF3xkXrRYJlHfnSER0YQkH6FE7ViF3zZqINr5oBUoYYcZ1L4E4oX9em3UM7wt+prZqZH+Q/uluJxUFZ6Q6R94ui9WZVgR5cQQl/ZvvbKusdibsaFaVfixxSOJxrjoXKxTapITdJyhYrQRU3eVQ34lfgtBkVdPXp1rZ7NRpoVrMbBV7lyVO/v3LTtd5W5O8LKNTWpoqKCg09eI0I+hTeEqLPuQFVNo+qmbA42iWmJkTwoLArdf+HDysZzNVGWL+pp+6moHIiO3PQZyTmGdeHOu8TxGTZzbrp3Pu1p/vPxHSb+HDOlrgXW7Azf36Q4Cb6a4cSBTJ5HhK2gnuDsmkSjBg/T5avLmwHdXqw1SwiHkQnCh9B2GHR0yczsW9HzmcLztbayscV++CkGOkQZ50lurp1Q0GV9jTfrHrC6s6cn5srat3kNJlj+WzOG+Ggkrt9Kmo+T9CpI1WfFAOVqmRAeU6tuOOQSDcpg4YK4zH3C/lNnyYofEmRSApCKjt6VBdjFslLjqC9LWhfGC37to71TsEHRZMlqpBvDXX2ZMaE+9cOG0CEh3XbfQ69CoF6wl71hL2yCYjkjML1XllHR9VbighZomdBdJdsnmB7cCfyoMDWrrALAwZBSGGftQMaqdeM/fDhjWN5rKdmTWPAMy2gNg6780SFYMaUJfNO3rDCGZ9CGFk+n+KHDhkfVm+z8Wl2sy39P7i7zSBiGTm5jgKHAlk+BURVr/r63+9FYaZBOGnXlrrT1uWo2zndAdCGSBr8fpAeQb0sr6WDkyvr1+RxSOdxoY5WX6i9pVUKgiy8ZsCsb5VsGb4dc83Eluf296PwFnsuXtTkQSfSXnEB4irEIJq8B5VWZrTHgCawxWyP6I+KjpDw7jPaRMS72aM/sfF/+pJLNDY2JsdBjgfhmTAOt7Mb1OBtUJq06LdF8hbhdAm82rXbK6+DLBwdtOyNejzgFV1tIpUUzobW1sOsouumjux3c7Q10cYAaI83ra9N/L6iJwrFSlDYXhMp6kWLGMrd3Wym1thebEFEXgZ06PEJMxCW3ukaRCKu7r2z6qobU1ffms5yztNC3qJuOu9BtYfaVeUyaRZXoOYt5GZNNhqwTQSrbdtyAg8JcnRw4rHNfc0zoiusPo0yqNGjiKmD4oZ9ovw85a7maMG7TxMc2qinqK3p86eVzNkmGnSTTCjgHdHKcEgTE5h0nBd3yW67W3i6xZ5GDTvnyJdx2ve6/WOH+80yq0QWgKI9z9IFrW5ftso07blJSWrlo09DA2yCS+7PGdee3ZvH10EvMqaD2KYyn9puR7T09Oe1f/YBcdgWHtN3LjiYp0Frr2xW3l3K0CypDLSofOoSYdvyTp0mPA2mbvPTYuZmVVgtat7TrPMu7NetB65Vo+90sdgtqBK9u1XW84CqPvCAcPbL8nrXHfV+n/H3bR3LgKpxVBrdLXqtLe950O3/B0TOipizDX7f7U8XgSZsxIEmcaBZOGOa4E7tp0OB7kXl9KGuqV4ZO7wxma2SUjvNOrMBFZchE1uR0LEltOwuAh7mtdwW3uLc9Qk39oRhxPHt+0MGhWWD7PVdmS18y2IxsyO3Rf2KlltdVOYhUzcf9HpVA4ax4d2yKHtRmrTGuFYQ0jjI7uwUySbhNLzPi0J5UoWENQdGY+3IFCQsii8UI0GdXK8011Oej8rqERxSnBLdS5OsBYzjDUdQpODJBnUevFu1beN6sK1SiwsZ23upNiY/y/3uTiKgVAAVfxhRjYouRd4rUJ7Hq4vc5OJ+0EWDqPlBzApbg/CUiCJLJ8sR44cEIZOTl0KdQt1rbR6slCHHcVRcXKw6UOoA6lxE3Sv5OuOCCzQa7tBQ+4KSdlIRwsYx6TXvsQtLg5Osw0FPlvnFWYXixhvNvZvzRaJR8LggrFJSKmTeOK/CYU0cOuSWc7PUk+GvMbuk/OLiUx2grmRf7zmGCnfQOIx4xHSHGJ7T2ydaL1UmAMmHoU5I1k8qMXBcDWMrSnU1q2cXmu8r10irab9waamBHGfJaHu7xsfHxfKye8xQsZ8syyAuWmRspdOCOtkU6WD8l9UQ/bAWbj1fnZXX6wTGFnxLVj/Bh6EOeEfyujLhLREDtkbqEAUexcp+Uzml42KuQKGZpNrbOpRyHEVA+7vSSoS9Op+oDrOy+V4+XMx/ozJw4GAQpQpwgQIVouA2lfpukgOnxH2UlZad6p8oRUsHUe7FyJhpLXEyG+K7QWxY+qEvyHr4EVVUhDQ+bhZDXyql9MKCuPBEVpBUmSia2jHoKRNbkcukYu2nieViUfbnggU31qFQhXxVT/Ml/dKts+rpO13J+lnlkVQCFzhShGLVKDfKjkGFZaVRGR6nEjPepg4ql4iivhpRWKjSxmZxydWi8rigWAeY1TidGjt+v5Zsx7z7GhoOoOqsesjBo2UKVRZqkJ1MqjiBaiMoTZGi0U7l5OQKUCMh5Zfk67qpFU0Vbd6B52GsHEVFW4PyMvOXQTs6V6Bjl75TH8uWKq37UwpYz/V8PujwNAqNVCg5buYCQPvYpzzXLDqxZSwnYQceriKB15xbUCACSUHyfV4UMKvevFuQjYdfJEaaTNQsmAxnODrBaVpgQVNTB00yiO7DOll3uzY0v4CyuYdqakwCHBxEzYpZODy45/tF87LO6Ed75kwgVjto1EE+26MlG+UsNyoU6tXg4AYPvwd0PiuaYpcgVwTHxdB7z5Bkeby69toV3XPPaZq64WGtlqMeD6LWo0h7RBMjw6fyOK3LhMzidnD92EpNrrixV40XTaqjA5MLOFUiGBCOracO2bKsjHaxfZmmTmmHLLFYH+x+P7p9AZ25goHbuUiK60AlbL+AGGkX5Gl+3kxqHiztDBtEUQv1eVBpVbGaOuvV4gyoIL9XgwOjClEls2VGzE2dcm1lY4vaB9u0e58xoy30PawAOWKb8pVZXRpxzpHdXSf7hkpZA32aPCOm4wfRpBcd3BIl+7b1lC0+E5U6FUdOl62PtpyhfVdWCp9HZcUBtV20pAZfwARp9vcbepDt7hNjg3BvXSzjkB9Hcco12/PHmszbSmHuTmazOZqz5zYmawfxpEdzu1EsZuu05ae0z/Fl4d03xItHJ/L368B9U+KaLjFwtgCdl0S75yzVll6v9rosupm72IZ9c6PMHgKCZeE9Ljyjyph6m3DUhOXSiNgiaovdY4I+eehTQy8qql4x/XBy455mfkBmEagRFrInS+VwifAY5cPj2a+lpWOKx6Oane3T5Ili0d4gZgLyWZYCCxiAgBcRcITjk8dBjt8vx/a7Ec9eYYWFZ0je9Iy8zY7GGtBUkXmv8vJJVVdnvetESHWXPHxKwFzH4KAKios1NGQQRzv3H8fU07ucT8owMVX76VImd3dGRjBzW+fbjs13kKzI8PU5pwLR/T6bjyowdrFlTLLojQeWq91TK29Hh/IjaFfDvGBYMcYUJqw4EV1Nu0IjUdFiOnI+O+eIZQ5RFDGBVqvIrHhTwhdRTgB1d6NDk27mr0F0ZdVR/SIoHvFpXdvvNhPfXaAcIgoR0tvlNn1bSSTE3r1KJCLKS0ZltUQ0fTW6+jxH0fbDKmpB35idVUHBDlme1mVjEok4iEOoYxL1z2A4/YtdG2xPj87trlt3mHVvd69uo8Fsu2AUYxzSGaSFhfIiKBnpUX24Vdgm8joEOsnRty9zNwqHzT2OkCeL3WbXtX5OrrBrRCcKJUJq2tukYS86GECcDChnX0C1j/apOBpQYeaa7ThafN0KFcyr/8hNSnhRa+CkLEKChwSWcX66A7aqI6XZ05vVcxTVLT5k2jWCzjyzUz6fo4lsH0wIdTdt5KJ+O4lGo7rjjjvc97OVWNgn368UiV3TenjoMR0b2qV3z4bZpGzK4lxKVMOUoEt2qFzhQ3+r7qe2z+plr9kK2+H1eqoYRMn2owqFkG23Kjb2R4rYPh3d0nY2jo7woBbyf1En77tT3JIv3HSh7VXo5puRl4QhacxcFzYTSAgDRe7GgEnal5dFZYsWax9VlGnxzDNieUl0f0JmcR8U3VXCRoVdrSqy20Q4qARFuppGNYyhvMYti2YtKstBIw6i0+TcgEbV56PuBsTyxjiJNMTk1KBwr6VUd7fKg0Hx8MO6prxcjx5F0RwUvBKt/P6sJoeu0JGJqB596BvaX3Wz5nC0xpqIobr96CYqVNk9JHpRpLt7w3ns0tR0d/fIKB+jp7TFaCCgUk+e2I5C24uxmGwzvt9JPAkUXPYo7B0QEa+shg0YeBCjzN7GbcrNRIo3uW1Fp95OMVuXphxxXq2gWEGq1EyzKjyowt/7/i4KxRjPfG6uCcbgKJp10HW35ujmx8sV7WwwSJpMOsGjCA+KDZar5OPniJRnPXgqEUDV4bBWxj8sysoUX5/gjptBTp1CDYM6aMflJak46GhHhy6+t1VXVs9pV19aJTYqK4tooDyiX4nH9NTRNrW7XC7JJqPZNgzsFbWGkjmRGfxsiTL1YBABO9rsEsrhCTUPjmiy/0M6WOJT/y6vyjtiCkVRKmgor/8zC05zM+rsRLiMpKYe+rQRr7E1g51HcGRz4owEm8wNoYqQystKVJ6TI+9DEQU+epEe9T+lT6a/ra89fpFycgz6KDcWE16vDlkoGM9MLLaOkcXp34mIxGVyJqC9mQ66PplHRU6ZaESB/GJVf/oyTcy26fjUtCIlEbU1RXTWwRnl9ySV12oc3EmqzaSS9V4hgip38nRNbq86QRfEM1BGg8FuzjMpWYkhX96kIqVnarLmGnUUdYn4cXFVgcJrwzrodTR24t71+yYi6NLubRLXbCMXp46qs7FdTJ0wzuBfv06h2UURQ41PooYRNDA4qNraWuOgPLblHgfj6gvZqgcZ88CGQ7+jtFSXTE4LGsX5xeLwZWrqMZPxGRhTi+Hm6tCtl3bogJO7vrsx484riKkNdP+nGuWs2kquI7MGZHIW5ApateeScR26+QHRFhPHjHkjGEVVXRhEUNRWPB5XIYW6Il6mQtvWbYmkrmJB93CHPJ5h1U1Pi+KYKDf0K/c+GZHtjYuxjwiKNAS6remEsBwtnHG2FgcNOCKHKhXTqhVs9SUN+ujYsWYdpVNzZeiGCPLZaK0hLeOcrlKgOKBQddho/74OwaQxqZSgPdWovqnJKBSjEVHhW59//H40W2P8ZEdxtJd65SaN/ywngcDR2bFc9XorVdw0IlpQaLJJlz1h4pZoRMygprkmM+dMnhQd9do3P++m2s20bVTr5vCM+DFmONdcbjkosQMh3Xbiy/ErMpWjsKdBfnfObHL7wAGmhK9EN0XqlJPZLVThsgg36F0pt5GEaG8VToX81KrGzXdSRMv7uyi0t6OOEnTj1ISi0eg6Tt4uRVb3NgWzEFavOL9A9FmiFeVWoutBOVUVoqVbPT27lC40kY8mcjDbh7Aoi3nl8xENYMmyLdlHYxqenFIH8+rdh274QKduu61L48ND8tTZsuqMJmdsbD5hGdz3OBu7m36M7Xs9QCuOwefv27mSR7GVt99W2HI0S5fmU7vEjV9SQ09YPXWGU+mdTBTW1rrZ9Hu/oED3z8woHggqF8vUU7ZmWoC4FhexkKN1zWbPLhMZnZ+vyaHr1PORY3poz7/o94bHldfTJbq6ZOPIthzZHnO/KGjm8iHRnC/Lh9p2b9gp12MD+npFZ7vovV4QUByz5d1U7jQGhgkGtXKbrYnJCR07flzd1rnqtM7U9bNfUbinR9SaJD/719t34z71tXVqGOuRfee0KC7W7us65Q8g9m7RzAdQUcH56vEOqu3qT6qqckrWLVPisrhCex7VrCeo/dlmvBxkvQPrZkb2Pm7Jt4I40xKjthYWH9d+9otBdNe56CyLLBOhdWobWrs2Z17L+r0Q1G+7uPML58WtG9peL4ZAMOMb2r8Qk8ee0sLerHunUrIHh7QXZC/sEV5HT1n7NsoCglsFpfrYobDmd+9S4Xyhuiw3mU/cxEYwvVeh04/qhtnf1608oVtmv6TeUEi1+8y7WeW2dl1lyZuFsrFokP3k/cJ7p0oudNTWZsZPmcs8cPm+RjXsz9jiFwS7ZRGQ9ZG9YgJZuZas3ZYsZ2Nna7UgbrbEyKiqqm5WS0uLMbkVbo4H2TRmurpFcbFmZszuFYzisLB347y9C8jyIh5HcEjW4KybtS7rnpMYE99uNvtT2ixRZckas7L8LmypY1cqMCAa97sP9OG3oZXfKiWUqIsutYNuBg1ZiD1oNyF5mRY9yDo365oR3DLNaTuT6mbpNDI9IMINyiQ5KsUgM9/XRWHPHtTZjHI5S5DUMVz7oJ/1JNjZUhv1ynq8y5Byuce8dSb6zxMPypOfo67GpPx5pWI92vV4VgO40Xt0CmdGPIji/y2l0/PPVIx8xfI8KrRrtFiPnsbRReFjImxevgvD8eKA6vNRYo8xWQ3hlVVSJX8himVFqFZQrvb67VMp1rmd805O6BdYUxEpVfpiKuup1tBEWslktXJZfEdK5ROZ/wcRnztx6qTSGlXykk/LtuOKptD0PPIQF+Qbp3Uehv7Wwe0YBt2yRp5msFThO1vJM6vltMfkCVes74wy9UA14pxKtdX1apxxLecuC1+lYES73Emp3H1fQBzIEdUxQ7MR8qzTlez4jpGk6FpQ4eSEao4fV9HagvLaDqmay+WMzIqBCVMP20R7t4WM1nfV3SgWyFdh7JcFUZG60+0DJqK5ZBqFS3qEdb765qfV0PCw9iUuUZ6nRMdTeSq0rE2Ee/jZgV1yq9Tr8DQKXG6+Ox5bjz9+VMN5BjE10IHuvTHb2WjYdb2gqhJOocrG2ieOb2DuI6WoeMoRDGuw6AtaSC6ZqHcP60lSTpHsZOw33ynnCLqiDtX1Xi57xaOrT26FCCcEHt12G7roIuTP9yvui+nYGmrgSrFvvxpLr1Rv5Arl0CQ/MVVV5WxaAAiivEpkWWMqpsIkf+/MU93eC2VV3a2Cg3epds4oFQGQhUeNZX+ovPIZg5ApQqusKkhQd16V0uIZKNHQLJY2kibZoNppxGdPiGRS8XiR8vM9mpioNj5FTGR1EcZE3A9apFbEbOFHy8uGOiY3168nFyuVzqqn/AzrwWHE9LDAViVk5c0OqiJZJn8TZrHIHoMLfWKwQRVxFMheLOpLZQAgb2cespTKZDZ8j1KcGVcplMKRRVLR+qiKFrJoYeL7hCdPJtWAmR+rQV5S4hRyQRPRnMkcmTkeqEHRofcbkgqGAwezHV/ldDlb7FsbPESoLxiQQ+d6cFa3F9067K7qpchXi7pap0WqQotkaC62iM9MggssKEFU3lzEIzPiFy4T/WuqZlgLwwh/QLRY4k7UGPJrzrY1wgH5SLh8RKiGRh2kX3ZDp7jFPP8gZofSFmzV9GBYB8PIu4ShjRgzlTrMBqzMH0LzDw5r4fpBXdT9sFaON6m4uDgrb+sBbcJ9u+IHnZPFb0P/lvf0Iy67WNSuCXyKYPw3JmisXNSNiMTWTFb7BQU6yAnlcNjstDzIexqqCB7WRwipoOqYeu5Do35UGUM0t4u+7eMUopicuf2n/DYgOF2hbTSUErKw3NE8BW5e1vihEa0eX9V5tWgpv1UT/t+TMQNlmD1PTf3obWlRyWyrbrkF9VTk6dxf+Kys4zERMqyPjRSpnTI1gPKcTvn9Z8jr7ZbHUycOXCsuKVMeaAkEZ23cO8wmjW5nGTA5yCOINVt4g/J+9k55bzkiZqeU11qtw1/G9D8Q1l5xOK4AqLOBbbJibUyygOIlqH7cL0IPaLCsX8FlS4TcQKY7ss73sq69rlGlTIR6iEfMBNYXVN9DyI4GRDRXxP3ynZjVuZc3ae9SQvEzjiiSf5b2Lx7TkcoyeaZGNMa0Qq4ZLkRIHESjXlRagoYuN3ktGmzjSLXxiBWfhn2o/CoMDNtbqonYN2R39Kpw1yNqzE6E49ja/fGHtHevG7zmoJAfhULo6bU1M9aLMBQgNiIakuMzuyPbtpUbCGhqHJ04ENcSt4sSFBwzi0ENCbWxRwWgJnr1oC+kcidrvjkcEna76fdBTP0MIHAUrF0VJYZjKrs98u2org5eo1D/NoGYFV6R9qiV7MC0ETGQNe4Os7GQBENiyfh1HHxa5Yn/1KJwivj9Sjr5qqVNGwrykshQ4zAiKFUnyE+Z+FDhqQFtNurwb8zF2Xml39dFYQz02GOrcjCTqY+jAkcHQWcwKB8+5ZGjaTqMU/DqYYOTdominC4UdJNVF9ei6ouHxQWXiI4u+XBkcUKnENoNNoqylLx41YalJgsR9opwQEMeN+FJPmJij8qcVlWEysXEuEintUhUAZZFTo6sjg4dxJHRsFvEbEIwIB9+HQLZu9BowuUv8SFsv/AYFEB9BHE2qo6ZZEIPhj2qCnrk75vUSNBMcJNkIhrdXdHY5kYaB13j26YDZOTCFtFduEMnQfR7TunghhIhpdwhvxY9Pn16DLUOodaz0MMHfVq1p2TZpSKEPFlIpmNlZWpsalRvb69M7MegavFtOIIxnalv/btH1FylQ0U1p7Bo2mwwYUbi5bruli+pY6lZjccbNQaqKmzV8Ni1ClVYJjgPxHocwYbscRwtxDzyDhs79Ep4XAG/Xxxy+44rLaDZLltnnR1UV9eYamod8QGfOMfSw8Mox0HZHFPvRbwRNDiE8OULptVUe59abvwXERgU6QvELWSlkfQK37twOh/ATPS2e+0Bn+KfQruWusQhgwzC17gx4FvRyLkjsixbPiZM3dej1UMzWkew+VDbpROKP/Hn4jevU885H9IHSofk2/uArOMF2nXiiCYmH5S/p0De83u0zD06xDmy6dMhfsmgrDD1fIfHkEtOxEc1u8tSHtXC1y0PKC+AWr2I/ejRuf8mD4Oq/JBfvccR1GtsrEC27ei0c25XdXWHKX85OjSGjiyhp30z6/1lFpP3ZOzXV+UZMopWMpnUA7tm1TGBGhzDj4aN9nlRuApRYikTbT0MyhkclF2WZdt3x9OhAsS1XuE3fiqPgx456DMmly2TpVWDvFd5BZaG3f47htkl+2tWRdEG/NoPLuOrO+6qWN/VFYJqCAqfiyjsc+QLvgNo493K6KgoapchxDPzS1fXvKLRjJ9jy1yw3bzSjLjI/D/CiKax1iOu39dFoQpUWYnSaVReji46hp7Zg+aKUDdlcnDkp0btlOiW4U+KmQMyK52LHXYpavkIiuWhZHmFSKdFXZ1WVixFI52CHJOVKh8Z1FFacOHGy3pyRcGSOGls4DYIv19OXp5uHClT2Vim04QEcWOHS1aLQrMVK6JIFsd1snKXDvl+S+FHPi7f3Xcr30qrMlIpJ4dNdBU55Cjiixh7px+FrkKPz42psnJEVskZKvfuEMBUsV2Dm3oYzM3VneFRGX6mE6aczX8sEttvP4s8yCrDOOkzKR5PnFB+QVpn+x4Q1z8qAj41VaJ0iTsJZbjdixFcIQjpJIWymFNHbq6K84u0u+RG+RkWlCkPRxfdsPFMD9nosIBIXi8aT+jt0Df+ZETF5+1T7+5R7Ttu7N3FxbU6Y+a4vHHW7bTFJ0+ecm0uUcW9CVGaVrAFxfdfI4ioeFPegKgKeEKpnmdUcP60iuYuFz0NKug6R5Wtv6AbHjuqQNCrk1m89kkv+kj+FgqCHaQkhio+hLHn7rW198Z71VF+mdjVJurWxF2fEpHsXc72OQ028+qHBY+rtLRcU1NewTF5b71c+fYF2thR5gvCSluWPEVFqqitkJW2FKJScdBCHXrwCcN22k67OuhQOo2CqUrRXWagruBOFCdUc8XnVf7QI6I5LA7lyzigW7Sfbl1R/MCmspa6bV2RgQtnSRAzFmLlaPcNdbKdMtU1fFbxvHkNk6eZD0RkWY4uOe3TWpzs0PrE6cbiVBRUrOPvazyorBA9M3KjbCyVs2EaiVWgBI471t3nJxA5SZldn0/lmJiBICU6wEYAZiqFEnkonuco4wy2cJGJFZxqog0UiCLDH1WOWaxOgM4CnUgmXT6rfIFXnqKwSq2DW8pk/u+tR/MDWfe9jE3pV/+r0tiYp+XlSRmkUbGKbkX+DICHiU0xKifcdyZsxtgyqCuI8tJpdXZ6tL/15vX7vO+LwsoK4gAaHUXLSx75bY88DrrccnSPz6dDCwvKZUaX49Eyj7mFdjZFUC6zvO7IDOGiWWZm3EJ7ZLC+hkWwgxmBVweyKyyCGJrSJsqFREJ0d6uqqkbV1cap4lAiaDEIg5IZYaO665p0aculWSYvS3g8ysGj/qkB0X5AgXrjVM5MfrXUqtyNxK2pqlH3Nd1uxKDRXt5dI5vnHeCA+d7YJMpPz3qnIvH1b4u2bXYKNWiyzexgrBQmYLC1VU7ttervG1BeMnfj3FUE84KoTptGu23c3NUTwjE7mF046mdJU6T1dft25VnI8NYExRMe4ZlTg5WrNha1GfrWJWb7hWcjBsABkwgkk58hniNnbkyU1IrGbtl2n4oKezU2sjmj2Ew5W2Ctptyx2Jr2zo8rXYjaXbKxGZ7QpoVoeFgHPtYnz7njmmy4QpTWa3BkUAfOOSBmDwi/Vwd3I1+m7FHkDGx91nZyQOOhgLzTi/LMWLLxanb+YdkLC2K0WxT8h3j4vA0HpGPJBNIZxWTTDmrG/ZvJ/uf4xMWXiiET/RpbRgOW+d0JO2IvKlld1XW2rdDUlNvH0ZA74E87DQ2OPu2OpQMCWzgTwkq77W18YZbjaNljaemcz8j/4CPCKhF2v9o5rGom5MwOyPP5U5PbvJMsVrfq3yrvk4c9Ou3cf1BT7+nqsW1dseIVjq35g1doISvz2oac6/Y9RBDZI452zczJcG9Nbjo3REB7mchqa1sWlpyZ61TTV6/uzlW1sqSO9IzuGZ7XPc336Pp7+tR/y5362B29+vLQkO657TZd0XuF9oyhk40oes+S7rxnQg9e0KuH+KCO2EMi/2rtmt6rc1rOEPd7NLbiqPSIpb2ORyN2n2qtBhlzaUz7J7cLWDOSyS64fmwecfy91evbSUF3tzrP+bkM39iMGJ4VOWe9/XUliAbjTG4B9TKsxXVT7bgOuBDm93VROC2GlidQLR61tt6nJ9rWdGDaUbLwmIq9lo4djSqvAkOJEIyJ9lFhH9CxrILHssL0O3pRzjLuQFsVnK1MGL/J87sq8G1Dy3CtTmFlBBkyuDZRg45Fj235zZYv73T5/a52NpWrlvp6eVdXRedREbGygj3GtBmCNiRo1ERRi47fNLa+/d4x0dApcq/Aq1h2ZHA2nHHsCXHBpdtHIvsQATRWhUozE5Lfr6O+PDmWpaMPdG6cewFq5rj85CoXFKVWSSIqC2Bsuhi/TTAdU6LS1o2/0KHC+phaOUNeQiJ2TFyzpt3FeVpZT0WaVSflw+KKbnWQr7CrseFx3yWCEqkSzR/+XZFaFaXHNTLSpLGaRi2E2mQixl1NsC8pAlsgfmm/4l35Ona3sU0fpFVBF4a5cZ5fhI4o1tAv2uZEW0Bwuri6UdwdEmeeLQ771HwMPcqyIkSUgB2ZYjdLTJwZEvefoQc708Lepdb+JbX5K9w8F4+IM/5IhN3y7GPdjzCJcRauD8yU+38Dah8PyznwiEh0GB8CiFjI9N86tHruqny5Pp32zAVufypUJs1mJtd1QxDtOf0CebB1HxfJT5sWp69UtLBZdMZFd7sgIhavVOyjcRWv1Gj5wftEeUqMNilAQD58ujpm6bMffe8mDj/9+lhgnzxNA0oOf1tlp0+q4ciQ6q65VXi8Kv/AP6ii0PUpJBKiPJNRLm74iS5H/iL0SPXZaortkY9RrZaUiFRKFqizIyWbEkUqx8RyqahFtHcpQaPmVyJqKTup8UCOICaPJ6Z0qFPpQFqpgpCIjCpvNl/pUEgF+flKBpOKhFGuH9kFMRUUhPVYIqgvkq9L+kNivEmxgwd14QNxRVfXdOzjszr9kyWKjq5pvPdjaq2/R5mFaYSdczRn2ibz3R6y1T7X8Z7r1vgGltVInYFNt7cL21bc69VVwQsUzji358NiZhs/SDGbAQlbZCMFcVgxV1F6Nx+bd/mpew5Kfwxv8Sb/5++/wIX/+td8MbrAj79nMboiXnjxed56qxhe/QQBeQiu/pQpz5f4VjnwaA6ELJ7jOQD8g+DtWOP517zgAcKfAz4KPEd0FbwVBdih3wBeI+otZjoybQpxFNjzq9DwAuQAVgjwARDg7wnk/hzeWuLzvk8RjmDOOQ4x+y1ic79E0PcqLE9R/noxwy+/DJ/7HLzxaXhBpN+MU5ILxdZf4o2/wgEgAsAbwJv8ffn/4Jv/+G14LYc3gJfebcXxSSK8gZ+fABAixJmfcsvsbya4NAa/+ENy33hj/QoHKI7m4Lx5GoTgD6Lwf97CvNCrr/Pp137Em4KvfWUNgFFg+El45LRPEov/jJ8Bz/MmbyHeegX4AoCHF4jwcstzeDre4s2CPr7nLeRNXmAAUfvcV+HXHf7yJxZ/xE83ip8D2K/AsxdifWUvb/IWL/IWX8xUzaeAF+Anz8JXP/tteOt78NZL/OEfjvK//t8iXnrpeehoh5Zmc7+33gL7rc1V9FY9/LQB50sWlfXwvWfe5OWgIP6ce0IX2EMQH+O5N9/C9+Ifcni6FeqrIbSH3GeSrH3pi8R/K8RuK59vWb8DuS/wEyeXrxaDP89PESVYlEA8RA4lJHKTODjEiBHnOfjEW/BLL/DLqVdg9neJvxXBsoChGW758Od55H/+EpMvvkwtwB+A25X5JvBDbiJszUDsSTh6P1gx+CeHN771Ivri5fCTH8NL/aZtnxNRwvA/HT73R5/jtedf45d/+jweYBg/vfgBeB14BXjhZTjwS0/yFja/MVYM7X/HaxbIsuCN5+CN1wHBl3+d5x79KS/89Lvk6IvwH4XwV11Yva9g1b/GV8bneS2e2rmb7lmFVCGHAd8oFA/D9DS8GvzvPFzyF7x5dIy3Vm/irRe/yYt/CM/WWfDGmwSe/Dwvv/Wy244V5Lw1hA2Q/1PY9SJ8CvQWvD7+FhqG4ILFVyd6SLfWsY95LnozwSqrvPqWD16z4M0c8P0rzwX+mb/51Rz+6dW/4FtH7oOZfbxRcpzvv/Qzvv/K93n2B2fAC3386Psv8rOXXmKs5od4i7wMvrKbn63cS/QHHQz+4D4uvriLA4/U8ud/10bttxI898WXeOJvruH53+ziU1+2+KXjHTz/7e/xrT+/kr///92ANb+XY8kkPzW1uu3HtE0IOAiA52dw3huRnet2m49FDjnAG4TdkQq5b75pqvF1i995+dd5mRfNyd9+EX7001PukfsW8NYph/EWQ+70Evs6xkjefz8n1nwc/LUYFxx6l4V7tzsFuw3tOctsl/dTL7hW2F6BrdkA8s+gOMc1wLTmQMdso0VhocnZ3QoEXNSLhaqXUKvlaqKFZos/i7EV3jiJunsuV3u7CURLteSr79JrBCGzHbcRS0ti77TwDSij1c+DFvbvV+/AsDrnj6v7cxjnYDmaYUQn7ZgWQI5ttqa2hWhqUm57u4YHh3Uli7pjH7rD06eipQtPiRYuK0fNlweEd/d71giGQefuNv93clzVboxB7VyVmp66Xjg+FzljJA764OSk4vGkZg4hz3oMxZzW0TuWpcVFYx+1XJm+B3WmN+el2JCUYERYKFKEJn5/QBSkZLbqyJpb0kaidYyJJ4XBcwctsXZSDE/LRLRut1PLEXxNlE2J5ha106d2So3Dur5e1LhRoWWYoLhN11qKFtqau9MWA0WyznVZQBczv9eJcIu4bVjctiBv30XatbBLWPOyZjxaTCD70H9T375HdfEZF2hqaECdj6L2c/dr5JvDOv9PntTvNX1VQ/yh2pZ26zbfb+rjX/+AYu3XaebqXXqybU7TLdPy0Se4VbZnRFdd+ruqa2gUti3n3LPlufJK2X6/rATiJtbty92gRynWubu6xMEuYdfJQKxdza4TUbBHmZ1XLmiScZGdcdCxdRdoikY1bANt3AuyvWj/bzmiDvX2X6m8VPO2fS2Sn9Ke++5WuthSx7CttllUZSHbcfTUgY18DPkYMMEsJkWlZU8Kkqbf22acWhaqbURVvVGxa0J4llw7vSVsRw629tcsipqN+KI9WAqA5hLIGsL4GeqQZdkqtM7U9Q90aWDS0hU1lhxsOViygxExOa3T8lFX37y44rBya3L1QeuDSlyRFJ0eYduuyazHfVauYNxwsbFXtrVH7MmTzYBqHI9qsWT3elRUYKnNY8nC0m4s0w6OR7N45Ni2jMnaL2OKQ9i2bNACM5rdKSagFNEUUMaE6Ew5Wlxb2P7cHcTHHs0TkDHfbsRXmd1Jt+7ni4q7AZBDkyhnC8LNA9q3Pids9vUVWGjItmVbtmLJpHbNzaryqiX13PV+Q1JzULpyuxfcpXxrRHYB8tWMKAkK58aVm0wqBaqZQfmH3AxUBMS+UoO599SLimqddCe0Arrl8Tcpr9Rg69eqquSzbfn9VYp3XrQ5VzHIbLM3TBwRUElOjs466yz5cqZNtGEcFxKbp9war4arGzRsDSs887gOPX1YoStj8ubkZkUwerTO0WO5HdpvOsHEZL2OX9W/fQKdjAQwsLVNx72CcvGM+30wRyfq2uRY6PjFYXFh9JR7BlKodB4NkqszyJMFquFmVTAlD6jmNmQ5tmpufzrrupDOO69IXYm3oRDJdChPjq655rOqqakUq9eLYFSkT+ji/YsqTCR07FbkKWATkVzqpls0nyqTcZ5GT7mnn3KVlnxYfVXlWqipUe4YymmuU7zoNHVGomrN5gpyUEEVitKmFWtIFx9IK2dPUst3o2h+QAW7czYFFuWCklE0vTKtmwJ3yMpNqSB1l8hZEhcvqOaGPHk8RaqsSIuKiFLJIsULUO4kykslle5sUEFNXAnylYtfSSuugpqIyK0R9Sidm1Z+ToFsGgR9wjqq4aYjGklMCXYpWrlHBXOPCV9EfPxqcWKvmltQ10Mo7kENBJTMz1VVemOxoBEDUMhFNS2nUlrUg47edJPsYFA3nERHPQfkHIvJ5ErYPMjTnJRjOzo2d0xE0JWJw2reQj9upFodFwd08JI+BSoiyp9O68ig+c22LF1TM5LVXibKv4DN4ApCrKO+MuMq7GsT5b2quf12DQ0NqQB0sduOk+dPajoyfUpZ2mtv1/wNlo73I8bPFxxWIFKp3LaE+tJVarjkhPYtLCov72lxfEAU56vCb3Kq0JxnqL3detqASfvFgbgbF+URpNyyu+bJtE+QUKQNRToQCRTwb9CcZL9nAUdlZU36fWzkT6gB1R0p0MXeTDusKDtOoT6EBmK2Mr5NK99Rdf1Wk/U7iB8Nrg2qjjrBkmi5zCUKnVY5NTp06BzZrskxyT55yZOJlN+KQjy1bxUXo5mZA4Jxcckz4sDTomZEPP1/IU7h1NUO2UzLT0AHhnzi66NmgiueEeX7BSYT0UaHqxD+a8yL+se12DNgbLY+j+Cg+b/DONkODNwvXwbt8QFc25lxqh1mi00Pk/loI05iSIFAQMG+mFJPHdOHdu/R5x+J60MDEzrdOV15Q7XyUu9enxTsWu90I1OX6+ryR4QzJgYC62VKp1FV1Xto9HUJCrrEUDb//pD8FrIOdory9s3ne1E0YuCwhRSqkkoxglavvkpXMKoAaHDwNDm2R08//fRGPdhx7YvdqhZfjkp2Yr4EQbNyaNM3O2Pak3Q0sDQqgj5xGN1goZIAigyghU1wvoDMTqB3872KWXc0R6yoOnrHlK4bU1X1YcGQiLeL5iZ1Rbt0Z+zjsmMf0+Gbp8VDj6h29BHl821hnxSD9bLSrfLfvaJUqlytxwaEDx0+bDjqiz0elXsSYuwxHSu6Rj4rLE48JcamZF+3W4+UF8vvRz09yGjgjaZ8g5j+mMYs8OsTyIRaMdQCm96n/7j4YL+wHFH730SpsZWnw6Nqnj5X+C0xZCuDHIqQiZ63FcGriUqvKMxSXlYQYfTM49vnXugf71cwNKNj3krh2yeI6uTJSdm26+PymgmxCfc93An+ykmfWtK2jpBN4WEJBvVwNF+xQ/epgh5NBi+V935Dl20FLJ02sgEUsDHQ8rD7fybRzwF3XGMHXLhjqwj9legaU+0NN2i4r0+1eJVPRDio9OFDKut0fQpUiKUBQ6dxzrRivWa3sWqtKhJLaO06W9QfEVWPicKgUTpsU47JEVRS4tZTRYUo2pzT28t2Nv7p9YmZfjYodraRXkzA18YxS9kxRd5AQB4MbcYhjM8wM6dsf8+N620bDbwrQEO2+NTLPap2EyY1gO5gA+K96EehjLI45xeJkCz65c8GgLwtSZ+5Vwr0mA/lh4cU4P8Pi8IEKM1hwZKah85Uui3DeppBE21G6QxfaIk5g4Q5hl9T9Gr4qszEstFAaVBzrt+wOILhKw8hg3G3FcBAr9YzVlmWaocOq4UyzYNSqZRuufYWHY1+SPbZzYr6fYoG7PUKL8UsPICIWqLdlMmPX8OTwwqVR2W04Yc2yp7F6PqfkeEMBUKNmaR2061cztHWsPWqLlR4M5t2Dw1elB8KZTFjnpRlOTr59NN6xIcm+lC8EJ37zXsUOittSAV3LItHhaESff3qHyk/3Siv/x5BjphGAz0oeoaZaM6lyc0JMCw4YgY8126+l81G4pF4Qsw9JAo7RHWDoFVx0mrt79H9DxzVyod+S3zoowpUXiUSUXEiqty6sFpau1VKSH3pQn3g7rsFjpYYUQCfAgG3zhpmRPsJNXXcqavyrtVwaEZVX/4DFZU2qMM/qLyRj7+rNqgH5WELfC6b5pZzmrziXkd02OKqK0RZhwCVX3tUA/ceEoGgDDnalQKzw/WDyCvVwYYhHadLUCs6OkSkXvjNgn5azdZo+XZBTBxAQxPnqW6gT4z7BZZOnDhkzBqViD4zGR7dUs4rfRer2W7U4f5+BbfAovfn52vp3ntVkdejmYaLdZF/QrWgrjlLFyU2mFmLMWluLcyOYQ7TL8er3XopPCzGUTnVKuFhwYKGw2Gd7vXKQKk/ZHbv37lTLGYAD7YY8wofqj7wy/qd685Ubu4u5UXytPDAAwrcWOSO84BgVcxZImHq0OdFtr1RTxGG1Zm1YxrCpWLpIStexKd1zdnLjgloYLtFJaJM2l7H69VFBw6oFqNUfhhk4dd0w0mVbOJBMlKYRtXVOYK7Nt57C5/XO88H/ZoiYdCQFnKGMwG8TSIvIf91fSJk5qUO325FLANGyKQ3xsOOdOQZacXMv4enkX0JOsL77Gje7vP7wPf5LBZfwtaPePmVV7H32xxPHAHegGn4QUnm7Bi7ng9i/3YMKOOzvMn/5lm+/zngyApEvEAasChLQ9Xzr8Iz5srUvgM40RjweeAtVmuq+LWhHF7NKkv8xQjPR2v4KlD08sv84y8/zaefv4K3Pvr/8Pyrr1H2ylu0uec+SyH/kLlwTfCT1wB4kwjf/ZslLvnB88BrwE/xAg3AT/j+xsNOFgMz76mubF4x/zwHvARfT/2Qn5X+MjhvQP7GeY3JGOW/GQLlAV7A4Wev5/Nizku8zusAXMMnsHmLNPD4m/B/fgiv2vD3L8Mbfyj4s7cryRvAD2lLf4pYyOb1RT8E4cS/Qu9beUQ+7+WN6DH+/uwXeMX/CvAs4IGi78Npn958q7fALRLeFyzy/jJMqL6O2GAPYzRSRIqf/OBZPn/j7/F7V6zBFWfzivPrBO5o5fC/P8+riy/yk5/8iBd4g5///HV+/ms/ZJg3cfgOr/Emr7wSNzf/p7+Av/1Dfvr69/nDt77FP+pvKcz7BhSFsXZ38sraLxEm4/bb+fMz4BXeAl7jDbcmMp+1yy4j8JIXfCXw7BH4yx9DTQRY49/uv5A//atz2G0l6CBC3pIfz2Vh5ER5NR/K4x52/ewfCODhBA7Wj38Mr/8M3nie+P+EX/9/X+EmoDQaIxwOAz8mxGvUfbGAP/n9L/M///Qf4FuvwtgoBYOTpkD/AvwZvD4Mn67e/B6fOfAC/1L+Ot+0LF61LHPQBo7Dd5+Dol+FQMU/EZv4In/06r/xXeDHvn0kiv5x/R7fpZYcfoUwESxcuMZLIf79uRhvAcXf+ywz34Jafkr1JR+BlTR/d12Mr/W+DrzISX4H3niT4Q/cy+gL/7zRIf79dYjAs995gKt/+yf87IUf8KOXPXzlgXspuPvHjPMq0Ab8HfyW4CfwKvDaMLxVsrpevtf5Pj9C69//GPh3MN3xDTAIlRzWPa2vA29uafAE4AcseL0A3iSd9eMLwG8AoNdf52tf/CL/jHHuPwKIN/lG5//kOwWvbLrlXqC7DO5oegGfO0EdcETs2A94t58gkMMP+C4/x+FNkoI3vw8vA/n8FApe5dV//SG8ZN7tx7s8vJ78PC8BX87c5A3gV7e/v7+4mMTMDH8P/BHw2W/AWx+GX3m3BXyvO4VZsqFOG6vwVA9Gu7E3cP6DQ8bsAgj7iGBKtj0snKyo1mWEk7GTufTEu9xV3bZVgKVvjqGCTfwyZ2k9HzFm+/YLz6DFRQSOLrVQT0bTTiJunxY5OeZcUJo5tW96B1vVFmq1g+K86/Trt1+kUQzR3V2LufqaNWUyIL1rcbd4DUbb44Poya3QsdunxVk5ZgeUHQHd2CLKysTkTSJeIYjItqfERzbO2eUYG/GuJ58Ui/uEN6ACCjQ6/01ZsWlhbecI3pBwYVQ3vXSzClryBDMy2OwK7RodNeypYOzh2WWuQtycbc/sF9lBSDE0NGSrfGJCLcePqxdbJRlNz8PGzsey3D6Sde+GBpNqcnSX5ijTA/ZtyiEglnZtPq8LpfNL1GP36WIuVhllGpmZUndvXG1tyLF3hhG+nazgaP8j0/JHg3KOnyVG+9TQvF+NjQsyJrPvCD6lZrpUktemW2+/UaU5HSJUZ9pu92my7C45oCVSmuZOxZ0zRGCfOiY9aisq1FUDA+qqq1NlRYWYslWaRJc48/KwX8vnY3bDi7Xavbdqk8mim25jQsw6NtY/poK8Aj3wwIxycjI7bEs4izovFNX9k5NK91jqON/WUUxOCduy9dSup7Luky8bQ5i3SCbWolQZZtqCAjQ8hJpa0LUDObLnRmVZvyXLdkn2eFK27ejj11+pxWYXRJDJ49FsqD36h4dFNCpCM2KsTxtUDduL445l41TeOL6PbB6fXTJafrHgNhkKiHmtswnMYhhXwewqkphdxFTm2lOf63XrIPvYEo68mXG8Q15kPMhx41HeS78rBF1mmx1SnA2fSQg0ZhuTm72HrB2RJZylLffJAp2AKjFEhWAC/bal3Of/kvkoyjZ2Nj/idIwNct9VIm4mi3AYeT0InyMOX6RQqE2XX4mS2VmKcjEZtyIRtWU6ZxKt1qLalVGlqNAUW+mPT6Vf7p1F/eMx0bio1BkolOEa8rSJyaiIOKK1VVO2vYErdxuilr3yNyQV7EGEwkrNpNSH2a5emevoMNFNNBDvLMc36iWEKES52Xb+MOJTPaIsotZN9ekTuLleo1ETrRr+kMavPKay7Ny5R9uEbaltbEz8QqEIHZSnyKPjf1ao2O5h0dLztuXzOyE9c+JGtZQ3C65SCUkl6NUHr7paZcUm8rFyslKx4qw4gXRIrF6uTDJx0yGzTRcJwbyGWie0MnFcjeWjys9dlO1Brfch3IA0qqvF4Jatdnm5/PVNamjoE/F6xT72AdlR33qwWModSFApyr8uxsbcSSFP82s9KipbUl5esQ6soAfeUzsZuZjjOueRAQWjd+q4Z0x2jlcLZ35IFYGAoTaI9stEhnuEg3oKe1TlRLQLv6ppVKwc+UZXdJiQcjipaP2UnHPmBTliHJV2eTXRElYXJsF67aHdChemxB22CMU0nhdVY0+V/LnoqH/z+AoR0qOcqcxEnU6jpXOvVFl9s2Kxg7IsF9VnW+LomK4YOlcjK4dETbvYc0JjmIAmq97WRQMbi0IpburK1u3zTXg8ZvwGBlDBNY+IEy2qPvtKDa5muLNy5WDra8cPanHRdXZWYnKDBN+5ztu2OXYctLzsUWR8zTjq3eM5ZAcIxmTMNbaMiTfXPeYqIFF2nsR3Gg+gD2Im00zZzuND8mVo5JcxQYXZ1wURj6LjFch3AN09/B773cEd6mkSlZeg0RhZihTiWM6WczP1YL77eHcU8e/m857NRy8ChwE4gkHUA5YfPIfIfw3msAALiPLii0u8/gZma/ebfwCev+Pbvw++j+QQCMAYIcrkBX4NeAHLLTkWfO5VeP23v80b/CvfX4K3Ytml+F/An6x/s4Gal/380yuvssiv86zl5SUraH7UdfD8YxCJgWXx38NhfuDxANCLMQ1ZfI1X/+nHvPyXgPMiz+6e44Vl+H4kxsM/e5PP8jzfe9taCePFIbj+/ZPmz6uYgIbvwc/eOAbAJNB2UZLwZ/fR9GwOXdm38b0Oq79JHrDn+efxvfkmoRc/x199cZB//1nZxnlfvQhkE1+w4HPfg9e+wBv/8QbWJd/D/rMX4Z83b3m3fnIES/pd0PeA38YK/pTcM16DGBtN+k0Lvpt10bMp+Br4Gn5MoAfzYiWvw0TmhJ9D5Fv4nNcIBl/GeiZETp0PC8iVn6Tj52gE+F//C/7kT9j0efVVCL2CddKCyv/Nc9//Td56WfCzHFOW9RMt4FNY+CjoPR1fvZ+v/sY8//HdZn70oyBf/FUTNgFAFzACrO3Gd3KY4GqfsZF4ciAMfmL4cYAoj/FJPvuVV3ll4Qt8MmzBzyHwqVFeVRvMhvEW/SVBcoAQvAkvdS+wFku4yE0L/g383/5VPs9LvMCvI/6DNz9VBrkj8Nfwf/69gN+nl78C/hGwPv91+N6z8Btvwb7n+PmPLGLOSexXc/m0fzP0/CVe4uO8CrYFR80geP4b8MZ/wHPPfQEpEyMAfPrnfHLxo/z0W1+Hf/Pi+1aYNPB3wGFLpOxPccrHvC4Ax7IOh9+AF1+Ehj+F1F8a0PPx7zyG/jZz8jxvOnDG3gb+OyYGo+5fYPZy4OV+MBEdO36sbY59Evi1X3uDF771GVNRAPh4jiDrUQBLz0E0A9B/HmMUfA535jCHtsHub3wimBlj4/OqD55+sBfq69fL9tThj/Ga1zW4mOlpywuE4A9O8JV/9fLGl+Azz8d4T58vYOxFWz/fBL4DsedOx5L71nv2wddP23Lic2S/6GubbudhiTBROoAWAI5VH+PEE++ybO92p9ACak2gnj5bzjo1hbsCRXzi0RkRj8seHHRXuJBgQrt2IY/Xo6mFKZFA05OW7q5eUlsbsumXtVx0ioNollIRaBR72wRpw9a4lZ54knUnp22juasbRG2jHNCsdZawXaRMMi0mZ9eTzw8NXazOwja1sQ1FQQJxL0ZD9wXE9KPvcuUfUzmpjRwN24qpr25Q38FzNMG0LKyN5xcg2meEc8jkqQBVU6YbadAChsSLsTERDIqlg7JsR0/seVIsbNTDPXOjSvdHRP3bk7VFooX68l13qCVdKPi66MzRmTXo1g+OKrcspulp5Dhd2rTdr8oVNwyp2kJtGU0sQ+UARmObmFb1iq2u47b6LhzQb/SVyuegX9jTpJzcBu2e3dBqJjL13WPiKqrTUXH3LhUWlar1sh4XDrvs3rtCGV74AstSj9/Rpy45psnySQ1OfUCx+OOCts3vmSnbtK3KfFsdGRNlwbIYdtTEouqJycRmzGrfyqT8e33i7GV5+x099qFbxEKzsEdUuitfPUxrHQxhf1DOlsQr+z1ofgolWNIklinv4VvFfo9oLxAXdqsOw7nTD8otxSQschDkaW7uFkUiEfEYp+RNnsUxWqFjUD593ePKyyvQBFlgC1d+IScl/+67RXePOPd8NdOgUko1h6XPZ6WMLCBf3XRuunYzJY07tkCx4jkN32HLU14uu8s1H+1xZIPObVtQdYsp10Bhoc5ubRXYms2G1YbYoEN5z1KpAB2GEgeEM6rtmHbfvUzLqEVbjnttY9ocwMCK3zaHOSLgF9O/omV6zHwxvfjuy1CIaN3598ICdFPbgwpmYl3sYWGd6vDeWVrkcKnpM247OJYjx/s+m4/ip1Up7kfJPNReWLRuvzKFtg25XWmpOHlSkKOKtn5ZhwpVVISsQ6erMPSLIpUS8/NZHbNAqZaw+tJl8uDRCS6XzaKKToRFKEc8FlfVdNBMmB4zmawnOk9nTUgWKhzH0CQfMMR3fmytUaEAVeovKVFBvk+JREzp6XOVLA24uQGSmzuIH9GHqlpPGmhh4dB/ofNtlSpBuVI4eui2LYsRGHjZeWkRcmTQHZagV6UVM6rIvGdBgXAc3QpyLEsjTz/tDpBDChYH1fHVBc0lizWWCUDbqdN5PXq1NF8thFROo0aw1QLq/OAH5S8r01BhhRwrT2QnjSn2iTN2tgmvt81EvcGdxw+pqLlVXq9X91xz80YuhprbZU8PKX3Yre+kMUlWFebpsrsvUzDYpvhtnxWRoCrX7x8RxMRxdN6ucqXnpvTxJ6bVXVSkFGfJy7A8bE5onplQ3l3bFAk7LdK2yEVOl6V7HltSvLxDgGZG0Gh5Oot87mxBgSrYaEfLQoWF6IS/UVbxFrK8QJ1IHFIMFCGpjnO+olhjmbi3QgRs3Vjs18xsUgniyh3OPSVuZQR3kjreJujQkSSq8qP0tch2zRo26FYqdXvFFTpiP6SKnqDGz48rhxyFCauM/folrli/Z7I0oKaprAC6YrLiUsY26i6OPKki5Wf7l1KIu26T5Tiqf+AjinWMCVAwmFI8bqDeRdnvH4+KC1f+y2OoGDRzeYFI7hBUVsg7IO/Q/v1u5rUtx9fjFFIILzv0JyP1oIGoLb7QKCqDOmChWKHxDyy552RQTDXusdy2NoNKAxGMaDWev8Xcs9FXg0F0XjytkKtIFlsp+U/sQL65rfiVMfPmZpUJ3m+fwlmP77h6+vx+La+tKZVCM9MISjQ0dFyOnbE/hmWiPFeFz5LjQWFPSE3D16n+20md0TSkgGu/8/lQ0IvWPMiHV6O77HV62AiGghf3RTcgqch/BJP9C7TKEZn4gEHlM6LPdd+uwYZaVVSgC/Cq1bZd7vpq4WThoRMhced+jS4Vi6ZHBU/pENtM4P8ZWZ0RjOmod1jXP1EjrM2NXI6h2N58XZ38Q53q21LvI6A529KvPP20TA4Hn1rtuC6/+wwtF7Rq/u0mQz8Kpy2d/8dhxdO27mGDdXLggwOKlkU1xJAmsXUFWcnlkykxO7/lfhsw4kg8rq65OdWX1Ku/cUDQKj58qTz4dZX/CZUSl4ne3K5czUoH+3R3b69s0vL4bhIENLI+SRmI81gzKkqsCjzi0AkxXiT8tjj8OwqEejW6sPVdR3Qqs+vqNs9fNe/iQ/5cv+iwVXbVJSovN0RvoyO2GDsmfJtzUWQw7TZZjtDoXvk6Ozf6jBdV2ZmsdR6Bo46OqxWLVYnBxzToOaLayy/X/Pi4WluXdeVvz8veslOYyTANr4thElgdQEF3bFhYGmFYzOWLxfuMk/X8jWt6LPTprKC0JKiJBa3nku5g22RZlCNKc2So2t1jdch/zYflOOiO44461mHV+WI9/idLIrxtZsOdxXtK+/l6kZVli199P8YmyOPxmzTD+ARBJTigO9l+Iq5hiyN3HhF1tMl6EvDL63d3Xz6f/JalQAD5fcjvN/W0scuzxNtA3vtBsW3ytOwshSKbay1L3t9F4enzROUOmmIkosCjj2rYNhGEBpVypmDJeP+PrgrfCUUIqnUO1Q2iu7sseX0BEUEOlvrLg6IO7foEuvgkOr6KfAyJK8uM+QjjcMpsI7OD1zygz4FKg0HR2angYKMyjug1UIAVWVxgOhXnyylrkTOMDndXKl2XFRFoWSIQkElg0y8IKTjA20cxb9NhUtv9FlwTLMu71innlgtkzBZZgxZ0PshoDJkyeUSfd9vFOGBbCj/9tPoIygGVNKEbrkRHrX2a3wFlgY1YRbGcAl179zdVW9+m1pra9QnshuUbVJIscesJRbLyDGNXib6bDWFZReaeWUFZ0Zjo61PjyISGDh9XXd2Q8kobhONR/aGTKqFEcMcO9eZRTjCmg52dqqBCg8vXioBPrGV+bxS0y0+jRigy9eI9LDyFsq5DA2f0KGz1a3FrME92UpR12S7JUFCMHharI1obfNTQt0z+mszuDkG5WP6wSaySdV0MMymVshGPEwFdS7sSzMg/irqvQsdKBk1AGB0yFCF+ma19SD6COh6JKODzyapa1mTjHbJo1ToZYA1aS50hMDsxE60+KUjrYU51Eo9bC+oNPGCcvpMGlZLG7GTOmNo4L4GJxH47OvQNGTyl3tbOCArH1uBpt6mLvadcM5j93eIdA622l10yGRg3ji10oWjWvd6Nc/WdJaju7vtVW4fM4neh+glmJdvZLA5b8rwHEFabMsitQRCn3aP+hztUubtG9rW/otWctJ45Gx1YRJdckqeW2hodoEqD1Mpqb9FKLTpUh+yuTH2bew+AdtOuRHbyqHcUR3T5tq3z93dRYEwUbKBRMuk4m0CnO47s6uqstHcJ98Us0YIO/Q2azMnkdjWIn2h+vnKsZfmveUa+NXTrr3WL6SZje0yjtcvMrsGgTGY2vVgNaIjDWqcNdisvmUqJK69U1TPZKfiMhNwBOz1drJKSpGxyNNe3T0UNA9tU6he1jiC6nfeEZkjDNsyuaD2vxNKSCo6dGhLfU16u88fHZbStXIGlUOiEop3m+f4alHtg43wraenqqac1yJo8+EQdqjwd1XXmqbT1nSiS0ypp/XNN7+nU2WfXa5CYagnqUspVeIpGYrllCojOMsP70pYW+fnCf3KDTtofEJ3lqk8VaqCgRg2HUartGnm96K4rUAK/oEL52bTnrgyBxoMp5fVeqZNUidSfC3vDrNdMJqd2s0ZZFvZhzRz5R3V1TYmLUfs+FI2+3fu+k5wQ1Y5wqnWyblrYSbXNHVV7uFywS7dRpBFWFSV4yiSUS678BXW60FpRNGXrnBNelVtdglZ5GsOqqjkoP3XKtSxN7MlXbzuidq8oKRehInHoBnGyXKw64ouXqnbiw9pNhdK0icMj2luRUkutGehlHFM5aHUVVVSYCN2tUMg7o62qP7BbcI4AVRNVEUHTh2/fOC/JNhHdO0g+tTKTpQleHB5GH/wgwrE0dP+0RjraBMuu6XijzRLv8v7vSSrZCJh8n8SybKVSBlZrgU6QryFMcF8ZmEUtPyJjak5uyc9RkNUXDLS1DoRTK6o7REdalIwKfKp175+fH1V9fVpQoFoKZZWXqr8QDRYiqxKRxX9Vm4/YVybyNky5fvdZ273LGKiiGHHO9vX0vi4Kix/s1P7zNlLTGWeopWLQVVjyg/awX1i2WLhScL2wPcJCAQst2O1KUKPxSUvTH1zQ6pW71OXpV3qv6bxYzcKq3tDswgE5e/ask3OZycloNRVl5erq2IBd2qB99Zi4AAuxbys/iK0qrlR9uEnMWSou6VFP33k6gsFwnzoJnqo97T/lvHchWXj8/VnwsT02bl6JDRKt82CTo3piwlJnp6WmJmRZjgrSlrp7DKHXom3LGbH0kc88rVkcV2spkMOQ6tkazr9VbEFEI4MT2t9RrLM7OmRiPjpkc5tqydE1mEX1XJAxeewy9TrqajI3PS1uXlD6A4Xq7+5375srZ2hCVqJcltWqTstSoTMvn4Me22sr5tb1HraaoDARt5GoJqfcxX96Rvj9Yr+pp4WaK0VTkyz6tJfHRORiHf3BJzU5OSmmbE332FrtQeza+b33wtvm0d6zZ498Pp+wPy/sITmPXyxrf60YGlbp2R9UN91qsVBZnqXp2x11f9BSU9M+9TCg/D35mvZOKzAbkGXlCoZVZaEWty8XgLo9jhp3z6myAvHSmLi4U9AtuFpYZ7n93NYCWZBU26/O7lmVnWe+17h1NXDlkFLN+Yas0L/1XUKCa9YnqxaaVE65LAstLm2c1w66yJrV2zptLUvQqN3UbRDluf20zNovG1tX2k+pwV6UY4/JsQrFfp9YuUHxxUs37xb+b0kZxvQFystDI+8VGgryeizNzZqx4eDIYo92Y8ubIeD0InY3C6dT2CPaY2XHUZhdkslsaMu2kQdbFn5tVWYzUlSE2ttPPR4GzQ5gfKiZ43sQ02xK+VqQRt1bU/pu4UTayeT9vi4KibKwEv4NLTJGTEssiZwFUZKxhyVUQ60C8WrTMc/0ikZ0zBfU1WsPysNZiuVYCpQlFAplCmrSJ6YJKZkIiMuqRG9IwbNs/cJF+1VxfYWpFDKTFzovPazT676mDZu2pXhZ07pPgeP3ycHk9l1nq6RIOKXiwPXyTdYqsnevJgoL1Z7Y4tUvGxexMtls1qTes9bjscVdR7Ouv1hQYhJ1ryfk2NDox2hxy+zWb868nPakcsNh3XTFh0Vsj4z2d0SXHDsmx3Y0Ova0TFyDT8WRCj1WsaRaCpTaMUjIFhxVTo5fJ75ap9a+Ks2tt51HC1yodlI6gU8d1KunBZXSJArbRT2y9qLjAUSoREQOypv2KuIShSUCjp6oydH+wQEtL6+K0XPELfuE16f4nXfKIWPqOH5KuVKg2pyQlpb6BLmG1sLjMegkUCJQJEIhTTGlkvIq+SZiOrOkWIGAXxxfUOCjdyg0Uij6M7mtXWne+D+O0fpydmivoXhKXqtJ3Dsmx0H33pBSe3m+iMXUNb1XYcJiAOVP5OvwuY8rUjaqYGhaYCmGyfbVmHW/QAMK9Zj/oxifUboL5fUjJjvNrrvIPb8YMe0RHNlwyPegwAl06IwhHe+qlpXVH2eujKqo2Wt2adbm9/XhaqqY/9fc/+06S099YoNZ1VeKIpO5p0wm61JcLKanZcxGRkttPm6uDxcjX67puxNtezQ2NqfHlz6h67hZJCwx3yf6t2dx/a9LndYD1cAsii4y0dMR1olo5Y5tvL2Uy8ek1mhUXu85eqL6ctWT1BXhNXlXvGo5gepv8Khs9pNKfmRM7LeUqLtXRf3IBPvlyLHQ5U0Fujz3cu3d7+gjHH93C2IRmyZ7G5NgancSlVKv9TigW9nM6+RjS9yEtWlcFYMudNv//+qiMAVqLnYU2h8VrCmGGwVY0CWrCUXyAsLrVS9NG7boGlzWSEf420X+hSIcEd6kIn7XVnjM+ASuolM10UaFG7uVP5ZSgIAgqGjUowgR5WShhHalkyqvL99cKYWdG4MsOiEH1E6ZNtskg4IbVOYZ0mhwVP7SA/KlDHNkA1514zeRu7lR2bAZYfVexUJ0oihREULHnISwKlUXGVeha3vMlq5jJiK2H6PRRixLF46fJz+WBqsiIpUngoOKDlo674mjchxbTz89oQxjqdNYpOB5UyqiSmnK37Zsth3SYuekyiY9CvwaYiIgurw6HN2n4xcs6p8PP6kmT4cqHkKVdIrS3vX8tOsyhkpKSzTBhPkesrW7MaymiSHVHz+iA7NtoqZL2D4xdt/blqcQ1ESBjnKjvLUJpa44Jsvr23xe1BaPLojiCmHlyD+5Kl89Ym9Y7C4UgyWiNWu35cdN5L4hlbAx6W6RpwNHdOnBPtHVJTxo8gsV6t1dIZhW/+yyAoHzFSAkL8hmXkeIm0CpJXPPWtgSJb8heSUlah0fVwl+tUR9Wh1vEOlwVt5qI37QaVF3p5D0ivK4CBwX/V55HHT/uea86VpUGEMrKxEFg9am/pZ3+Fzd7MnduO+IX7R4tdpsa/eTT7kTSGRzGY8ccXcFWcccFAmhAfzqcifhLpcLbLAC3ZLMKDxuciv3ugjICpSJ0/O2rYv/qoTpl72tXwjRFRXbUI/vJEHM3OPD0Srt4sly0XSF8tlAOXaBWlpQla9Y+e7uK0WXi0yqlEkmhIo6ipSOpg389p3grBkpwzBGZx2rqUErOaiSVq0vClchyhoUCfeIR8ZE6Q1uG1qyMUGG5LrMxUHkeOPqI7jhyA4hAlEReJ8XhX7QjY35mrh6TJOVHlHl2jPLkG8EXfvZLhWPVuoWsqibOxB5hla3/nC9Sj51t6zpWU3VXKvF9lsNwZsH4RmRZ6JDBw6cpRl7WvfSp046Bf1aWSnVPme/Tkx+zISq22i6gs0pHW3EWWwwYV60sklL3JB8wT2ySork9HfocL2tiRKjKdllNbLrMoylT75Dg55KFbyTLLEkZ9QxVNQRr4499IsaYeyU86Y9CA/qmDDmn9kBW58//SmFAiHtvXCvUrPtuuyzX9HajWGt3uqRY1t6+vABwX7R6lVLOqVLnB5V06wWGrI0lTGxBUURjaZ1yw0/V1eqWb2+MdEyKC6r1O7dXg2ee5O6Pd3q6EB56awyHmBdK53AJEifPZovpz1De1Amh5tlTVryH7c1eV6L6CuQ46DJpR0ghFmSJqy7GVNZeVq3X3u9Ar5sErlyBUNDGp66R9PpHtF/rjq+7lF1ObJGpzX16fipfp9WRO2U3p0jFX0Ej066qB/ba+vmpy5Si90kcFR2Rbl6e/9QXeSoC9SDs0Gm9zYTQIAJjeBRkWVpyHFUS6s6yuq0+xuIJPL7TXrbzPnNoJZltz9TIegRp50lBm8WNqo9ZGI6eulSHkl5PPu0CTYMmoxeKP/wvVkTZYeordYclhKeVRlz0RbHsMcj6BUluaJ9XIx6DGnjCBqiWU2Z/BnTc6Z+QL51xJEtQra6Lu7SajKpfaBAF4a6/l2Okfciu9m9vjvdKnF4h1ihzTIM60wFHhCeGW0lqHxPsoyJn0r9J693JR9DZrd+zEFgaRFbXr/jIhf3CMLKBc1MIc510/32o3THRRrpHDGKXAViHNG7Irrfb0dz3rBGSp6R1TqnkhjyxtAZbOCR4zWoaqJCZxQuKo+E4kSVv7aixtp6Tdgp5bYdVSQyJYvNTuCTIKxLFC8+qBi/LuYXjBMzc04FKq46JO8ze0SJsZU9vUUTLgZ5h1g3H5Xfx7rp4ZTOX1Ios2NIaq4a9WR2FxE2nKYMCaZ2briTJZu/p3lndMVJRCSkvY/eqU7Cugh0TdbvJeDSjrvvdI6t2667UU5OWCW3H1IyEdRMe5485cYUYRWjkrvKRdkRkfIpXhtQy0yecjBOxDSoJYIKugZUanv15GS5nvmLQ3qm57f1KHvUc+zfFJhdFh++SINF+aoL3y/LslXeVi5vHHVcNq3A4ub3PBdjIhkEraZSKrluWFxyicDAh4soUM8kWj6OrkkuqzLULK/H0nXHymQWph2S3YOCeNRDocIMKO+Ks7dsj6PyBJIq7C1USfCgKLhUfPiIURI+sF8lJ66Qg1FGKjbdN7v8IW0PRzUyU4putM31ju3R8Qt/ZR1XfhLEar8I+uR3B+3btnUhwoccilWYtSjlxLsVzWvS3s5C5Z9jIJBFmf6HJcOemhU3E0Hcc6bKQ4eFhWLlBsSQKjimQKBq22cXV3lkFRWK8pBsO6WyrN1IK+VKVKHVMnQvCA5qY9eQL8I+kVesVJGl5lPunVakpFN5dqeGO21NzwbEOWlxBsKDUm0p3REIyI9fa+uotCJtMvW8J0kq2+e2LsWcEtyXET87IP/etXTKMKfGBAlNTKR0yzN5OvpEvn47gjqT5Sr6Coo+g0odR4e6ShUMz6jn4J+pZ6xaqQfq1F1yhwJXBVTaWSHbrlAg0KB0T1o5PSg316sCitVT7lJqJJPCzTNSjlEGSzE7mOR/ovwZuu8bA8WazZtx4cSbz3k3n3dPc5H3R6xd/9to+rf4znNNrD3XTJpxII0H+Gkf/O+PX83HC79MkBfIjTxPwfO/yo/+V5g/8y0yGbd54eW3ELPYJNZv+xkAz1MUfPdrpPg0M6/8Nnlv/gRWg4aWoBxK0q/g+bKhXZAXPk/FpqIVA95nfeux8xW/C272y80f7xtQ+ayhZxj8Ob/b3cVf19WY317AcFB4Af4C+L2d6+IT39n8PQ12YJ0hYtuP7zNgvfYmv/Olv+CveYn/jpcns37/DofwyYvnu+DB4vxnHH75wbvx6EUO/813GfhJkprKH/HGGJS7z/zOX9fhu/RleFFY//wK9rd+xGudHbw8Mkz7nj18/b6bmf/dAVYegT+9q59zPvpjzkndyQ3RP8B+/uO88r//HT7zLf7kP3L516W/wnZsrrr9l/HE25j9vdeIO2/ixUtXv4eaG2z+0q3fZ4HP5efz3Vd/jOe/fxMs8BOhiHa+rzr+JdjPn171Pf4t7zlef8PiQ5+vxTRmUSZ76ikfK/Ym9uKPCPMv5D2WhBc2SEOwn+cNz4/5nv09viMHXvkWnav/RO2bNfC1l/nhi79MDnABcE1WykHf0e9k8Sm8BHxuh9Y5xJtl8OdBqD10iDd5g0/+433w96/D+Awv9w3Avw3By/AqFj8kxPZEDe6naC/4k7zJd/kewioCzwj8PPGXPB/6B357byHPfsPPmz4o64ZSUwNAO4b50/28BkNf+WOmX8oHj8NzV67wHPDs4e/wSuVLuJ110+fZ4kX0g59BRRzbTlFZ6WDbNhYWrZSTqIL/pwweBAzXQoa/4Yfw4mvwo++S+g/RlHXPnJwcdu8+nch3Xibp6eSPuhzeSATgbwvgs8Ab8OzfPcsHeI03PW/yGd+/YmguitixwTn49nXIj4GvbD5UCHtP30vUF932ilc5xLNvc8c8YGqH3xwHbOevMcypMSwS/PHv53PHOSk+e2EB970A/++P6yi6zSL6FR9BT5DPd5YSCsfo+bWP0lMRIPW3Hrrz/w+BrwYo66zEcSoIBBoo6C4gtwfKzvLyy1PF7Dt8iOK7fNy5+CRVHXdhWXsoP/gg7ZHbuGB+kn30MbEwztHhZbjhIOyyaU7cyO3HOgk+6MUu9oEH2u730TACC/OQCgZ4PRri84/4+FShePVnb9FiQ+PbVfFOn3e9UwCFo4UisCaIKYRXAQKqxjGmCh8iJ6xWy1aob81ovUFU1pmviTO6dLL7JhXUlchsdzPOrVodISHPbQd1VfLDuqKvW6HgnGx7SPzCfS6feL86nKACq5bI7RXzlh7ZskJ22LbG3IQsgDiyw2oaQeyfEM6g8I+ox+dTnSdru7ju/D7ynlfpKrIzRJ0qR44gf9jSyj0hGfqI7DiFekGxbu9c1owvpCHy9Ef8f7T9d5id53XeC//esnudmb2n99577xWYBmAGmEGdAXsDq1gkFpCS2ESKIilSIkWRdmRZ3VaPLMtykVucOHZOchLHdpKT5NhOcj7bkiVTpChSJO7vj+fdM3sGAxCU6X1dC5i93/a8T13PWve6135VNRSKiQoFTgYUwFUgjMqjqKh/Si3tHYr9wtNaC4/Lj6t+kP8g+u50rz7W3a2joZByr79egdyAArloZN+8OuxuhfoR4bgaP/O7qjmwrJrJIVGFTnwd4TgKT/6iwKcAAaVxdJdvVclT4/Il6k2b9m+/U+ldaOIpr16xBUHVNU2qb2xDIzktqnDy5bp+HT36RFbb9O9dR8m4OHZA/eSJh9tE3BJ45zaxhTDhw+XiulH5H/HLLXVlWX06fjwmy9OwtgEM6PiVBp//9u0X1kiwR8cOuzoRDsvGp77Wr4i2KtF1h6YOdBg0FHht91FtAxj2kNZVEdl29pc6aDyAsSG3oP2HUdpD1QVC27DSUlBxH8I2Gm81JqCxvt9DCIXrBKWiMyhyHZnARWM+asOgV472Fsi1D4ncE6IW9fQcUX392Nu8f79aWixFZ/ZuG8uyFAqFtttjS0wb9WFMSpX3VGpockgcGVV2ytZe9kpW83NQVTgotB6SFbuQSfDi99xOwnW+9PRUqL5+G16aA/pCHcrJQW4nWg8gE5djC46rh5NyGFR/f6bv95mxYSH60/JR7QW4xWXRZOpoEg1HmpQXaJeVrlXORo7ckoQpdzhXtpVUKBxUmIDCoaAigbBIRGSF0KadUDKSo/HcFZU5J4TPlf8TR1UwjT55xFLBAw9obfJj8v+LY9oYK1NwakE+zkfcXdJcf+mLwmlR2CT2vSg81sYLTY6lDchE9+WKVEyhplL9l+lbNN01bSrt6W4xNaVJSlROTP469HARym3wKrUB3fSe4wq6fkGjash40hsE1lbavIzcickYlfl+4S1kzBtI9YJlRYkqdCGn1bstt6OAY+lY3TbaKbV1vFRsRlVba9gpi1yfzm4mlZOXo7hdpyOHf01f+6Vhffk3b9Q3f+HrGv29X9eZ225V776XlJcalmW5agTZFhpNI2MXzVEtaDpocO2NjT2qsTrlb3DkhBLqPPItVbXNq2F0VBSi1HMI11Lqhe2UjTfCFqOsC0rmbIrWQrPo+hD+MhGf8s43z6SzSMx2KB6/TYFAXPmWT6dTH8yqi71pvROJhFZXV9W52anKui/LdkPnnzszo/S+UtFkiZqUARZYVeKRMpN5KxdtZp2/wYYH/b1Qu2w7Q+8vbVDkeL5ux8BgGxgxx8vLtfhMRKPcIAajyq9DC2/X1t1s0zeDysrQ1BRiETG63UePY7DwlZl+24Ua108Jy1YCVGQHReVVZhFwUOrxlOhMGZNABBMYake1SZlqQVfRIuq7zRiKIUr9Iu820y7kmDaqICvdppdm0m1QZVeOQl1tF3yn/aDC7PZ4L2KfpTAN6sOYO9IMiMCzGjwWUv3m9qJYz7vECpAlpzh/oSmkUPsuFLj5NtJPwY782D4HTbab+JcjtUcU9e30YzxwfEMhf4saG5FZHBuEN399sDGhMYpUB4KkLNo1Ckosom99sUwPVVYpz2mQPY4265CVc1ApN1dnnZheXH9Oo/eWao41HScsNtBp66DuSj8iOCEmfeKsKUMk0qNQqHmrPwEmKj2A8q5GBbvyOl/Gu70odNpKlac1ZJmgtMU9GgVvQC1ayzLh8zM6WLQs32BY7/vMb6t6usp0jtlqWcdaTSh+EQq5s/rY7RFRbTpPJeh7C5YiPpTJjnQx2Q/65azvL14wpD4iuE/Gdtij1rZWVVZXClAVVWohA6N7+2desJN3cp4dDzDEdf6ArP3z5nrL0qKnxVqWZZyL+yxZIVSdU637xu9VFag3FNLs7D06WHSN5u5bUDS2LhxHk86ELvvEFdo/v19+36DgOjl+R4vPLcksfpPbZd3SlicFUUWjUU1PzWrAKtVVdIt2tFRlyXYcLb6w7WQ/aB3cKl+uhUbHJkRyY8vhXFhQqL6+jPaYEEyIyUlxakM93b0qLi7WnN/R8eeyYhOs8+u2vt5Sby+anbF0fZml93aZuJctaoSaGtHbJGYdHbgG0e0TbfvFTQdM6kznebPLm8tql2a0XL38NovCojK71vC+uOYDT2rZsjSFgZEuYplUlgdLBHfLaMrlF7mfJ/dZWVHfxr/Tj6XmFlRdg8ZGR7WZk7OjD1ke+mfRQ5QAIog6P3+lbhgZkg/08WwqZcz7EmiTxRmRfR2I5WXhWxR3HvbKMiZIGty7Dx0oRPR7dZNAjI9o792PB8SALIRSp7DKhOXFmICmQMssCy+TGNaSJtgO5OzvR10FF+b5f6fybi8yRpa0BUwII2vWtN2oZW8xKVhYwkKWlzfGyoprsixDcOliFDTbQpCSzaBRJBaQM4qsdInm6FQAZC0ha8LSchwthpFvxvLGq0eWaeVo3J5Qz/PLavGeXWgVaoBhNTXdqequGnHfmJZyvMDBbkQxemxmWpdHIufV2bu7KERHlKysUfv+WtHYcWFHiG2LU7dufX+JlKywq4VvH9Zoca4WQSOhJh2I9Bltxo+OMqD9kRERatYiVSonpH9xHIX9plJr2Rtzm5E8dvIGvZS60Lkhwazi+FUCKpxCOZ3mWHAkqMhyphIXZTDIF37mqtfhG3d30CgiEBE1lSIwpm2m0SZhBUTrMdGQL5YWlHcK1ZCnw9PvFaXIn7um43ZYbiqm5KLHYNnQIGxbzU3NwndEnIiKjUd01n6/Pjj2O+L9DRoPJbXInBy/Tyefv1kBLh7AlvY7urMmR4MEdDUxU+anNmW5rhpfeGHrvNSH3qOg368PHD+uRze8Tt6UJ/paBY3yx/yKl8W3JjCqF0TRnOJ1M3q+pEnxeFqu39Ytz2fxumzuhio6CodPKZZCOX0oFfjQtpM5046hUhFrFznPaZNSY6o8jkjdJmxLTY/kGc15DTVl8jNHCpQX2tb8GrhYvl10BT69hyHx6KZyMCadPC+5+/PLXSqe6hFuUrvRPudLSiQXdzhD/ZQpzpQi1T0KlTarM5FQ3M1Xhs6khBLNrs6KeFZ/qkUMBxVtuF8ldxZs9XOzGJSLYtNXiyhSsikpmwM61ZJrJoUyRGVKdeTJF2lTU9BM9k1NqK/Pa1s/e3MdgUpKSjQYj4taR/ifUJI2Az/f3BT19cJJCnJlUaFGkN/vV21NrZZAV3JW7mBMHDJRtxnTWDyOov7zE3T906RCb2uGarrUe/XL7EyrRFNQkT50xKvzDx4+rHnPIXyGM+qs36fCgQHBCX2Io8pYTk49fEqLjq0vkdTGZZN65nSZakjIAjWS0gBjeg+WZkmoOCtBlQN6ATTuQ3at+a2OOrm4oskVJBXKY4t2owa/VkgIyoUbEpVJ4RbueJ9+chTK5mLy5FI+l+5obv1T8u2/YiwQgZI4P7jQeecEn/tbjloRouEFfkoY8PP7nS/xhzWdfBv4qzf/gr/82Z9AJ1Dg8OWVFb5v/SW89ud8jxD/y23jU85LvEEA+D5XATlbD5gFCnY88nVs7Mixre8vfv9ChYsA9+KSJgQEvufH/x+Ms67ir35K43951ZxWGoSJIAx0YbePEGLxvDu9hanlKDYhcnGqHXgiDD+z4PU74dgBGM+FtoyjLeo1y1vwD38Hv/br+D7n43Xe5Kvn/gAE+ocv89Y5SH4/j8FvP0EDI/REP86YFeep2++Cn30FvvAKxz/7db7OOZ7Y/AIEL+ctLCKRVzyKmVexgfAFayCCm3OO3BMWVFow/Ab8LAC//gXQWxS++sWtc1/76oscYInffuubfO0tj739L34Afx6DlQhvOG/wcvBlAGwbQnnngD/j9Z/9K9xZH7W1b/Em8IuvZiVO/czuxnmLn/zkc/z4FYsfvh7m+0VBGDwMVggyp75WDz+uJNhxF5+vt4FReAsi3/9b7HNw5us/wP8q8GWIZpj3X/Xzg9de3tHye/vcZjlBAZ8KwtNHfgqpz/BD4C1fhFnf57F5k5xokOTNSQi/BvyUELsZ+bM/34cffXtHrs8i/oYh/pj6n/17Kt78c6b+8R/JexNMrkj434jf+tpb8DJEI95F/68LfxnhFefr/O+vByF6iB+c+BjH4m04wRD8nweAYQIE8EV9wL/krf/8OvxfmHyPP/o+EX6A9erLRH9q+vhf/AX8yZ+Y2//wDQi+DF2RLhpzG5l/Bm4pAvxhgsEcSt0g4XAYy/53/Ij/xDcAPvMZIrEYkagoqHmT2ZkoUY5h2zbhSJi/B/49v4b1b36K/X9MOpFMhsyXX4ZX3oIfBy5YcZf0OX4wTCKWackQF4d3wHYiBoA0sG/n8XJgFPz8W1z+kgXC5P2Fw6t/YrJdngO+8NWv8vevvEJuLoQXf5eX/+sfEfjjPwb+LV/lT3H4VxwDPvf1z/Htc+e4EZd/9Uoet34pxGv4OARcjZ+3yOU7WKRwCRI0ze/CAvCvm5rI7e40HdWBnECU08Q4fc2b2NaPOPsDH+2e0/6/s8Z33X+k++hf07hms/+vXif95t/teK2f8kN0Xn7SS/xc6k6h0TmtYntBrnudsCIXWXER+OSLrmpscVYVkyUK+8N68sS/FrZhUKyrK1VnZ63RpvJLxI2TqgnVqowyzYDyauq0MvBv5PcYHD+EoQow93a1G3u+ZKMrDmdh8ScvUK4QYjAk0pYXx9Alk4gd2XXI6cRkCMv/FeG2iS5HOU2O5vbALm8nfT+pSV5Wvl0v4uti1OPd95ksXTvw837EoVZtp7FsEAwJd9EzCfjkY0UJLA0Skk2lHNrkcq02XvrTrfv4QD19Z5X40m8In08OQ7LXyjTqd3TF88cUwVABn19mW89wWIWRQj06+kNV2Zdr2LlC9PSI914px7b1sTmP4rgdra+tawKfgj4UT02qJzs2xOdpxV6UeU4sprm7bxKpXoWY1n3Oh1RoIz+2PurbFZfhw6Sf3FG+mGDBkNGt+tQQtLbgzuXYqiah0e57VPSBo6IlKHxjWsMnC9RCqTq9dlxPoTNtaN/WPa8Xk83y06ZhrhF5BaJrUIxnNExXvklL4Be+EfEiAkc0H5bPi3WpvaNc/aMPi8agaEL7ui/MPbOXlJLSBHfLqYnIKUMD9Cg5aaCnzaB8LG3h44+YPlNYOaTG7/1QTJ8Sd62JBZ9IheSzHG8XEtBOTL0lH5dATx1AXIs60ugG15GzOiXbmtbAqKX8OxDdRwX36LrcTn3rzFmtn1kx5qeuLrGa1NFAQOsHD8o6avxfu2NgwOzK2tmDQqaUrIDCyUuuv2z5kLuoAmIGe29h4OCNl3p9Vj1nxEY4qIs61VIil15ZpTFRa4LWzqTRtThqrRnT6XLk8/WIyYRGQT6adSQvXx0d2w7dLgxsu3FqVPh9KsxBs53IV4m4bNd80IO40swllm1vU7OXIQZ96q9bUbMXydxGnXro9OY3n5ZAcR+yfWtymZVFSn7QNVwcMn1JVqFLXRTyyFOEXsHTe3aEC8np+5Frh3Vb6WfVQUwFoFhsQDlJEwhTloem59Y065ZpkJiWKFA1fuWUPquUHVEYEwvhXuQZpaAryoy5Jx8ULD+797muK0qKjf05Y5oIBERBodlm9mGccM80mtwPF3s311HXk6fU1lYjuFdQJWxHlO6KYXARRR6hHIihXFF/RoWFyOff+94B0ipkSU2xYvUlqwVplb30Ia9Tl4pN1HntWcVP/I7ghBj3iypU7PfJff5u+djFZ58l5SBfUUrFj35SrW0TWllZFblLOh1dkeU4Kn/hXgGaaZlR6UeHVYLZ3pb4y/XHhWg2FlPfmaQmfajibIOYNph0v79JhUWLgoDC4bjOHP26wlTJdio1fOrF8wdiKYIyg+n3oQSuVikWbWd19AuoNIyiZdvtW+ki5lrE7CnRvC5Ky3QfyOKAiFWJHGMi2RcqU3caLxeDX4t0Kb88JYe0SukUtWGxUSwOuaItKVgR9yNjOy/V6XKE44qNe7bKWw0ao0TkOabfFO5dtxeSUCikVCptKA1ixiEaKDdophQGX27OTeiessfkWI46azt14NgZYdvbwaDgTWpFO8dYAbIWUBktKiUhK41RgNb9ypk6oTMdyCpA0CScp8V7fAo1oTSWaQPKVVRkKVCPwFGKUqVCIfX0FKr6jstUtjSqgvYC1f3KtYaRF0y7vYBBjSUSJnCLasGYcjGRzRevl0vwzewhxUWH5brx7WjwjMP9ndynFWNmw+uDIPpztNkYk0WRiPl1MgcVp9EzYdTls7RwY5mOxZFFoU6XB1R2wpHt79AVobBO5TuCU0pimI7v57QeLy3Vffa4TgenzOR/G9poQwsWKqZVx1hRCahptFwlRVfoAz50Ga7K6VBlWb2mQKU5aDOGrEJEDWpJlOqbt1oqLzcmxlZQrAxBgaLlAXVh/Dth0GGKFN9DmX1XFwUT8dglprsusfJNgXxryHXDGr/1W0rUlqoPVDZdp7r1DqNJ5xfLbc/m/u5VSU2O7vuD59Q9HVHBXk7bXTJo20rOGYhnF+ha90KBZyHhmsQ5Pnz6QOch9XdXaabvrMhktwKtncnuNBd/vy2x8CIPHWE5cgOOsQ2H0fhQlwq8pBfdPaiqCo0MoFjC3dYcjmffK1c4MyZpUV2dcNDzC65XxgnhO6z79g+o9tRRmQAkv9Zc5Pj9Wn3+4tnifCAilhjr02Bxnq5uR05jo+ziCuFY4uMemqgDUfS8WPKJkMmD0IejeFml3DoPpbK2JjALdiznGvXP3W/qcEubRX5G9TyLgpRw94t1VwcxgUb5R6Y1MWSLyKqMbXhIfORbOnB1v4EOPmfqtRxUE0LOmR5ZN7eKrjYxjp7Ds7+X2aLetN20F3TYDqrPRGFXI7oMZPjDHPFyG+wUU6Y+caRWRul5VquryHFQefnt6n/oDhEMKA177hx3i822DyM/v1jd3cOivV3UN8ho+Xs5wKs19bErZLm2cI+L4FG5h49r2uuXLq4MWGLMU5JWBTGRQtbjlqauvFwT1MjpQP6UpQABNdCl0itrdkCJHcyi+eFFtOHxBk0zrTzyRCik1uVldRxBUzhyVt+rz6406Hd6XN1wZF3+ILr9sAm2Mver0ttSS6yYsbGW9dvFlLyLyhBZ0HEEltw9bOeXLqa/dNKpGmo0i0eFEkbOQeQ/5o3rAPLbKIgjx7YUWA2IsVE977Eo2C6y8QlcFWOpF0fjmfsPsitzZKmgRY0u2pxOamiwRwdjKERIw9wgpo/KBe96DLJuDa0GJ/SHI65KQIFF9K0IKp9C07O9Orye0C+xnVBngSFF9/C3vLuLQmVQPO6Kg63am5N+txwTuDo56U2ggbFtKlefz2joY4gyVyucUJRGbdHQ+kb07PX/R5FExEwubezBBmmkhx51uB264okrtn6LPnWBMsUQh7Y75WwgqqDPUZg1mSQXPeb6pp4Lm6C25JAZkN2ZiafHwA07hkThsA48M6tEwpwbYtvhFgggnw8tYSun+cQ2/v6lrHtX2OL2sMjHbCXH0eSXt8n1+EhU9x21dexzT6qLZ+UQUfQkwo+iz0cVgj0iUpFrWXqiu1vBeIFaD35ag1VVunq4Sv2gWk7Ksiz1TJhz60CJk1HTma0MHG9BMKKjPG4oSsqi8tV6iU7sDRGOCupEeETc2SFyTT1fDermlKy5mKg9qQhmMneiKESrstN+5nbnqO32AVk+346o5sBQQLd03qI22lRPvbrKuzS52CPLQouLDSoru1F46SXbnXbFu2o0Ey3UGig61KP+gKE1qE1MqqMBgwYr8vpQHorWoqqOoPImP6YMP1DUe75bkKNg34CwfCoCrbCki8YpYEwoGaRNaamriYmg6fPJQtH87I53BhNnEIDtdz55nWLxmB76+j6xv1oOthcpHBcc1EkQXCu4TFEHNU5aoihDOVKnrzChp/iGwuSIaCZZTY/8fvTRw+jJJEpFUMxDMoUJaxlb5d2WSEQ0EDWQ2bH+UQ1/+NeVthfkUCtfCA1ctntSPy5wlNuDqnBFxsyREe+dYt446AKd4N1CEFVrjcHz0pJujcuLXFtXV6dEwpjxAgTkw6cwGaQVGltAd+9HzCIeQzc2oY+xX8N1aT0xhfwhNHmZWRDOHkMHQzeo5cghpWL9upPjCnjv3EiruglqGKOswEkRcMVapyaJqbGlSVR3a6gkoM66NvUmt8s40YOabZR/Il8VlCnlzV1EUNRTKMNhFHTMPJNxRmfG2D/vonAUs+LFa8UlZgGaBpW+dJssy1Vu7nZqy64gmvBWzjIMnI2eAtGcZyBz6VwN535SOVZIftBqHYpfwNTSTLMarFpd2ZQpU1yM723esmNJ5Rw2SAHXj4aPX6js8zKJTN7mHcNhJWdCOvgJRGGzWcAato9nM6tubpqdwiCDqvPyDWdkZSWm6gNZdACxItF1Ul0l6FfOojw/eqrlNtPJcxHNqHvJ1vKRF9XIs7IJizxk+VzlPnSTCnF0xx4pOS3LUlNTk8K5Req74nNKMKsSrhYYlIVjoUc8Lp5WUC5+4Y+p/3i/Hn7PqKzlnbTX/hiKZbbxtziyDiZ0K0GFo0mtPd0j0pl36lQTbReYBGpVSkDRmxwlb0/qJt+myhoalJN0xdXb5+WN5ul997xP8c121fm/o1//whP66tWPyrYsjY2hwsJ2MdGkshF03fP1Guor0+apPO2zF3Xt6qQeHjimTvy6IfqYKqpcdd52Up/8xVP6pLOoX7r5Ll1212X61plPavkPf1X7Pnm12s98TR2JcfHZFfHVB8Sxq2Rgt5fQ9xMI17T/jncOj4ucHtGd8PiGEONRUWm49v1kXXPbphw3rCunr1PNMIKkQjiK4vkzNlFOTkAx65hyQVV3OOJXnhKjYUGFHqNd2wi6Bhm4ZbN8PjQzg2JVyM1BH7HRo95EOAoqakQkUXPAm1RzwzLKktnZpDE2cx8e3DSLTibRvKkSHG3Fl+zOdbxpnpOJM0okMn6JS5ckF0eRbUkTeywK+d7YNt/Ly8tNXmzMJBoEYSXEhiuwxUSOKEc5uTmKpR2FCnINFU6WuarZK88EqDSAaudQMpLcQhdFQFXUqomAOjExGyaBlamnPsKqueM2nXp8VKP5ft1zRZ0ea0InQVeBepuN+TKXXBVmkm89uSl36rA+0hPVWDNaxpAxvgiaHUeV9Wg1tndel3d1UbCsDpEulT2M5qnTpbARWqClQysK+3z66MJ2Or/ZGXT82M7zDLYZYY0IOrW40KFhvwmeejuNwp5Ei1vBQkPihb39AREimrVMcIsPdFcbqqpc1PZW3tolb9PxGhtFfb0sx5Q9GJjTnXf6VXovsgfRUnYZrU9672p5A3RC1cTVyLyGhkZ0VeF2NCU5OWJiQjXV6O52dIuFHlh+SdY+xJqxS551xvRbB39V7HtG+EbFC8XyW3593HleJopyr0XNFswrWlSk2UcfVQll6qJH0KYDXC/LsWR/wpw7gKUCigW9smxLtm2dx6Rp8Pfm74VT5bIn79cnqRQ57bK+1yOrpESOheYbLAOx3Lo2IMP5XyrbntAn5qM6GY9q5oEZWWlbUXx6umPfFl1wNaiHiGace4VdIGaDciILsi17Z9/w+pDlTMuiR1byJjHuyLZMIhUwnPdTGBbaZceSD0u2bcu2bTmWI8uxZTn7zM4HS4zZJl+3ZYu2DlnlF2egXQQxMS6SJ7TILo26eU3UzImxMZHr0aZbPcrmhFrG21Wu2IK4bJ4WWHKY0a3E1Aua8d51/340ELBMrmjbEg31orlZ9CPrihfk85lz4IAs7J1BdwcQc8gOe5PsCOKUd6wHwzHkIJYatUCdbIZUupin987Nye/3KwUatr37bN23VDt2CZN4LMlZ7ZNVhokJlExewgSfJTNwwYxo58teY3iv32bURlDVIJgQVpcI9YpZY5J+4ul5Pfr5w6r5/CkxM77rnbclvrCoCWdEkKcDc2gp0CmWPB9j1tgZAF2JmddSoBHbluNYgohse0aObfqAc4F5yFqxhW3LsUzbWRhzYCdeTFIBsnYxBGMZEsR3dVEYIa4acgUTSpOjrdyuF5PSGY1FS2XZtlKjdUoVoaUKNDuLjme09KjpgD09C2puHhXkKElct9Zdo7mpKlVWxt7+OWmUvmz7+2Z+dp7YfHFwQeQiHzFVc3jrWDSKrg2lZYFymlB+39UqLj6paPS0jmCcZXmgAxd5dn2gXlaVpdpN9DG7UM3V9cqtRWWZzu5HVKFHeCnrurQqD16u3Nx8RUhrZsZSd6mJLXC992EJ45h8rk5nrprW/L/+rt7b71NO8KTSD6HNm7r1VMUXdX86rSuspNbzO+Q/5tfzTz9/4XqyEPVpJXKLtHr1o2oiriWKNERMdQ3lsl208QLajvzevrYh6+8IO+3DgNLFMZHbrXpQiY1qUuh0SYms5+eVLjq5bQferJWh+LhHbAaFlatI2tUgAdV46S9DhHQTN23duxTUlJej/u/cJUrbZQ80qi4woRToE6BUTo7q8vNlY0w24+SpmFrl9BwXPZaSyaRGCwpkF6PIJFobtzTjq1djfb0qLMs4eh22Fi4LQ/qXIqG5uVUVF58W3CtiMd2fm6/HyxfON1dk6oGUTI6QbRz61m6YqCCkRS4cdZ/Eo6TfREHH1tHaQyrkg9rPitJZu7+GeFy1pUUqqUX/AnTzwYPKzc0VLSfFxyrFXJUsC6WW+kVjp6BC6RyTyWtb0/YimjcQeRVqKMk2C29nPDRlzVFhuk1NqZRqiy0RN/6WUx/G+J8yY622YXt3UEmW2XdGOwkK/7klIeNzuZRz89SPrUfIKKAhYV8jUsbikEpZKixsVn06X5ArBpKioERQs2NcPLr8CeWvpgV+3VwWUvnx+8UdBQZVdOupLXBLAOMQHhtEj+1DV545qBc3xtTNjC677Et69CszOsUpXcWLouERgWXmgnxz/enVqOwHxzXSclC3MKpKKhQaKFJdQYFnpo6cX9eb+YLL391FwT8ekFOXKzipCwaM2Oyw/QduRR/vQH43rLX1j5lB14omZht0+LixfzrpUgXax2Vs9NOCoArcBlUN92rErVMFbXo7+NoxTOYy8z2g3fmPMxIkqi4OyiAfTEDV8eNmdS3EVQU+1dej3BsvvfP11/TLus8yzswBn/zcpLQ9qq7AoqBVhNpEpzEbAfL3I7fGaAsZhMY+UDlhdZMJ0ssXHJJbhHzrfapvdnTXV15S94jhymEgrIN3nlVBy7c0HtpUkzWtJb4ue82v/s985MLltWwxcFTxZKGW1x9VJSkNUSv60fFTYVmOpdBTYdMJdwVp7cnrVFoqZibEZcO64YY5LS69TwXHzQJyIQrjsItZKMH0Iwf5nhzRl54d0UMrnXIcdPz4KQWD232sGFQfRF1dCAYVfnxUf3TL01vJZCgs1IebKxQ8ZCgoToDqqVDRzIrosFRQUKCjVVVy6lByA112wtY3g1fr9v7b9Z65A9pfcqUGImjwJlQ1hE48E9QfXhNR6VZu4UrBTQr7fYrnoJMt2Yihi8jamvGfed+7ulBjIwruC8pO7Z3c5ror0EEHhU+gUAKdei4hnLicEHrSQm1HC4XztI6n2nTTvS1qGDuiDYy5z4cr/7xPoc1GkZMjP5nFu1JB7pRdiPoqvJ3ICQxV+3rGnNOqQWIi5C0MW85c4zwFVMGA8ZU0oYKiLMjp0bhwlgUp0VMrfGbhCbQjwia/9vnv+nNwH/3cEvL6dDjr+y6/aA+iHs2zV0KtkMJUaiBVIutwUsdP1IiqBkG3Br1zBhnUlU/9hqxsLjVqZXOLUSAq2ab2xygvftDd14a1r9Uogz5M/+hYeGYr5zcDpswNhajbY4F2PnOX4hsn9KWxehVRpDbadM2hT6v3rqNy/CjMDboQncy7uij0j5xWZc1e+YyzJIWXJc3I2K2tqurIleuGNTX8sa3fncZyOb1Gmy8psTU6OiqjRTmCu0TNhOhpkgtK5x5WW1v3RZ+7QjY2d0Jwy57nBbHUj1/God0uatGsZ6IooU41ma3vBfwXe8q6N3HYZpD142q+oUS33rrPG0w7kRG9Lqqx0X3gJbOv0q2gDo565w+bwcWi6ilRJzWCZr300tcM7UMEwbruG7hftde0aHX1Wfn8CUFIdtjR6Klpc07vhcrsV6SwSCOPPiqbDI888tvrsi1XazPPem1xftrM88SeFOGQOHFUwaArn99/HiDApl+jVSGNXjumrn5L116G6JuQyfNwVPh8an7xe+pJd8g/iioq0NjYU8a2e94zWwWr8kfRxgn/Dtuy/x22WwBHAXzy+fxyazYU7kNjLchuRYeHlnUmcKVJi/gBNJ5fqEBjq1Z6EV2Izh6dl6hmL/HvpI12HCN3+WZVbe2dhCZwLfIPoI8HUDAU09GP/H+i8ik5i+h0HDn+NRmzkqWQHw171NQW6BoaNXNqQA8OG+oR3yCaCiCwtA/fzsnOqyvHvzPP8/DqE3J9YeNDBJk4FBMlvp45rx9ZlVlka35L4BPj2/dJ45m5cM4bA0bWdam5LnZIPwZu+46uOySj5KzLmFDXZHZJWRO4F1Pk43xzdZBDeor9IjdHHPht+de/vXVsfBw5ODrGMTn+7YVuwo/Gh1ABAd0N2t9cLlrPNz2e9q/Lb1lqHMs4oZFNQK47KIYDW/VkzEnmeLv/a7qeFk+BHBNY8hMSsTkxOKaPX4Su/F1dFIwPoeCCD9tL8loKFGwPyw2GNXT3x2S41fPVx6BWmdf6JKICWZSriXKjOaevUYP/iAZZ0vj4uB4/eJ0KWzu9BrwwH39J1t+nS07veY7rxlRWeERme5Uv8lBl3Gg1N2EWlkLwOlCed98LPdNStomgtgMNL3mdKFikwhv2Z+Vn4LyyfxBUHk2IeI4K8lA4eNrrsBXyp1H+EoJBwbzILdBLj3/e4OMdc6/i+7pUU3uTiqmQlWvrdN1pHff59OH33mcGfMmF2yWUKlLvtx5V9ahJ8jKEZ96wLXH/yAWv2yGTiPIJFa5Ny/HQJfkg/0ypSgeLVcIRwT5ZTqUq/sXlqrz6fhWXOQpWIYNnrzL3sVxReVZuChXegh6u/gW1HP2mHCcmyGpHNy4Kz4jTLVupKSO73zE3T8HaWl1XaGnSaVJLya2ylot0+s5NhUFHGdfpkpfkblyuU+6ndNb9BRUXdqj+4TalcppVnraN6S4Th+BDlKJPL7TrY4d/XyGiRgEo6tYlmU+3ZLs/gVEIajf3PnfjDuTcgqooEXZUFP2RdizQLtpXYJzCE6Bykl5ZbFXyuFx3VpeX3aZSkF2GKlxMak2MuTSROP+ZPh/K90wTFeEK2eu2TrNrDKUxC34RHoy6SPCC6EiKjyCclKgKKIBBLRWALufiebF/HjlcaoK2LvmaEMb0kkT+SMmFyTKTiIjXh3cds7FUwRFBs8gvUUnVozILXZGq3r/HvWpR1RiqOmn+LnMc1Z25V8SzYjPsgCg6LjMnps1OwvH6XgnCLhdHF8WjvcI6oCZS6vOuDdOiQgp0ENRMpcAy85RTLcovU1VJ1XZ/ImMuDAty3u1FwUTi2mxjYd9Obr0JPXL7Ybn4NMWsNxHco/L6ejV0jcjmQVmUKMCyPskBzYLRBLoxGhmI47Oie1QOYRm75PnaxTKGiwgXjTmoYG7v8kTCEc1PzF+gvLUK0u5h2NPKOMxmmNmbVM2xxcq0caTNIYqR22J4YPxrlmxnn5qI615MprKCTBLvXkQ9GsJRotKSr8kVvY5IWYZFM4byfHkacOZk1SK7HXHdiD7x2K+LRzG7MWdG0/fdr2O192qSg3Kv84n7EI4jd58rSAhnbxMaGIf7iDOyA9/9PIdl4cpxPi4iaHg+k5XKJ+yDe8P7DqMxDBSOKx3173OVnP2E5g9MasZ3g8ALALNdWX5XfgfZlejo+yM6ElhWAZamvDJEQKMOuo+X9EsTBrprFg1MYFQY2dOOSUAPuh1UNoummVFOBh7a0aH0qVPqHHNE6Dox0yYsb3d7gG1I9OioCLfrULRNo8O36rIH/kDvu+aMAgd9O95zE+M4rrjS0kDfk+om4QXFDSmTBvXSJC2czq3vQ1wkInoLrTMn/EExs6LsBPCbEbQ4gsoO400STcpWOKJJND9vAA12hqJ+dla4qLwCNXjouCKvHGB4iQazHZP9eMGF86IlqpUGZPdikEYTWfW4Q7qVvfBl3jMDQ32nk7+z9f+uXYazXxA1sQ+7s+3tJYWYYLUmlCyZVR+29vI12A3IKkP3sk+VTu6OYy6en8dCzjCaXTssY6Ye1+HDmfNsudhyxh1ZRbsjy21x6NPiwKHt33x4sPccQZ+od8Qj5reS2Yy5tlFQJhxj4l5hG7jgYMx3rvf3bPXs1pxZuHFUo6M769EosM3v9qKw/ZJ7QZ32kqUw+rAbl4Nf7dwhQwAWMUE8o+O6nHy1T7larx7RjRyRn/ztCgvubJTjF3nOwy2Wigc7xQnUsR/lLu19np2yFT0bFcmkqKraddyvtyc72yVxjKmmD8GsNoMNev6pp/T8QrXmZqMKYCuNmfBcD0PPJOLbUdFyu5qHG/X4NbfLXZszAzsPcRxdc2uBGhfX1OhHPUFU1TKvlQc+YuIsLMRJFFk/K6fwdwQxsc8Sdcj1r+v4Y8+LpC0O7DZvxEQGCpuPuAed4tTW8YmuuFzH0oc/PC7sgMLRlm3kTF9sC2qbZjt/7Q5CtZwnRHRJMChiZcIKKY5PNS2uWL1dk199jz5+yNawD+3PP6q4lVYphTqUmfDiiEOoIPclNVV4+Wm7tp8TiMV00zMram1F7VWtsrwtcoSIHBx1YDSiRALVVWfyJXd65UuJmMfg6ZW3mCzqFF9cI2Hk249xmtY1C4JKYia1wYIeXX30OYWq/crJi6r+HeQBBkMLXn3HQRE1ZZ5vQOnIBc4/0Slsy6SjDYbF2hU7jicxvihfHIVcRLv5nvGv2CdRtBeVx8s1RlYehUV2QCldULiV801uPkR/pfDlCKIiYCueNG3TNb67vNZ2Hdeygy48W47zzoPVTnrteTKrjwLiUNTk647j9edLMOOdJ/HzfuvDiy2x11XzRP52H/ekkRI15uZraSlzvU9wQBNxo5AUFS3o04WzWozsU8Hpehmzm2eesl1x+Z+KwK58FOWIuS6BLfy3iXTxVtuEvHGW9tquMS+tKUplgboSbOVM/0XCOkCjCXDz5kzX/ZLCYUP7coKdEN5L+Vw6IV7W5+W3PSMJNrzmwrPHXyZgvcE1c/8fNDQDr8Ib/xF++h/5Hn/PX/3sTb4be4VPRFZ4I3AOgMDPIPzTnXe8WAKhz7zlcO7NY/AF0G+A/nrv8869fI5XvvwKSPDWW/QBDZmDnW/A+E/3vvBCn5eBtxx4OQ78jM/89FXO3H47Z1p+wm9aQ7zOOf5+q+yGIW36p4O0/mItvPkN/vzNV3nfS1/jze/8Jjm+/22STX0RPve5H/DmH/wG1ASwWkOcm/gDFqr/HOagOwJNn4fxV75E7lt/DvyY+df2U/+zAYh8D+vXX4Yfn4Pfe2VXYcUWPZmTgNghPrfxua2ji7GXScQhx9sU/cR+ixsyB//kx/Bftu9yLvO7XQ0sm1u+55vEV75NIOe/EX7lHJGEzRUlJRyeneC6hs/x/es/x83fOMef/gz+09/9Cj/Wq/wv/oFv8FteXSbhGxbJU7/C2rkC8rDwvwlgw8uniGET+90kf/M38KO33kIh4QTA5lVc3qLQhpyE17Rx8OeGKMb1Sid45U1IJEhjONIyhIYA/Oxlfviaxbl/swj/vQYOvAWV8CMS/JiP8z9LivjD0X/gNcQbEm/xFgEMHdulfKokTn4lROQVmwAQf8ubLvb4JH/9TViGN28+Aa+fA16BYXMsSJCfnjAp/vQyvCbgTUPzNge0AB2fh1e+D3+tv+YPrD+ApHfjb2NO7DVf39yAn7zpvUSGpO6UVyk/Pgc/k3n26+d4+bCpsDfrmmFmhmGGqaHGu8hj/vMqdG2PevkiO/gBL+nzeZKcAz7P53Ye+MYs/DjqTUI7WvEdfPaawcxs8PK57/DGL/+AOMexvMx2qQRs2Of4/j+c49d+DU5tZCgnD7H0snl+h4I0nbua7776J/ztL//XrbIVkmTu3DmCv/Qpgq8bYsgGPFq+c8ADG3AsCm99jhN/fw4XM1/YJDhHhHME4Nvwlz8Q3+McAp58oIwDiyvQbfPRJvEveQteg9BPc3iGg5TmJPiJbcb6F8gar5f6+Xl2Ckb2aTuD2m7t4aCIIHtfjywnX74wOvhMp7BqzDkWmrWW5Xb5RAHav39S4YHoFiSwCtQxQ9Y2dVz2bhuuH5Oj11sJD3plGeFihFBhGUe0+W5h0AYmxwNiK3YiX5no5reV6LoY22WqcZBtWR4pm1emefN3t22pasEy0dyxOkGzGEIr2Xw6V1SLqXtVZdWo2WoTZ/plP1ImHMvDJSc0Yt+lHE6JWdTvH1CpdbOc5X2a/1TCaFEzFylzLCr2T2o+s/1uQfZNaPb9tq6oPGR2P/t2Ji7aU1aK5TCsOVDyS89rar+tqkNoIBjUe+ffp3JKNWVbitt1woObloPOgvzt3aKkXMZRFtU+TshhSjct3qR+7lcXwax8y7YgKtvJMv0dRzlTxjRXA3oohJb3e8eWUMuxVtVSm5WbICjmF3QdaHivdwkExILHp+8iDmaODWnAyteVSzMiuB24Vofxa1xKH+kkX9/iNzRAWrWge0G1Fzj34+yXa9visKNAHE3/Xqe4tURjoF4a1Gg37tnHbZBVhaL1Yd3BhE7Pe+Mns2sextjNM+axrLbfiiG5gDkmuoDGbMTIiLj8clltlqySvZ3E5weWXQINBphdYUH2b4e0tyN6b9TWP1WsTG6EkSmR6NQyLfKBCsjXB/d361NbaCxLtvOJrbJk3rehrkX1NXOCD2ydRxui5JBsHDVwSI3e+5SRMf21av+LPWJuXCS2665kfl59zAsGBNUaBiUwCZlc0E2ll2v43vtEJLzLrHtELiuyrlsy7b3He17SXH+pi8IIBarZYUd9e6fzDDkqPd0qvxvSiaH7tisruamCW5B9tEjUR4U7Im65cqdjtsBRoV2lxlo0W5EWvl22RTurEzkYrPX7vYFweu/y+HBUSVqGh31CkFahx3deGyZr+1sn3oZx0sFkf8ItNE64Pc4pyP7+XvN//iEUP1BrfAOZaM6ZGY9Izy84IcrGxfWXKZxEsRTGUXbtaR0/ckQvRqNq3rxCeVaTfMyJggFhFwq6tG6hhQLjKKvYozwrGPODIZ9Le051zCISelBOytEH3JvVSJ5nO9+WWo+FdMdvtWZBLQBRMSPKRwRB2bbkHZEAAQAASURBVOQonycFtUpTJYc+7XDMBhG/jBk0pASuCnEFaWMDPoryQ7vMlDHE11FFg3GwpuMoUcH2pJeRWgSVIs+n4gJ0Y7kxKaWLwiqsWlcUY6fONp3tnKC998zFlKUiV0FSSla1iyJ7ZzAWyNhqL+50riOgI+wXjAqade8iqr1AnxnhTtk4gtPyx0Ma/JNrRU1IaTImGL/XfxEc1Q5oZQQ5MUcNxR2qrOmQH2M+AEx/85SswiLUmWW+ystDB15ApFE11du+CE/ccpSuQLVtIxpeuFwkUG2oVhWVqHAE5fadEda6V3cBGdqLzPUR7eV/SbMzuJMkO0zGJtYja1EoxKPLOKy9zD//VEljJt6yK1CgKCzcmKhEgdMB5ZKjAnrEbc1iZUlsng/7jsZQpNQVKymd/mitnMHf0p1N96hrpF4Vzj4VnmpXLp1iDsXu9sZMfkKFDQOivFQ13UnRPSC4TBROCmyl09VK9HxQKSylh9DBxYyP4AFZ6Tz1O/3qJWkC4zazxmftfmWDYLLlXV0UGKgTVflyyIKmgddBLwZVfVZ+N6wjE9uQVIrwolUbVUKexulRcGVQTGewtY4gpXoeUWqsSAxNvD0MLYghy7KnlElekhELS0c5qmA0qp4DBxSkXDCsHtbVzrgsCw1lRVhz+XGt809MCJKhCfD8FJd7v9fWolsLPMqPRkSHmeSKtwb8KXHrsLERFtWLKs8XETT3iQWDco9erzlrISud5xWCm3XUOaD962mFMfwyW2XxoYiD4gQUDvbr9FWtcg5tH/f5fHKcMRO05VZoMl6nfk8rDmAm/mGGz3vH4WG0Re525THR9QURjQmfX3CrTK7rPm1RhvjZqY0W2GI6A6k0BG5OBfJNGu2/4Ni2jydKVAeuP2CchpjdZBF5gicFuQofQU/4UOlwiTj8HvH1gCIHUVcnurXwmKqbclTft6IUQQWCyMr0Jz8atoMiuOq9y7D5v86S1WApcEdA1PaKj5w2Gd8KHEPFspXqsElvx4NUQome4D3KYVAuDepbnlMiPwuSarNl2x8KH5UVtMUxFPNZ+lB/TODIxiDW+giJqW5DOTNokubU1GSNAcsSt92mUw//P/IxbfpUniNrn8dRhcHCH8hmFs1BeDvZAQbk4m7nMg4GTdrTs6jqnkH1958U+LTKmO7sRQ1PoLKHMu2a3UfeoX/u7aSebWbjvcTHTkqNdzhWGyyfSj3fVNT7bbp3b+XKzE8+wbAuz7C9bi1ofrHql+/kqE41Nyt/JV/dGH9Fhu22l6AuAwVrEAW/JKuzXUOREhE9Jg60mv7kc1T1xQEV3T0ssFRUhE5UeYvCHcflTDs6vnZc1+Y8pIWnPio+elB8yOtHzxpKE8BAi70IaR/v9qLgQxxcEm1tu6I5bW1RacdRV/vuMPSgCPsVeOKkYsTUQYeKiw1TKGzzhpxy3W0+cWoFvWogoHRRSky8DTOrjZd3dli0Bo2jddc5AQJixhLjAR3zGrUBV3fgyMbSevWIqpomRd+QuCxoiNT+KZ14EZFAw6zJxtFlW8dqNZNZtBxMABEm3N3Br0FOKvYV1DGPDHeNt/U+dkyu6+qhtSNqCIbkJ7CNp25sE6kCrdthzU8dFWHUfjm6MjGiOh/iFvQrVehp+4CuXr9eGyFXTlY8QW9vn07XdKnb6lDk/e8XXzslVt4nyNWhfpMBbyT73Qa9so8gOCCIiuCoySx3H16MhE/k2Opt8dBJYMx9+VmQV7tA+M2CESeuJZZU4aDBdYwSEHxWW6kOsRToDIiVlLYDcywZLdSSFTCLuI0tAn6zs/AmiSBBmZ1fTHBMyysodkV2mY6J1cB2jIW9KNbjpkz+JXGPLSZ8oq5P8cIatft5W7K1bLEx1B1duGrA0dy9fqVqs7TgIsSELRhW+JqgupcRM8jyxRUY+J5IVIlWM65OgByfNwn6DHfQuEezwjoKRqPqPXxYQxVVurLxrGBUWHXCf+Gk9dFRw0cGyM+4+hnWMTDjcW3NaOhDaD3iqNnnEwzIpspAN12yssyl5bKpgVqfOHL05x87P48M4CmaPbqkwLgg27E8h9B6uFsTOzjJAjpD395BmCO13nN8ugxbjoOG1jLHp2WU5P4LPtvmmKJ4iMl4UFZ7t4aJmjbMjvOJYnZQHSgTbNsEygsHzeQfQJYVkj8WEzFrm0wxiHrxxp13vyoMJc27uiiMMKqazz4krrxS0K7zmBC9wpSVbON8c3JQIFAkTvvFoycUIKBSSpVINCmV2s7LUAFyY1PyRfqN9ttgJp4CUJSw0hRfHNbmIO5EUKO5Ykt3X48C+ej4bhtpX46484at7ynMltEC9SRqlCqqF5XV2s1Xf1FxuaD5CAxvj8WcKMps59KqKdy5/S3CDHjbO79ysEdly5eLSELEdwY5xcgsuikZLTUurisQ/VGtWZa61hZEb5uuGkJHQjUq9KGCwd3pOV2RmxYBoz2GQDUEVU6p/D29Ii9PUKTThA1+2t11fTVmIa7Z/q2w8GOClZ3vH0YVxaYztrEho0DUZJ3jl5ngt4OIQlTr2ptHFYqwdW4EVBLL0fM3fVml7V1ap0NTnNimJYigE3dE5Dv5eQXoUD45eqoHNXdsGqgvDYJBjYPevxt/Pz8vCnfuLLMlF4+9tOBmUViiYDysM+wV9XpxMbQpvYIWA/cM7jx+GEtxqlXOhiqwxQeR7cR1uOpp1YQw2jooQ99QzTasNdM2LaCBmKOKI/lq7W3Vseu/bCJivSQ0haACHFnkCwI6Qo6iPShw8DaVcUg0IGewTpU72siQRzaW52mQpPJJiAQq/BBybnO0cfzDSow+odVcR6eb7tSJF+fV/HVHHDfjy41wQVTSP4+Ue/3qbc7zISq2v9eAPoqhUE95Y6SQSp3ZuqZHeTQbypua7f5U6fXBajAT+CFk4muCMkzRaCWNkj1sMSIXERIFJs0u8ULRUe5RCMWUk+lvWIICEUOpTuSjRlCgZizlFe1+n0UZP+jxrXev4LB8xLNyf5g+/q4uCmCL9LxxkNKoTJTjxaT7JpRuX5QPn5YdL2G7bba7bW27zq9vUKKyUqNgVvxOZFbcck1iX5wEy94v5ryJdnREFOSLKcwqmYeYMI7BFsIykbTmuvZMY4LqqNEQnZoHsbL/0jthCeID2997elB5+fnnrb7g/d2FuM7UA4fqzCQxZHuN5xMsa7/zeTmMqKbSUlvzTmdbPa2qpFZMDsnKvVM2zUaTKPQw3daCyLPEfkTFivyTaOoju8sTEb1ju7bj50edbi3EF8KDFxniP0D79nlkXHu2j0dGZ48Lrsk6liu4XRA1ZGxebER7pu2886pA9ZGIhj94twoLO3UebUIFovGo4AF1sF9nOGN+L0ec9fpTR1D0LYje1W0n3KHMu1WIQLd6Fo0jPPvevbatQseSNTUjQt3C+nn4e4oED6nViqnWsmRbtpyVvc6z9Yk4cmdNW/qJa8Z+WhaFwoOXHgQ5I+jyfEO3nbl2y8EbTcve/4hKCkvU3/F+0RERNSYZ/L5DaIagXCa8SSTDFOBk/e8In6MCFw37HXH33Yo2P6zb+a7yuEoW3xSXP6x93+wVP/mgeDBu/Dh9iFSxsNoNtYfragTDxkr9O62vi411R3Bw736aLhSjo2oBNXFQ5zmlvblgr/s2gX4Ns6uzXEerp8LyHZyXiX42AWzOoVXhWrJAlu31a9erO8vrS44ty3FlO8j1Ict1zJyZ8JhXsbWfEjH1HhEKiNz9YsBSxiHfTYZryhXMiAQaGjTKK8zoelx17c8uu3HIr2x97xcrWX10zisbhgj03V0UyodFdbW3lQnokmyGkSrRe0aW31Xi2IiZhBZQScAkTdl9fi6e88mP50OYF0xqhZm3iY3Y8CYYVNMe1WjOrvD1qFl9d2+fQyUlCqSMJt5JQBNcrjg+kdyLq+VCnZQdmlA4jPx+ZBZOU0fVVKss6Tnb6tmy35Lw6jEyJXpKZbSDhFIfTmrBQoHGMYV6swJecFRc1Kd0ul91UUtdjjHrLICSsQ6tVDuKdz4uXmw1znZ/0iCJ4sjguXdqgNtEZohsPLjfL5qatJFpi2N7v3uZD03ugbdvbW2VkzEFOo44cULJJDp4MKrc3BmV7ZU4KZcLJpLP1HNkpE2pvDxV4MgEU4ZVT53HQ5QjSMjX4VMk4/h12k3b+JEvZKk5HBfh5HbCky2nsV9YIYXj50ezMjur+987ohFGVDqAcususV/sEJ/gRoW6pxRoatIC83pPYjeTryM4oRts5MTQBhsiFtfwB55WNZcrg8dPgKz2alET284+hgngzAHFbFur8biXG6BIhAZEwCOITGY9L4N1bysW3CawRfspEXpWfP0x9XykQ5F7m0RbhbhyXtglqslt11DZEREuEcVhk8Vw3lHfgXYdOFCr2GhMdHeLr31N/P7vn8eqm0igxYp3FuU8nYdKsiPXVxDxnRQo63jatXu5nGhUV4CC7EGT4s0FF3pWEmRZyzr20C369GcC6pwYVEfHTXKbbN1eeZluOzIkaxHVN6Erbw/JmbldsbM3qZom0RlQ+1hQ1sFbVHPLt3TzfWX6xq+h235xQzUHHXHPhxSYu1FLtauKxa5Qi/OI3A+44rph0Vin9EBaRf4i0VStREe5KpxFMe8T00Oy6uvVHkbQpnBljXyJhOzmVrX5D4hQh+rql1WcN2yUn+aISObJoP0KRSb2y5NL+VxynMLw7B9R/cH/Aa+CScl9CZj+V6Pw5pfgoA/93gL8EPgDeON1+Olr2Se6ED++FYvgf8NP6LUQ8B3gd/k6v33R2IjYwW9gJ34EJ2Bl7BUq6rJQ0W9h4NbAT0kAp9nwDr0W6uf1gIlU+A+N4vd6v8jL/Ax+dIGoiAQQ3/XbOeDH219/8hN44w3IjqywsNCPMg+FxM+8v3/6OgR/CvoeCet/AT5gHsdaIkqM1//nX/Pa//4bKLLAbWXV/QzRE5dxiteJI/478G8BhzA+K59/E3+LV/7j+zjxvT/D/hyw/iPWX4XAy9slCQCFxIkRIbGZhwGprwOfYxnIARLXO5y+Ks6XgPAbwJcMhH13rbxcUMrv9k0CcDIXrGgUcDh2zMLvz9T/W/CFL/CjH8E3v/kKfn5AOOseB4GCAATcU/DjJFWnTjESO/9hsZjNsysxShNgxSE4Z+FvACtqkcgF07n+Efl/RqzwVexkkEQiCOPAG8BrYayfHIGf/IjNn0LyOPCP3s1PrYOW+UlrgNwRmJvLPNUG/RkPfemP+U83NWD/2TTWf6uDrZq61I+AT/Ha//U9Xv8/f0GU7/CFf/z7Xee8BXyBT5yDt34Mn018luBrP6H423/B//D9NxyGOBEIsBgIYL86B28WQxB4EqiDb3k18ONz8LU3xc9c+An/CPpj0Juw+Dw4d2FZBSzHIpSVhWAqbOr55u/A889CwXfhtV+C277AWw9bvPoNC/72H4n758H6W6j9CfGhEazOTk5VfRrn/nY+9NxROj+ZwF5fAQusN94gfscd8NGPgrTjDS3LyPmf3YPqwtesfD1G7OUfb13iw7z76wBv/hJvvfIKnwJ+utW4u6r4lShw/rTXRx8FNIC+xV/e/yxXXyl+9v0fY1kf500bvmj9ez738r9G34b/+vfwJ7/yGvz2V7Ee/iwWFp1A2w+Bb/4m//2z3+R7vzzEe26A4Qd/C0tzJmAg52Xsj38div9frlr/d0T+01H4fzZZtizykq3kcIBD1mFaNyuwmAArRCI/iJYtrFMJ4hGwjkSo2qhm6dgU1tU2J/GzZH+G6GOjVB38HGvRQ7Sn3suBf/EpiCe4eITXBT6XulOw+5F1Q66g95JX+W6GlaZQvhg68FHHaINTu87LzxeDXeIZRwkynC5VOkGnaEcUpbW9zd1b9tlzihMTDhq3UcHhfRc4N1/w2PZ2s8MWNUabqbBq1WC173HNrLagceuofYVtKOclS49WPQqA5mZ0c6n3ez0GJz7crdVCozk2NjqavNbRrzGteG2fph89K/dRnyg+IoeDwknIiaPJew2U0Ny/XwXcogf3G34bJ4PCcFCIKU3h14lcdHuvrZeqZ/WlmkNaYEKrzvXygUc1MSdneFjEYoom0lpcekQlbOdL2Kqzcraim1cta8s05NyKeGBSkLf9/D2kgm0G1VzQgD2ippsi6r0nqVFnv6yyUtl3t51ncyca0cQjD6roTKE4hDo+iGoqkDWLVq7cPq+oCH3wURQ50aoV6kyuC9AUIbkcEMxpERR1ajVLlfFJOI7wO2Ia7ZvPlW33e+0eE/0PiqV8PfH1g0r0RESppYth5efwtvs7dj1FGmdIIerFSoVmLJS6AJPvlqyigB/N3GlrriIlhwHtb2yU09TkPd/rkz5MDgkLzV2Dwh0nNPa+74rCeblcozPHUdtzqxocCQhuVjj8O1pemJJl9QrHQwv5LLM7tCzBtNrbe1RYeLuY7BMP3KKVu26VY9uybEsHbZ8Cdr8c+73C78jnd2T7LPUOOMo7sU/+SbTsR3Orl0pbjQxY4QIpTq9E3MiWM9vBo7nwTH/Z/enSZEbssYtoxtbVWBpi21TTgav8DbYj6zNShknik/WbZWWbT7f7iMmJkEEr2VvtddAxqT3BkW0jViydZFUHCeiIk7m+QyvUyHIs4azoAGjUGVCfU6IRxxYOcsiRzbyq623d//7DGhgJ6aH7SjU+Nbnn+1+SVehSF4VR0qrpKZO1v+08DPuFJA/PZBNE3J51LNEk8vrM38GgSKfEcKV8sEULkQCRMy5CPTpM60XNR+/BcOFQtWHyA+/A6GY5Fh93xImCLT8CoP6qKr2Ipc+zqVlOaAtJtSXmXlXE5ZBSJ1lomkuWVp0+bWCLydOo9Rd2H88Tp42pad++fg0dbFQLxpRRxDZrYzne1tuHcW7HyfILhAWFyiFHXd1VWlhd0XB1l04G/1gbx67Q/wic1kfzblNX+ZWKVXSbjluNau+3NXpNr6BR9tX52izweZ34AnEoEbLMLmGvfiqFL0+kDwqqFMYQDKZL0I2zO+MNTp/ebo8AKGUVKGdkQGlyVACqbglr7OZO4YxpC3k1gjgcFzc+L/rmxdGjpgyeGShBlfIq7xVFFSISUTnIJU8EEsapG0dDvci18809KxD1cY1UtcvKmDjsSlHoqLgkIOPEPymYMnbonKgKO/tkX+EYJtAbS0XhbmemiTEpBqXThmRu61gYFRQil7ggquWlEt0xUL1n/VZltbcdd1T4J30qrsmTTUojSVTV7U0+TyL7S1eoYvqDGvp8UIvOh7Tvobs0c3uZzgy3CnJlkavGBMppNWWCZlXWHVDRoKt0JKLC9ULR1qvbbntJKysr2tzcFCdqlHPsBoV6W0RnWuSOiNiI5lnYzvwFKuK0PrG6qmQyqVOcUkGeo0B1sShEKRs1Vr3TMXIBqcM4yr0Jt4wK+d4hzcilSKIf1TWaoEAfqJIhpSYdBaeQm4uX/tSTbsT+sODjKqHKcLZly2lD52/M1UXiyKK4acMc83jSdsRzHETkbjutI9UoH9uMK6pNTmYwC2MFoi0sCguVC0r4McirQVSZMk7yUPGF3/NdXRTMAG2STc82PHGSLO929uAwWbrGZ/0qLkZrfp82ThxW2kJLPlRfjLo8bvES0IzjyBo+HwcPyC5KaXWi66IxA702Cq8hnjaDcc90fQEUGN4QdnhH4vbRZ589z/ZpgyIBV9bgEQUaDF5/tP1W+Qdqs/IKeO95KZ1u8mZRaBzzQ029OlNSY/wKScQR5JtGoeLAlj07EMgE7jjisOvx09sawacoATnkCPbr3lvRI22r8h/0ixMtwnerDnCH/nKkTa69oNHRQgWpVxAD+x2mX+Hyq8WdV4iQo9OjAY0Nuprxn5bPLpLf71fEsZSMouWtznthOUpaBpo3LNbzhPWscFZEPKTGgwfVgOH5z6Sw9PkwWhFBbSGVLEvVI4+pBuM7qaiu0MB9t8kN+Ld3J7ONYqVDvtvGZb94ULRdLzCxHSYXxajqh6fla+uVXZKvfnwKUiWiJfJ1+2RVuhq62pUbapRtp+UbRCyhkZHp7UWBQYFPR/MLxdQ+BahWJgr7qN0nPvIJ0eM3/b27W0TeAUtqO+I6D7q7jhbtTpXN7h2A9cxRS+GQt+DEYvI/+TVhF8jn9+sTFZZGvhqTPbckDrxX7mWjGmJIo2MJwZXCiYrKtHjwiNFmpw6qOzqluptGtf/JOV2fO6Xhqb9X26eeVUPno2p2mo3T3UL+qFlsQodDOuR/TEcfLBc32jJQyI9qW5N/e2RPXS+qvOzSUva+U/kgAyrLIgj855JhhhXyubJtA7kP4CqAoyXQTYGwWHW92JIiGRjqdrBrMAOS8CMr4ClyDkaZ85sdg98fMBDurGeOgGx8So3ZasKVIV4cVRfWVuwE/YiVYtHRrKojqC2ao/1X7ZdzNRprQ2MH0V2738eHbMsEP77LiwLeQJ7ZftjuYCSQSe6eI6JR+dfeK8fJUSzsavJjE6rOQ2f3byeUALMzuJ9uRXfkvt0OhitKFWm+c/LiKTltjFkqZCigz6NnsBDH0Do3yt2VUYxQSO0YdFIlCBpUwrI+cqRHkUeSOlZ+zKQi/b/bxUa2dndAl8qU2dzl10KuLejVSH9E769xvEAjU+brA016ePQGPYxxdh376BXeZDUpgoe9MrVrnGl1sqZGhgUhxarQYk1Cg8FeUWOLyYB8hBTHVmtrUPH5fF3mq9FTfaggge5q8RKjHH9S/IpPLy08Ixd0I2gojfbPLegDTTnqfAYFj+/Vtp4EED0oNNQukzweEaoQfEjU2qLf2gq2M7uOdYHJDVxQgEGquEGj7beiloFOtXmEgU6NI/9H/eoLZcFgXVfk+DSx5ldxc40YmRYYzH4I1FBUpO7K92uUNZUeL9EWwiyC9m3uU+qaVXFkQ0z2qqgcTfpt8eS6CP+K6OwQh+IevLZWocVx2d136iitYqBN2Ki8t1C117aImhpRUCfj5H4Hk4ydK4auEoGQCKGDFrrlo3ufu1qU0PKSocoOglYng6IKOUvLuiyRECFLBILCH5PrH1FfTZNYOS26Tqv4phmtP/qinOimF+UflO+ZYbldrQokgorYZYJO4U8IJya7B/UHELkR7Xu6Q6kDQ7JCloLEFYo6WQiwkGhtVX4ioRoyDKEXeV8fOu48I2MCGTSa7KUwmpKrCyWHyUgEo4W/ewtAni5EwzE6ikqPlsjteY/uDAzqS4ONWrFQ5fGzInjG69u2Vx/bkeXHj2PG9yoqOO6NuRbMjnfZBNeurh5XMHhqj+dOaO9o5CLBadHQL3K9HUYI2QwrSEh1oN4x1DpZrypSZjeTMcHOoOr8f4Y4BRNavpfN/WJyWtAo2w6ptvZ+BTkf8tdEQBv+bnFbxmxjqYGHtjTykvqAnr88eXH0kZUn6jxNZs7sRLaP+5WJOHVwVJusVcBfrhQpE+iUQpVLlu5iUy22LSvVLuPDqDLp+HIQi+Xi9klx8OA7ePdtKW1DXTmIozWKF4zq2mvrZGB1BjFVkixRpC2iasyCeecn8w3kjS6RrhZWse4i6mHde+QWfEN5l6dFokGNt46ozp9ZrFICRxugijIU6ojLcQpMxGsYVVWgllOIljoxbqm+s14Ou2IQ8g23/gXhpWC2sdWorL5J03jb4lvLxa92q2HZp4F9UXHgHgMDTTniulNKdqNDLyAKTSTnUQcR3hRlKNKJEvX5SqXMRPj2LLzrMlHSj8jC0mZOUqT3yMsdwMABQ0kZemmvnixL1A2JwKCoLBd9IY8ypVB0FooyL+F9Xb5yLNTfEdP6+q2ioEokCkVeWVbA1iVIWVSpq0bl+HwiHy3m5SrdsttMaWSSDCSxQDZBpeNHzeBOpRQpLlb1ZXmi4BpRhU6M1qhtpVicGheVE8ppG9RmfpfWvd1Pan1d9lREt09sahlLNA2LviWzwx9F1lWo1ofMzq1S+aMHZPh2tsuzxbF0dbviNUkVpNGIvTvuZbfElF/QIbPbrTOQ1UsK9osqMyG6LsrLPf+cLXqZHXJMP38EdVRQpH4yGeiM2BQqRb7x+1VXKeXzaaAO4xf1IY7XiDlbp99/Wo7r6iOnPqLHaZOzH22OouA0Ovos2nwRHdm/ohtJKnEmoU+sreruKhT42FEdD02Le0dln97Qxoar/JP5slxLBacb5OczOtF/UJ2N3TrNsprCtfrs2TUFqupFDB25/oiiiajY+KQ4fUAF3fmiER276pjaR9vFNeyZdOpdXRQsq11k8N8XkYxGHwHNDZpJYMG2FbH3yr5kOr/j9Bhc/e57ObZw0rLoe5vnTggrJpxDYnRMdk++6PbL6lgSFZfLmhoWiVqF6dVdfXcpv/By7Wdaa05IWKvCnhb0al/uhNzHHjMmgoFt55FlO7Ity5uosyT7ezlbwSm7Zbgf5V9l/m4/jaom2JGjwepFFB6UxX5BSAuf+IQmp6eVTN4r9jUJ10sI70k8kaOxsQe0QlrYyLIsXeug+3lYkS1fwKjMIkFWQnvv72VkOSOyKFAQS4sYoj0sxDza/ywm4rmYC2RwWxS4hmPekwTPa/KeMTGdY6LKu+4UHUWy+jCO6ZvYm4bARrV1qOuRo5p4dJ9KrTJ1WP1Zk8iMYEMR0PuHBlV4XaGcBduDLFuyJm2tpBzjS7IMntxacGTHHEGebGtaGXw4WMI2mH0sxziYbbbFcYRly55ztNyLlu/cryHH9ibpbeey9YBlzDOXOvEUoqkBk8LzwPwhTY6NKjdnb2qMX44nNT09IzB5oN/XaausFDE1pfq1Nd0Sj8qemcyqS0sreSnZY2M6SLXmn22QGxgUxYWa7vPs2hl+qJoa0dZ23ljN/P2JBXvrnmAUlP0g4nFZH/iOyN8vZrvPy653vrRq4RM3adqyleDAhc+7yEIRj7OVE2CnZNoyq+zZ97Gs83Yl85a1zcJwoWfu+j3EIU1b87KvRwyauIRkEk3eh+xcW8EwWphHh7z4BMuyzrdmWJgUuFlzhZV1zAKzyIxMCCuh/eyXYzlatEqE3S2sFp20KzUJogrtv32f/H6/7EOYSPwwggUxamnxpMkl77cQhbbHNrDdRzLPf1cXheERVNOe64WSX1gOYPDSNigZQ/jQjScf1NVXXmcGshcF29SEnEpUVhrTx6rKFW3eeZ9wKKS1Z9fE/VFhzYupeZFOq4rdNBpG0u2zyn/8G+K93drozlG4N6gPJK5XfiBX8wmUcoIq8CdFfb3YRJYf7X+qX42jvyoWTwki8gWiahhMqtU/rKbeed032Knx5lwtLDyv0XRaA8fYXn0dTJ7bTBkCbOPfd0kM5PO0nsEZ9GCrCULK8Y5Pg0o3x7XWkFTYZ4uxXMUTCbmuKx+ooRy1Dhv+FF8hIpUni8/plvr3igE0NjamwfsrVUYyi8wsLnJcUYJKhlHTCJp7DpFAgUJ0pv52jXBAY4xqgUE9mB3in+H18XMBXHeOwFJujC2svEOuEnGUm4+Ks3Zqq2Rp/tWIgTE1NVXIcWZNAvTbLJFoVsB+TPWJtDarGsXIL4rBWlGXI4N2K1cCdMuhmGp7fXr26jWFo2HR0iI754BueewFMfmkOOLTvWVl2vfFF3Ti+heUm/sLWl4+LZOe9T2CWXF3m1bnahQ/9WnxJ78o7q5Vy82l4jMNKvnOf1ayd1k8/JxyahLKKTGDcSR6QLOMyMVE2c8nDgjn4nxHO8SHiDYI/MptuVldi7biF4iCL3JOqy5hdpBB0BXDw/LX1Ii6OrUHAuq4AfEC4n2ZawZ1i9ukunhcc3g7UlpFOk80NQh8hizSwpj0woYCogwv216W5LIhfCHRuKZG0FXe74GIo5t+9REVNnYIrhDDwR3R7HtK7rgSWHLI3ft4CkMFcyn119SURYGzLrh+x/GjR1EgiChE1vwhNZ9MqDlrAk6ur8vK5J4+kNW/MT6vBpAvo7x4v/siPjUcuU6bfeXiCOo5gdqcFiUStjbqNxQd8umaZKOJbF9lV4xNUrglXiT5hpkrTl7k/Q4cELlePU0jSjfFGiKMJjfQ8xbKa0T0oYmJCd3XWW7QT/OIvBaByafxKVwFaBRtm+K27GfsExv/DBHNQwypOna/qH8HRHEhzDb7cLsI+8yk6YXcd3ZGNFW3qrLKhKivEZ2772sJ0iLWLuxPKnXff5V/dlb1YRQ7T+OMqMg/r9L8eUXuul40NCjSjh7OQoAUgEoCIYXbhpTvQ6X5MV2dH9ctxSk9t7igmx9slH+4R21tqIdpdbYe0ZHAgBqSKD+CnJhP0X8Kydep7O8nzzseo1vRNmT50NmPXKfFpaMib1yb9Ki7GnXPmA7sL8EkydlVz8VBNB1HXNOhLZt3P+KY8ZXcUoihBwcFg6iltU4XZZuc4sIpPY8ifKg0UanJmgXzWwwxH1G6I6iK+qCihHQq5soBHe/oEM89It5rKzZxgzo6viF37Ki4Mk/UW4IuhenSAJaJhg0FFaRcPlIyxF4Ze21IO6CLfd0iYquRk/owO4OiujBRqoBOkha0KBMciF0ruorFcKFobVB3XqU4WKvKtoPKK8wT95gJhuPHRaOjwx1HdOipYfm2Ai5N+stLbftS0C9EWxW3A+IJ1OigouvO7wOACjmhfmxxMmYm8rSpa1paFAteuP81k0HFxQR3is6Eoje2ybK2zVSxWKOwejQeNSgnc35AO5zHPkS7Qf/Veu0aCqHmU/UiJy7WUDC5C121SwZAtVkU9Sa4c0rnp9ONiNi2BWHH+D9xk7A8FoSOjqxFAZFKiVBK4QgK+fIUDKaV4cGyolF1JRLqicUUCyOcXBmUXFqQp0gkIjuZFNgKEVV/LFdt0bR8oZBO+n1mIYkhP3610S9wFY1asq1xmQDPiOhxxIBPo9F21eAonOmfyROae9bWcwV5Gjxxp+j3fC8HEKOI9ri2o7EDGmDdY+hdUsbEPYUB3xwGhQOo27ddh5FIRKsfXTW71BEM31tBt9cfHXGZT5xoNwvGdaiDgFpjWW0bi727i0IbbSqhQjYekVNGCjFOlL06yAiiCI257CLRM+LgeKv5qCCkw2RvaYOCB8WRcjk4OlvnV2O1bcLUz9OyPiiaShR73Nb8QUdYlvyYxOHJZI76brlVFbfeqmtqOzXOgh4rRY8/vqrNx4/LV2sp4DryLVRoMnKD3Btdncif1Y2jKBSq05VXlutD+1De4WodpOvnzznr2aCbQCV7YLI/wYyWvIH64v6j8rnzgpTc7MnHQUzWCY+Z8TJMhrGxAWT1IWcSsZa1vc6E3oPc2XXhZHJEhAXDXmL1jMzsLFPG1HSRd7HolMPNqqtD5Q9Mq290RomafoUGu7Q0NqD5I2UaAXXZtq4M+GU76AiWmYSy71+FYtWeqaK8X9xxhU75TczKjud2jojUHTJZrTBb72lk457XvxyQPW2eYSinD+ptkTO9GMhfRulwTTsdsSwRyDZ/zgmSl9z2Vhqt3IMiEVN3Fujwsb1x+Zfjah5LuM+LuF/87rioQPYQWr1QtraMVOBRhxtT2tLBMYU7g6LU0JE8d7mtYK6jiQ+hEmY0PIpobxPl27vECUx9zcx47bxifu+5o0c5Dbkad9FwH6qouHA5TM6PLEDHCt6kvgutZ82Iw9s7riPZx3J9YmBYlB7RxHUTcrtcUYBsx9HU2bNi4B5N7LPVV3mHeoY+IMYDgiNiYVFcdpliKyvaf7sjmt+jmfFR7ev4gCh5WHP7zyp5xRViKqIRZ0FFR24VSw+p4YohVU3WmD55GOPHuXFQ5JdoYcFVJHLYK/+UWMszNOXLqIhCjTJqyhxz5UyiwCyyXVfNLWizyKtHB6OU2W5WPbkeUnK7bhxM/3BADZ3osm5kDaDLb0MN9cj1m7Z1FiY0FVkUxEXfV0WyZoucMM9CXQ6yaZG92rhtTltff3cXhdyRKxWe2UO7CXuDE4yz7lpbXLUpylF+YYFCqWYVFyCnHBmabVsV3G92DevmujW3SNGT3qArKhINAWOmqkBGOywQiS4Rb1N2xyvDaL0PF96gNCnd93SFFm+3NAZ6/nRAtVc+o0CgTQXtHSrtGNdUe5V6LdTUjGrSZfo4jsZuv10vvPiiUicrdddQiwJtlupDpVrsR8XBpOLkCYrVW7GL//0dymmPA3+JIXU9UL9jwi3IL1D99Z/TOsbu/MlP3y+r5Ho1UaJPOeh9mWA3P+K9CWUoDxoxuORi7z6l7Ep7WMsWz8/p0geFkxYbaANXDoU7Uw4GSkVPiQliusR3Cjd0Kv/4zUokUDSvVPkFKI8G5TmDotiUp6i0RHk+n5oxAyhIWpAvUl0iGtWqhZJjCflq0yopKVF1NKyx5Vzl+LPNhBVG2/xVxFy97Pm0yn+vU/Qb9Fd8YEC5d10r7rAED5hrehCf3RS2N9juLddGne3F2LiCm1TR2S5rBT2QeU4KFUW9xQnj0HRALbSom9TPlWsYUDgP5b+IZ7Y4qyVs9Z2ueJvrSoUdV6r4aZMDorBUG+75OS2ypTWGuhMYU0U9WqdI4aRjTIAFqNSPnISron9VKpru01oRiubhmQiLBAGVeJNS6WCdmNswsOmET+n2LgWSDSrmLtmpyEXpIgDxAF4f3/me65h2rQBBsWgLiNyIYF3Np8d0xve8ok9FReemKCwSz3xQJVeXyEpbImzKVrL7WTZ7w6fTiCAqLUZlKUTEry3ahxJ2jMFksl/RqId8qjCUHO95EM93tabdaT83ystVY9uqrAzJosC8jw9RWKhoU0p5qV7V51aqJ4I34Vec98zdcoqY3C1o67qSRNToN23XNItKvonWvZ2DxS0qoVXgE/n3CH+pDFW9X0FQqsQS/eXidIW4wRLXPiCofHcXBWgUE7dogcksdMiEducuoNd0sujTubq79251PnBYH2n36eToqgxU0NJ4Fikdxcgd9WCka2uit0cciBvb2jgyCJ3zUU8+TAathiT6YR8qstDY/jH5x225QRTGr2FnRR8pWNeHp/ernXa1jFXpGgcdWUcTnUMKElAAv3wYSGpneFUsm+326CC6P4hKiQp6VTxuzrlQg1b6M9mULiAbzwlQr+uqcX+26cGvW9u69XDe13XgyAGFwmGNf/FjordPEFMgYCJkwb8Vx2CtId8enWuAdxBYNzEhCgt1EEMRbifWxbVn1RAt3UG0djHJa+9Q6/XGvmtZ18nne0bFDKiOHrlDruyyoBgYkNPfL6fpfnXSrSSNgh7ReJVhJ7URH6pQ+NiQBkYfNYlsbnLlBHplU+0NqHFhRYVvSbAu1w3rPVf/jRrKjImipKREtddfLsYcYU+IkM+YfkAwp/VTtyowPaKhcXfbjOdUaXxqU7Y1o4+TL4JB9X/lkCoHkW3bOvLAhmgxisoGR3WVr1HDg6j65+A+Suehs1ejSBDBuHw+W5OB8T3PXSOzq7YFuWoMPalC24N2Mn8Jz4uKWx8THcU64jNKhpWHfB9GjDiid0N0jMsusBVecuWPoBxy9GHuVmo925zojbsqRHlEdPaJ3AnhjIjGEVFYufO5LsIq10EGFPT5xMczEdLb72nj31JaxtcQdo8xk3mZ344w4cW17C0W20qPfw9kTWZeMNaGgCAsbEu+LaRYtsLjl1EOLOEzi39wbU3YlvzjKM8K6wnf8gXLEhgZ0YTramIqV7bbnhX71KnCwkY1NFyvRiY99gNbMCaOcB7Y4gwpzTGrtYY1HW6PaoolFZcihnyC7ahwu9SRU3shsM4eMnBAhBbF+LjotkVyQjD5bi8K5uVCBLNMPJ3iAo4kK/wRhUgqvwz1n0SR4bCiUUOWtiNTlYMImM6bcYLtlKQuhl22QZPLKOJF2U5Po6Hb0cdAV/WHlVsfVk4wLLtoUH11yOlEsKAH12qVHEc3cVzzWHJBfiu8I5lP+B0MfPfEHmRqnjSCEi+Zd/P392vz/myN76j2M6vLeb9CJ0OyopaiVxWo1drGwteBajijz1OvPFBu2JDg7VmWUkRxSFsLqQ+DWSYu2pu23y/YKZx6hajxbMBhQUg+7Es3kTmOSWMJys1t1sLCY6KgXFQ2aCRwuSqGf1+Alnw+zfmSMv6BuOh5VLhR9Wc4532I0iJx9lHlVfaq5olN9Yf8qs02s0VDanjvFUqeLBF1roaPzKplbA8TTCmy9/vU+83LjWnTCil81bXbx682/5e2o+IWBEGFsY3JMScs10XgqC75JZX6FkRTo04kasThGvn3VcltzFfbO+wbpeRonvqtcbN/P0rdvPe5xRhyOzghX3Bc3U/cJaqrZFmW+vreDoWHwBK35ogORx9ZRTlhlGej/TmI9gYxOCbGUGlZqT4WGtcVFopha5yg7K2Uk7XCo2UB41Nob0fpalQ9gKBJzDWIluNipVbB1RJ1zCKKHIUDcVlH1hQLn1BLuyXCpo0baFA7n942CYbf7j36Ba3q9zT0WgwrbMY5fuxYJhBypyyToam4RvCsqCzS4aFMdPGJHePOUJmUiFXUE0bvn5qSbbXpOBHl5Vh64oMdypnPUX0T56HwQnhm9OKB86l7douF6CsxRIKNiIRZ3HowdR+kX2FfWuG4pWBnSI7Tr74AGs7KC9FQ2KDuiovT/eyUkPYKrv1nWBR8wqkWH94n58Pjys17QPi3bYKp7AKcfEq4xxVrQyUfRDSjUGhDlZXVysYUb2Zfk4dxyux4kYhMspkLV8DDuajYW4GTIP95PgdLLbkN+pclyF9jOlytXSL33aT0vYiUza0pMl1pvkfnlAqev/N5FLyBaOve9pCqNm5SE3nq42qVcEJFRDVJ6faEnUS4ZlHMw2ypZ8FsmfMi2uKocjBUAYRFdbnwG26k63LLVFlVLEaLZZyTQdmgDUKmzhMIf4Xwj4vjF3i3ze2/C6jQad4viiZF7YYZbI1mQkhHUF4YJSmXj7CoqxOOo0Yat3DniZBfq301ijOo4qNX78q0lxJOvkrHP6fooSoFWhzdNNDtLX45asJVHwbG6C9Ny7ZR/Rgit0AkbxVuVn4MvxmUaa/etn4PhsQzR8UH0wJHqfZ7le6oEFeVi+ERHT36u8oP1SpIUlXs7SO7oJTliefGRDSj6SXF5t4+hdtIyuGQoFEucdXxtABZrq2GB0cv4XmOKM0VUVS7htwwxjG7tKyUF1MSJ1uB6VGQ5i3qmjyQRbFIx2UUPkclJSlV16Ce2qCODMcE66JnTFROiZESBSbSqkkhyoIiXiOoUT0VuqdmUVxlGFpLKfXySVjaWnByckSRK06gSR8qL9vUkSlXk5xQMw2CSjV6TtymeFzpQMBj043ICcdVTa6Kg0GlKyuVthPypYOqJlcOjhwcVZMrPwYumleZp+Jqn5LV1SJWJCocJSxzPJVnKd+uVGpsnwyFdVA+F9XWlijWF1NpOefTf4cR66iExvNpLgiKvJgZQ2UIK1fhhgLFaVVuWa7xR2CUPR8oSZUgYJSjGgSNaiCTA3zD1FlJk1LVfbKIK3vHk8r+30bxPFTt9yuRSIgISnmLbzCNYul3fVGwBCnZPKBF54QKLVsPDQ7tCBraYXO3LJ23UuVYXj6GbblopPIlykOTqNizcQ5iKb07by8ToqZb1h1NwsloYheWtzv+zmVQBv2AaG/XcvmNmmQbqmmBrOVlGc0lpBc2D8ga9+ouZIm5DAbaESyYuh1F5NoKYe/RKWMyaA9LFgEv/mHZ3MNC0SJ078OW0mUY2zvtyjivLWoEjQa5lMmBfQnY7iQVmrQeUOXkhNpPnVIPPSqh2PSBBkQtGsJSHmie/fJndWzLskRRVPYj0yphQF37r5IVwOs/lmBRViQi6+59ovtF+cbR/G8dN5MS44KkFhYsDd6ECv/tC149hgUJMXpW5GxulzkfE2EL4viSmLG1XIHosExcjGWiibEbhVUv7GGVLBeqx1pQO8Hzgi8vSQoLZA3cLQjLspZkMS6svXfYz7MkF0csL4tAXOz/qHfMNrky3vZ5YWFNm2xuGe3Ww8Qve+OxD1uFoLkFS+E1tERSFveJ5S7tD7bJN4cX2zAtiGjx+JLsGVtW+YjoukxWd7cOdPfKHR/Tgdvfo9gDPbpvdlpd/75EXV98UAT+ULmUaxRrG4/v/Y3lF3j5SsbHxEZyxzm2hVqwVJNIyJqY0DIVgjZ1d3eruLjYmJV7GhSv7dZ9TOqysjIduOsuLfsHlFou071MKWbFFCWqe5hSGuT3+bT/zv3aPJurkXvPiq4T4j1h9TvTKgAtzPq0ErxTS8s3bsU8hEBz9Gp5+QHNMqQwd2iJblmcVWXlabV3rGz3lfOkTOxrN2PoegSTqiOqbtY15VF0+Peh9wYMSm6LNmghon5nRgUUycIDhSybNrOqLC202vJbvcIq3hp7ixjFcAlLBFH3LDqbn6+BgQHRgJbrzAJUtoQ6Drzri8JjghrhfEd5pz4phw8rZ4/ELBcVl52c7u+S9LK9nS/nakV2pNVDkBShmCg327HU29zv7Y6/UykvR5G+JlGPhspQXTKlJNvMo9Og0lTKaPQ+lPfoi9t8TDYiF30oM7DIExsbwnaUs/I7+sTpLytke6YmyxKNjQoEkqqpuVVwvY5iaYZc1ZDSIVCiHTGUEH2roqlKLOylffqVSWBfx7Ydt4pdOSn62Qriys2N6sBytyYni7SxUafYeEyByjyZXM1xBUhu8RvdQK5CGYXBdcVDDym/KKQ7H+1TIBFQrK1Hg7aruqZNYaGWRjRBTId5Ttz/lOwZNHE4opwcb8eZm6vh5tvkJPxiNiXIMfmfR5v2XtBsWzQ2ioI8kYtS16Ce9If1gdse83Zgrtq/+ZA6OlDF3LpGZ76qK/mKQllUBu9Eyvzo2rjRCh95JE/L9qLSpPc8Ny+jRadScu246nP/t6BHFjsjbi8kvli7ag/XqyKFxpswJrT3NcmardZGMKgIPToy8bwoH9XV104pUY1SuIJKkYqJQFQMoub+flE+K9LtouBhE/NSOKr6+x/V+KElDSw8qSNfulxfeaxNPeUxVVo5ipWgZIWtBjtP2Um4ThIz9DKbFWJt3GjZTZi2uRqx7NVTGZqaMo7okOuKZFIpgoKoKClRNB5XZb2txtlGNaY6NV8xq6niYjFZpmLnPhVHNlRRY4mHGk0fLq9VU3GTnFnU0FKkpvCsmJkRJUH5S/2qra1VM6iRRrUWtqrpFrb6iw3KJaZUqko5JGRTrhQxQaWCwUJdfXVafr9pq+22Cei8nCV492zc+ZuViyrsXeMpz1acHPnxa40ehXFFnokefwp09fETOjHnE6NnxFSF8vMbVZKLZqqqFApdq5ZdfSQNujWAFmsq1EixipqLLmmuv+R8ClG+CvwDBB6k+DvX82DqYV4+8CRQdKm3gDeBH1366ZfyKQDGMLUAEAr+Aa7zd7vO+hG89mP4658A8H3v1zAYavXQzrO/z7v7CYWmSSS6IHIYNxTE9X2fH2Ho3QF+h0n+12sBVvNXCdthfvAH34WPPgN5eSZfwz/A14BwWFjRH3D8s5/FmnsL3xtP8kf/87/g2BHKOcnTlsVoJEK7/SPC4d8APsevIH6bf+C/R17jN4Ef/0fgP/wjvP41Kv+bw/Dv+IB+oDarxDYQAe/fTCcJA072iyUxnP7AP7yew7/81iz/jQb+lAHe+v0f8/obQZj6Dvh/ip1jEeYbUB3hlwZ/yNpkDtS7Jt/CN34d6x/zCX5zldfdIn58eIZzQQdFPwPAfy6E34v+mK8eupGTn/47LGeGvI9vkNPq5c3w5fD6K19l7PU3KHv1++D+kK6nztE4fPV2iddC4F81f7sOw7/4Ai2p98I/2Hz/JXD+/it8++9+zZTJOof7X38d3//tJ/SH3yL4xvV8MXAXP2VHEpBL/vzNG1D0skkB8PXUD/i29W0ORbLyKUS2/3zr5A9YjgLfj2MFOll6+B7qq/+KMJkUAhaQi+sGCOQGIRgm7cI+aw2OV2C/EiPynQh/VVrO7w+MmnQZX46ivDCfDYV4NS+Pr/zZ3fDqn/ELX/l3/GP1FXz/k5cTWurB/v7jnD7XxMd6oaU9AaEUBOKQ93X4wFuQ+hnRr7n80W98lz/+t3fwlct/iROP/w/+x08W+dunX+bUBhz+23NUBl8DooQAmwif5xXe5DtEPvNX8OXfh+YIdHsv/P8D/mMECPI3f+Pwx38Q5icfsgjVvsniwI/4/vBPoW8egnEc9zShCERTEaL+ON8Np3g1GIS8EEH7Lwk6PyAUsOAbXs6EUJhoMIqVgkg0QNRJmTEVtLGDFpFIhCgQJUo0ECNqAyxAZJgQ45wd+yBXXVXID/kAHV0VpEZK4dlG3nftUTreeJXDh3+w1SKmCW3YkS0k6xPd+VX/AH91bldWmh+c42V+yBu8wVu8Ze73AzgM/CvgF774Bb7wmzaRf/9d+F4ugXiEYCRCaSgPv/slYrseE8DPr9o5fDsc5geREMFY8KL9dLtwl/hZB0G+WHpMzhNxBVsR7t7OjH8umfBW5cKsFdEgEga0lax7nG2zx3kSUoZszwcmhV0uW0FdYALE0u962V2tTR4V+IxTd3Ln8Xa6lbee1sSHfArmoMmp50TYhL4DohWRRgcPoYUNL0jLNRrIR1bWNe33qwKfQhitfgs6OTm5/Zy1Nc2TzSvUIbu8R07/sLaJvSyVl0+opnVcDF7CLjD7/kemhOVTTd2kRvo3TC7b6edMOVsPit98Sbi2sNcUdII6MvSwqK70rm9WJDar0YVHTTmOrMoJGR8HNga1YaH2HnSyJWC4ik58SGt2rUcXYlImOsPI8uC7ThDZdq7o6ROJYjF9lYnWzUNON1o/2Sfb7vKeXyhoFO5pMT0obFttszeonRZx67iYL9Dj/SNKZExefbw9JHOXmHwKIU2cMD6dFz+edXxt+28rhdx5TD0EIxo6dlDVNnrQtnX8ssvEZe8T9u+rvPx96n94TIweklWNyRXhv8aUawlhFwrnBkGbDsZL1deLNq6ZUu0ff108vSqeuFU8MSmeOiY6T2jGt6A8yuTDUcgxtA4jYNLTesSNWLY45KWXfAIxPazm+zd1f+uspkO2Hq9DD435dfzQISUSCX21+4xKyy8X1VHBojeH+AyTrp3Vd1iRQTKWaIklRYIRWbbhP8JBOD61gPIpFHSoClRBRGSACt58ULiK7C4zTxAOq2NgQLmTaMQ3Kf/oGSUmT3q5F8oV2l+toZF2TdIkOKO6ulmVVCEsV6w5AlchJ6RAwBGE5DiubMcWIZ+CgYBC/kPy+XyGguKfQbLBHq43zzGG6BzWc2c+JbhJHB5TbOaIvsysrirO0+hVps5yc1FHBzKxOS+pC1ura6aPX5JV6FIXhfLyPNXVRVTUg564An1k40Y5zrrI4sf/55aMPTdClpOwCBW90CNf0iwKG7AjX8LuyRlKFGaXk7GQLfqKNJeGLCnGmJnenrwN7ctHxZkQ+lxEc6bBjF05n3w1cL1KS2+T48RVXn5WhhjMr5Mnka94UoTLZWFiM8ow/puesqjKyJENCp4tO38xK9+JES+iRL54p0jUCF4Q4RxD7jZULtpqxbWFii+NKNldJm6xRCViwhJcIC9xefnW33lXDehA8bUiOilyNjQ+jqomvOOJpOhOGCx52c7+knknH65KKFH1JBobMwl4otnPisWUf8MRNeaxM3ixGPGrMdHnAR5CDbJSHSpNpkQsT4uFVys/0CHKNpVnFypcHzZ+hQSGmiAfEYgIp0OU5KusImomwfJywSntK3B0T1eZ7sh7StFMcpYijFPwUvtuCJV0PC7XTetsmUHNlJ/dDZ44KjhjYhlWEKeRQ0Ql3CEoU4llqaatTbR3e3mim0VJvkk5GuhUUWGnOsvy1HpzStaHOhQO9eiG9ds0FU7roD+moiLUWh5TTlnOtkmt2BKu17aWeSZgFKsqw6rZsKOMO8u8wsP6//P23uF1XNe5929mzpx+Dg56rwQBkCAaCzpIVIIACRIsIEESoLooqstWr66yLMuymiVLzrVjy7Itt7jHLY67b+zEyU3uzU2c2E5cZVuVIsWO9/tjzwEOGgnaut88z3pwMLNnz549u671rnclKJCxR1nKiaBqL/BTvCSgTRetlhtvki8rYahPisOioF60O6LGaxsx5Es4KqRBSc/1taD7mG1vzAKFOSjIUQKUhqtUNtFMUKQKkeuNEz6fcgoKFCxBRXaJnKLVCpTUehDRuHwVCRUW5aiUTMFqpS8r01W3zPAoRXA0RoOmKTXWosmVqWUyPgF/ko1pCXJ9YbnizmOCewWWiik2qtrcLJWGMwW5Ir1Y/rgJMlQVRcUNpm2FQignp0CQLbd4lTZZlrYQFWS+vpNCX99Kje0tUfNVPtkJZnvizWOMrNaC9MIWHk53kShLc6WlZYaxchHJAd1C63Rc3ibMgHKue2bhodcxPz6wD9k7bdlj9oJ66TYvj7IlvIfThMaSu5f9iM457++gXgux+T4RStd47risvpkdWFubb1ac2h5M/ff0FIpt1cYO0dunRu+660M+x5HPskwAj4hPVm6uOnvvUqT8OlHeIB9XyirIklP/pFj9frF6h1jXLPuSfjnVjqG2xvK+1fp5dUMbKijcNWMkuywuWttFYbeonvB2b963q0CsMv4o9CJw5WAoBexB1J2OR7Lm866blV/B3Lr02pnPv11Nb9qvyjsDslrRjrFSTeuws/fIaTikDZV1KZNWoeAyraJRub25M2UqQ6xGO9PLFJi4QSM/dNWb9NT12cbgC2Jfr1jZpcU8on34ZIIzuSnnUtJkIQ5tEKGQeT/LkjGGm8hbWJYHhfUp7fKEBoc2C7tM/kivut7yXVF6qdi0RSS6tH1Xq3qce5XLW0VXs/B/SSSuUdu6q3VNT60uDdXJOXSlcrKytArUaKNlthnMbgE1sE3gmvJ1OPLFNpjfvYjMCkHTdLnbMAukHRftlD3kl0W/HN+YDANBqfEJ2X5A231md5qXZyILAkpkZWnNO/vFxZ9XKLRM7e2I3hzRecU0jBkQxSi4PKgODolF7Czz5HwYapcqVWjndeOyLUs7bIQTElxz9jL5ljKOLXGsS44VOLKw9MB93UrPNnBcq39IPem7vDR1gkYN0+45d3qe1jtT89mlId6qKDmK9DyqT1o+/Q1lgjWv76SwljLl7btW/c6I6sbTVA8y1Aj5pkCzIITuwh0oC7HJ0my88FkkGDxnxTsYp7EQxmizkPOLxblC9q1Uqu/Emv41Yjlq6mrSinUrllbWs0hfFdp3yPs/gHDneIZfhqEKibQLK6DLJ56Rta7WI9iLKBjc7g0anoQxdR71xEKwRnUYo9RbxtG26wb04coLVJY1LsbGlVdYqP6tWwV1ilOvraA1ZeV6z7W3qHkyQ2v2rRU1aOXKlWrs6hLbHtJ8rhpPdiPiKMsXnXZ0C18+oJX2ZkGtwnRpB0GlrcnUcnaKwoASK9CWLck8JtTGfrOjiyAa8rX6K5fIdu/Smo0bxfbthgMp9ZmxgNi2Q1CuHQ0HlJ5/udyrf6Rap07DD1wuWq4SY2NKlPdrxxgKtCIIixW7RHSDjKphTKSNiTEjq8fGZNWNKZq1T1ZdnSLNjVqTh7BXifFtun/1HXJr7PkLBk8CGOz8PvbJRNG6cLq97Z1OVykS6aqvvluBpsyU+ztE4y7hdKpvRaluPOgoxh7ZBzMUju0RFT7RFlJZ5ogyfdUivF80XK9oe1BhsuSQ8PpZl4cgqxUpuHZA1KPAXuR6iL8MUIAugaN9GFXDnj2mrFYY4bhaKFbChniRrMiIKgYr1PqR94lok4zKbauIFik6Tgo1CIYtOM1R7RVhhZtiYiSg5dV1Kk9DFThKnXjOS9Z4z9nj/V+NMmOZKltXJtaiNUnEDgWaHZPAJ+NTFZXFCq1ms2BELK8WaYbepQRU0X25wFa0eo38ayKq50YtSmcSCokdO7y6P5sszHG1mHTTrUIKNZn9DkXu8/xrwruEnTPrfSKev1iYqIGuzlJnRhUhItvjjwuxUwkyBMEljfVLNjQf4xTPffTDfOPMF/iXj7/CPwPwN8Dv4NMw2wZ3ChMtfc7xPPAVYaJYL+E4fhxOn553OsCMbe4MsAFjhNvLNZzGN5MwAgTMfvZ4kGkbUGamn3SixoCalQXD7wE6GOfduLhMHTlOPJLOL3/5z/zHH/6DtNJSiNZCpGVp5U49MuDHQfjXj08C0O+D7gvmVPtpjEHZ3wNWkE//9RR68YQ5RwbH+31cUNbIhb4ecvfCpfvAenUcpgrY44f+9V10lOXRiY+T7OORj8PnPv91PnTyZwRfnCLj737MCz7xo+/a1O+v5M5DCb508Si/et7iu3/3PK/9/jDHnj8FJ9L413/9V/7pu9+Hz70J+M389wliIqUfhhN7j3DYvCJ66jecjH2ZidzneI1/4DNs4czxE5zkFTglXn0JvvcvcSiNQum3+WHpC/z8lr+Eo3HQSnacugaHT3PzG7fTWX8YJCZSn/uq4HOHgZN8ZscfWf72BPfkvYEBHefMB1YQOfZddr7SxJk9mRx+zcfU6AMw8QSceie8OQItFqx/GzyezvZ1vcQrGjl2/23w8BGOZF2DXlvH0Y6nODb2JpgKwS9+SrSpBtZvYrLtfsYeHiMUMoiEkeQ7A/54nL/1fx7S/4GIHSWYeRNbRj5O7vXXQ2Qcdq5n8kwhx098nKnjr8K1mVg2XMfv4fj3Qd/jyK/+m09+5Qyv8ixTz8JrPc/Cz0/DD4/RfOILlDlD8Noz8L8e4sgPjvPawPOcKQhDehhifyQzI5cEYzjrE8SajGESSuH4ek58L8Kp5wrZzH5scjnBH4khPk8modPw7LOmN2oDkHEKODHvkw8dfo1M33f4+Ylf8e+fvZ3OE8+zjONs2/Z5Es6vOfLxjBnUhIDj4DuVSeBn65n646vwqjhx4jgnzyRHhZTBIggUY6y1+UAMCIehMAiPA9nAHsDv3XZmO/x73KBLNg1yZuoNnHztJKzu4NiyQi/TU54MAAUQmIA948B+ZA9xfP8DsPcB6B6FgiOwz8/JSx7k5T98G5ii+I+i+R8hlP4aUAM7YpAbhsJChoBsMiHzGPg+41mKHeAxDGBj7vHRBc4tfnwr9i1+4/6GYN/nsP7mQzABHPsUTP0BiEBsJ/hPc5TjCJjiiPliR1JzSeMorUwh4DDHeIWXOcEcs/bix1J3Cix1trMsMbQUPPX5SrWSMMlimFaVgFGnxEA2I2YFZmVr2I9uvwldUToisEXlkLjBrDS2bi3QRmvdDCzSNmqw4e2OfJtQHsNqf9cmvfGdO9R0T4k23PN1sTpD1C9uVB9erNybUVsnuvBCc29jQ52uqZit619nrVOOlSM2WiKEnvj4k7K6PJ3+DTtF+50qaPo7ta5dp5UWWm4jrA2CTNnv2Sgr4peVa8lq6Rfcpdjua7Sh19YV7xtWS2CbBm+7R1lvukrtna4se0S2ZYkOSy1N6IrVAW1koxieFHQJUJjINJ56nniqIEDk58q3dq3nn2LJ2rBeW5591vhFrGlXTlOTmtubxXXVit1xu3rv+ZKG7xkQ99wq7mkVV79F0C4sS5ZtG3WSbU+HyEzqbyvwgAWW174sZNXbctYguxMNs0zwBln4jb7/FkSkVtjXmlWiXaqgVac+ywQ791mWIZ2zTTyFImytI6wBa7PHf98rqtdqpGalHMvWFmtUlp0S/2K9pWXxYdUQVkvLZ3RZ7kVi4+dVF9yl8pFMWXaPF8bRi9+QUn9DW5+QbTnaNifOQA9mN3sNW2QnOfhBVhPacmibWSEPeXXSigovPKTGwdWiGY1cfaF67PVK22qJCLJ6TGzv1VhaxbjKRh7Ueusez0nK7KybGFHzrH67eN8r3v203vzle0RNlt794CbFPeZNqwcRQxabxRx4emZGhrral+Bs14dGnx3V4B2D4nHEVYiVK03sh+Tuw07td9ZMeW1LDJu6arAsFW1GxmBt1C4tWJ6dzfK+q631WIpbjoElWzN51dq2rsSzKYxUKBxepVs3NivPWi2sZlG7Ulx3nSzLFoxo4xByZ8WVqNViEdzOS1oQueiBwKDSh0LTsVAYNtqQvnWWuGNYtCKuXyGuKjc+S42HtPWNqzTkGrvoLY6lyCbzfdpubVPj7Y26o/72pY31f/KkUFU1L7bxtGRnywVVUKRZlBZ/lkQEYRUz3xCcMYqctHrt379Bm5yPquCeMuWsR5VZqIZqlVmWqqs7VdXtqmR5hdaUVmvZY/vVEb5ENVkYR6GJLF17AwoUIMgRmZaiTrbBCs+j8ojIGF+zlPTOPBdiKWfaaS8mJmdTINeSpowDM+q2zg9kG+/uMKLcFtYyRevHtX71qFy3R0HaVHboSlFaqvHsbPktS1QcELuyBJXy5ZcpM9NS1/IuOXkeBXJ+vsqfeFz+RNr0c1bE0ZZ8S1lkzXJCdECZFGkuCdg88ftFWprWgFZnfkBXXv33qi1t0ni4VP4Pf0T+4XcrMZZQVllEmWWVKqFSZZ7evYPZ0bvSMLQB5RUV6uycPZiEyVAkM1tFN6H8q55RQVGP2LRclCIrHXUSkvFEtYS/2niF2lHNkLGF5Cem1pQ8VzADNghSqQRPKYsDCmMWHcahr0EwoJy54REzbIV9b1AERwaXHtcMDXlQlJbOhELsLhAlKw06K4qyeYPAVnV1teBisX6/JstMWdKYb6PqAH3zjdViuyWWV2l/FfKlo2CRATnkgRKEhF1m/FccRKZRbcVBfUTVREhNW+5WLKv8vPpcBcbzeeWGJmXe/zZRg7IeqvQCGKHyjHL5Hf80caC5zxFUqswt0sH0fV7fyTb9JRaRXeTX8uXjM88Jody0XGVXZBs1XRqCbFWRGq9iXKz3m0XSvLHG/I2Bgjko6YUNHrvB3LGCOfYeT6IkSfpQ+op05azLUVo3qrwT9WALqkQQlZaVKkSjskBWAR4t+OspfYIiHRq7VbFwmiZB1ghidIa9gOIc409THhWlYQNOWFeq3L0xZVvIfwANWCiUjXBQYllC8cq4KmOV/48mBQfxAOKSZjPbLvJyIVA7NWLWx/0zpL5e1NZqJQHFp+mkQyoADRMU2LJCISWCvaqzi9Q27te6CdQ0/lHdYg3phpYHddn6oFauadIQreoMoaCFbGwFCaoatHoX6nLRzew1utExRAbaOGSMbmt34qGUEjJ8TMVaVO8+V3o9fe86zKAVDIraRvH2darxzQTcAfSehy6WY9u6h3G9gzG5uEpvHdLe1RMKBCYUYbua69bJvixNsFN0RMWtjhjZKmIzcaNbslvlVhiOFXLH1diL4rhyccWQ4YHyV84vq4WlYKDJUJgsQjw23RYCZte2hl7Vr2rQihhqD6GOUfQIJrxkMajQQrXBJC+NJ7mIPrTKXaUOt0NbGNGysjJtaOsV/lQAQ4EIlqqmKahlV7eqtiGkXZ94p66+Hg1ZTIduNdK6YFn9zLYrFTOXbdOSn5AyQTfbKG03uhQPtrysTAy9S7SERCUaDg+r8IF00YBgg0pKCtUxHekqaqKbRX2CNPn99XIS2fOilbW0tCjs9ZPqvbbey5hidMqsOFPT+tXKB+RgazfNpu+5KGmXqwDlEJMBdpiVZSBkBunRfSjs0W3fzDqVEtcuWBq3lR1WU8DY6Vqawxq49Y3KrclV6B1dsqKuwqA1Wxp0ZVpIBjmV3Cn4BGsVy0a3vAdd0d4nGp425ctIl7MCrVuHzIJqcJHnl6qF/GkCvAU5xdIQm9H4nzCWrFiBGjoRW41jafLbhTE7sdvJUxllJn0YGbj2OhFBq+pXKZbcRV/o9ecAqgfV/gllmS8BgaPR0dUKh/2CcVnDwxr/8E3mehcGheSixjFUsydDWMOCcQNt9vprI3Mc4zz5fzcpHGDh0IopEuXPo5qeK2WOoxLHkXG93+VV3jblge5gSCuIq27nTt3fG9QNeeXyBVrkCyDHH5KLq3L8s1hOd2xFA2HjQTrAgByQ4zeNMJQ0kvsRlgko4gP5zjZAnk3q68XBgwK03FelfDtfDN4hMjeJ8Hyjm7//KRnyQb8GiKt+ZauystYbNJYXaKWffmX1Zwn8wtcmQo3Cv0ZYliKgtTRolpHM9gsXrWSlaqlVfX+9BgvSdcGC3y6qzV2bzVa2baF36jCDQCGi0wxAyZViFWaQrvcbD+jpASgNEykKBG0C12yLXeSsdORr9snf7FdFfrc6Vz0g9qWJDtNJ94HKiQo2Cz9yXVc9l12mYHnBecS38GuxCSOXXK2iXtdxi8rINXw53oDoB3Fzvnj+KpEZEDYKDLnafZ3l9QFXtm0r1OPTBb0XqGBzjVh9meB6wTfV3t6noncXmS3+nOfuw7Ci3uDP1xD9svCpk7isJG8VyBjIvy7sdfJ3htXZlySCmwvksARjCkbRX96K6jLWa/0DrQqkG8Oxu3qjrFiGejqQL9l3HWaXKx+11yJfKyJ/t8dSbMS92ZVdY+v+7lFF3YB2g1o70GUR1InfQyOmiIXcCAr6HOEzC6L188o7AyZYyUqzY52TzzK8Rc0C+eMuTkJ5NnEc5PhM/7aT/hAYWm/D/2V2aA4rxe75ZQLD0OyrQzQh1iOHMjmUnHdZ5smqLpFRoLC/VR1eACTLH1T/wPvNdR/T8REcP3L8yXr0z1nANSsJ8W3A7Jrg/8GkkF+Y5JpvkLHmn/slQ5wdIhpkjs8A2Yb3PDG7AaVTMP1iJGdxT4rIVQ6usn0+5eYayGH+nuvVGYqqykuTxuzVuM3MdvFsUuiinFWLU/WCcfDJO0seWXl5CoTMpDBCltYciMnsMJIdO1OzAo+XPWViCBdOqpQ05eW8QeFwuYHnpqKxOpFBnIwJlguP8CzsojUXXCTWeuqCDpRfma9BBrWi0KgVVmXlqTrYrOr8rcJOaJaaL5YuPnGVR6S3kJi4GLPO5eeJSy9VNdVqpVU1eHafvB3CF5dZQebqwFvQePvNChIWHNB2HCWY0M35E/Ld6+j2B2rFs+8QxdHprXkDqJSYHmenig7cLTvco90fXa2a+PzIcbcXFsogYxy5hSiXbBXiF3uLDcFfId51U48W6CruVYGdq9b8KwWNchyf3vXkF9S43kBxC7c1iR8eEJ4u3cbWrUzqiv3o/T5UdOCA7DJbq5etVrwmWxQ2C2rkUKp8j5OGg3gIkUlNB1SxUX4+uh00sBtxCN3JxbMHl3R0IFwuxy7VRMfF2tpxla62x3SAhf2DcvDpL2vzFM64RyUtlXL8hvfpkoM5Kij0q/Q2PF4phIXWlCaJ1xAxVJqL7JI5+U5g4hskylRSku/ZS1DR23PlFvhUBhpkQAUUaDeL07eXL3LelDtH4bnoqblSuMRdeapUMMO3losYWiidX3BIhSl9oBSUTY5Ci6i/SwuQnUtKCN50nU/gpUVlP6IKjfNGrSRuxokRS2VrO702mycolo9e7Zt17+SsfPIoks+bdPOZ2TW87pMC/XO8XM+xWwATBrM+5X8Lozveill9ZycHD8dbbfY0i4bENFdIHqiDYeHx5hiZXQ6HdkFEeZGI3tLRIUAb2DCLdC0pthftzQGj/rItOViyuUlR6jVMq3ZwjcDADQ/FUct1Jmg3GIeeIs793qmyGluZO7xV0WrEG+emaRKpqyRfv1kJ9Z8lXwvxuKMRZ8Sog9wd0yuIWBR1tSOrH23DdFLLQraLHuoz51av7tRw9mpd1HO78DdpthosW07T2w2EeKnvWXKBnDs75FTeLNasUZ2NvrBzh5m4wshHTNA1X59rbxSjcfVesF32er82Wnmy7VWy7RlHoirQqghik2PibriooW+11tnL1Tsnvyf6+2UM5iHF+lCb1axNJATdplP1I4OzXycDXkDQL7/fr5s3bFAZZtDfMXJQ9rblogtdkjupFq6SiRjnyGJQfU5CPsyKMp8dGgXtaUAsyxDW28X2dAXxVsfZpEAXtys5KQQCaH0PcxzhtmvWhFtni1JLjo129aEP9Y6qx3a0GP49REida24XOQXiAccL7LNdHc4dSqNsDsZ/SEuy+TnIaWkRmRli9CER8FSU7W8WkfzZ/TFlTOhnjrrwz5X+RcAP07Ljz8i/Rv0Umza33Zy70m7Vamu2PakHbxHbjdmhJyfwWubxG51NNjMzUCfHxNnfcVg7CAn61YuldAZlFo5dS8q/k0GFU2yCyZ386zopNJUi+h+YefB6VDm61HjNjkwcUmPMjDea+ypApU2owofYY7bTVmR2w/Jh1BlDBbbypukr9s/Kf+vKlUoLGloE4wWbrrkRn3JB5cT0EKO6uimhv6RciXXrRHW1hkEdZKmZoGKEFSdTq2wUb0AtdKimelSRzoj3sZaok50lV4j4W83vIGoaOEf6fZwVDTItG/YrtjtT+OvEzVtFr0FnJWjUCJaWYVBRV4Aq8hD9K7WWoLoIaCXr5Ja3KNRxheZSlcSwNbqYkblx4bIUOXHdFEX7ureKiQmVd6I76uOyMbEfbiAhe/mI9keRMeImB7WoiNtqPFgp23e7dpRnqKOjVC0tqHK3ydsPCoRiovWN2tDULcdx1HLJ1QpV16VEZzMSJ01QIUBhGrUC5qyojO43kIxNXLVcRM279pKkT7HUsfZm1TcPishyVfli6q/DDN7794tVe8UlWRrH7Lp8xBUDpQVRxO+omlwRd+QnxW9mO2an0Bif/W07EXeklm/97O/R3iburpCzEh0Moscbs+W3auf1AXOPp4q8dLNYWSYuuEdEE4K4hoejysx0DMbfNYN1BdF5334hSdyf0MjQG0VeTPUPPSRfLGbUJkQFtmjcK6waQTzFZ6lJEZivVpoj2dmoqOjsac4mmcwwHTSlxBwPNKJtVZWKxWKiDhVXoMzMc+SXbNueX8qm9bWqKJ6tPoqQalTfqCQikgBnt7/NkRizPbbnMiPsJaFrPW1MBEvOefo71NZGFQjMLC72e3+XcizZT+HMFHDqQ9P/JwRTn4+ich+BDtjdCiz3rgGwF/CRQ4J0drIHlyymGAYOn4FXMdDmqRjotEXi8/l8ORDAlKiKiy56kPft8/NY4S3c39dC6MwUU0rm/8x0OXxALBLBsh2mJhKQAb5qsev9U4R6gI4J2GQzxX6meJWv8ll+kyW+FInh/vjvSf/PfyctBtlkUUAL924Y4v6SIXqB7Q3w2opTnDlzCk6bhx/DIKDP7/gBHH7Q/DwOp5+bc3krUD7z79UZV2NhefW4+LFfFq9+4jCcPA3PBMHqBuBlTvMF4EXgR2nwPQt+/pwL3wjx94gfkcYZtnHqF3Ds+69g2svM8ao9xWfjRzDg8Bm2ts1A5pmUhK4LEXPdOXMJ0SMTdLOVHuDMP4L9fw8DcIoEz/AyU2e+wDMC45ghwAfxNDhqcTr7V3DBZ2j9xRTfXzHF3/1v+M//C2Bzkv34ge0RIesUfmDzPx/l2H+d4qgp1XSRDiN2YBNlnH2MM4U9Cyl+C4V0j/bRGD/BqkSYjQ9vIa9D0AbfBP4NcHAoPTnGP58QtJ3hpzkiseNSQqFssD4JJ214Jp2PA4eB0xzmhB82vR1UfoYz/B4On0HMwPexvL+xw8Ri4CSZBb8HvD2lgFcJnK0z///gh0y85eecOQNPKsHLp21knYGUPjBznCZmJ3j0x9kU/eq/4EM+OLIHOEzcsowHz7PjcMqlyIUNkSPzvv1Cx8sfhhPfj5D3gsPppz6BXjsOpyHOEWzicDrde9Mp+PQYHAvhS5zGxnO1OcshwdS5EgHGMaHMuATsnTk7lfKM0xxOrQpOnjmDJDhjnqFzvepeDKfd4QAQ4ivfOcLPN8z2tzqKedM0wOL7wH8D0GjBqtTRNG03WIFFH/UqXs0nzCNH5lw/ufNV/iJ8ynumOMOXsYECwE0mCmGcthY4JkaOkIjPVOxCrWXRY6k7hfr6m1XYUKjuVrRj4zI9+mijXPc2bSJHWK5sq2+aF30rKLkFvopRNWN7wbzR+o4O3XJLmm6+tl83+3y6YNTQBGxZdau2Vi6X1Y3ItGQ7Prk28ll58tmG+GojyKZF21IgotmgO/v7FYvHRdqIOgYc5ZYip9WQemVY2Wqz21SBrarRUa25uVe3/fcmtV++SZsJaVsGGuhGF2NpG7ZCti3XstXrQ9FrUVo5upEZQw2NKDsfrXUQ81b8fQK/2DQ3bGKHpmPDskpzOWTWdKDsi2b+37H9SdmWpW3nWA3Y21K27UN4aLDlYuMyYRs10fBw0h6SLaM2WWbS0CXI1YIrxRzEvciolGaifdlWp8oG9+gazA4uJz9fq1uN8bY0XqE3d9yjbyzrU1PThFjXqJ1F+XJwtDEFk18Iug6//PQKakT/lw1i6tBG8U5HRRSofkv9NKTTAm3EFhFk32NrNA+5uLph/HqV9JRpnm2D5OrUlp28Nuh9m0ZXTj7q7nEVjQwYvwifPYMFT8mjyqrRcqtqWiVn2w8KuoV9heCtwlMxznqub34+05KMErZ1UBu6LWVmzE2zXhAR22OGPqKIaX+Q5PvAVjk8qmkDrYvow6iIWr18Ijlq3fgN5ZCjnh5HwaCpg7vtHpWTPlNf+chuXbisDRg99PS56KDaPterzJpswbtl4nWgQbq1k30yhHbJtmjyz3wCrT/HbtdiJh72uSWlndZgbAVee1qFUfXOi918vjKtoVgmQyeR8t3myHtAYS6b7h/WCmSlBuIZtpe2c9iW+o1nJNDnqj/oqcssWww+rjAmnvg0/Ust06FM58omew53mCdLOZY8KWzeXKO6NSFlZ6Ki3Kg6OtbItpuUVxn2PliO6cjFaO0y1LzMVaFVpo5SVLLBuNJPTqLc7Cy9vcZVzfJc1RTYGmiMCNoFPnHLpeIrnSInqDAGDcCBgJKwVmPMzRBxvxm4vMa7nyR0LVulF96gNz2DvtEf0GUPP6xLq/5SF/MpFZOhWGGh0lfkaFXNkAozC1TRWqHKNDSy1dJF753Uo76Iqsp26QAo20K5y1F2ZFLVWJ7KKCwSYwoEUbrFAmysOaZT5M2OW13AgMIef9A24lr7ltCswSO9r0CBdYdMPFwfmiTPbC0X+eAzYoxL60FltyCjU60XeclJx2xtc0mFY0aV9D+IvaVJuRjDfE4wqKGiEsGEOHCFmNwjRqIyy+gqA4M7lKVwXrGWex06EEGZ+UYNmNcY1SVr1+hTbzuora1pgm06cGCFLB/K3W8m1W0Y9VtVeaVsJ1+V+JX0AUnLv0/b771JQUJK7E4zKohKhIXyli0TxNTHThVxQEF/WI8efEEF4V6BybulokKFhbaikUqVVSC3M0uBxFqjWshDkKu8hKVosFLrsstV5CvWOgyramUoLshRLt623ueo4eErFM0wPP7Uh8Xua0QoKmPoyxW8ffo7VOINhtkVIs1M+pXJb7cXFTej3nePi/SDYlmnrGJbk8GHFeYhjREStyGeyhfvv0AX112ocnKNYToNmQXFMmMLuAftX9Yhx7IFB6Y5qCjCGINBsQxHl77xbQrQoJyrbpYdM34pd28pVnlWQOxFuGhFBO2/hgXZXhPMhjMu8zVof9+/qDRRoT17WhUMJlFDWcrFZyDWcyaAUN7SbG9nA2gsKBZGzeMZeEMYVVgaqQbuei0VCJMqwUlUnPIe3XSrjxL5mKuCnFQbyEdCswAiqVLOojbXyoqrRGfuWcviy/GpzW6buSdvKVH3zi2v66Tgx+C2A5s3y0pL04OtrXLtOvFIYuahcWQ1oF3taE9rSKvsDl1ISA3eIEIEbQ0OquOCDL0d5Nag9pEMb3ALiEhENB5QJTGtDSF3zMDH5r1cDgsOmGFCaq9tE1m2ml1PT2cHxeiQVqSn66FgXNs3jKmp4KP6klOrnr0tas83ZWtrcxQM+NS7Fu0rRDy6VWWx6HxStj9BrgatCD5iOhgotz31elCGeyndYJ79KHPPHm20rWlyuIXFL7MqC6oddDNJh6AtsrhAcYZl0y5AdcGYDu6JagD0Zmb03CXtn1CVh4u34wkF6jsNUijmGh3p9kxRfaFgvUEC1XudJ1mGeuQcxDiF7SkWt92qzpo67Wlf6+Hy82UMvHM6X3OzLNdVHxGB3+RXflDc2zw7/3aMg2RbrywsbSSggvEL5fe7uutdFyl/hQmz2R1E97e0qLbWUWZmu9a0oMCFZbq4YJduwVIWaAdmNZlFu9awRtUEDQRxVZ++mFan5mCllm83ZIm25ajtzReLYZ+ovVo1m1eoNTgq1wrJ2RMU9i6x+69kVsx+tWMLQqL8fpE/KGhQexLKW4NBcU0GFQxaCva2i2ZbwbQdMrw4sw3GF1sJdQSGZ85tQHvKMZNkO+LBVuHaYs+FZlJontMuspH/HVfItleJ0QcMEy7olsEGlWZEFWSnwFVGY6FWXLM0o+V7gmENXv9x5VTVaPve+xQIJu1NOwQJ8fgB4SZ3CqOCoOJefS8l/zCcc1c8LX7Euxe+thAu/3z7aSOoqgqtbiLl285P2wLytSPmIrWS0syiTLrtFIt5gcBmSwif7meD+X+TrbZDT85Pl6QWx9g5YsGUawEW3LW+rpNCC+hNoM1+v+KWNfMBgrMfugaj5oGoWLlFZOzRNlC4AvFWNLLJr9wDVsrWJkNmUJzJw8Gs/Nt7UElJuuY79MxIGuhCDMXvKtBmupW9Lk91BzyLfvYeMRyQU2wp9ulBBaK7ZdvBBbZWVQrTpPtBldmItwVE7PWJFeGC7D0zK4qOWdd3yaxsZlRiXcE+BSwM8dwC+UWJqombBVmidYdcX53GKdbFzWvVe3FMaXv26QErpBxQMBjU9u33yQ7eKj/GUJZEAF3DJaptbtWEW6lDw53qv/BvxNr3iLfWmwmpYOHn7/TeCTul4VuWCARVdOd7VXO5622LbU3DbtsHVGevVdoOtH0lCrSgPVwrx+rRWDviAxNij6MO0GgzqvObVaSFo3YeUjQY0461W2QHL5Df9WvfUztEL2q0GpW4PipfeatqalYpc5vxMC+jTA3thTpoNShBTBtaDR69A7TWRqE2gzVvYK0KSJdLi6hzRU6HsFyx/jvCVydYrX3UyB29VGuDfi0L7hHsEIEnZdRIvZohXwsohlG/zK2zwLoRvTsY1e7dqGkQXZrVsWDdVqRZunPYP923lo+hkvUdYhhjAE3CSfsuWPD+oIXeONCogoJsEXhAyV22v6VRVjyqnQTMtyuxRZ+7YB7z8nwI+Vtulp1eo8BDG8yiAQQ7BcNqn5iU7XiTQnPg/GjFk/VzPukDC5/f82f20wOYBaLjjMnnq1ANlyrzbDuOOs4Su+Us0rFnCen8CiTRVH5LhBaAIDdgQt1idqv37piBzq/dgkILeFu/rpNCUseYDUpE0ZuuyJMve/4HKiEF95yP8Qj0I67F2w7PlYjMinKxyqkSXCCzbZ9/PQS6H1TTgDIajU9EZjSk3NyEwNueZiGy88S6isWpOTzpBpVkFouVj4t4NAWH/GfIOGaV5/3/5rnX+/JFUdisUkGd7puVne2o5IorxIoVIi9PxQTUy2WCbhVcv1pXbTMqouvLxxW0S1RPVO0Vpaq50FVeT76srCzlrwiI6lxh2zpwIF+7dj2l9199td517VVyrhpTFZ0qKEctTrZWryoW7Y3Cb+q5jznbfz/KykIueYoQ0S52iTsPyNeb3FpnCrYqf3O9KrPTBOvFgbKZ+5etUKFVqlBTSBSuEK3eN7ccsexGsfUCcShf73/nAfG2a1Tpj06rFpaxTGTE1feGnboDjCPeNQ+J1hqVbCnWpcsCIqtCeXkFijQYlVkmmcpdllAbjWogT3vL47IzUW05arKvkNvep3sSdSodrVfFgTRBuchxROwtcmxL93c0qJGooE75B0rENc+IqFHF2NiaYMLsnnYiUnwGAnPrzZOx5nE1BI2vyh1Z6M3uAmEbQf68IpWQLagUoT5V7XlENy17xqwIJ9CNN+YZZ6tlGArq8XFNTvqVpFtxY+iSS/NVFIiIq1sMuywoq6lYbiyFAbXEa5dLgJUnqtG22y4RFRXiodbpScHB0gTLdDf75WNIUKCcFmR7A9NWzk1jv6hMsoh9xlKMvAX15bPFp9m012mCsBkLFqDejmN2vJtBkbw1ipOlK8nT6kUgu7kgKxcRPf94MvnLzjbeeZJjCduomLZgKSvv5lnXc0iioFxBlqcinZFSFkZJvq6Twt+DShhVJ6hhGTpUuUnOWkfOOWBezuh5xnFeUIaEs33R6/YgqomjFTG0dsBWJgUyDnberqXDERnvWxrME5TfgFqvxMzCZedKn4xahoyX9fD88q21xf4FJqNUA6dlqdu1FXTQ0IWoox2NlZaKm26SPbRR+PIFa+W4PpHtyu4bkEWWNtpb5NKhK64o0pvfMazmF9+mq993tezWVm28KUNc2yuf33ic2kljYDQmp2ujBq1BEfTL3rxZkC6bNtkMaIQR+WxXSeNeA6giMaq2VlsZDCqp8sjHUWuycSYSor9PxV+9XitX1wocFYDa2SjsqOLb4uq3+wWFwn+j6ElSHNiCATF5UNx7ry5tsbT2hXdrIi1NXcn6AxGNiOFBbR9Frh9tedNaUVkpHEc+yycfyHYcWc4mgSHXs0A2HbJoEKwUDSj7QrTGWS/6k529WYNzua1c5HxjmVhRKVinzU6erP6HRCDJG2XpfDHx9r2bRFZEozhqb+1WIjGXT8uTgR3CWm8WL7atVWscXVeerCf02KNPy3U3y6zSvXuc5YKUQaOlU+Tky+7rMx7wDrrrLlvl5anPyhcbWudQ3i8saVE02NktyNbW3l4F/GYns2lgQJOxdDlbEXanIEc9/cMKBMyuuI/X2U8BBH4t55GUQFqlgtVaA3MC3kQ0G9NfKygSHXhOkVtlk4wZYriwvgSyLVS60UCTV7cxK45JqjxMKgebI7hVM34vZ5fB0cXoPVKkb6uIbDG/bUs8vnHW9Q0MKkRYEBdWuyETTG1vi+T7uk4KB0E72ayRmhE1B0dUF7hBdo2jiXO83ERi4s9uCCtWxRW40OjP51Z8HmjgbShYkKugXa2K2DbFKJcx0CU7jS2+cKWHrZ4tYeq1nCqlctG7mSiSZAIlpLOzH14po0fFa2DewFGDKM0VIyPqH3lYBbFqgxZwEe31ogpj9GvFBDEvLZXzRJdWXYT2p9XLqq5W9kirqqpWacfne8Q7O+TzDWj8Xe8S9z2hofjTWkG+Prg7TWF/VFlZrvKL4opsKlAwr3m6sa+tRY+Wo470PG3kGtXlBpSTa+tWYqK8XoEuS7vT0pRDvYYxq/400mT19ooi49BWCSokTRZoPzWCBwSuXCaUwOOfaeoQ8WbRdZXoDgt26kJQxImLvbbsNEcxYovXo10g4i1y165WOP8KhewS+cmQ7ZWJtJC4oEWJDQ2ywn6l/a/HRX29rM1v1Psyb9WnIhFdu2OHSiaKtYpuXeZ19GsZUll9tnCbxMp60RATdoXYmKdgaa6qqxE0qLa2Vj5fuerru+XY6IYJlFtmynbXxF3quOcDIu5NJJYj6t93Xm14ezyuqG0rwX6xfI0Iz/fGBhQMYsq0bJno6lXxzjHddaMZxCBNaV1XCTtDcLU3GNWKg45Y7un5Y36Vf/FmxVeWaefddyuclhD763X33htUnjuDeovHM1VevkAgrAUksz6h/cv3iahPD9XWKuZ51cdjrcqwL9XeNORQL0gX98Sn1a4xUjH9r5fYmj3Y+wUhhTlfyosi9fCoClOiCqbNSbPhSnT76oXvvwwUoFTTXsx5jSJniTQXibNdLxfExURcPJiykJynZYlrFvJuzvXRFSi+gJptKceS/RSem4DTvIJt2VgBm/TQxyB2ho/4FrlhHPDBR17+yFIfMeewMOTqEI8I+9nU8ynlyoPQAAQIcnzqFNarNoY3/O+BMZNoCvjMy9NB5ksxqGdYB6zAskZg3xNYNJNHDJ1Ow34N7PjCz0w94mnPAJ8FYGzsKgK928irgAFrK3VWgnp7P7K/jfityUYtMFltfv8r8BMg2gO/OQ2Hvov1QXjmFQtZFml2kGNHo3z9un+E9/6I06d/xGcf+D8EHr6ev+6a5I/8jk9+4hWaW5qIRgv53W8Pc/S3v+V4Tx7Yj8GyXI63ww0WfN96jq/zDWzL4ogd5ZuMwC+qOfG9dj6hV7jyAgsrBmlp8Mr4EFu+8x3u/HU37ITjYTjBKwj4Ir8D3gKcQhRzih6+DJCYAutV0upy4Ft1hPk0zwBHzxyGj7lMvZLJq7yKH5cQISBEHi4DsRjYNky9DIch7epfoJe/z7Epi5NYnp/BPngFIh+CIyTQSYsTz8bwI/SlKe564RluOnqUv/nMZ/jlRw5j8S3+Efgp8D3+mj9afzTf0IqA5fd+W0ACy3oMyMPaE4bgbtKvvgYcCG6pI0Q90A/l+Vz82v8gfPwo7PcalPXEEtrwzGEdPkza1BTD+0TcGSLDylkwnQPELXB/9jNCP/wm1vEXee8HaoDPQ/wVXtn7UfCdAh7DAuLYOF/PJLKpA4DYqxaTn/1bXH7Npz9t8dprwDMTPPux7/H73788Ux7/aYgcXWLhHSLRKD4X/mLPHo4Fg8B+jvZMMRj7KB97ZS9nIifAdxo+fRiOCfbPjFKv+xF/JeWfk8AxXmPBCC7spxzoWODKr/lbruE3/Bp2AuF1vEI1pmMeAuDbfw33/2w6DMus4/3AidRxwfo9WPNjUcw7tgHx/WdJ4OX5sePwwbHpc2mv7JuT7jCzvEBemX31s1aMwyx5eJ99LHWnMDg8qExM/FRq0AdW9Km3056Ghial3VshsJFz6isbaFAOOXJw1MchzfZCDiqpihkcHFQ0OsfDNoUewN6MSKsRtMi47ifTpaiuqisVrluuLpJqheSqY6PAJxxXYaL6HEO6he3a5EORrWcpv0ffsG10dJoLxnG2CTssPPZVo8Jw5mzlbOEYjv3LQMvDfeIWV+SlrArGBmS1WRqlUmFaNcSQ2J6vnoE23fbDRi1ffkg4looxq2ETgyBlS+qMmvqzmMZZj2egdWvN7xgRbeQOQZ4IBMWWHo3l7pbb26Kdowhno7pwVIxjvmEN4pIBWdgaZVQwIvApf6NPXdjGL+WiuKyNbfrCX7ta2WSreQMq2pclVjeLyms1Wn6LurBVSqlWs1qwRlAie2BAxGMySJ5B3fcGdNHazZoN9XNEOKL2rk3K375dPjesG+55Qcsqe2VWjbuMYdyHDE2EuS+BUWHM5NOsgawiQzVSiagfEB2ent0xz3libEzYjlY9ckgrRpaLtY6K8y7VXe++TsE0v3BM++k/r1WpMfA/AnIcR7dxu24cqFwwXTyKBjqMTni1369VV9+sgoIy09YfRf2PH5Ttvl0bMSvjLRi4d3cKY/F1a69WfU59SvtPEkmmz9RTfo5oW1oEtDQKde/6bys7O1t4BuUBHOEOyOmPG/qbDcw2ug5t/3+jPnKYxvYvRRwsLeTLMi9PbO3CUhuWaU/etXwMQ/Lse4o1Hf71fGU9IncJ8WY2bBBBszO1QKM4Xp9Yv8RnDWoh6vulHEueFAoKblcAlEmxwK+S8gLlWpaIVsyaGHLYKpcMkX+BsCrmF9YqFO8IiHV7lUGughyUhaV8apTJIY0MbxGVOTO8O8sxRqe5+eQhvCDV+fkYS3wjGshHBUk9aRtGTQNiVVRXvz+u6/agSATl5JR4nWU2t0kGBja6i4WdP6Yl1+tc5dXCKlZFQ2xWTAJGmbdN3I2hUqjyiLmqQHEnX+RaqmCmribLnpSVa4vJCkXKyjTmdfj8PFRcjKBAllWoK+4JTHe6UGGz8p7oFxualH7//RqdQ2teHkB5megukJ9MFedfoYpwhToDG8R4nsyEmkS0tGsiz9HHkrTBaWViecG8OqhIQSdlTuZpq3Oplj8zqUQ5BjZYcbnIzBKxfJVEjXGuoiKmCrLVCmqoDYmifIOxz3LFdcWqjaL0HJSVjWLT6IlyxZyYduY+rgMUKRz06dHvPSpaemVxiSYZU9mj+2SHFo6hnCoFAUysihgivWC67ZYxLoegOkGW5VN563dF6TaRhUKBSqW3bDLxI0BYtgrKz08tOmbtVFV5VJSjHCtbl966SFl9iBxUWRlTe1euEivytCqMmeAL0E03heTzrVVBxcw9t5IrQyMzITJQ5l9kKpgRNGFHw0YtesUVnn483+RVTFC9XL7gwDFffOLiHFGO9nCLgkRUkGyvBYgnSEEclZp+tQhy7fWQJlBdutfHlpA+wNIotsuYVE6Kk1xuNzqUAjn1Y0AE5eURTauJk9KEQSN5/zucjXBzfl+aK3ZLnsr8qfbYclOvnN2/ISk7rkfxBey9r+ukMJ3x8NtEvMAYbGzE1Z0m0lVwbgGCMnp92/swAe3ORNZAkyCmdAJmhVmIWfXvxMQvsLyGm/RDSC8TqzYs+vLVCXTdrX4RN6tv/zUYHb133WK+FT4rC9XUtGhWPNpwWAFfRC6o+ADqTJ5Px/OIXUQ6NgprnTbsypWvagZ7bOPXLlYJVqmb2U46V+3OVv/wA+LyhHduvbrYIxeDpyfQabwYxzp1afsT2uXbozfsYdrwSgD5/Y0KDcxMQun5tu7e4M7jUEkVCwPJzI2jt9+F3BxSYj+XaMZI3q7a2qC2ZewXhAzxly8gawsaa0XhprC2MjJTHtDBdDS8CU12BkQgJNZvVVk+6t3g6M3s0so0xBDq7MzVeqp0KWjXtoRYW69AAFm5EQXu6VBXmS3eskt764PqyEPGNtKhaBTdvwXdsHu3XF9Y3ZPPiYINHr15p3oeCCgUMjvAEZjHiXRW2b1bbQGzCOg/gFzL0d/uelaN2wwJY/hC5Hv0QZFmBgLLQmN955E/KOKgXe0B0RkwMQ8WTZsmGBLluaK5Ss2+Dk3ay7x+tEv7d6XLcdbNMH/ObeNh1PcMKqpDbPWLEJoErW7aqGg0U3uTkNTzkTFEoysSthh9pwhExe5ODbNdaeSa3ZbtCmxt87co6MGQN5HCBAAGLXW+z/7/UXaDbCyNBcYE6MoO9M4UXqYoxgm0sxPDZRVmxuO5rs5EjPPSujArqNP5yngLeu+s2OCpzmuFOicx3jpEyCxuUzUV/28mheBOFdnpXnQq8+D5E0JSNggK5dKmnexTyDa0va2gMXYphmsqNeDlswASoo3HtFAw8aTYaShw6WYRSVMctMXPLNf0bNAAxjXcoBNqlJlZqap9+1ReXa3lyw+obrJR3H+3dq2+Vz2sUunFGTNGK4tFcdGAWlvNIFEBs8MbslkhMgU++ed8mEjIViCYpoKIrd0ghwa1tRnirSAY0jLL1Md7CSuDkKKhFEPaHjQ41KCrn/nAdJ6JzHzd09itNEq0eOAfS9CicCSkZ+7Yr8m2hA60Jev5OlmMzDTkFVeIystF1UWG4bNtj9hqKeRHlmspSFBkMM0MGdkYUbC1URe1jotQQIx26mobNflRnJDSLNQ0t53kImcA7d6N4lZcW4JbxK1l4tGb5YYCs4yUdiiotEtXa2BXSH7Hr5ua36o8ikyMhgx0f3CXBnBV5NWhteD7LyK9IcXejd7Rg8bfj3Bdtf3t/1TT6tUCdOub29T26IMilDbdJpbtSUW7ZOpcoRjftrpFOwMTgj2yaNQeNi6S1jLt3UH40cqWLu0oTy42Qno8NCYXZ1aci+wYGkgCI2Jo4y5UYiM6R0UgrItaUQNBRbE1yS7Dqnse9dMaQtaq60RaldatD8rnmrbZYe1WX8vlMtTt/YI8dW1H/iCCNgWwZKXGsBgfP6/n/lnSwqIUFQtLuULkGe3DQyYOQZ8frVhMBR7ELIy9nUSxz6dCn8+ASeJnf1YbbecsT6hrjcIPLbbzTfH/OVc+c/5fynH+lojjn+a1qZd4Lfn/MRaPB534X1DicIrf82k+wbEp0Al4Afgkn+JVThlbyQkvn2Pzs3iBR1gomDi2DdnZ5GTBQ2VfIhE4zWvRNH54MnOW/eWPwNe9rF9jH3CMEyeP8Oovf8nRI69y5Mh/88p/vUz47if5x5/czj8lXuS5b6TPGK208OOny/fKBGTa/JxcfpENlt0Bk8uAL3GMF4DTnGQ2MdjRY1OcOP4Kx45O8Stgiud54QXz8sfBcNBlAjH4feUNvHblDnYcSzGkPTtBzlcO84OjLtlhsMbg1O4XeHHHP6H01xauSIAswPciEZ3h94lX+frLYb72f4w1fdh9GCfjCwx7SROHv4D/yOfh1a/APwA/fBY+L46dBO0Kc9x9gAMnS0hykEV+l8Xx34/yJZ+L7YTIKtjOt6duo/vkAIc5xjHBS3PaSd7vYfAb4H4LDusoXzz+P+HzNnxlilON4szyZMocpk7DK//m8N8/i4N1kkD7o9g1Rwxn3wU5vHrwU3wncIpfe3WoxT/Z/OPXx4h+bQ8f2Bmk+F3gnBEVN/yOf/z3KSCdT9zzKs6//RFs7ytahgtwug9wAkNxtvjxQfcl/jXXAf6WjOGXqMiey4oIOWDALNtOwJlKcPp4sb6GX/7uVzg4THAI69jXgK3wwgFTELL542n4etLQ+Cqc+UaCKTfAWKdLOAhfegHszONYvime5lOc4hSVFLOD3iVVzwuxN4DzHbD+wP6uGCG/BcegJfMkxw9/AvZ/G5xvAM/x27+CM8cBnucEIFKQKB//+JKed7bDAfYvbKMnBz+Qbv55kfNsBEc5PXmcDODYe03/+ZuTsO7M3HTDQDbjx8H/feCX5mxNMMjyQMD0h3MwZvrKX4DOs6c59twrvPa+LACsLRaTKydTrk6wsFk95dgBxBcdCc5+nN9OIUezoJ7nkrVrxYUXnjPdzKrOqJps0OYQCgw2y7YXWfX6/dP86vZAv6zVqxVb3qQeFlI1mWDbkUhUA4ODKihAa9eZa+ls1QZslbFJ12Op5RDKu3PL0t+xMC7e3CsYUn8/8vstpZJ3bSGqrvZ+5aTYXbbaW+fk06ZZznnp6aJzg1kFb9skBl0ZSKJ33bZ1p2Xpuqe2aGAHckcQ27I10NOi6DqmvRxLKFGjdZvAr6ysLHXc3iGiKBqJqv/mO2U1bpHVeLEAbbsQWe0zdohmjA1g8Xef7XexaWuabF+XNj+BEomEHnjXu5TLQTU7HWJLyruDIe/zHJwcF217rFp2dK3o3yDutcWl/WqgRaWUGvjnyPtkcOe9snlKuK7q3rhZpRWW54y4SfbDtjF25p/P6nBGHvyApdhTaMvoqDGm3nirqFoh7FZtd7IN+WHA1L2FUY2cT/6+d6HN+23ZbFLHBkv75xDiOSxCDtdwsSjsFLjCfkLDW5HtmD7ix9UQA8okRbUYiYgv3iHqczU4PKRQKKQhbK3v2KBEWmI631w80MhSZHiTuLVD1GTpQfs9Blps2xrY0KdYNCZ4THS4xj6zaZNRE40m28hccsg/UxwWVee+j0wZ2xgiukX0pdrVGnQRpbNUnnPHnwRGvZrc1VvW4jtOk2atkrvyFVXVqlq2MHhg+h7Pzrd5gf4zTyxXFgNef2eeH8KfKksa689vUrhIsDC++rykdr2gRCUMqI24LvTOB4P7tbyyUm+tCmtHW1hjiQs1OZkpY2RZqVqMmiZVX5yXl6eBO8ZUH3a0noBGy6oWJPmqJUN2IkeJi++T34+iXhofGdN6+BWMy75ymVh9lXdfnlggRGCqBJx6LU/pbIbcb8ZbNR1b8Via3BTX/4yJuY5L27x3TP7vS6nncRmvxZR79r9De22fbr72Pq3oQU4nIiOqNJ6QvT1LbPbqJhFQ1Q1FImDJ5/MZbnmQg6O0sl0qry9XR4dBOGRk5Ci1A/eyFEKzmKaDjFTWihFLExm1SvgDendrqyY5IKydIn1G15oBxk5jFYpIkZzycl2dHtJF4YRWNFcpseudKroLRUIRL+aBLdKvkVHR3KrJVdcp5Pj05pH7RUG7UbPVovGOcbkJ90+iWFgFWv8Iqi9BE+9/yiw4/uMnYmOrGBjQde/bOBO2cuJP87txEj512Hv1DtDyNBRuWCxtQLDc1FEhKmSjErxDluNo5b6rte9xM5FOYgasdAxtiWnDtUbvf90O4RYp8cClstOjonZCmysTygzNGC5jzHX2OovsQ+y5QhRXqm33QbnBkGonJnRvdUIDqx1ButiBKMU4MVqWYTD4c8eJhcRCrFz42izvaTt9DnY/ohwCC9rcdpF0RAvJYtm079XkBrRqEW6jN4FCxVGRZtQ4IRoVTDKrLiL79u2T4zianOtHtYCEdqE3h1POzWPVPYdUMZulNWHa01KO81MfxT4IqZzlZ00bAywoAfr9cOW7wO3AYjP7Gh6ANa34iPA7bP4RwymelngGn9/HW35q8+UfvsYnX/5Lnn46B4dNjBPAj9EWpBb6+T8+xz8FP8n/jp/he1h8fVMaFM52nrBsyNr7IpGXI3R/4CgnT8LJI7A70MNpN5vDGI+IAF8k/J31XPDyP3l3OuzFPouXAtgFftz1p1PO/AD4mfnp9/NSVgYbzpwiL90x/OfAix95kUgkgh3MgVAORP4GeJ4deJjo8t0wdATYx+7dH8d1TwFD00/Y+/lP8PGpKe7/YAYTU1fj37QPXrR5ha/h/t0R/P9g0p1ypjjxmefhhDh9+jSvvmpUHBE7yoZdJ1HZL1DQYNVfPNUPfGX6Gd8Efn2W914PFGOTZHfPeDGfzVNb+MimizhqTfEh+zWm+N+gv4KX/AAMABcaDR7sdKHAB1tcTg4e42NTQezXLsR+eSW+p58wKjZOAFPw0qNgvQaRb/H0RQ9jBVwy3pcPFf/J0BhkFsf44tEp2l+F4lOYIBt7zPdjUzZutpN0UZlzGD8YPzGGn4XY7+Bzh98HOg1HnwD7DHx9ig981w+5OwmGQrgf+QimBV5+ltpZ4Dh6GvviL+ISw//KJqqdbJoXTOjVqW3ew+VrHNj331hnzhD46GN89ONw5gw8zX4EvISJTnEEi7344eUp+I+XoFC8zCmjtgx8hKnEKVI1OQF8pI2GILqEsn8cwifiOKd87PnEkwSPHyPwkY9w1O3BF7yMGC/BZzChBV7uAwXhkdl1/LodFuCPYaK2JKMQ7AICvOidSQOYemkWdr+Fo8Q5QRfTCqbp41N+eG03xDwyr6Rn1U++HeK5lxZ2xPqrKJx0j8CkUeNM8TOmin8FIyM0Ax+4+GIuLSkho7ge+ncAV8MXAuzdHOX7t/6C7OgPsKwscFyjNwyZ8AvRUAh86fApP+5ru6efF1tUJWUDEeZ6MWzzQyx14HKY9f3PepzXTmHnecxUow8LJ2C23SHEWwOi0hY48tl+j/u/XmTnaKjBrP537Jgx2jYl8+nrN/cs8pycHPT23jbFrYjyQG9xuoQ1G7blgB7zIXhYviSXiS8s3/UPi2UJWTQb1A/b1NoWVOm1MzjlxZ47LTu2C/8mFfT1aSXrxcpGMZlvImatXSvuuEM93d3Kuy9XrFsvavziABoYGFSi+T7R+k4xNCLYOW1Y7ds5KNuHevHJtwWDzkph0/Q9hvBZ4r1PqY+d8jlhA7NsMlHFapJlK2gXKybnlTkaQ9dvdlTXlq/6Sz2ywUuyxLp1s9L1neW9HWZvrS22y/F1icFBsyp5J/KxRzhNXvnNPW4S7eTFHnAdW0/4ekQkLtq3KI9K1c5CWngSjYihIfX5UNjv06N39otS5AxaImOHtnX7FPSllMmHiCVEx72qsDJn2tMsSYa+3KmhEdQfQDsHMSqKK0dE5UOCVu30ZYlen1YHknGGHcH5eTT7gj6NPrZNPnYIXFn0L0hFEO1FbbPoWFbK57tBtm2rt7fXoF4c0x5c0IbUZyR/r3dEgSW2zbCkOrf3ibJ0JcOSFlCgdqd9aeWPow133ayczBo9hOeH1Ie62rsUjSS0nVTP5VTWV1upfiOvjziaYRBw5j1zMQ/qZDyXRT2sfei9zAaEHKRNN+4sVCeOQnPZfrduEK7P841xVMuoag4gNji6kQLdtvetWv/Od+oNZe8UzqDgl0p/5IDu27hJzcXoLVv8CjY9q0RDp9be2yqaY4qs6tFQx3ox8Vnve3pxxG20473IIDrn9o2EoH/eODX/PfsE/6/QR0uWQoGlAx+9W8FsdIt3fouFst6BgUyRKapC4hOImGH4K5iDby4s6jyro1AwiPKuWCPKwvIl0nSA7QvQXdsqYnK6TID8QUt7bywU+EVBrqhCvgpUVJItZgUQzxQpQWLmycStwnYUKSpSOgUiI0tUR0xMBTdLkFBuLgqGygQFYnmOWDeXXqBPpLjbd2Y/JWuLZdQ3JXjB5meItyaLJmVbjg7c/pQKvcYeCqLcLKNOSPPSRSMRZaYf0lzO93w3S/990du0f7BHl267VIBKL7ta5DbOpOtDd5wjTGJp6v/+DlHwFlH0lGKOozcWFKuwY7kGNmZ75Ud55BnUUsq3K8i31VHaYfxO7kWHMGqANjJVNY2hL1UshnbuRHfcfUBB29aNt9aJvpjgckGBSm4qkR2wZ5fRZckslsU4KqZYdCLHsjSx8moRv0pQLw6kiweZo44oWlK+ZhAukW/fLu1/a1SlGIeowEITH6hyNcq/ChMzYCsyasND8lk+3dpxqyopVTGW7vYGsAJQaUpAejeGiq7cJ8JVegMtiuM3ap3cfOEPiJI2YeerOlyj8Zzepb3DBCLvgAiUqaD4Ztl2WBQdUN6hPPmyfYJK5eau1e7mkD6+3SBecu86oMuwtPy8x41ziaP5oUg9yc/X6ODgbBgsEZ1LBZyUuerSXTnZejocVj6WnHmIvhsFwek+kCChNDfN+CvURFRAhhyyxHTI05WiKO4tWA26ifR0BSIR5ZAroyL2xqci07YymAnbOdlZKqNabF5aPe1gDgrK5LmU47zUR5Z/bMk7EPgNID78pR9yOge+j1H9fFHw/G1++DH42l/BTpxg8yOQ9iqE/elcXHA/rXYrq53VAEy1XXBWO3s4aFGUCEDcx+nEET7s+wK/teYqfKb4NU/j9w/jx4Q6PHlGfOpnfwBOQmk91GXgVEBRSQ5GiZMMevcC8IXFC/CRB2HqDMO+X/PSut/Ci8/Dvx+F556DUxEgQW4RhMKlwG9Z4yao+N0qA1/xytnF31CQoqw5MHgC62vwB8Btw/zgw9PXn259lilrio//90l+EwKNQOg4FD1vtsZpXrro0WNkvfQUc+FhyjrGM8t/x3/8W2g6NGjZh74Cv98Ifm8j+jfwX78mpR7mH2UpvwPxatyyr0LbJzkZiPGDtit5Ydl/8t0TLzH+R5Mmj2KCKaQBwSDk5TmEKme2yV/2w3K28iNG+U8aTR3tKkWvwvFPw09zj3E8OMUDG47Bv8Wx+Am7eJXKh6/DPjEnNuEpC37vAsuA1Yu+B8CvcPgVxfgvGOOMY/GRhmNw+EuABR8Pwed9c6rxbMq11ONbwC/h8Kc49uARlmNCKgb8C3e9gp9aPPePLvzBhp/5aA69SNme5zntO819u+/jlp1vYLkT4tt+P1MYdN1aH/R5CDn3CJT/QwIiAQoYxSFieF0aCiDqhxIH7BxeCD/P/875prnJbwEu/hD4fRAOgy+cT9jXB6sh7V/2sum5P8CJ4/y2Mospn43/1x/mD/+1hm2V90HtNvJy15JxOMibfma0g7//7ocpcMX9S6ylpR+LhSIFfvc7PvvNr/Ky1/19gEUUA7s79/GHg7tgYGbs+FR2DpPhC/kd4gy/mZP6AeA0ZZ4yO5100k4lzBBcfZTf8iJnyMLo5wT8K/z6MCiXab6dl17ixNGj/IHfYyBLZsws+jW00UYmTcSpBNvm2OTtGN3ZwopQMNrpe4FiWACCt9T2yhKnDm+nsPWhyIIqhdUsHsy+Ze9D07/fE22WtcoWXkCYrlWXqDivQaFWtDqAaiK2bh/v1IbVtapeZ4jvnPD7z8q1XkWVrg5dLew6Qb3o7RX5c6lpLUGz3nfggxpb22NWVL6Qdq2/z1wfDoqr5rrCb9PSvD33CGyV+lD5IuH3anpRmoeK8Tcj3z5UNzyscLrZ2geYvd178jMROUPGC/OdF6xV0O9oGlUBontc2JbGnzKUGngGqa00KJa6K8iuEGNXCt/sQC75ibju3T2iPF+lVga6zfm9CWGvE+MXT6e7FGS2/+GF3z0lwMtNVxbpts2b1Rx+jwgHxP4OvXGiQAORHl00HRfiWs0NLuL4bO15oNuonPag3L0tWklYzQRVmVQLhJFFUKHqPeop3CEn7NOaR9dM5xEGjb1zvdyQMyvvCBmqY0hGvXB2XPcaWuWjRXuf6hGuo8In9syEd9x7m9jRluKPYyk1TOmSJI7Ce8w3tetq1fwXi7St/Hxx++2ipUJc3CL/Z5CvJzxdD1vDezTKPWLvXgUwsS3s/Sjo+fhkRdE9DzaIwiztW92hiD8gmtGqZhSpQmurOuTs3qdNm9K1wm7U2h0BRW4oVr19s8bvztHD68v0+AOo7VFH7xkYU2wiJnviYoVWbTNOq/d2iairvSBCIYUDGcL1/B6yEDchgiiWjdYOnIMV4LwlIRN75Sx1v4XpHV0vc8KKnkPG+8Ky5vlKLdL2QUaV41HzFHFuL+51GCRRZqYhPFwknYOjAK0y449PWLbClzwp/BHRdJOSMTLmShJ44IAINQhrflS4JY315zMp1HQt/BLLWVz3fu8baqZ/f+GOHh1YdmAGwVFYqOJYTD3LMGyhq1FZz+0qaFynvBYD0Syc7FM//YtWYJiwSigxNBcbUNpo2hznnBwZT91qVbsNspa1KhtE0BH3HBI0aUv6iDJ910933iXFVgVlMRNmMu0sDbCYGcRUFBSsMbrpxSa7tz+VLcdCN4Dasx6XzyoS2TP1mNWJMmxLF7/9DdPn/KA03qFZbvBpiPXLp/lqkpJNmt7IhWoNxnWph0i6OCukTEqnkRdpLCHmbc2MR/WloGWWpa43dJmGTKXKJye1MyV9InG5XHcO9YnlE9VvUVYaYjuKt9SooBO1EdVygjJ66QnhBEXDTnVF18oJhzTxwXepJhQyKpbrs0RVu8ceOjP4B/F5cYkxNpezUKfXB1do3+4aveHtbxe2o5LV96s03CA2osknJ8Ujh0QoSbdtywTYWfqAw04MKi4LZZSV6f6m0ILpEpGItq1dq2BaULH8mGL5KJiitnrL/nfKdWqUTUA2ZcrEFtkIMhQKVSg9EtHqtFXy+zM19sBtiqSniRpUVr5FTQVd+uKbvq9NT/6ndq4bUol9maq6XAUzgiqnXEES2pS1ytDXgMyCwEPBXT4oluUps+1O2W5ERt2RpnAYhS9DA06aGuLu9MBYBvoy5xtPwS/j0Z1l2pCVPofiJiIzCC+Notq0dQyUeA+aJEezudHm9Ocan2YNuPG4JgsDMirkOYvG8TnjRLbXxs5Slv3VyLEQ8TeLgrNTXYz5b1N4PIVKI6vG2C8qCwUx4dsp9i6+aN2esUxxZ/5C6HWfFLY8ef6RyLZuncH8P7slXRus9YbCAWRmfLOqX4nhHMK6TZRXalO9t/uwLhNOq4k8tdAzspDVZjp81Irqdud2Zc8KruENBpuR4fa5X5tBrutq09BNgnJt6NqgRMJrDGuYF7DCSKlIgZw5oCHv9/l4z9ZzFiigZ5S33/c+WY6jEWtEm4b+h3y+kVlY/+FhdIdlabn1lHfOUg6oxerXrN1NMWaynPOcGKjfbldRUZPWrG6SBbpxM7oNE9ADUDPNungRnpUhkouAzdPntmxGtm3pya1PGA7/gUHlWLZacZSkz2hvQ1kpHScL1ObYYssWDVnItizxZLJO62VR4n07S+RExL392mwhN+xq6A9Pi54ewzVvDQsekUWXZvw9PBpzy/NbGWRxuKpXt5aNttjbhO1o+eNvVNXWGmG1yd6ao43ORgWSJIMgllmz6FTOKdYmwS5Zw+g229ZD12xVXd0C6WIxWd3dKqZYDVaDGhpRUXHKt7PG1WsNaPOWQm3Z8l1tvXuPMq7MUAd3atmyO1VTU6Pma65RbkO9rAdskZ7aPi3ZtiPLspSHpdudAYWHZlbCpaA7Bwc1nFz5Y6hjYsTUa98lyNbG9wzJHwvI2pIlaNeWLejJbVvU2dapi7Jn97vz8ioHmQVNmww02gvUtMBEPjffAIv4eFhJnwDz+1zl2UK6LKtrOt3atWtUcFmejM0vPC/v83u3lOcXbhFNfsGgMrhAHdP2pSGBoy0gi6QPDsJG1uNzx17rrGWwelkwQNjrPilk3XDveVdE1uSMkadrurOanUIRWxXz1AkRPJfsoUZREldGxKvEFW8V1C06C+e5aKO3knLSHKW/N33hbVwmMruGDMEKWZalzEwTrSpRvlq+4EJc/2s0Eyo0KBaJwnQuKSkpUSRi7s3Pz1cikUi5XiMz4UQNFtlGEzXXy97iaGLiSTF+tXADWjEnz31YKuAGr7F6aKnt20U8xY8kwII+Gxlpabr4vaMq39ykvj17tAf0phWoCVuZnhGvmLiii6hcMqmWNWfllNWJLNvS9ZNdwk6IjHeLFZOyLFRTY+p5kNkcUC4ozUU8kSn25wjnRrGsXBR0qhVmjJRZiFCmaL5ZTK6QzxdW+8Yvi2CBGdAzEVytbgLehOsT7DXb9C1LcETMQlVrkPMmxL03yLJs1ax+pyHEI03vyGpQxliV7JBPTK4wbTi0YlpttxSprMyW667XxAqUYW9W+W33TvvKpEqAgIk0V4mJ1hc139HCoMqctBylb88wO46sLNnl2XKDrtKmCdr8YtUakekXB8dELKx7MfdndHQod8sWFYEyQWVWuuzMxYNgJQPWOwlH49e+Q3mRGlUdOiQnFNJkVp5go8JhdOvqa5WZGJLrnpvobckSRFTMP+9i6S3UzDpnsciOZIA5Y0FY0KfMzOAsZ9KkTKxfL2fz5undcmwD8i8Wg7kaYRfqT/LbCuDFnMiQj7yUb2f6SRaGO63aU7NbWJrIPF//mEotpDJdynFehubnj/zVktNGMdThzz+9ffrc9kiSLdz4jge7Po+v5udAkKP4OUYAApvhZCYvHjVv8aY3/JYeThp77wLHc6ccvvaKMb7EXomx8aqN8NsFEr4AuxnBRw9Eoriuy8iIwTm37TxBWs4MEYVD0pzzD5igB2AsN0vjn4/M+T8UCuHzGRP9+kCcFe4lwGaMWTiCcZ0vhRddmBrjI51H0JfEmY/8BWNnPojLCfJSch1nnI8PWrxS9hy7eA0/nwIg/Fd/hXV4xo/EVwiB2tQyhQCLF/UqHzh1ml8EivibmMsXgOBlOfQ6/QyMfxaAjO7DBAoXMvFX08tj+PDPOtu/HbDgoeCkAVcMH+XG6NP0WRCNGAvtV4FUcodT5PLKmT4iH3+B+DOHGTnzNSK7fwHB7/E/gf9IJjwWgcgR2PRVLns6D3SK469+Gs7Y8EXgBYjwGN/C4pc4GOT+x8h44QWGv3iKcxoaByDihLC+PAmh57CAaNUUNLrAYT5zLIPjX5pEx8PwdHSmTK/Nz8om6Y5SDayZPh+Jvogdg49ExzmmL/Pf77idI0fm35+FzYWETSN0gVMQ8agW2latorY0j5f+6kV4Hrqff56uX/yR0uOneMUD5VtYDLd3UpiXzcTRTxKZeo2/umYvGrKIhELEo1HSvXL+l15i6oV5PA7Tx2kcPsoeztgxnh97DRX8nis/9AThY8f43MnnCAa/xmun4A9X/p5XXvsap06Zjje3/c9UAgbDcTbHn9SKXCCQwRksPkckpZ4hEAzRs3MSh8hsM+zXmTMW5AF7cV0bf0rzDWP6+98eO8a2L32J5Cj36rfB/eXCxQtHACtBcqRooIFaapfwYnisKAJe5DTPTX+75CD3PDDJdnIxwAkhPvLCR0y9hQEi567GcNg4aE0fFUDL0sp3PjsF9nXL6NYWZy1NFRfUzb6Z/3fhbXm87amDsnYXqI4OsaxeFLeK24dF5cxWaWLfxrP6CqSn56ix0ZQnj7ju5W4xN7xi8vnr04SzXowhvz+ssbFHzXnfOvUUX6mBiy/W+sZGFWRnq2OpM3KEWQZXMB6Si6V32C+bXpnVbPI9vd8+RJer7o8/JWudJRfU647Kh6sx3judxwADsv2Wdj3uqhdPlZOBhhs8DLkn5TZa66SWaZNZ2VgxERoR7T75L3W0DfT+sR4F1gY1MGDq5Cofqltwe2rLZb4Byx3YYHxP9u0z3rjvdhXoRj7HEesXC11pyWf79PCOmfay6w3MVss4jnjUlAkX7WNMEBZN3zThOLEEG/QgXQqxXqlkgFYM+dal1vMi4iKzE9yp7o2ubNfRhm/eJOpvFjhi1y6NjLgKBhHd5p6SElSxwEo2k2SsBeOTkzzf2dWljfv2CVz1sUaZc6mXPUlE0JZmDNna5ajmBnTNhd0CQ5PgOLYaGlBGBnI7OqZDrSbvj4Lu8q1Wtp2tHTtQOIy6/a7woZ7+fu0aH1c7S7AXgVf+fkULLXV8dUB2Ro4eelenYlFXV30yXd3djSpbiW57a78cx+wcIy564BIW3q2PYXZ2SwgBurjYgvVKI5VqJCjX3akcds3y21iovc32ozCyBUNvkYzR/GjKtbFF8toGcmmVia2AHCplU3GWZy8k1VqMRvvhdlfbAjMr/W4wO9MtCMZMLOmz5T3MHC2BaY9LGuvPa1KgxKvU2xcpzPwg1iUHiuXHBAJJuuanXg9RrGx6Dfqk3HSE2aykpd7HXBgXHgwWK9fDomf50FvyVym4iHWep3yi3Awalj+oor1eXNuRfJWUr1Z5fb2Kc3NFeGFDVhhDrztvQDkL6iANtJ2NMx+/LUNULWIg2ovoR+1v7dWlBUY33kaRFyjkrpk6LS5Rnm3J/9QdesQrVzAdZa+anV8lqJ1xzfVT8KX5dMH2C9SVs1xd9ZliHJVUdcrKt1RSYmgrcjDqvDFSY9Ea2YcZwItTzhV3lMi2LN1BsfA5JpTnXXeaRYCnE89hvnHdBnVQbIziO1BFzpvUVd2ljDYUTcbCKClRjJh2enGJbTusoqKPCGIqGLH1yaw7tfPmYvUF7Nn2Gj8iP1eLIY9cZsAB+zE2rbvuulOW7VPJlX8tGicFgzrAV/UGHlWUkLjTpI/HUSKx9AGg5boWLU+vFJNos52nG4sXZv7NcdGhAsxiIwdlFmUoUnKfcVibaBA0KmeV+d68sUhE56p/Yqodv1sZVRkqLLxBjhPXGj/akoda+vs1OD6upO+ESZ8QXKlhy1bXgQG18nBKfY0JhhR20fCmAwokynRjcavCtis6LxfkKi2O7kt7XL4cvwgi20ZFDYhosfJYHJX4p4ul5EAMyfgi3u8l3L+VxY3fkxgflTsnjcNnd3eWSkoWBgTM7+cJxRdVJTlKqsxnS4bmIxyzBSGVFI2pzEnaMSyVMGkG+bG5eSziRzXPT8HI6z4p7PTNn2WnB5p550YFjlzf42bg3IZ2+saNASV5Txui0DKVVo9xIOtFy7KWq4m1KXnZXkNe6Nl9ml6R5cXU9ObblLHITsH3wVHRY94h7KJHd/lkgYZcS5ftSl3NLtGpZ4kyy/t3nW2MlKlpHEdYlolt0Iduy3hat/UZCOqjvkcVYk7D7EGtdp+y3/us1mNiItTWoRuuHxKz4iCXydhFZpcnEo+oZ0ubSvPz1by23iB4dvaet/GsN+V3z5PIsS29131KZqC5T+P0msFsu0nTvECHdPHpEfcR+ZLeofe/QVzUrP1rUGdFStuKRsXQ27V31zUKR0J69NHfCLp1h4Xu24Fa3sPMCtTn08xudK2wFl6VR5jhvPdjbF7jPC5sV/Z135a98irh9AjrVnXxDvkJaqGV5lKk3bdeoVHDLeWzkNWzcLpIGmrdjKBC0CLHVyeLa819q1aJujr1NPUoPyM/pc9Z033AAr3xquvUUNeg++67T+np6SLtctG2SXZ/r+zxsTn3VGpmguiZUx7T76JYuvLmm5VeU60dWx9SMBCTr9e7f8RW9zOD6l7rKDcLjTgjnoPiRt3F0gbqc8o2FgUJ9PYu3B5ni1+zCCUXEZed8qXuKtvqxHWe8TzALCpuU/eOdnrpK2pRWc3r8K40CLK0hS2z+v1M3JNUWbwtjjBba5CU131SiO7bt2ABAiykMjEz4IP7us1gE0Xdey+XZVla43XIG1ctUyK7S3CpCKAMFw2Hket0KzA9s5pBrRCUv5oFBq48GS73AgXDRVrVsrgxeM9718sXMJ0nHA7p0UfvVRZo5xBKK/Vm7GWcI7D2+UsfKXDV9c1ixWw2xeXd3UorLNSOdSg8gf6iOU/RsAn3d/HuR+V3569WNrFG13VvM8bIMeTUofHrWxVLRUlkuqJs/oo0J4G+uReVrF2r4MR+syrt9up2jZduOQsECz+LXIYsx1L3vstlBpyIDrLGdKT1Js0A85lXbQdtGI9q/MlxObscwxAbDCoQLJXrZsnG7DIDoTWqa83VwWhC4YClz70pUzk5rsJYaoyu0cNRtMLygrqMjonoJQqDVg7iQTbPIY0IH3r/mm5Zrqu6h/+H6v1+0RdSRn5Q5RyUMVQu3AfOJTaoKWra8yYsA5VcSDIQe1BWZofKVlyotp37tJteORYav2yNWLdOW9iiYor1FpJEeDnCi88QA30zdJ0afA2KtLfLCgRE1h4xtFM1/UVaM27aXiJRpMrKpamBQ+Sr9ua3iBpHF3Y+pJAb0z6v3+WvqVPBj7+ikOsqpwzVtUe8hd8+hWFBKo/zlnlqkNXnmYdpj+dKdxtRvTH1XBAzFvgQ9zFLrXkvKEynokk/BT9LhrKvWZOhBrbLLXXVnYVqLEyI2ABmcQxqJ66A9562hR7YOzcfn2D3os94R12dcgOpGoJMQdmSxvrzMjQfcTwi8xAzVp7ySU48DJ8KzUsNwMmPepq/I/CHj70GMh6PR4EvT7VTnpGgh6/BiTW8eKqeL79WwqllP+dEy995+RhG8FPAqQXJwZ8DvgH40OlMTrw4sGj5n31xgNNygExOHoePvfckzwPHf7AZ3288b9gASyeOWsKRBuwgjuV5BkdO/ojA6f+clebEt2ymfmPxmVf8vPbsOGduvZljfQNMAJ/9Bpw6DaTSqe+Hrzgv8/DgGHteBP9noPg3cCL+Aq/GUwyH5bZxd009MuDVV+GWv4Zf+v6T48FvmY9hTcCQQ8YxL6j4CZJ4gCUca8gIrQTEGfspsEOQPsSTk8fMt/c8mm3mG8ecMw7jX9vGxx9yOfPpdHjJhuPHOdF0ilNlZ5iy4WP7QWdOcPyF0zwZcDgh8dAr9Zw+XctriH/yH+OHR8Y5KZcpwPfZT7L3yP9g33VwMjDz/JSnwjwKMWAM3nPFGWzrDHX+B/jnkyfhb45x5ndjnJwm6P/odD2e13Gpj+PZe8ngGF/ZO8Qf67IXTvcK8FUoK/8/rK39Gv/y1W/zn4GfAA79P9lNw/85yRf5Dr/iOZ5Jh9csMC7vXwNMVIenB+FkCRzd0YMiQXj5t/CDT/NvP6nhH761FoAC5w90BH6ypKJPOS8S+NpncX9l85dTT3CM1/ioOwzxH1P7DxbrD3yBY2fOcOK/4MUfHEVePfVhaOv+7GOWQV6cM0pAPdCwD/Odk/d4IJG0NHCcBW97iCPTRmYAjm+Al0sMbuEx4Bczlz4MHOd7HOG/zYmVYaieNwgueBw7to/jvIJOiqNn4ISY8UD2Xu15y8+ZDAPQmBJ84GNzczkNfGLRZ3wgdJyX7KmUM2c4ZwyG5LHknUID4goPF1/FNGc/WGeNcGQNp6pKLHUyw82zbt1a5R88mGJnSAjuEtZqYdWbc1bq/TEtbuSuUjRao+6eswTptg0OeJgRjfhcPbnROLKsv8NSosxLs26NyM9bPI8/QWxuEBi+owZroditqe9o68lPjsrqtmUNo82bt8h1fbPqeMhCNraGrSdlezun3BzUdgciUi2jEkBQLKzGlPdHbEb5+VG97e29KiwuVOPaxukyWJatLSm+Bwwj+jhLZL0ZeXzbZvlsW+/bslkEkbXRkjWyeVaahXDitg+NPGbJokDwdrHZI5qzPCHphxCRxYA2j4zIBQ06+wS95p1GkL3JktViaXPTZlnrXNkrh+SsS4g71sua8HDf2F578lQflj2tztxoIb+NGH1SuI6sJzwnpxZE9hZNOy955aoYSSEeXIoM+2SNDWsEZG3oFBcsrOKkEPFmRDGyGlBTEzpUvEU2aGuVI6ottXCDslmp/kEUWCAqYPN1rcptyBMPbBTpQVGxVdxuyeyovehneXmympfIoxNHnb2dyiJLGx8ckD/mFxfmiPZ2WaAt1ogcHFP2xrN/7z9bHEyckXOmXQRc0N3thVXdJNa1ipyclOv7lBrmci2W2eH7MJ7ay7z3WtBnqkZzvfUXk+FzAR9ADG0UO+YDOpYs/fzJfgpL3yn8ogN+9kHz+6fAvycvaHZYseljOWCjv1fKuSr+DzPAzh//ppnfff7HqBDWZGdTm24DHwb9X9A/m0Rve1vK/a8B/zL7MeEwFBcDP+XMsZ+TsfYyIssLCOCxJwPlmMUDU4cB8fd8gZ+ccfm/PzFxxv7lcXEkSQ3y4/+E3720wPtUszCkK+A9YfFjil9jQiHB/8qB/06bm6IXKIIqYOUUd55ei14V+jGsWRPDcSyqJ5Jps/l7pTNVuokfBx/ljj0Q8sPvj8IPv7gdjr/KDA7vMOg5oANYBqXl8HU/nIxhV36UF0r7+Hlwrfd6VUjii/xoplh/D/wvlrTA+GhnA1MVFfzH1m2Ej8Our4mJ6hWz0ky3BAfyuiAtHmbqTDFf+JjYV3Ucx/4FjP4l0DnTjLGoUg0xbB4jxu9++gVsv5+qByqg5t/gyi1U/WMWe6oq6f9FD/Ud9Xzzp4/znuzLedNTd+CcKGOiKJs94xdR5n8f3RPvpMR6L+17HmHZfVdytf0kXZs3MNAD2gXVsZ8CQr3l0Ndg2vkrP4LKW8GJmaBXNjy3CX61yGJ/oeOun47x0L828QVA3/5X+NDowgmfS8DD20j7Yxq5v8jjH3/XwepXTICMz79QCy808NrF3+D08t/xT1/dzakT81en//6r/8lLR55j7GcbCZ8OwS/T4AmgHYOEBnjuCPrRXD6fhY/cEwHWVq3i+TyX5Z88gnNckPkH+MEPUCb89LE4Uy4GS/nzSswKfRLNyacUQ7n+Zx1iwSB3eR0QXzY34QLHt74Fr7wC/AP89N/g5ZdTLv4dcMT0Q6CZDdyCt1N4F9OM+BOHJ1neAvZ6UgjA/o0UEPVZj79frGwph132DZZ/vdj7z4L0CS80X/LwAftMhMaRebdT0Qju0jYu848l7xRA4YfOxgMyW8Z4l3weisFP0uYwY8iyQImqOjnvyBbVyC2tVE5tiYaG3iB8FTP6udbWsz6nIB7XsBcwO0RYe1e0KW2OLrwRAzuDp5VESI3iU5j1r8PqJSxjHDpbmoAIeyvNGr8oWMRA1DwqOsK6eGu/rHqzSli3YZccn6uHpx2lSsSeG0T9JoVzrzGGZlBBwlZ3TUAN1KuDWs+TM1ukwuQaG0QopBC5auQ5Ob5JxWKT2rkTXf/IU9qaHlZre0LrPnxIXLJ/np50E4sjN9r6Vyjc9mZd/NRDBjq3D2Gj6HhIF11hKXLT9Uo88oii1+UqfTyozxzYoZZVB0V/nWjerVCrWdnEesNeLOpmwTJZWGphj2KxqLY+uFXhafp2s1Ow6lHLJcjsIH1qpVXrsDRImlpaArJCQbObCBlnuAkSqrUntLN5vQoxVOOVra3ag7FzPca4cGy5EwNyi1xBry6J3SP62oXfM15bGOP5Yo5NC8hb16GhQTQ+vke2Zenic6TPJl8VrJB/v18faPGAFGWICrSiqUlpGRnansJ5NN2vLLRt0waVFBZqdF+nwpGAMsdLNGgNqra4WK3LzWq2qChd69cvjS4iHC5Swx3/KPILtOOhdygQi2p83Fxzy9BffCUkv4soK9P2tqsVnBMDOhpFW7f+uf3ME5t5EHAwyLFF7TRJGU/9PyrYajicRhFhFCYqrDrRYoAKdZ1+ZRcv4Nw3bqLWOR0YBlqQATYsFPt6flzqvVxyzvd0Rh2tC6+b/qYXXx9OeVZSFkBG+REOamwyLMRzry9prD+fSWG3/7Elfzy/NyGsn/4f0fXoNMVFGHQf7SqaNFDTBrarJt4nt9VVfqWlyjVLe04eCQ3gqZqIKUmpMKuj4E1KnQeFbYwz4dZedQQ8/PtqRCyZfqWWSrW7ZKm/Rhw8aH6vXSsqZsiwghhUDiA6/aIXTTz6UVmWMRx27OiR4/rk352Sn98vy/br0Uc3ajvtcvHJplY+rpKDTz4c+THew9WuK9ralEig+voWwaDM1jqsdc2FuvDCVfL7UXHhhO7+1mY98Bc/UtOTveKxHUZ1khIg3mVxlUB6+o3atOktmpjolz+MWnch8tG2/s06uDamS++d0LtjMV0dtLTdjzLwy7b8HqrEr53DyNmCbtp9tVqokTGkJVWBflmhsPzXduqxaaOxpz5itfDHhBenAAwP/Q7eLGgV/RuNR/R2ZhAsNl4ktYjgUhm1pfkO1fiF42jlrnu0ilUCV5NfuFvc2zKDbrIQi/CALSbdPjSwAwX8flkw7TU7Lc2IkJmY1oLyKFcV6zRZ26x/KSgzaVZiAsNfs0GsyJP/wbbpyF9JiUbRg6M+Fdm2/Lu2inBIVtZuuav96q/q0Xij8X7PtlHjgoiWhaRI3HxCrFgh/+5uEXDl9ycE9VpZi77znYfk+l1h58nvm6GFX8cMFYx/iUbYP0vWn+P6vDL4NZBy/hLQGhBUCZrU4WtXkb0AFD6Zj2+FsA06qYwRlSwYenQ+HNrP+8/9Ln6fTBRHZFmWJvrH5qTxeW1+zn1tnHWx8rpPChxYiAO+Qql6uLlSfmDGd6Gw824tputLI0PR/DRxBYpVR5TZmjD3wFnjKRAIiizPBuCRqi2W9qY7YnLdneIACpbW6LaSJ+QH5RQw4xvRnSNKlr4jWooM5NWpIGSQBG2gqpRrGaAv9KGiIsxKcBl6cM9TGrnUErei9oI25VqOQsFKFayqU4lTp8LCqHJsS9VPPSWKV4nCG1QYvF5fOLhK1+5rUvbe9+v7T+7U/XkHlHWJo467S/SuICrKK9YEy716GlA0p0rZ1dkabkNNVahoTZ780SqjG14SPDWopGt+4eSlwi4Rtz0lB1RChiCs/DxUusjgEwDl4KiQCVF2s7B8uv0voqIre15aJydDeX95vcrDCL8t/rJLrC0QlxwSBbfOpD2whHJbXl3jCtapkEoZP5JMURiW5XNU+NF3icZGATpwzwHtxosTcOCAhiy0qg6tXgAHTuHCMcWXj6MnD5rfmy10421z0hQhXAPRLSRXTRgHqaos9HgSfdOAaEQb35ilgtqAri9pUXQu6VksJg4+LoJF4tprRTwuf0WhcgpRKwXa5O0cw8Fi5WaeHXrtYPw3cP3KfvcjCtTUaHz8IQWDMXGgXHChYqD7y8rkWh7CJz/bs38dUNGctv76yFniKZSdf37lYLD/YdMei0CTAyvEunXKpFsHPbjuGgw/m9l9J+s8W0lUUzrpSpAw9o4FudNS20j5OctVWmprYsIgmyzQrZv4M1GRlYL213lSWLtW3HDwTyiMb7qBbeqf68/geFGk0HJsNSQy1NeXDDhj+E12sNuk2bZw/gU12eq+wUxKMdCgs8B2z3t+77adchxPdeMLi573KA3UMittq5gXUMPkGQQN/wkfxN+1Rtahy7z/bS3uYesKtmrTs0+Jdkv0o/c81aPWd3Xq0P+4Sd2f/KY2j/9YfX2larFRon+TfJsCom+9yMpS57rVCvehaB+6zkaZliW/7TVgr55ZgWiJi8ER0VoqLu1QHSMqBG1q61AidkBsxGNW9YyzNotMEtmCRgHqG0vIcgbke+opQUg4nxes0/3v2KpncyeU6t2b/B6ZmEmyD+TwuMCvJy5eJta1GO/oaZCBo3AYdXY6gt3C9cm5+X2iuEdWJ9p+6ex8z/f7PLHj/RqhWwGaxKbr5dqOnrj6DrEyueot9tqFSW+Dtpdh+Inm5te/MKOvg0+9bJt+H1//YuWJKrlCBFTLWl29o1Q4yBn1vkfzdSJrpTawYXpHnpQoaPPVXbLqC8QDPSI9qLT+frVYliqtMtXbKwStsrILZDcusY6iaWr/7FeVUVMtfA/JIaYrdhstQMUKdMvdO+U4jiyQvQGzks5i2vv7fOW8vmEpYo3ZXa0DddmOUQel9NslP9fxmXbufZsGbOXM66vNSu4soVk4Sw22NCM7Fv32M/LO9SGlB4xvhWVZGrx4p2iKiuH5mhB6mMcN5wwyC8pbipnYXt9JIVQjBj5yjsaDQSZNn1smmq6UH+MJvI9GbcYMBmaG3SEv1KxgtRx71TRxXFLiTd5WK7bwM9/mOLopbFb2djxN0W3b5qVJYt3pukzYrtfwLNUTU2dTp7Yzqo5pfH+tZquPMpRkAzWMkefXAOKgR8IoPyPp7diiGXRQSj2RJsPCmqnLnjmkmhWWyEaxWmTlhpVW7Yq9cZFVK4NLt0TTA9qNp5prwgzeDWbyWgFqXrZMn219t9YRUNMD3rMCGF+Alg+K1lIFLg1rrDgmMtGbV6xUSWiTGM8SvjtlnJq6DA989dnfs/3JNar1xfXAoacMxfTOQwJXre+4T7m5ywV7lVQHBTHqvDxmdoHjXC4Hn+LN3xehS0VLi0djYcuoimKCUTXxfvl9jnZ3tgj8sm6s0YZ7Z3Z2+8/z+wDq3nBIHdTLxSf2v1+ubeuJ0XeJMtOW+vqaVVp6vwz5WZP3XXO1GEXBQlIL8nuOhRab9K6m+buhhaSUkMrjrlzQO+MmZkhlX4Pi+Rmirm5erIwQ6LbwZhX6yrTqwp1yozN1U1RTo8o1awRhFaVlqbtiabQM+Tj65c2dqqxJKDh2sXYFQso45Hm6B/L0+AfeJL/fp3JQRx0GreM0aUXEI7k8D/GB9pw1ja1ZNjwXETTPCYHCbBXxNO9bzR8Lzib79u2TZVnTCKqK8vVKJIrPck9I7He9Oprvg7PomNB07jQxdsoiT0SQVY32cVBYzcaJc276CDOLPk+2RVEsBbHoYvrdUo6lo4/sdnjpe2dPI2Zj26NnwPoiJzGI2oz0OBY26ezHYJC+Cl9KRvb6CWem/jdHj84mnTsce8n8eBWDL47HIZGYvv6kZfFp27zG1OFXOPK5z80r1hTwMYBNnwTfaS9ytzjDq5w6neAkOzidSGKXj2C8IpLHi8CXpl9vAeBDyrEbmB396zBw7Wv9/G7YEKmF+Tv8pPop7GVrr0150RQG5nCYZ+RwegpIq2HqpXVMHrE49gLw0mFWH36RtzPF5rio4vN8Yg+c9MPEXvD5XN75xCHq6sxn+I+f/Yzr/+cbOcoJTn/Ie9wJIGDBtr+l+mSQDUc7+dVULctVxTPj4/wx24GPb4bTnwV+CXwXfkwK2mzmmEj5ffqlMGemjhD/GESPHeWSrzwB/lN0f0hMvXwY0wKi08D1qFez33Bs2LcPi6eA0zgr74HV36PVslhuWWBPwb6PYrwcEuzlaU65Fl+7Nw4NFnz+DC/+QtPlWArX2tzjhRd9DFy/i8C1uaRnPM0ZBz76tmPQcAxicIpjTMV9YFskA9EfpgdoW/IzLgDSvNYjvsKHTy8ciT2Tmch5AMGBTnYWPsxp4OmT/wLBf6Y31kKemwVn5juSxIDt/d/GKv4N2x1rFqdcGUFWWhHA5tdy+dbUAoxzCxwvOTEOfr2X534NJz7p4+sn4MUnPD7AEwFefi6MBL8oh/xWz4XpzCHOHDXby/M5TgPPAgbBFJt33UHsTR1kTgHHDbz/GPAan4fDr2B63vyx4GzHR3M+ihKCcfN/KPQdLvL9asG0IWBX5Bh8wnzHhmCQVcHFoqLZpPrFHD597rIc2fkZ0sLHvTHVxqId9C+w5giUzKTbD1hH8cbdELALgM8dg1f3YPrbVihZBk1Lba5L3SnUXbhOhW3nqT5qQ+SNqsebpXZs2yafZWnbtAGxWYymrLbiiA40yKDo2yzcjdr0PsdbHQwYWuj+fpGyG9iWnS06k7aOiDgbosgZEfjE6CZDd7G6X5RaouMucaDs/N7NtsXAgNkddRnbx6q5gTimxfPl8KPGPhOAZOaarQ4L5aeqZ3Y8Kcu2dHBbuVZQqyuvuEKrm8wK1cJsDTt7LF2U+YRR9bjIsTcJf0DOE++VdQ57QCQ/pvVfv0stjWt0SeM6WdTJokSdA29SPFFskFIbzl0Hs7xVh7cJ29aO0R1KD6B334woQj0b3qFIJFfE4qKrb1oNuA4vroSNGLKn8xrdXizsNbLqLFkl3tbdQUatMiSbUbluWFtueU4s65HVaWlw7+CCZYozqA5v+99HUC49YtNCxsAdsvePiMdHNbrjCTmOoxvesE2VKy3RiS7ORfXvetDDt2/z2uNNSvqeLEWGSCUwaxd8bMF0E6CNJNsTWr32IpWXvttcr0asQC1dlrIXij1djnKq0Dc7rlZOfr36N/cpGApqkISgXZbVL8sa//+Y++/wzK7q/B/+nPL0qt577xpJo1GXRn26NJouzbh34967DdhgA25gg00SgjEdbHpC7xBISCiBQDA2GBeMbdzt8Yzmfv/Yj6RHZYrzdfJ7z3WtS3pO2Wef3fda97qX6Xe0KlkldkSJIoYuEVTJN3Sb1nkjYt6oWqXx8W/JSdg25vxmSNkqOt54/JUFiWs57cYK7e5NlLGT4rLWds77BLWvQflH4DWzVzMff9zaskXWusMH8EkO0jN+DHnx2B5tmPMZsizZY+8V7JhX4zoYhoDlZZE0BtkLfy3LyDFphY51UojHpxQInLOQacpUdAxOGDdgdPY+UD3lKiy0RHebStNzlEenQpy5cL8HkW4CvJOVI6xsXXLJDTK67eSALy0yKhSzZZxjfIzhaHJpgJ2ElIG4ejph1c8Wma7aUzpVHfKrMG2V6uYCi+Rki9DRXeKxLJGVZbbK6agBFKNCy1VDGMK8oKmczKw5agIjEdCDuagqydFk7ynZcgrRR+K7FM0Z1pk316i1Nc28aw8iG+2zNirvhgfNxOuiffTK8joqu2uzUkjVlrl3OBiiwSCy8kw5ZOfEdOP7v69AyybFN/aIzn2isk8nbk5XVqornIjImDp6GSTr1D+wV7i2uAGdYru6IPM4QYkyTlstJzUgQl6NXVmo7IQRLivx7TiIC5FRoVnaV3qdmeSjGLSPjZgpM+rDu4ZUfuWV8vst3faxCsWqQzor3VZbwQdW7lhkK52599myyFRedvaKwAW/XaSdmbsFPbIsS021WxVObRaj6NrLyhXLfI+wFziU4sypQY9NpixL4fkQjOla4BtaLFmgc0CB8nLFurqUlVWp2yJZcnA0kzCwppIrL0GV7CiRE3ASfWGdCNXJibToTOpUTqrOumSNIjGfsvd6hJWmzs5hrV9vIJKhUEg5y8LWrixx0BYuEVSL27JExNa+uWBGa1PVfXWtbHvJWODZe9RIZIeVVsRNe5c4rhqx5vry/4Jk45FNmvaCKEU5gyh09Qr9GbSLK+VNgoSm9fUppbPzGN+zcpqLJcEGDGYiuDio5NgNFseurkqWYzmOWX303HNBXp2jQABcMkg7hs36P7GLQ4kc5ZFJShpQUURGJE6cOvyJzSIAB1Lg6XGeLH8SznsCPE9y81M5iaf/snCfUwjeKPhhXw6kjJvTzzPLA8s5DbAwjjN8bb/Zn/IkPOXnJ6+K/3o5hxNeGqZpbjsfi5uI8kc7JPjLX0x6T5uN7vNkAlnL703B6AQOQeQvCwwhJL7sR7E+nvLlLnze519A2X6+HvgjZfGv8/3freVPjxSZd/23iz/N4UnfF9mdeydTh1LxsosP+2fxAJe+msLLBPknjLbN44M1GVCSDxunjEvhC8/BF+/5Kq/+/Ame+6pN5Fev4zw0y/3//CJP/W0WZl+Ev35mbhd9+CPZmeZD+7EOwfExP/crzGPPtwJ/4q8fOsTs38CSi/PlNA4lAipEMeVgz8L2dwP7MsCxeH3XP4B9EKo8kOvAIQs+nUlYFpu+8n0yH3oM+5CHiodPIHgol58+Db97NJn2YKHuDrCfpzGN4y8cQjzFY08+yddX+paJP/K55z8GOw/h2BYnX5/Ka7174Ksu178jk/0vfAz06nzyIRfCnpUSWrntfM6eYDzDOPP5eBqbp1a870Xge8CrDz/M8z/9KdE08e2wmHVm+cj2zwDwkjeLg7afgk/m47zqgP0UeL8CL/+W2Rd/wX/jYT82f45uZ9YKcuC+A4zqGUKhg0Sjpp37gj7imfEV87D0eA74nPcbYP8F/EP4J718mH5z8fcxptZswnGXDCUH7jtsDJSjHv8J3HKfQU8vOSwcMth+9DSiLDjqHePx1JkH8Iw9w30AGTD5HWh+a+aK936cryd8Oo3aOf7dHxL70U+BIZZ4mS07+o9y3RyfYlHAjj/aJNN7LBkRlx++jWAtV78d03GsOwUq60TmcihVBsmws6iY9xmYk6GF/7sTs143Zhas3rxkNWEJvGb1OIxZGR93r2wMSmX+vhIMJnkC+WsQFx15drQwFNCd+Ba2W54tYmtQYGvTpV6lL3MMefOkHhTfefi8+fAIbLW3G9qCffffL2tsXA7IDaLuS89UQVqCBKytSTtOrVJgDH3wszsTxIEzYify4uh7vm0aBl0FKilB7e3GyOTYBituVhg5upYbxeoO+c48WTd+01VZmaPx8SuUkmLQFLWg3Dfwjd0MysbWPUN3KBgLasfbbxMUiusQmYbaZIKVt/4+EHd1CY8t/8A2eU6u04xnt7KdbtNediArMKpVp16hTTvOl9fyaE94RLiuxmhWahIwoJudC2mHrUTYw6Pnf7cP7QLh7xYOan1XieqbrxX1roijiYl2+f1ecYfZhu8YRsUrOmTt0ErostUMKIahZB5pspQeWZnMLAhqAWWVlKiivd3EKF7TLXBU4NuuQtDZA2erZluNJpgwjKQZif5CtaBR59aeoabUevX27pDPF1QvEflo1nCto13tvWKOkuIYfS1CoJbBQZGZKf/u2zQRi2iBjr1OvrvOEd6lSJ/uY0i7Wcuoo11MPGuLIxDM+WRUxUcgxrNYQsF/dEkbQaNJz6wFXXLEZ7pEt9nxNdCgWmpl1HKHoe5PyNAx5KULFmJDWJbYe5UoXXXs37PRZ6K7BTF+WInzb+pOgecOwKtvgQwWEca9CvNxgwwfwpLlQc4fF/4fzTbL9icB5xUGfJ+n8LXkm2XSmIWsh8A6BPv0YcSSWfFh4LvAg/DaIySsyIl8rUA9sCk9g2+4Hqw9Z4PrIQfgwFfgz1vw1uTwoxc+ytMHE9G5UgbAX7g8kf+H49kReP17+8yP8Rg0Lxj4wsBGDgCHeOqp7czOhvjq3degr/0Ts6fX4HPb2fPit7CLEiGg/tXlk99wePWr67npl/9FnAAWWfBdEIf4Wu33+WWjywtk8PCTAX7y2xgHgNlD8PrrpoRnY0/z/OT7wYEDB3385KRtOA/N8k8FL/G3k4xB7G8s3tGseFy68O/I3pewnE2w83ZeeRk+ee8PgD+x1QdRy7SRB1mZEWU/wJNm15my6ff4nnuaPW0eKEsAmD8JOvgSTz72Rf74yFc54HH4xqZ2OHiQr/IMG3gROB/w8WRO0s4zTfB0BFhxSb9w7INv7w7xnePOYd+5o1iHLNLv68Dle/C3QUpf78F58Bpef80HtwMC+1+BH6yU2CfNDUuOp62HiWZ/nL3AN54R6w6sTGZ2BtAPVDgP0+3+BF7uJjstjOPOMvGW3/ISzXwn+7M8+fwuHsTHa1iG8O/rYKgWfsEnre/yex7n0S2ZzAYdhnmd13mal389y/M/eSzxAUcvluRj3Te9ZD9l81qmxYMHAC7GmMX/k233x3EPLh1KCkln71G4JZ9hMagDsxv+DPNDwcrH/sRzT5ufOzEbtH0AE0DcPL8fE3CsZ+657EV/5o7MTAvbzuKZFy/gq2Ob4BJz/j9SJrnDX7liDrIAix/Ck6ZfPhJx+VPYwQxur634zNxx1B048De2M0AQ8IDS4Ndvgxf+PXG1AEONc4Tji/tNdLeEJoNyDM3JMRzHPik81Q0vvmQogJJ2yC+RPGC/Bjw2n3KnDdlNDy/cfO01Rh3wEOCBb4/b/CmWuGaxCDpS9zA4h+DDHzb8Dn9YKU8W5LwG/U8kfvsj2HXLWVJfrjqD2UA2wY/+CuvgIRoBD2LjT14k/ykfZ/7uZ/BYooGVvArxY4AHLD2KgJaVLz3+Krxy8H7z49ECeDpt/tqLwGcS9KGPPPIpDh58mVXTzQbp8pXf8XLuT/gwAQ7Md6/98NDroC/z0LVZ1G18FcdTwGQjHMLml/+xm7/8qZk7hqsgNTXBC7X4ePrQAW579U8U8ChrDv2AF+Kf4nfFYOe9D/bfAoQpYT3vTnpmRV7J/4C5JnTdiw3M8hqfoRkO2vCnV7GAL/wzvDDHctnLypExHeCXu+CQw6oLi3n903/hqz/6N9zf/cEUDFsIHwjR+FSQXzzchqtDNFUApWUMrH2ML6bsB34BzPLQqqR0q4A/V3CEAJHm+PAETR86ROM//ooP//KXWLLR/hx+vv8vUPIKG/fWUbp+Ix7/i/BcGqztJ94PvsOpR5b1Koc/2dXU1nu4z3E49Gf46Ny4YdtgWdiJh+4FfmnDww/Bv/4Y7Ed/RHP+V+EQ/Onnv+BZ/oOh7CfJf+xHwKdZxBhaAdTBX9YGeSXf4RF+w0EOcAP7sfgzT5dbPN70MLAaHs2Fbx5T5okDQ/ZXmS16GjwHEyrYh4ByqoHiyNuRdQAoADvBpcUWavjvlSJqJh2PklgS/A+O1zHoOAxc6TUMdSkPYhRe5ij4A7TNgyYbTXNqWJxSba2D11vPxI8/hPXFl6DYYRNQWfQw8djzrHTUsRGHbngoH4Dswf1k9r6OGf+OzOL6gDN11K/7DS9xPcJMAGfAf0zC03MD5OMcpvLmj1HMgnO+mB4CfrwyO+yy45jVRwwLao59+3IjCp2J3NoZ1TIXgWlJsJNgv/AkDG4tzPOVDzaiPM8qFdVuUvxwrKh1iD50WTeaHDHnMjNtXXZZZNm9ESJycNTALtkJZzrXsdRdH1N2tqN/3BFeMBr2B0XhShwmRxEvhw8zGEK4twhQPmuUupRNcS0in/lyunnvxbLOq9ac52bd+uOUXtYgQDn4lUEiRkJjo+iOCzemeBPy4uqu5itEU6ExzKYyH/UsWa3nz/Gp+sZqZVa1qHrdCcpffYHSfKm6sO1C5eXnCWJq4LhFBr1pkiguPIjaYjVRr7ngR42xB2RZe9V4z1mi/TQV7bxTdaA7L69RNMMn/H6xs2q5V6aDMZ7fPSLLW6dbBvoVKkQ35JOkWozJjkQUnZwUzMgbtHTBV7KVnudTpHW9nEia6kmopmaOxkO1ksRl1D4+MXO2sF01rL5VTf41ItykjPQSBaMYlUSLIyJh1cbQqqXfUY9x2lq3NP0Z+Yjq7dhielqWbenmBG8+vb2iuFgTTChKVKFstHqOkbMTdQ3vUmmNCTgVS6TX2Disv0sZF2zTIv4bH8If0dqGSeUNotoTjZ/CuXRqA5UabqrWrt42GdXL4dr4Di2lZnDifuVsPkeu90IRiAosEc4WZSPyg86/6Sa5Ho8gU2yrTvSDPl3IG1NBrihpiLx6Hc0RrQCUssJ5D0sjB1paruI2ktvoqJKoiE0rhlHfFB72nTEZ1VeiHP3FwrcyeGCp3HLL2Ue/rzYqPJaCZKvC2immO8R84LGVorgtlihLVLVliM59b7L6iB+Qze85bLSCQIBF0bA/Di9/FUIDStoALMy6oVCIreNpcMDM9gM/g5rfOEAYyzIByC3bBt5iHogufl3UBuuHcPcP4IGvmXMzGw7x3S8t9yR4MdzPrBPF2vVlcA8yDQhxoP15no3NctwnX1pQen3nFfjTyhjyFY84hqXwdQ67QNjyMhSGzE7BWvMvWBVL2BS/FYQ/u8YuZMP9L9yPOATe+yEQou2lQnIOGAut1VILNaUY5sS9sA7wiA0WHOQg749+hvjsfja/aDDMC4dtFoG7wX42RvS+SUoffozh7/+IU177FOy3sAaiIIfoKc+zZvs/LvK4uB/TuuYPCyweBb6dKIZbsbifvc8/B5aDpQ/xOHDFN/fx0ktx88wrVmKVmXTMAh+F3YAti/vjF/KaNcKnrABg2lOM5wnxIoN6gNiMeF3wib+8Avv3I74MPMPuubs/Ek9KfA/H5rnwHOz8JGTuJ6b7wBa/nP4JP9e/wBD8NfgcjrZhEYDdYXjppeSmvKhMeBr4ytILH2ETL/AlDhH74v1wKMT9VmLV9r3vwSOP8CAPAi+YRe4XMCu7H8EPX/kPOgP94ELheQ00+hrptEJkzniBfyZZVVFbBqtqXuRbLz+Ae7CI/r/vhZfgdiy+hMX+n/+BV7/3K4yPUAxWXMd/ksV6myhxUlgrPwcL3s32phfwIdJmniRkfY3XgCdjX0bMAgfYxqsJtePLfIkwfztSsVusGNZi2T3W0etwiaJh/jiAMdeuwWykFu5efvgt2MkheP6LPA98p7+PP11udtotwGLO3+eBQzAdA6D5tRrq91di1ugrgE2Sjvvvf+9Rv8cXe41T7O3Ak1j6BNz/GwxtMcBHjvr8IBOEiCy4ezwE/OjDR30O4A3sFFoFRSsYCkfM31XTorhXXSz2+p1cRDsxsvB/ADlrHTE6KhdjhIwRVxdDhqQqEdx+dPTeFWkuNmIMlJOpiDZz7vitaN1K+Pohx/D9jN4hHN+8G32TjcqWxoJoalrCsX4McoR4EoD6aVXWpOEIop6k1fucdAmyTfyCABqx7pJl2xopKxSN1bLtLmVZuWZlalULq0RYaGRynQZD/yC3/71yQI7jaGjyQmE3yqF7ZboAB0UIa5R+Fa1pV+9pJ+qKtYbzxem9XkQLdYeLAs4b48OfeN+ELNeWs26d8N8hBg2cbuxt6xXOMru31RyeZdW5607h9Yq7S2Vw9KsExbISbQOCcpxeTa5bJwgK51YBGhpCO3YgJ9FeYDIp3XEdnlJksXiDa7V2o0eT6yZlY+u0+jNVVlsm+ntEVqY2bBiS3+8Tjknf4o2Vj9cxeZ2YQJY1oDnOqPnvx3AdRQlrJNlIax8nZ2uPcJB1pSW7xpbdc4Hc3DoZT/sFzv05LLrJnyWb4UXXiylXTWKVnMlZWsXRIJSOYItiRDTu9AkLOfZagVenOSZ86ULdJZgC5jxrR9J0+BC6c2OBtcwT9+hiaxF45RjFXlRfxTJe0Ys529LYqWGGZEIJY3yRXOvw9d3YLvIMTL8SS2VYMr4faUfOz8jR8zu8rl+7AnPQeEsUThg/lSZEZtK9w6xIQTPQ41EoOGwABV/CaA14kw3Npdf7CeCuMAe+CvTAv38JHvkZvyd57ZLNA7PJ683/XPj3UIjelycpfOUVDmI0ga/kPsdDZ3wjAThrBlx+1foHs5pMck7cB3wRo438+csBjn8kB4D6ZzxEfrdch85vZ002XzLD5Cz78AK1KZAezmBj/kaoKQGK4fXHYPaFYy2WxLcc+bKXR3AeMIr1zj9D5VJd9EwAqlz4MvAqbJ/5E5bEfz5USfwXzZzf9xDPVz/PH7MBPQ4zfwUbXo38nN/Y1zHbdD9FpfuQfYhX674Gh/7CLK9Rwgq2pVmw032Ezq3hmT/8kt9+9wH+/TfppBPh9OEvkBNfz00H4bVZ07qO9Xjw7RE4ZHHV5CS8/gj82hTKrx/7JfsPvAYpKex//wSz2aUrPj/7Vscs697aQ5Cf8O7OfydS+QjCtA04xOzsazzw8xexeZXisb+HNTG+Eczj+6/7mN3zG/DMwqLYWb/gWL/C88pvaPziLA80RbBtke+d5akn6uE734fQU/wq9BIHLMGsSX+u9x3rceAQ/PrX8GAE4NvsXQLImGviL8RjfG1i3BgGu4EtP2KW/8YCiv8Y49BvYhwq+xp7go+zg18RSDLUSkaGgDzEocJfgXuAEh+QB3/Fw+PF1WDbvBD8PH/MPhqUwOTq+RQ/uZuqKRHMbv8N+A/y6vQ+vpe4a9dbHZxENuadrP/TZTOBIwSo+08SnfENHQ5iml+/sYdgHhZvjqcx9ozfLbonkPE9KjZ8g708yB6g4FAGZxw0u6nErAGbgb1QzG7sR/8Dnr0DgCeI8xdiwO+BbNjZZSDz+/bh4DAz5/8/QrLJ47DHr3/9W376uhlJLcTe2M+NDftRjLP2/I2s2BB/89pB9us/jcH3YpZErzvKcaw7hff1GieWBrw61tUXfWeK3DYDOUzIKInVog/R7hW9SQRiEUQn6tnhS4KT7ZAXZM3p0ZdIlRXXuR6z+unuzpZtX7v8vlavCFmi633CNul4QVYZ6slFtFhiXY+gS5w5LFqOTTd4LGKBvAMekW08Dd02V07ZYv2opw7ZqcxD8Ib2+hKzf6lSadDbPJeKjHRjR3GbRLBKPtAHd+zQZNwr75Y16h02tMx33XqrDCfP1brW59PqpXnyoWhWTBuundTq7CIdX98hH3WCbLV0XK9QpHC+7H1H+bYdi9LdLixbw3cOJ54z1NfXbV2tzGhAYKkRr2IsYdq1HbFtWtvoloOtfTt88oBOcVH2/CrSpzB+bWS12DEsF9RZVqYdubmyNrWInSeumD8f24+5rfpBE16viWTmceT77d+LDRsEXu3oKdGaHd+SNxCdLxsH5FjIE0L2UXaKgOEo2jMl2K4RLKUfBi5pEZSXVgO7Xo2oPFFs65IN6nYKhVMkGhq0MyVFPgz/U/LzYcK6mZuVS668a0x990QQzagGR6u7bhNuwOjqa1fIQwCxFGobQ43rEjaNZTDROsFp8mIryBzE2pcod5+ME9bC/Zt543xIK0tMcAQP4qNCWs3/NnP2ThTJQKs2LNxXS43eQtr89WS5BRR0O4U9Zx8sk4/qRH2Yvu4BeQK2vDGv3BNC8jgeefHKDiKPB7k+5GAvq0MfyO1AndG5NmFre88dx1Qu3sRf57qtmsqMLrt+TFqhY50UFiryajHnzbhio0Ydc7+9PmFPawo0kPTBNshHSK1s0aIgFCkhsa5ZnYM7DVbZi2BQ1+Ioc0njmq/ULOQbMv93YMlO2i7PSVPTOoVCKWLNPmEbQ/MExgDVsTTNwUFRXPwmNFojUdDGVWvFRuM9uqt6tbpyy2S2r2Z7eDrGl4GJVhH06rZ7bpNlOcphp6p9fvXcfZJoqjAdsLlHXOvq4ib09ayAAtsw3r93INeytS8wkOiQfv39rtsXN2gHsQMFg9nq7LxRTnG2Ip0tupitygI1rZtUKCVNbF8jXFu3H+XbFnXuezfJWrVKtwd2aaoHeTu6BEXqugkFsxDERd16k9dF6XhE4O75tC4JfFTNlOsdq0mEP7QEO2VhBm4Cu+SC2inRINmyJhH3LxhbO5PiP+zsCByV8gMQncjy++XfOqnbbzcD/o5oRHg8grUKdOaL3UMi6J0P1FIDagqj/nej3EbMALtC8Jf5dupBa/YGBAH5G1H3KSvfFyPBxOvMtf8TZdSLlqjbJhoKVFtbq5x4XJO0LQlokyuLYsXokE16oo2XiA7TX4cZ0C6mdcSJ0kL4UTyO6mtb1IFfHWFkdSSub0X4kv2GXK2hR+fU1uv6eFw+vNrKVhkG3VEtparw82aF6ZybdA5zPYrYuMS/af65BV+WAlD33LVSxFWL769gISbM0u+gyyt2zdF4N2oH18tmVHNsC2tAnedmafD2EdXdc4O6G7q1kY1quwztGzCAgrKsDMGIyEX9lWh1C7q9s9OAORIBpSzQ4EoBdVbojxNzv/03KWBlLbvnTZ0UjquoMAgSirVS4IilBQkYpInXsB42LrnHBZWC5iKhGSkSXKueioX79mX16iYO79JdhFe7Es4iHyWmnYt0yol7itLk87k679rz5PF65QPFOFMQUUWS/cABpTMhE2TjzWi4CclnnnkxK6tTsVhF4ltNo85jjhdnjcCnigfuEZssxTNRgc9V++3vEnX9wioQmcZF/qoiSx+7+iLDvXQm2leZJY/H0vnnl8vFUDBUHuY7snOCuvHGNvn9TUqJbVc9ZjA6h83KIVXG8chWLyidBRTDxsTvldKcaRiXXdyqSpB93flKr5sWlOjCm9KVnu3IdV2lNVeIgEdmwEhwtDiWGqe79Y9My8VRpOhi5cVOVlknIqkd4MRF+mnKYl+iPWWqgrfouE2WsjtRBufKwqe3VSa1p4pjrJ9KFNyJzvajyiSW38xpZDkoqzJLGVwum4iY4xwKskBNHM4ydbyKwyLQrDNQeaXhNtpYuF7d/pXpWDIwwV7wI6IoSqX8ZIkkfXVDwwlKSanQjh2XKxBIRtulyFBo5KmIkPrZLigRFW8RWOoKdmlD5CMawKtC2pTOoLE7pZ0r7v6AyMhQEOPoGQqhc/NK1IpH13uRU5x4x86zhT+oXgo056RVwXUqyC9RMJgmrKjIQJl4ZBiGK2QYblcICDMvtoilL2gHwmG5wWCS/clWjHQzEBv9kRlbtowLLklKx6u0tJQFuwYLjrWdJI1LIGMvKdeisczPfICaDJAVQ/iWD6zJcnEvYmu6iDrKBI2PoZ5s43wGZuW+FBUVBeVmoLIcFIh5BBUKprhqz0FlJaiycnG/tUE3ZA7I2Now5RQ/TDmSnmijFwlq58eCuXve1EmByy8X+YfjDh/XirP26g6RefqKzwQwqqSFc5YMNLBXG0A26wUe2e+/RwMkk4ktljRq1cEFArTOXtgKenG0LrFKXLv2OsViBVq38X1yHJ9aQZ+x3qUAqWLd3ebdpSitHb1z/HQd0VNyTqxhza30j02SiKrSWORN2oGZ9MYYVAC/WH+3sC3ZZ5Uq0N6gwcvbRF6uMXqNISzU7ThKvef9Ih4Qt6wT9jp5vY7ueu9mRZhb3UysmJdQTrYGbny78tYUqOfEVn0TS8UsGCntDWPqdFydCBoksSqClWMqzD1jf0xYA4LN8od2aXjMbHfHBgYVDoUUiUTUt/YSGSPcsOmMNjJqpnGN2wke/ZNPFU3NSatJS7BJhMJyBtdq/cTiMu2xUIxSja6/UK7rKicbrVmzcE8fRl25Hr88jGkzhq47RI2iVGpwrr1sRMNetHlioczGMHn6or1Ol5BQp92d+ObSclFVm7g3ocaoZYWQiYjNaGzUUmQKYSO735Z9/MrtJALqtzCTTANq5Hjl0W3KanOVoFrt7eikdNPvjFrVFhYqZy4QzEL+A6BNmxLnii1RayfqbL3WggJYpoyt5L+ILZnC6lQN6EIWiO4sRgRerWOvYI2qQNVEBNeIzc3C0yRG0DqOV3JciCNLQLQMLgSnqa5WtKREPZBoI36tYkQ5ifZiY5tvtm2BI+Z5lzLV39+p8JzaxXYSecZM2MXJ7wzKkBouLAqPY0GjMQpyWxDZ6zRCAta6aZPot1ScWqzGhMF+/TpkDOphrcORO9/PrcT4tDReixHPEDrfhwpIEVyiUqKqSr7HgwGegCHE27B+oW6yMPxQy9L1CYYSkGhXMJY0Fhh5cyeFIzJCxrXSlrSIiCJctOIzNmb3sEAO1yqolQV6B3XaSYq8WNrbd+6RG1ToBFFidGexPT5NOJWCElm+25Wy02y5WmMzCjuZ2t3zPrmOT17Q8LZ3yRdMVd0cAsGP7DCKb6kVhUnxFPysHExlMiaih2NFXSzFoDDvML9zMeiBaLnmkCH1mIErnigX6nplYWna75cnHtTI7XsVbV0vWGsaQy1iwzrxYLWwV4v46WIvch1XZ/WclfTulcvOl5OiyhuPV0mmV73VaWrP3amcVFR+QYX8uX7tTvFqijO0iSWLgA0spiUpwPhYgG465wOyNzuCVEX3naSr+k0+bqq8VFnedLOyeR+Lo1LNIMM6GlPtHrMqh7PlI38Jp36qImm79d7LXOWfm3x+RlCuPlKUnRIUFkrvj2r79lGNN3s1HkCt5chNrVdKri2LeFI5B+Tgn8f+c5YrWqrVd+49y8oreyZpUTIf8tGvFWPkriSp6DR3m07f3S6m67Qhvl5/l3mYeApxluj0q0TdRcJBGWcHlElAUKxUwoK4OrBUkTkjxs3knazS68BMZKmpc+dqRKhtXi1hpEUmBC2CSrFzjVFbNXjEUEQBEr4Go6budpBYJNSb5wOgthZbpeMFChd5zEq+BlF3tPjn9WbM6KuXZ8ijKjsRL7rKVranVumBgKgYU+pMu3IJCraJvXlyeL/O53QV+C5UxdmXiuxviB3bEruMGWFvUcaeCmVm1mv4kq8pl1xtp1qBITeR53LR7zcR0saLRKRTVFeLwkKtHe9TvLxcdf35qi0ckj1SIqJditdgAhL1popYmXxuimLEVJ0IBGakWXHer/OYVIgykYzsqmBhF1RcLDrGBflmLMgPirFSpbcaWg0bVB+tNzuWFPOMZaHpt1WL1W3zaVaRWADX+YVVbtBFuTWa9+eorDRovuQyb3iT0UcR/wB4VkaOGMxusteoIWLy8CJ25F3GtW4JNPiQBS1hKAZDT7Hz37BTf01ovYVLOocSqIr7ttyeeMIHMW/CTW/hyPN+ms0xY44/9FGLB2c9wMNo/7n87RPGceDVg39jVgcIWR/H4iCvU8RfDpmlum/PyyZvxV4C1alc99o7KHFzFyge7N3gMZkPAFvnzj/wPLxwFNhR4ogBXgytwRoXyg8BvV5IscCCzpDxvH+OMIewiJw7gyy4/7XXcF55haxv/QDvQ48azcQcjOJL/0TkhgE4dACeuxfug4OC99kLGPMIty/PDBB//nm2fe5T6ODrHHrtJZ7sXs3BqnK2fm+GtBcy+dhzp/Pl0K/4C38mKTETViIZNPMo8C3z76fueIFDnxfwLK9+7ON8/m8G7vA5b5zXYw6+F+JwSSaeJx38WOAP43wHgmPfgl0bSf9oBOsQvPP439LmH+cba8AzDyw/wIvWFznbfTf9txsOgrZ0qPJ8BPAQJIL7NwOX2ulYHDoUJORrITRdw6s+OOjU87eTetHua1lHEf1bINRbyez73k37lveRxQUEPgDHH/Sy5e8/Ov95p2Bg3k9+BF5ONOJIosfUUkozVcdU/zwLHzj4Ve7/2EEi93v50nNf5n2vLiduBIjbsGmR+8B+8L2ODczkujiNrwIensUGnufHhPjDUx8h+FV4bbcB2QUC4LrwMvs4RJhnNwBh8PAQPuuX8FmTsvmin8E8mud38Il/MW4KvzwA33iRVzH+s3wVyp6Ep4CNACeYJ16lgVlfPZ7Qo9h/S0CQvBDxJcFdTsV0nPcBt/oIB08CvITWgz3ShtV7J97+EBTkw44BnKgXe9oCbwjnIw1EuJ6tfB7ue4zZLafz28j7abbvwvPNL8KT72TbJ6vx7Z8BDsEh4X7UwXnB4etf+iKPT4tPTXl59YcW/Op0bMvL7jaLSHcupO+ANSfDP+yiZzJGY//JzHq9nBDz4M0KYM24YAd4biccSoPUl2B91xb2n/U6r/AKXrwwDc4U3HSqyOe9fJkHsOecTOYOLwvjn8cD/hDgmnHPtSHkwfEveI14Ha9peH8zvyW4/6r/gp8m/BQi4MHCIh18IQimGMYRNwnp6fNBNAMzaiXG5pXYBFY6jnWnsK3NNrEHVpz1vYJNif8twaTWklAHTCVWmMm61gI00Ix865OMTi6KW2jYQS5b5bLZpDsf37dOHF9tZvikd9dUTemi883/0yxgpxfJiCPilrZNTMh1E2Em194q/KlGHQPCGhShHfJetlp5+VnzOsG5cKJz8j8J99jbgrLSEHhk1/TLymMBnx1CreuMDtPgzgN63w4TT4FBFMSv9fQoF0tdjiOGEDZqx9KJQ0nkb0MIxysm7pLxtOzU1JJ82Bh1UCg7or4bxkxsBhC2V9iWnJHrZcULtTZ8vPrWbVJO8vNbOWLc5kHGZM3vFteZlR1ovG+LOvZsVnX0bDH6HRWToVZ8om2jMotRn2dMjKZqYu2EHMfR7lN/psDqk3WdjUqshfaEhZrbfJpJXyc8yL7WoMcsLA0WXCIqjSezOzSHYbdF6rBYkwhh6TrC9crFMjpn2xY+nxzHJwuPQR+B3Lvumv+m7axNoEMQbBT4tXXKpF+CrcrDxs9YLm7PJm0JbNRW0BoLxbYephzzBuV5q2VWkbXIrOILBbZc7+QSnxivYLPSMavMub7S3Y1ycpDZhQXNznQQlVOupi1NRjXB0hgPR5e59uKChub7pS3WJkK2JgAfVKOT8lhAvh2PCZFZiDxtHm1O2BeGHJRiVwq73fQHyzL1lPQtcySZ82F8XdOOk/2lXNxEP50TZFSnXmW7lurm0orvFG3ItdGEPSm32ydudsWwq5at6OZtroYtS+7goNiR1EeTbBSO48yX33w+XeR17YRa642PD8tkKPn3gk/GOEa9lTGFznIGFBi4UQy2i6ER5Z86pCYf6j2zXmSdK9vbprW3XyVjpxw16dwzcmxaoWOdFDjujX1YHsgaGkrYIbbLoBCqlbMReYtRXnwJCmFOLZL4vZuEDvea4iO+x1eFMhLOHNfOeFTgrBA4PTdXeL2aZjrRgNAF78pVNNUR+VcLLEUZVqp7msj5oVi0LTycuFoWQLygIKHnXHxvVn2W/Cl+04HKc5cF9t7FYiPYFUVXmEnhHShekqbzb/pHEQwJB410GaNZ1gZ0css+mTCXI9p3b4nwWOKKPBnX+5URYvkg10XZzYjqkIJkzDNB5uaeKq83S3nTyHIxxtSMJWkUoRAhbV+CBsvfmz8/aew+6QZ5Z64UBJTXdqYyArWKERS0KlyE0ihQN7bKKBJvQaxCM5chx0Vn3rtV6VSJzjQVVYbNYLPX6NqvSUdN1YshrTaW3hHeq9R44lyS3WuvJ19WFoIq7aZDXlAeeRpmPFF3M4k6QdyB0v2oPj+hPorFVRSvl4WlfaAdO3wKBHaJhEotwgLtxGGl0BFWIj+Flthn2mYWOfJSZeJgFywO95ifmS9Ox1CjpKD09FSF04Oysi0VxYoWGxh9iF3o4qw53fZh+ggsnuCPJn0YSOwR7slP/p2Hqfv8xO8U5A2hzLnrnsS1YLFRP6YiBhEbEUU1CjnbtD3fFlwltt0rBk4TtWlaWGgiEzzrXuGMKz49rVii7sKElZZwFsvZh8YmEfGYDLrPUhDUxEVyCItCnzg+WxCVS5vyMWVf4EXubuTL9ynnlFzRXivn5FTlWxkqKgoKq1AUlsqAQwxtTmphqrBNuNQ8K0tuIfPX/58lP/n3QnsuxIyrAVCDlSMnz5m/N0S+0h2U25CmfcEmWVaG8vIQzGgcW9nki4KCN3lSOAriaCVxe9fKyjlfHlALq1VOlVoZUYRUEUTuxoTRyMWsRBPPJQcj3/6+RIzm+npRswL30oDXNDov6iMo35yFPkk8bW1yw2Ft9+4yk0IB6v/2lPwpC5HaCu08tbhrdFPgFuWtiDtPGLWO9M3dXQkY48I5C9TReI7SUkze1+xxVNGzZOLo7TUTlyfRue7ZZoxnY175T/Nr8K+ny27OEn40+Z4E9a4HeedX7q62v2+nHJ+rXXftOnIe56QJVU1maoAadTudwi7V6q4xhaNxbd3qletgJoSkidoDcvuQg1fGUOeXZy7PexJ53o6siZ3yePoFqVrT06jaICr0hgSrlT2CGqy1whsQ3jHRbovglGBK4Cizf4dqqBZUqp+c+YVDGHQZKK1/n5i6W+6+U3RcICjf6Hqdl5qqcs+kFvH5eB15vRmCDWZicTzyuK7xF3CDiWBLTuIZn8Cjalzt9K4ThERRlXorKxMr0gpt9qxZMLhjdLrXhZG74Qhl3OMT/k4TfMgNas7uNsIanc4WA9nu60xa/c+1e4/w7xZhVw2XusqutuVr9qmvqN94tSavVFsxUMoj1HUUQ8e90jWHo0Qyc8wCwRNEtmXLxVEAR0Gv8UtwQTssn3zDQZXmlmpsqlsTg52ivHR+tb81Y6uct7pijsesHMN3ZWEmIF+P6DhK30qSEhY4ibLJVhVVS/JcJJy9mgN3dNGVGFPiGuMyxWlUgNO1xu0Slllk+UCxWFRrOloF+fL1lKvTqVP/g02a6L9K7+q5W+9ii97FuN562R1q/PEndOOuPu3NaVbX8CrN3HatpmI/kW98k6zt24UnqnZuUQfv0vp1A/KlI8vyKegZVrAiW8E1yOsE5N1bJA/jsrxe+dK88mwPiqDf7D5APp+loCcoH648HseUqZ1oI7iyvAEFYVHbnG9DuLJwFsHS3+RJYc8xV9qcDPjHlOccrxtYpUwG5FIr6v0iZBAQvYFeFVBgtmf9CEKyaNTuJN+FtWvNpJDv8Sh3yYALiKzdxgi206BKtqyQj/WgrpwcdV34BeH6hIMmU/YoaIU0B/Pqr0J7+sIafPe1cgpW4kOvEKx+w2UQBd2KXzmYCu3pale1uzjyUpWvSXEnTdywSqR4xT1B4Vhq37tLIZ9PX0g5R2vdRlU6NSrv36oCssUFaNfcaq68W8HCWrmuqxNOOGEh7cPg5gOgJtDVpGmtW6eSM65UZnmuuKxd5IcVDO7Q3DZ8FQbWl9Ue1ji71EVILRwvuFNwibZsQeEw4qQM0dio9s3tCgT7NFlRo/j6Mu3cvEf+SK84AYMA2Y2m/FPybR0Qu69MKtsFGF5Li3HuSc6z5UeB5ipBqwjer9b+v9ffXXun1gW3KmjbYntwYbB0EdtXadeuHlnWVlGBAqu3abJ7rejsFMO3ih09Mo5Xw2rnPLUyJbd0QJxzp5qbvqe+wLfFuz6uao9HZbxXx231qTqwsPr1YNSdNGP8KSoQFIvwHtXv3qPwnkEx1SYGHNE5JfreI6MKylZb/Zhyh9LVCnK6EUXtaqJVFfnHKTcXwbC4clj+jjXaGuwQlGgjGxUjJk7BqGLA1JG3NUnV8sbExtYptOmMEGpsMO2lFVRNufa071EVO8UGv7bsCOjKrzaqdOYc9bNbtzCtO3e36zYMxr8jeooGt9+h3rJevXfDuNKm94hcd57OIWgFD08W+b8h9Wh1w8qTXYCA8rFVAGIAkbewiExLC2t8vF7ZZKuorciMS1FHQb9fqQSViq1UAorEY7JSU5QS9Mt1HOG3FAzGFbRTNRwIKCsUElMz8vnOUhGpujfs16m7UTR6im7dtFt37nV0p8+nmfabtfsd79MGZ1Ipu3bppJNP0tYP3inuvEiBnlV6R5FXZ9+Wpm9ddJsupUvv3N6ixtMrlDJQJnvPZWrbc6umPvY7fatxWm8ZGlKnB61ehWhvF/ZmsbpHceq0AcwCr+TNnhQyIsrGvwRGupKkCFztwdgGYIPKKVecbgWoFsUbhT9db7GRN4GKcG20uxIZREeJMjBQLgtUXW0mhblzzH1g4v+TyFacUTO44sgiNXHN0iIOkrQ0kTEpcEQl4ounKZwTUSBQL0hRCigfW+WckxgsVvq2XQKvCdf3BmQkhnK9yOegkyuSZ/U6Qb/yOVdhwqK8XHhczfSaBl0NckJxNW67TCWEVW8XqnbPuFJrm8WqFLHaFWtQXx4qjl4g13K1Jz1p8u4t10qwQK+DSlMRRIWTq8mKbLWTos3nlig11yfIErE07fWiNaSpEFuZ1QGlsFZQIOx0kWot1EMIEfCL4rNUvapPNpVKyytQSXuu1jKkCgYVDaGUtgT+Ow0Vx5Dfj1ElOOkGpz5p0quo2CHXXYLs8SDK8jUflCWMCCRQYgFEKD1R5xlJeZp7PqBFwVxSWaQnrgZVYMvJSRMxVFZarkbvkKjqUYFlKZdq9WMcneIgsMXqm+TcP6rUC4fl23yFTtyzTUFKRWBQxYOD8g82i95KDdi2CufVkZnKSkvVj7+CisYqVcka2aC9VKuMi5WXka7ytBUWNhkLSKV0J5F/MpSR5qg0WiF/gclTOqeI9CKzAt9bpG30JRhCZ7QSOtDBVjeVGvKjc0sQ1WYBUEiuhqoHVchakeFVU3pIZc0jYu20Mst6lFHapNzSDJXGSxXNyFYoUS7XlaLqe9GeixF7D4Ou+j+S9hg68S7kbVp+rS+IxhPhb31F44r2GW2Bm36tUjZcrZSaPGVOlylqL3gIA7qQdB2/HpGZruK0NJ1hWbqcDMVTUXoUZQcrtIcJFYMiGWmKZFgqxfS1bKdIOCFTdz5kxSylp6XJrOjjK9RNuSqzXZFngmUFMLvTwrx8RXJzZQ8WqnKoV81dgyotGRSrWlTroqoKtK+62iDI7kpCUcYQOW/2pHB107z+szKRwZUrpF8QNdv+9g4TxxijN18L6usz3pJ3Tq1TYHzBiGvNZbwfbWCjxklArqwV4u8mbdkzQF2WJSxkkS14e+KaRyQmC4MjbtX6dd+U4/iMEe+KMdW3B1RakiKbPlnYsgiqjZEV9a8Wm2TUDbYxuDlDWr9+OU33itLB/ADaTKMKl8XnXdxh7fdb8/r5AGjYXq1sctQJGqdG8BZZPb0iNUUWZnWXb20SDrLXJ9KyLVkbLWGZXZltWWblZNkiahko6RLDsQ1mVbF9SlwzKisLDbNOfia1dyPqxRKcLQIXqm3YVc6GBFFYDUopRf1YohjtavDrNkZ0IqjPcfS1C9appQUNDJj0faPoknaUn49Zrc15Odu2LGyBtcRPYcPyMq1HFG8wA3QJom5cZneTuLeGJLVKkRZBqgcxk8aiNH3z7cUm4VW8HtGDOBGNjiJ/AlbYb/UrWp6iYO06DVqucjZaak2uw+RytUgywBs7xICFUQEk7E9OJmLNsKyE34vVgwqOR02+zWLsGqUff7WuvOYaRa65RjtaWzWydlCwQRtG0FWrUeGZph7WUy7WXSDLdWU5lhzLTpTj8gkhG9RlDWucoNgYV589oH0bN87n+aSTMnXNFWt0TQidR0Q9nVcorfkqbbrqKm28aqOOuypdV3Rfpdb1O1SFgb9ejaVLfMg/jix707J3/l9Ll40yTsPsUDHOlxYGoEC1OZcDaknUV2lKma7sv0pQIqhTa6Kc5tKLs1792IIN2jI2pg0ej05ig7oG0bpWtLN8vYZwdBPoM5tGdfVGr24DfXnA1Y7wV7U++3zZb7VFHtr4Vo+uvmtUq0jVlf3dirag9TWom3ZdR5au8KDV46hlY4rW2n3atKFU21itjW0jys1DHbbpz5Zl6qvYstThN85zto0sxys23LmsTN7cSSHMPNY22IiCK8zAyyQ6JLzGUBJuz1agOkXxuDF03nl2lwLzIfxsQZXZBscRpGsXiVl6b6/RQSbxmNQkN+7skEbXFYlpNN2UKqfixPm4DAsSV13aRo3UfFtYRgVVsW2b3LVB3VNdo6+yWaN8QKtZrQj98i4xGFmU6kbuk6EcmDMudyot7eQV83Q4CYGuyQmLeDIVh0csCeT99vNulGXZMrhyxLZaESkRg8PK9DQotQatt4qVQUC7qFJ6nq33nI08LrrhvAz5yjepbMuE9nKjOGmnut/m1wf27tVdOIo1vlPc3CQcVLM3Jpw85VTOrYBLlUaePPmZKr+iQOSHNbfjSpv3T8gTVCvKWjUT0VQ5GvCgm0lwWvlRRshWGqnyElZ7RaF2daHhzdWqKC8RhFTpVspZ66gmhioctG8aNRETI3dpb+6l8sESP4XDsE4GCsXQe5SaN6ysrCxBviKRXBUVFKgvE6Wm+gWlghpVVblynOQ4FpmiJl1Ypu6cSlSZtHtIA9HjVVHKoEI5IXWmIm9C9x/fkiKn2zVtcs6HxbbVXlWl6nQWFi0hxBTay5mCxQZl3oq4dZfwerXXg5xoms5rrlN6A2IH8q9CETtdpJbI44motKREa0tKVBRs17aiNOWNoOE8R8M5VcobrtFQsTFCDnvRTaeh8fuK9K2da3V6S9VC20zFqGkLUVku2nJeiii3RaWrOHHVpqerP1gle5ut3EqPxgZW65S6Ru2prlFKiaWMECqkUgM4ygUVJdKtBlmFiNybzIILdOPeGxdNhv+nko7WZHi1lXLVrMJwqmG88TdzeKbe0pxBXTW9BDyyBlUUmLGoBr+s4iGl5OVpoCBHzmCewrlRFQ7aIr9apDcLypWPadfdlWZhGwNlkK4aJ02kJJza0lEswwAWiuPIjaDiEDqBqP4er/ZZKJqGStNdfYIZvS09X1cQ1aejqfrQ9QX62HvX6tQwmjkXWVssNe3dq4/Z6FMTqPgaNOmi6J7l/eZYjiNHy0s+6ofhqT/AH/7AK784yr01gA/4j2/Mn3rpJz7g0HzIgQ+9dz+v48dwqgoIG67952A3T/MxQsAs3HcQGlkUECrZVcF+MgXvV1KBP3Kw728Q+viyCH+s7+I/H/kDdetmcP/7AAcPQujTn8YG7iXMq3yeh/k8Lx/mc0QqD7j/CPbX4XXIBap4mW898xEDAX55mftE0mEBKcDz7GeWL/peWhJTwMVPBgf4/Txh5Nf+8lVkCXaGCX0C3vriALeW/JZHC9JJdV7huRB8mSDg8HFC9Gy0+NFPYPYgfO4bEewDAYKf+xL38Rj840/5QQP84PH7YMiGb/wMLvk5+CEccsHy0Rc2Lgc/JMgzWPj+ahH6UgD+/CIexNt4hr97JsQz1suw6yChj80yyCSP8QyfCf0CbKhjN9fzCW54bSfr+Biv8yzfJUZPIMDjT0F6YZingjZgE7JCWGkWYQ8cmIXH7q/n19jwtTO5r3gPvAs+cRVJdLtJzhGF4Cn0MPH9CT5j/4x4QR7+Z9NxX/PBX7y4jk3A7yfV+yzeWYEVhJcChAoseChk6ksQetXLy6FD8+3JCkGoC+gDfgE534Vcbwqv951A+ef+jRYW2Oyf+/zfoDVRtXPuOZbFT0Ih+C3GnwPTLvgMfCv/e/SXjfGd73yQ1NRUOjo6+PLVXwY+DmACxR94kU/rrXgPnQmfDLC3NJ/7Vlcy9S+DFOLlV41fJJgdJ+25NiZ+dQXVadDos/jKoRB/SHdIe9wEREy34Oc/hh//+x+54Gd/5pGuJsozbej2UfVTm3COxb89KQ5mncVrL/0L7H8BDgR5LhDjuGe/w6P+DKxPN/J47FNkTa5nYP9PcDjASxvOoPjdFv/0t1+T9i9/4MTzYf8vNnLPN54jd+c6qn51DZ+b/CxbP7qVZ/gKv7zvAYQO2yv+V44soB74DWzbtYcrbv85ky5kvwi57fClZ+Hzv4dQKAVefpml8T5PeSLAK/e/ignNFqaXH/FIHexpgB98EOqZ5sxgD1mvvZ8nnCfJSB2gyf8MT576KrnxIu5/zMd/nvIDvFeUUvztDC57+V84ZTc88jG4hKf5xIk74elnueILvyJ39An4LHzumt04hZ9j+GezWPeFeW1LB2/73H/wttjjBNbH+cQnX2Jn2ivEn92PZW3lVfcVfO/5JM8//6hxf7gPAh3i91/4OLs9fngwSOjBF3iAzfDRVOCDb7wcj3mn4OzWwApwy6VigfptDs+TbqH8/hmVM6fvXg4hNdbyLTLIoIIjvi+bszTMoKBfnkhErFuBOdF1hWUtM16uKPX1YvtS8r0hUZY2HwDbggXcdIK64PBpRgTvEGQLD6o6iYQxcU7C6mlcr9w0EuXh03tH3mtWWR5kBVFgoleWVSB3A5pcovbo6UH+tcgqSpT5NfWipkMwtqzcjUEyYazvQ1xgrjlVyN6D2kHhQgwbawcyFABN8tMre+C9wnKEd0B+UD/NGmCBF8aHRz2tKB7zaj1oBKPaa+1ABE0UqznDXw/IS40YMLDZWmzVJZAiA7ZH3f7FutxFkmhbHjxKI13vHB1X6qkY46sHGYbYAdE4KdYg3mlWe9yAWdlvR856tDW8QtoOZjecwMJHQGs8rgYHkOPBqJLiiJbVWhZw/ggyODgo1zWqUsuy5v9PFhtHffblBjnDWu2xs4UzJQ9x+QjI43GF1yPL65UHQ8MwAGqsSm5PhYLj1djo6MyaDJ17Vp2+uhPlbUsV60ZkV2yT0zwtmFS+5VO/O4fAcsSQR560bSZuSSI2Ah5XjmvJdSy5gYC8bkA4/QKPvD7kcQ26xYqPydPRoixvqprwyMU6MqLpf0vm2zjyeLyJcjV9tdNBl9jItm1NTV0paFj2/FXRdF3dOi4DSW81yCzL7MBdyuRykgJ4FcCSC/Lgyocr1+PKH3Dk+E0btv22XMeRH0OECKgZVOf1CI8rX6GlQI9RDe86zyPfxlHt9nYolVs04dmqQizdusmjtQM36LI15bLfuU6Xp6bp+mBU/Tf267zPpQunQY29ZVozUKBRb6u23bFJ7Dpd8G1tHyhI9PPliNFjGuuPeVLovleF5WXHVDmF9cwPoCtVXKSwXimshPBZLGmg4L59sliCi04WHyLTFVyhaWJylhDiZV2cpQ3r36+9pJpt5N0ZIv/w9ATpZ25X4MGxxbjrDVki8wiMjIyLUPZ8IAtAOQ7yzMz9HhXkKhBEN70DhcNzpG31ghaROSQC+dq+PV/BkKPCwqs0rwd2ELnGyLnSuwuKkb0saA8aH0fZSf4QOfvQmEOCWsJIaSnq7fWJ1F2izuhXPVE0nY7cvCEFqVIamYIC7S28XZa1WewtlLMHNXsyVL3PBNJpBdWBTjopSwUFPhVXXqzCXX6l+AdV37xHZMT0/ne8Q67rqqbmJjWlpqpvy4n60FkfkOO6mvn45UatMWmghhdiIKgrl3VQi9VJmwXnK4Qhcts3f75NaWm12rwJ7aNK0KF+DJxxK8n0KitJjsAjF9SciVZVoTR7nyg40YRczL5Tb4T36t577z3qPV4s3bVqnzIbe3QGRqV1YWFIxxVeKF/O+3Ta2AcV5516R2xaH5x01AnK34Ey8jt1ZlllgicnqmkalZtpqSU9qJbmdLU6KDLPx1QjQqvFdsS+fdqWVM5ZbJCPVgUJ6gx2qLJgn77EVn2IQt0bP0v3Tti6l3J99sKfanQ0ontvKNb6yb2aiaPj3ctVkJunELU609erwTsWEwu+KZKWJoJBQa5iMVfRaGKxGGJRv9vGNp3N2ZqeRuvWodzcUu3z9erEO5Dvln3KynYUiVyhWCw5fa9gt/IjeTq5+SSjfl69+P3xeIkitZ2yEm3MATX29SlYUzJvL/R4TlROTp7K9y0Q4hXsm0ujSdCsTJbDR3NgUejb5UG45sQR5ImioLAyREGKKIyK7GyRli5SMwT5Cf4tSyylqeFNh6RuW/CAPaokVkL9zOsYse1Fjl1u0v0m8lqC5Ao0hSsCqH4jOmvKzPYDh3nXVCoJ6KU775i2WKYSf21BTK57vbxkyMFdgBNivJwntgR1VssWtWQgZ/OU2DAjUlLEyOWCFm3hOnkWURW7ZvLwuYZsrNGV6yCP16MOUMT2ybFt860e5MHSoM8n1/YulEnUkfNOV1YP8rxto7YEgybPw5bhPvEjupknbgPDujgCKp1Cq3yYFez/Q4dzQS6WKQebedtRpoXqHddMTNtJGFArBE1qAGVsm6tbhJ2iQedqpVkpmrqjT96QRw03fl/nnX++2DqptY/eLtvj6D9+/YD2Hl8j58QTNfzz9wivR+4ddy9uNwmZ99RdJJmC5sT/qWJ4SKRUiC1dwrNgkG4EVbJVDFqL+ZqyWSAjTFpZzotlCX+P8JhBf9Uq1JSGahN5s9JPl7P2LL2RncLY4OBR77HxaoC7FAZ14GgaSzXDXjHUqxQG1eLa8jGgIQ8mzrhlCceRD9dw9LuOdlbb4uYpDWz3qXj7TvnZputad6u60uS9vKpGTS1NorNTnrw8MeWKE94qqNQloDJ7rbANF1fWoMHvBymVYUY2+ezr65PH45eZmFfJtlHUNqRrxYWosz2pbJ25+lyhX06RIPErVxNN6uxEee88R/S/XUyETNtPjlBWXy/OahLrLlHpdFDF43eKAddEIqvZLOhR5plFurHfPeyEH4+jtlZLJYVrVVmGoEeQow0kOKNipWL1VfP3d4JWW6jbQTVbq3Te2ytkjSEyUHogoH+a2KjsdObJ6YpCYV3bseBcuRp0YmL8cRNlcoGLrp1Cm5ibHKbUgbF1zD1njSWNsxYa3ugoJTXZPpOvzfQpPDdmtmFAOq4h3zMLSJ+W0pb/L0wKEWW3tmr4qJ3AFtm7RZ5PrGtIzFqOaDvFkDQl7tvBAqMpNgqvWiVajYNXmD1qtjxyGps00IjsyoTzTQvLEDMD2RExXCvYpV3skrPEwax1vvPWKhLp18SWD+py8tTLVuGbw7avE6QpHA4rwF4Vg/o7Z5Tvb9d6e5OsYFjQoXDyCtV2lLdpp3JaAuKx9yv92go17N6mt57v056r9sjC0XENb1dPY6Op8D3I5/Np2y23aM+qawz6obZWtPRq7fYtyrsGkR5S2LLMgBPksGopG8Pa6AkbFUfTSvVQVSUia82Kp23hfG5OjnI3bhS2pdRRVL0dbVuN9oRLRfW5ohatummVbNc2pFw9W0VbULS2yqw+5py9EGEz+PpWIWoiCo7dLyejRCfc0SxfyFXD27t03obzRPukWu7+tWzXo5Rfb5Pv+GLtWbtWZ7S1ybU9urn/bkFUZtWPWl20utl0jGUBWVIQk1tFeVBk2iLYJuy4CHepjBbFE/A+H8izUjk6LEBV4xiv2uT0s7PFe4fFaQvn9iQ6LwSU6dyj0cAbMKCWoT0pye3xMPfZrmiZAy6MKI0sFSddb9qE3hND7buiqnc2i+JihbrW6utcpGvCb5d94ZhOyapVpKRHuz64VldXj6mXdUrriei4+t2ysOVpOE6+Lp/w+7XHdWWf1K5VH75P4FUQ1F7BshWyUe/mLDnXKWPARw0N6NJ2v66ur1dHFjq50RXNzYZaY3SDDER9p5ZNDAn1nQePfPjk9yM3PW5gxmHL1Fkw6f7SUtGYIVYFzELJm6hbB9NfCMiJe5QZuEJtc978lSg1ikpoEpSrNZwupupUGyzVKvJloMqOQsyxK2QpmeLbD/Lno+gA2ulbpbDnBrHVUkY2+mi3pckTQirORQyivDx0UU5cERIILlxV06RswrIx6EuiaONmVBtm/p0DrWFVWySxnlao8D0xDThmQUI6Cn7wQtmZSYjF1mZN8xZFWSVIOPRmZIiLCuX3Jiagpi2iazk68k2dFMbCqLbFsCk2HmYgcjGW9rzKVAVzs0VhpSjKkTecoV1cZxAdGxFbUhVqQ1P9/eIDV2rr+Fb1f6lftdtq59OqZkZO/lmqzSuWXeaoZs8es61bMinUUSiLYuWnopP37DHcJCDYrg4CC0EnMNQZLgY18QHQB2jX22bepk2bNyntvDSFTkZTuxHvTRMXo6yhUvW27JZlWeLS2sUwRq+jzJ/sUfo6nxgeVjwUUqGLqqrMdYsEqoU5ZI+REMgXzBIlMdMoU4OJa2lmVxKxhT9NEFOqPyyCQfUTUSFFYmuqWvvfpRtvrJVtrdcMF8hlgTMeSGyl46L4PJWH7tBtdch/KqJsrwBlZGQoo79fWJZiXShvFAPvDAZFSYkAdad2L+NxOZchWUkOjP0YVU8lZnJ3KNbuda8rM7Ncu97bI29+phouSdX50QZ1d5fo+NvHZDm2Lv36rxXedryqxsa0/aab5PHYuvtuE4OYuFEZ1jqovvowg2fUK4bCZlLNRUy3iKyIoFoFFCnCCjDhSrTz1qC83m3Gx2TSUXP0ZjXQIMbGRE+PcWrr6hJlZXJwtIdpwRma43AyWP/jNbMkru/RpL8AFUZIDDZh3Ujqyvp2i0WouTgJdtKElINWN6L2pgQlyl7TtqrJlRtMUSwBv929e0aumyEvKGJ5jWoQRApK/WDqokHf9lWr5obG+d8t+BRaphbLlInRkHSui8QO20iz16vKigqtWoV2TruitUuuz1WU2HybjCbaCdtQ+1pUVTUjswg4T8b/x6MrCtDatYuLXMTdAAB4T0lEQVTLZSbxty8/X1fnxZKoyeMaY4su5nr5dwzqdv8OXQey4hVqdXzGP6MYxcIojypBoWqDKWKkTH7/hIJMydj7PLJIIJLS08R602/bQoipfsGVAle9vEsjM7XCRh34dHlbSPYXeuWpr1Q0kqLW4j26vHDObpYmmyzV06Wy8xa+ZQ9na8fwySqa054Mo9U7ExxftcaZcGqwSfljEdkOqq5G2elpiq0/R8m2Ve94miJr6zTHLA2oMiVFa3IWJu/Jy05UtG+toMHwu2X/L0wKJ6xqUtfp+RrArE5X6gCpoD7L0nkbN6omtF5c5YjrThdtbbItS5tAlm3L2rzJ4LcTW2DLsmXVWYqXWurtNg04QFDDjCgjE625DDNYguhEpKGN3hFtGPFqPZtk2+iCDZZqLHOPlSBSM7N/quYcuJKDbzsWcm1bjmPLtgyhl7V+XLbPI+v6TeJsxPZt4rbb1eNYmv4qonHx91p2jaGtnTu3kQQccf38uTBhDTEg1q/XsBe1j6Ki9cfLBA0vFxtqEqudTWJ0VLT7RckmWdaANpW1iYZ62awW1vWy7A5Zli3bthLfZ4vAuBhOqLQc5le+FpYKsHUNaIPVpA3WVRocvEJXXHmlWlpadNnAgI4DGVz/JrF+vaBPpaVRXfi1DXJ8i3dc72dadlIgdgu0Yd5fpEax2KCuunK/UlLLZX9gq5jcpOyrstR1bocmJyf03rvulO04OuesX6u5+XitOuEEnXVTjxyPR5vufp+x9wyZbfWRB9pcQZtoQJSg3oErFY8XH+H+bmE1y7LrxSpLVvN6Y3jG1vqIJXvA0mlWgRr9TWLU0nrQILZ2sl7jWHKwDLfPRWPCF5C14f2at/ccNapbQNY8oZmlGmpUxjlayW9gZTGxC9LSUUfHgCqtFp1LpVzQessY40dBaetRD32CqCwrrNUMqxnU5kWsM++yrrG16Z/vSspztgat1QrO/e5GxSkLcQJWknwSC8JmlH8YvbdleUXTuFKL0tQzF3p1A1rjWiZQlm36vYVtfGbm6GOsNtlWjhkTqBHrz1Z3j6O0lA1mrGixtCl3g1i71uxaz2mRZV8hm0xD5mhZJubDYL8qI2FVjZt35eWtV3OzRw0Noyo8HWH3q3zd1aqhVoYsLkseDDkgbJqPWWCBsCxZlukHdZar821bjoUsq1hWoFFcayurLVu9nR26qMZWVaWVeGazfExojM3atCWpbIjqAmtEdXPl1UxSjIdShWjViDUsK8kPa9/6u9Vvu/NjSiuomWy1W+2mHcUQvd2ClEVccu7QjVoXyjH3WAvj3ps6KUSJyp/pV6qFnMq0ROc0K0sH1JOFMd4UI3yovhINFKJQK8KL2nejajJksUEzmBW7Ma4kjK5h5AZQagrCg/ZgK5d0eUvQiaehfsfoLbfEzfVMO12Z6VaCdsAR3Cxo0gjosr1RUZ6TGGw9ghSRiiJdHm21SkVVm/ZOX6xvfe4k9d6FNlgbRU26dj9wjjz3+rTvrZjCDofFVQGlOijvwsWN38XVHk6VMXwmzmei7kxUlhS4w+QtTWRmqsPyyZu+c8ETOBVxLsI1JFu5lblmtZiOuNsSvXsVeg96r2dAhfvu0dTU+xQOh5XGjDZhCarEno+IXX5T7g5ij1llbsFsf8tBmUSVSbnS0spVXl6uaCyqsrQ0Y7x3MkVFpsjMVDGpKg9m6cqSc+Vai7f7GWTIZmHlBijzorn/w6KoVCmv3ypPeUxXd96kgHucLk+t0nA96g2HddFVo7JdR2d/6PPKHq9UTlWlog1ZwvWI8+9e9C4HJ4FOW2ngKZJBpbULmnUcqzSBqzxQGblaqusvKkpRICcqN6tF5VFbRDONCqoSZbimDgrJUqRqvcgy0bPSKFVOWr4y0itNp/IjRs8U3pAyL7xQZ4B8dYh7PBraWarJon3K7asR7XvnnaKM2Eo2iocpUaBxMEE2VyWz+8gXeRNieHj5t5anK7vPUnoNisfbFCRDTYQ0iaHb2EmCAygDmcWPqbMYyNtQJD7bP6+C2ZiK0nOT2mVBudLeNylnDoWV6HdHmqT8mAVhJIL8qYiCw2gNslAgFlA/hfKlporccVG6TRQ1iBOPE+6tgl6xcYNIr9Hu0D3ybDtD7DtFRk2XLTKKlJKyXh5PnQmBmtGnTF+7SEvTqv5+NWzqEZSpvNyjrkEMq+nepHLIQFjI789UNGopEklXoBBTHxm5Jp/5LHFinONQqhGs1gDoqiv3yR51VfHud+vc2pv0gQ2Weu+p0q7RGXm/slZ5Hy3WKFXq4kalrTlJTJ6lvWf3iIHehAzI6u9XpdcrqFecMqVXrVZuea7IzxbxeOKdQc2BF/YlBeAis8e0wcSYEmNJ7HQ3TaTu0yLeL5B1SpZGU25VAw0aZ0z3kK2uN3tS2MMdgiuEherb89Swo0JrnWblYFQinyhFmZmY1XQQ9bWjmTqUsoy90bCF+kOWeuIBBZ2gCATktSx5w0H5/X6jItjjFbFuEalXwOdTPIhi1m75/SFNUym4XXSk6MSSLLFlUNyBTm5Ad6xdq5zOBvl+UKepE94pMjq1fmxEKecjtvmFvUp0bJBDhVZXJhqGH7nhoDwBZPSriVWyB+G1hT8gKnYt0s0DInCMQVYS0hpAnuTV5RAKJKJipZGqivYK0W08Ev1+RDCYoCmYm1x8gphOOCMqe31y2t1msEzEYJ47v6t0t6bW+DXAVnXu2qVbt2xU9x0xNbwtKkY2qfiCy3WL26m+NtS56xxdwqiuokhVgZVQZrsSjXNhEty9m8RAtF12cbr8L1wtSqO68947lD4TUkHDVo2ft0602bq7+W65lkdrdn9Ru6nRieUn6u/O+Xs5eLSDhUlhNyiERzexJEiLhbEFzMcuRtg5wt+rCddWpQe1UJkYFJDRFwdV34Yilchb0qaWuXq1MeCEOdvCrgz5e3Zo685ewR3auPFCxeoC4vp3iYkx4VwgbkGxKHIJaw1+pQSRB79glTaAKmgReGUTXBSpzhvwJdm5isTghGhK7BQCq2WM5ltWbjNtqCzUoQynRH6aZCUF9SkGdfpYEjAnSVJZHI7UPy7sVLFtm/B4FClCvmRDrp+jQKtN+Nz5KGJRFpElLoglSgOKZEa0hzoFc3NF5TaxyjZ101KxyBH1DcnuY7uvnnqjGgQVFy/E7d6VgawRW0HeLlhtJvCU5GfXyMLo/7dh1F35JxVpLSMLNOBzZeBtEy2O6EA2rZqiT3ntQWE1qTQDrZnxiJmdYmZG1p49ag8EZNgeWpTesVGXtJYrtapUZGYquHGjdp++EKHSeWC3wu9CN/Wiyso1pu3vMsCLCXrk7O5UPHCHrJY7RPV1MouPE02b755UsCYo2CQWhWp1FcT75k4KXkLzA4JThJzKoDyslp2FaEDerkqx6VTRcqoKetepZGRYnNqpvtQMdXTUmJVVdUQtp1yqyKmpGrlpkyafe6c+3nyGGjdepjNDIXWceoJG131SXD4qBlvFZlece742D/bp3VPomlimhtetUwHlgnHhTmivbRlcdchwC4U8HlmuLeIe1Z82oupcV2s6u9SXuk49I37Zp7Zr6tQpNZx4qo7bO6hdt2wQV7ap4v7tOnsrcjxd2jEH5WpCdKQYtY7tXYxUcRwxNXXExgkGkz+vQ97SKfxJ2GEHTTlJSKwOhA+lpaGRUUts366tzBnk82TQBDdo2n+VLI+1qMLnw30mdTif7ZXXRR68cr0+hbweuSFLTtASrR7ZuQGFCMjlOLm+4+TBKx8jmpraIncpKqd3OPGOhA9HLfLmzV33KiWtSKNvvVbE0b273q/dkSHlNaRr6GNXq7irUV9u+LI8eJRb9CvVVk6rq+pEXVf4a9m2o6GeBVuFN5Ged2ko0TBGNVeAOjoTq6W008XIu0Rl6nwM7IXy2GryOmyZnddK9bOtxzC7ehF0yes1qzWP12NUkD6vaVtFAXn70NtApZylMWtIHdvm4o7Xi75JuZhwjg1s18iceiiEujZ1K58mrcinNYnwdIpltCdz0inaA6LY1joWw2jn8PfHMsBGIr1a9UmvQcglonGdf+6ket6SlKdhDl9OS9+ZJIUseDYDBrXVdfMxDd5vWI5xMnFw5idi22a+LXstZHnQ+flbVFKS1HddVN5VrlxyBS3yEpHX5xMdHcrYO63mFVA8b7ScltUJaDLx/7jHoyz/AstBS8Crk4dQMGTyP/ftW0EhXOV5Xb1zY0ihWEg4AZnF2kziW7zasWuHia0ylTxGlGgXq49prLckiWM4Nv/LB9n1/U9w/6VZpJ5xPx/5yAmMPvctWhuP56Gr8/jC1em8mv19NpdH0Nc/xqvuLF9PfZ2SXz3DbHqIx/Y/xewhH7kl6TzDY2Q/UsafCg/S+pu/8lq0Cuevz7D/4F94NnOYrPDD/PmPL2LVxNH+35P34ms8/nQ1efkuf41A9csVZD2eSeotX+QPZYOc9advcOCyizmoEJ9+x1cZc+uQ/SP+e9UZ/MPv/orvm/mc8K8hQhUXk/Hw43yaGP9+KEjuo88wW+Th54+/CJ7HKHoYHrXgkPKAxxZ9//IzOYAH+NNhy6wHKMV4rJpCLkykkvBdDofBtsG7Gl76LbnZs6Qdep2H/7SfUOZLBJ+DP6U7ZL6eSWh2hOfsD5NxEA7N5vHblx4nr2ovj6V8mNQfp5JHHk/yBF6ehuI8HnvtMcrDcGkmfP+HkM0+SqY+zMdygM/eSOpIJg888SH2HXLoTX+RWz5+kN/xK+BS4GPAIwsfEgfye+A/f2Da3n1AJux7CT78SuIejw/q0uG/HqPotSt5lE9zKJALdXmk/Pz7FB3o4Od8klC4Dr//CZ7GgteysV7+JUVF8MjrwBMYd/HHjA94JqU8x0s8W+0hxyNiTz/Bfz9RRgbP8jjPMos3kbmnyHXgiepUZKdDVxvc/wk4eRZeziDvH58nMPU6rU/38YlXH4XvP5zIdLH5ziDgK4S//RkT2u5wRxzjLp9wYbeBF7Lg2nTs6/+TZuL83puFv+o5Dr4UZHb2Tzx/sIaCx5+gApdv8holZBPmt7wE7M+F15+AlNIbKIqs5etNW+Afn51/2y4KeZA/8xqHgElo+hZYz8F/HCGLKxw+34dIa7yMx3/xJOwHSIO2fnjFB7/+GHOtuwpT7j+mD+PjbsppZgae/Sj87BA8B2zphk88CTxkSgTMeQBsF/KvgT89APz7G8vo//qRBbSQPy7cUIhHPvMZc9qGtII0DvzxAC8QBp4BdxZycqhe6/L2Dz/MncD43r1c8dxHuHRQ/OP5u+nkEHvy/pt/3vInPv6Vp0l92mXAX81DL/w3s/v380PAlO1BiDwDVia88IQBbuUB3wP27YMPf5h6wBuBn41C6DMQKoDXHzce/y/PJfPYsg96w8exDPfHPCk0XObjbx9N5cnHi5DzrzizLoc4iOxDuH6L+kuaGXnpJX7xi3Ke/bcsXj7wOtELXuL1z/+MqU2nwFe+wgc3P8VDPARAkCADP76Mn/7Ew8mfepHH/vXn1L7vBzyYehYdBXX80xc+jOeUaiaf+zjPPfIU3/7ZyQyNhvhpCQQeA+uTUMev+MTI1yj5Wjcv8nNe5jUe4iAjmCiRs4AsF8s+iGcWZrGwsDm49RCB/Ru5+Ltf5xOvRihQA0OHoryy6fN8+yur+eOha/jT7PqFQgI+gMOp80QUwIYb4bu/hBc/dtgyK7ccLGuW/z4EFGFibv5L0g0lo+ANQfABeBTe/dwgz/Q+y33feoa8NY+S+xtwW/08/cJqsl//Hr8NQNtzNgf2D/GhP36dUcQ/WbDKPpmh2Rq+zf10NvyMQxvfy93fO4+i7x8knY38lG9gWa9he2xmX5/FHR3l4Ne/gWVbWBzk0Cwm/N9BgHJCQC+/55/yzoH8f4Hn/gVeGYFHvwXWrAkp+HoLeFbD2CPY34nAto9i/XaQ2R+WAX8PzLKT9/Np5yzqrXLW6e+4uedGCsb/mXTA+vdZnpvdSvXrn+W734EXVrvww364tQG+eAc1z7t0dE/w3z9/lJ83T9O/zqLu+gf58DdaeMKJ0GL9jhf4Ag+rhtnZH7PWDz88rYn9vqfgm6U44/vZ/Dp87rsjDP7X40y99jIvX76KR1uf5PYtt5u57zPAb21jHovb8OtZEzbys8m1aLOwwKuBrS9gffYxJkbhgT3Ayabc1rOeb/EEgVgzZ5zwX1T9KYdv2l/mmY6T+cJFnwL+CkwwSTtFXM6fEU8PwAvfh8e3pfNk5h744AdhdJS+z3+J3xw6yF8dkdzkTEu0SJ64WoC/sZWHF2d60THJFA/yGDY/ZZZZ6DgN57WfMMu/wy+B2SHgm8wtXSDRHmZXTg+ADKAaM7DNH1uBL4B9OuizoDdhFHszDi+w3oYHTT2Ojo8TCoV44Ikn4OGH4YknsIHU1FQaW1v55te/DnPDokuiX3iBg7iWy/CQ2P/1A7zsNNI9dojvvODlZy/8jC0vhnkm/US+/9B98Mrf4CrYeu9dfPaP98OG/WB3wBfuYqWFh5V41QHHi3tIHBRUsY5XcKiwX+Tf7/w39n9vjIFXX+WfHYfZLx2AjRG2fuZVPs+DWI6NNbuZVc7XeGpiIzVfeIXvXvxdXvrWCE7oQZxvHuDgrMuslnIArXAcq/qo5cc/VkXXNXrv2GVafeOIbuq9S2NbtqrrqhLdene3Ui4O6NxzL9Xu6W3K+0CK/LfEFczbrECgRFmZmcoKBOXN8oosRDaysixFolmKp2dpujeilLEm+VLaRE1EGRlRFZQ1ic2uoikDqrPL5V+HGA+o0qpVXxoGQ48xPleCxsnWJBeovtzRUARdSIOqCjxKr32X7DFbb6NZfUQ0wYSIFmoqbb2Kd1k6fs9eRTZElJUWVUZkp4JWTMdPn7Noq2dh6Yyl8SRm1oj4kWwKthoadqtxDrFUmdiiz123LDG9RqzyqQxjQIrXb1Wzp0qsWqAdTvOihnqM7eN2RLhFzdTIwuDngzE0dV1A0wlDk28yR94Nxh+kGrSWiKBb2dmlGr5zs4jFtXv3bjmOq5LpaXVvQwQKFJ4eUaVli+Y9skl4unrSRHtYeBoFRarmA+o+p0V87GaVeGIquilNFed26oS2TPWs6dIFVTPqmdwsCnYIvPo+NTp76kLdeuonVLB7l2ojUXmyptVefJPqT+rU+yuj+v4/oJRaRNVp4o4PaVX1x0X6oDju3cp8e7nGdiBuiirSf4puZ0KX0i92f0S9J9yvhnOrtH79eqXRoxBt2trXJy6/XK6FdmX4Fc2Yo8yOKmbFlJWZpbS0hOE3g4STnvEJKGO7GvAtMLbOy5BSyFlQkSSuR70sonCPEJGFpbZmU3bpoAwLHRdGBk44IGMTOlywqjpzPRpVkFE5ZIntDcYxcv6eBrEEHeQHeYgeUVURxSB+9jQn2nBdnabT0406dOdhnps+iprEYbEfAcj4mvjEmu0LRIH//yB+xElrNEc86R1fJf9Uh4FhJyhHVoNqHUet27crmLYADjDl4BG8U6n0aCPv1bs4TwHQVA/iyqgWCC2bBZZhZQ0gzkRRT6JufD4j8/lyEnW5SoBqQe8koqq1t+vMTZcm7okIogoRlhN1ZMdiikSimo5GxY6IOD+mEqLaaFm6fnpa7wq+RfGpu3VlzUe0Zeg+2Rmni5Mu02hsQndNow72HtNYf8yTQmNTv0o9aEdeteJOtkK2o2g0Tyl4ZIzH54uqAtnj9+s93Ktx+jXJpIy+wSvjwGKgUdNUK8S7NIVH0SgaL7XlrasTgQZRaSntnGlVXFqn2zc7uqquW9UjJfIOI/7OrzKnUp0pzFNQdGIQNkNkagNZqilBfWFUQK3y8lylpjaYilqB62SZnL5L+DziLXFjwEsKizeNcaTa1ovodjUx1KY+vKpnrwjHda2LOveRQEAgttiid4+xS4BmWk4Ug0Gxo0NQISYs8YGEMQwUnYnrtBo05skVDVmJBoEyPKi2xngpznn3voMFO0XAE9e2miTdYVaWyMyUGQzdRN0cL3iX2DcqJhtFf5OIoCwXBX3bxI4KheLDKrMKRdslsk8MKOqimRM9outEMXOxoFMVGzZozfb3iNx+FfVPqaAelV5QrfqwV9CuiooN6tjQYSCcIdSdhcqpVa+1Tf7041QVK1CKz1VdaJVKWKcm8rWKfDlZ+XKqc5QXiag15JGVbyk3Ja7sDBJp+UUgJMhTSkqmYpalUG5cvmyEjXxnpyhg22Jznij0iFOnxGmVgpNkILeVYudOMTQsz8arFR5aXO8piTqoTfx2QO9obFRTX5PYYtBcBVgiGNOMF9ls0nRdj+hbJe4cVFF+vvqICSw1NKzQrgowVOUENO/4lyRuHgoPVWn5hNGlpaiSFWUmU2x6n/FzWeH6dKLf0YBMVLnPidgx9AeQcVzzH9O98bkB+NT/jyeBdhKwY0Pxf+82FEgK8lNXgFYtCjc6Nz6l6zx2quAwERYdx1E0ElWDL0WE4iJmJfppSeKeeoElGspkHPzMc9Gk/jpfTjgyPgaL66EYFJlvQwGRkq0NmzYo7f1p2tVm7IszBTPizq2iPyyndlp56yy5GeYdsbk25bq6+Z03q6F3QESiwkXn8WZ7NDdM6JRm1PNNW1U5m7U2HNZbR67TBJmJQr1aTBQLe1Q1pKkeK+EANecEteAMZWMJ3MOTZtnGb8BNdNB5bPVh0RG2FmInYJyaGg937+FleLMt14PYOmGMWhdVidNPF7YleyyRdwthZ8m2uwyfOXHROyQ3HVl2Uh5t5mMZALInioTVmgizaZmVVjJpoD2hCRdtH0YGQTMgQLcNo0DCUDaHNZ4vt3HEhg1qGfUuiwGxhouUyi0yDi73Ky3tQ2q/tkvsHdPklrDWXnihzq69RK2eC8WoT9ydJqwbRMWNCjXUaRRkF+aZmBh2s6AsEVw9YdS2bVnWcbKcVlnVKFaMui2MM5gP8VHE2zPkpU13VtSIa28To9/WWYXpql8VFQ3f0kl5b9UVfEeRslsVvuASXdfXp8zWy+R9a5uu3Lpe534SQ2TXViFq2wXXamLidI17PFpzxQaVno+wLZVNblFDICDWXSPIFeu8InKZTDQ3WzBh2pRlKWsyW11221HbgmNZBjOfHCpz5hKl9zaqgy45VqIefQlsujuumuGATl1KRAhmd9yGqKoXxcuhtlkZGeq6uG2FGA/rdSxhcMdsjEf0Ya4v9LNiGbiludfB0KVATAbBtvBMBqgNR3CpkqPiHUkmwBjmLx86An/P/4HUMI+MKgB1LBk3rApkLUNO2YpjqafrGhXHilW9NM0qFG/eqSvWDileskVDHRvkGfcogwxd2Nem5iA6g7BsejWWZ5kIkw1DIs9EhEz27ZogV/M7vrEjfcsuseU22Y4jXEuONdc2HRPi1UJxy9b1tvER84PG55915DjrZG3ZJ/pHRLpBVL25k0IMsyVKR7imQWX8f1XpK8oCYyd+TH7fYBpZpaWybFsQkkuO9qxdKy74mbA2iewuQVDZbJ+v4FUkfCeOmG5MLCHpIxuj/spmMS+PhRlA/Mx3qqysOWe8JQ3bsnT93+1V8MKgrsl9rzLKiwU7xKozNNOHMrbskbf8FB0/tFHH3Vkpb21cqSeliXi28nCVmVolfNXCqhRZtspLEN1FIrtOZWnIys1VeVZIZXm2KktL5b8LFWy2xN69Cp2yW+/b49E9V/XpnrEp3XMaaircq4xNtvZmZ5uBtBLh98kiRVlhRMgVpCsAimGLWKa8AZRKugi787QHZtUVWyinN6FttLaWK6MDkZutplUdyp2Hrb5BiUblCcSURprqQC1ZiTrbt09YKJqFSucoFkBuyFXntmKFfYgUlFaSpnhefHm6pT4VnZUij4soaxPW5ArvLxJkax5yG0m0FRYHgjm8WILTxe4c4TFe2hYYhzJO1HzEuoT4MDuoI6XpkPBbKSPJKc4W0QkROLaJ5H9DGhtRc3PSOR/G1wG/Csmfx/kPga5Mes6TkaG0445T0ONZzp8UQb5QtlZhVutZmMnWh09VGamKO6gc08azA4iYLeJZi8KQTifKrJyLNO8TkcRbZqJVJr2zfVhUtxqH1PQa7Wa1PANocPMZ+qfOHI1ntyqrrVbdoG5iyiBH2ZQoTLmKSyx5qrOWlc2bOym82ZXn/79rJOuO1sDHLNG5Q5yxRjiO/OQJaoyfQu8HhOVqp/8eEUCVN3cpq7DQQCddTADykSEdn7lW0Kc1nkl15GZp5N3v1r5YUqVcWiTfO99p9N5XXin7Kls73rPDuO17MWoQfIYyO8JRdzoWaJ/jqGfYo2qPV+ndC1teG+TzISeKohFLAa9ftjckXzQgf3CHorGotk69W1dcepv6O/q1lZvUFb1NHH+puHpY7y5CIzU1+kxFijrqHPWtWaNI1xwE8/9AktqGz4csyxV4hBf5oyER8Yq2iKjyaNzn123OSVq1yys8Ptm7LpSXQcE2nZ6C1r9nTJee9lEd/+mtunlVg87ccrpqkzyz/6fix9VyordWGcLAMUGq/Ph1MpcpLUFRUFxcrNzc3GVp2fm2OjdPKWBFROetZtW/TNffIhJ0DYCxZ1QcLn9eQVS+BIWDUf8Ye4bfH5WX6DIaE2+i3bB1q/AOaCWYbAmGXn3Z+zo4qo/DmymGttqSb5kqztbczmp5IHsEUTXToNCKdZcs4UQ6EQWw5Uv0twgpWsMW0xYDmWLodlHVLf+mMQVyLeHxy7fe0jvKptVzmldrdvtVcu6JckZ82r59QQV3R91bRF8i4FPXbq2kUjTfMNeeFp/v3pSqNXtrdHw1qtyGjrPQ8WSrlBpVslrpdKl1dUgpa/cte/Z/bVIoIOFJ+T+VXMTFHNWD8s0Sb6JS/aA2EN3pgmqVgnLo1iqvrTHPkDp6O+Q4jnam3mm2n82IKjMpDO0wBVwV9qjRsdUPRkfbgvB6dZw9I/DIs8YnT5mtUCSmu60dCxUZskU4LJ/HI0IhWd5WDQY2qxNk95ky2dK+RUFv8Ji/yynv1a037lSw4URtmhhWXVudCBi94rohVHIruvUmv3b1TSir4xwN3zqo7Sf7ZMUsjW2NqCwUkcfjkY+wjG7UK3xmlegFBZeoFN5siW3oVv3xq1VQNaxdu7pkNzaqO36i2rfVyXPyGpEd1fiVjarfWa1iGkUf2nnrxeKdAyL6dpHVKd/omCKVb5Pb2SPYrDx/UL14BT4FbeSN+OTYQXl9A2qzPMreZMtu9Kuzs0tdsIga4FjFAm2nWoYmIVkV5YruuIy3taWQL6TN+7aJtCPHIcnJy1H/7aMiYs0PEFn+BMcRFWKRh/ycHKlu+tTNrdpCl+pBOewQjCuXTl089WOt9dyp/CW0yiMY47gxhnoFy/PskERiCTK7jyUxwD3M6/P/t6QB1EVM61gaOyVLsFYUoG2FR2J0HtYc+eJysQRXyTCo3qyd5GsTxkE3BUtjbBB0iOmbxJ6NYk+ZtgS36oS3RsTwbRp60NXnbq7R8bf2yROblBO8RLZ3VIP+W+ff4b/VL05OjAvdBYn8LM6HB7SVuXgXZnygZEBmVzfn7FiiMFValTBWJ4trT2lb533qwnicx0DQ+783KaSAUqcRTjJ//bFKukIxj6LpyDAo+s3WMxvhyTbqqWxkZ9nKtDJFTuK5CMoOG8K0ONlKwWzhTgadlOGoz51R85yqZh/agU+D3K7eiyr1/vVGzbMGVMSQ9pVXazuFKmK3YpTpTCz1U6bS0lLZdpouDY0Y9c4exN7rlG47qsEQymVhUD1HY4u1QGVJ6o+yZfcUqoxalZI0MBWznMr5sGKJgbNV0pEhOytLjc1Zyi3K/R9MtJYWqd7mJAXl+OplWSnKyooqO7tG6enpisdRZY2j1JpM9fmLNZZ5pt7jnKZaD6buqhD3nCjumVHetfs0vNUV0XcphZs1ga19+9BOv1/+nTt1WkOZ8jqLlZJdo9WrS2Xl56ks2K1iO1fOmhKR4RctqxSv9SgNRyb4iU9ZFnKykDHCLiFr27dP26ZQeGkQnV0lyvLaCjfuk5VnqbS0VGX8zyaFBfGIJaFb917vk22dob016YY47nJUULuY+nwl2bo1Q9GoGQDGMYg6Q+GSKYhqgsXEinCY2CZ5iCxUTo6wUHpWu2JUi8TAkE6pFhwdp8QFYbHXIyxTjlm7bFneTOXkIca3atV0VA0gGBfl2do5ZOrOqLLGBaWKge4mQeBnk6DxeCPimO/05Zj2k8KCfWWZCtFKvDsxFgRYEhsB03eLECMjoid3BWr5uA4b4nWZLF5tp61HnszE77648opP090kHAu9VUrrylRBY7kquroEMZETkDXmqptrFcPVJNMinGtUfzF0T8PeI7TBdhmOtPcruzpdpFdqgC71XPUeDQ5OidZt8t0zqNO3FBiwSnBafadOq8R/rXFcW1WqMhflZ8yxDZe/uZOCZSHLNZVuYckzF13Jwui8/JammJQzNCRiRifcCcqemBAYPd/bStFb6VQzMV0McmkWk1nGgDmMiI6qv9tS2ijyDfq01jOwYIipQCNlJhh3ozOm1aBBHKU7qKMfQ5jncWU7yMJJbDFRBlnqZ60xLtU56gKdnSj0VaCLSNXQ2gGlpKCdmzZpk2e17nUeEBhe+QrQZQOWKlMnFlfYOpL04MvFttFkMo3AUg9de64zmN8WHN7wfjgZReAX7jqxFTFum3KY4y1yigRXqxW/Sie2yx0Z06WrI6ppR/b13SIzU+u9HvmvulBpbztf/WuHVLFlteo2tauz/Xo9eOr1ct3VGhr6iEZH71ZXV6caG9HZF/vVdvGA9mXtFf0tImiLqCW6bOF4hOWRkzCi20nGdMdesI+0YnZtvXPfsjki+kfFaQXy0qYNJAaHNd0yu5ig4HxBhgZc5B/CdDo6jlxGA4iTkgefYynbEbGIbfUcLd4RoGV03IdLy2beQJgsyeSMpi575YQTDKXOgBwyTH7bMfxY2KL6UlHTLhjRxMTSNIcEMYU+iMZGEIwZY2QCaWUvzROOUdOtQ46VIrPidzToBOXal2iMIjE6KicclkOKYFhOEYngWa2CQtmecW3eMiM2R9Rjj6itAF1zDfL7VwmKNYSl1WxRXQh1jqEzzka0r1MjAbWlohtuQCkpiTZMv8g8XmPnvU1rZt6m8uGLBFaijSeLLRhWFHQFqCEP1debaxNz95RhYKHLnj1M2eMR85TXyEy4BhXkzpWdhfCgDttWCyaSmoGTFpj3hBFE1EGfGkGXg7yt9eLcXLmWrfc6WwUh2cksu3VoLB9hD2nejrZSfi00egYKNKDxNbbItQT2ou8oANXiE00DiyfSMIsmxTd1UujqQmXXIraghlij7qZJU2BWBesRVofOYrU2RSJKTdBXh0BugvApUI5ytzUqtzJhpPagDbWor79JgHLJUWFgk3ZVVimWhurH65NosI0xrSiOztmMsqfRHvxqZbvKL0JnjCAaG8Td79DwlKNcZjSDWb3UcInCbFedD63y71IIV+cn0uwH9eEoEonIcVBKLKYmy9InZ0ye/RhVSiSMjnOWVNo+DB//YSrSAZ2R9LsxwfM/L5tsMbDg+1BE0gAJxlBbmC6SddA1LHL1TwPlBS1xe9RQQExOiJY+UX+j6TwzXkGOgnTrivjHNBqZUlbQlj+EhnPDynVdxSxk5QTl5GYqHInIFw/KH+tQqDRPGYUZmluZBfGpgkrROKfeKk5qyC2CGmGtE9N3Kxh4t6amvMoFDU0wj+0fHUXZCeNoMCHzEdZitghHRLpHFsF5aB0gMpEvx1AaN4EMlO9oUM0cQYaxzww2ykNQtWxTD70qTcQCOLxEtFh9kqFFxIc2Zhc593vmCGkdh2ZWgKlWpqH2vIXfThTtthNtavNWTZMv/NvFcT4TmwCEL0v4g6I0ongjZkWcj9iEqIyKxjHZPTlqsksUZZMauESr2Kr0YLrWzdkfQh6xtVa3FMyIuxF3o+maacNayrQ4fqfYkyI4UU40qt22rT3slUNcM14ShtOgwCu2RPX/a++9gytNr/PO5ws3JwAXOeecc86pGw00gG6EbnSju2d6cuiJnMQZzpCcwDTkRA45VDZtK4vS2mVblmS7ZGtLtXbZ5f1jXU67S1pWWaZkyeuSd0jqt3+838W9F0CHGbZUa1e/VaeAe+8X33zOec5zElV5KGETUZywT5SUCMsKIfmJNYlwKEHQFpG4mF8QiicItVuEHZNG1CkuwLe0ykmng8oJH101pURCpQRya9L5V9qFHNGlCVpa6glUdRCZNwlwUiieShmfR7M3bmXLtP0xbdIqsyFMf2cdmpQDyOOZek4yaYifW0S/1IxWV/BLDLYLx5lA+rQxl4VEjnJY0xp1MtqeFTZ9Vz4fide/TiIQ4HRz89FnOhVDuc6hZ2w1Cb3CMr6jgLBCEeLhM8hXgdqn6e0zY+Lw9WIyPFWSUFDUN4kxr55u66IQVogriRJisRJsOxfbtoltxLhQesFU4tA2TzQUsnzqXZSXx652cWdc9sqEX362y7bJP93FCS/fwMWLYqNbTHcPIIUpVSlVoU3O9Q+QaBQdJ8dwnDgJ1/Aa1QRFazjBTHGUpJvEL4tRFVFeXkz9egQFRW4gTokiXM5PYkUs4vFFCh8dY+ncuyg3l1yJ0zPi9OgFlibE5ID4wmevsbL6HslHk9y9I57zhZmWy4a2ieqqIRbzqGxDklkIXR0DHzwktk383LmDz19OHFpUYqdI9B6PK5dk1OiqAlSWkcO6LXtRyPeL8lBKnfaheIxgrp3Noqgg0pYJwnEc9Po5zr1xP45zhgO+lCPSiWrtrECusESjmlBXxqLg1qHwYf79ozuebol25SCtslcntoaDBHSWPe1lHHeO6+7kC4W/xAzmbgkT6HWzRaEUqYDoVoz9nTfxhSO0nbnCudJz3PPTfxvlxDMQJgmTWS4gg1qLeZPK4aCwkG6Jf2f7pChMing8B9XEDyHhEkQl8uq8CX1C6H2xPusQ1y45Eu9IFO3VsRUcJnBWXgCVjfQ6953rZLNJqGrPmEgqZPIqN1moawG7q5wuu4u4ztJlddIX/wwqWTH9SUKWD8UepDvxHJJFPB6nRmIlKhJ5xhy7NiFaqsuI6B3iiqOc80TWbJr2TKzMlsReqj+de5371cn782KsVMwGxPb2EHtqINFsczF0HtliNiZOnRaa9jNw1zZN40InRGCyjPh3z3EqNMb0h3s8UiMUDKLcOpb7PkNBnoM6tpEzR7f2aW1tIFDdSXBRJjlN3ZfQsKgcFa214u8rhagSmptHY99i7+s/w/vvf5uxl09y4vQS55/sRcGRm7ZjStyAze5PL6OCYqLawlEBHR3CcQyiSK2m79iOTbQkSkuJn9n7Qmaz8KBwfBb3v9GFggHU0oL28jnYZBSK6FKGJjcjql5P8IDa0ovC4zIoxYiYvCAq3QTqEL39oiVPLK9kI0Hj8szVgSDncgI0NYtxL1vhbV0U+tRH7cZrLC6+Rjx2kVgsxuKJRSosx9gcbQfXEo47hRbiOGEHTYsrVhFd6qKtuY2qjkrcx4dZSMRZdFZwNUdh4SUGekZ4QI08Md/Np59/nt2ncjgxc4p5d4yNonI0JlpbxeDgu3zuc7PcW3AvccX5sn6HjcLXDEVts7jQeprXNE3ptfvxjwU4dWoN634bZ86PZHFeYs0W12yHEVv02KLZ5+I4PizXNLKjYaTLHqFWBqumV+E98na7YzfuSLZtc3opjVl3NrJhhtZLNuuHsNxTuh5q4nipqBEt3Tl06o8pPj+AXlyidS9KU8YxfolpOWkTh8/B8aXe7dbMKc26To7okodMcpqs74/CKdNqruGjdzzTWXaWvFs17Xw8mV54lsJfaDJMt3OrFFgFPPHFYcJFBkpsp545VT9Xhf62PF/WafNcC2J6WviHZfw+o0IxA2k8zpm5MCbyEuJrazuEfIccmvPvMTNic/WK99nuRL7igzqRjNnTciwc2Sb4sVJocgyt5+IsLTBoOyR1Avl8tM48xBWVY1tifl5E5k6z5KywqDLkG0JP2+jRr3u5C0QwLCZP2GjTxXVd1k6vsSHhmxEbV40JZsoWg5bFlHwe3Nph0hGFjqkvRzowD8rx4crG7wi7dBGnQziOjSObecn4gqLCXurFsgqQPY9tr2Llmnqss+roPDOMfCcodRzGJJN6s6EBe2aOiqtJWuR4i+IxeSgsL4WsZ5rMcoTbNrLrcPwz+Hyb2O4ZHMehvrWJhvZbDd4z77vYInQ1h2lrgWSFDhIiOZ7cL9F9Js7CqwtUv1bFwGDvQRpbWzZnnAxnsnONTHPknD1KImWutIW1vXnE3Hcwr4wJq3QTTTrYoTmTItk2eTWOPHtrK05T08HnpaXbjT66dImXVcJ39CE5ehhJLC4u8tc+HOfbExPMSnyoIj7UJa6V+og54v2iOS6rgQ3lkkgkiORGUGshpb4mSlSOpRLaguPk94hmX5zV8SRFhT00N+fTX5LPabuQSHiYisFifD5R46+mbKiC4WFRXGzTOVBMV1RUboqmHqEXhdy06pSvER7a/5AN+xtcu5iH4j7m3q/kw/J93tMWs4rQ/EQBa6srPN7SggYH0M4u+6fuPajIi35hl4uLuogckVvlOW02K1D8JrvVg0xIi2j/uezfCmWcwm4NGrRQoSguEU61jEmuXChQa+gCqoswNk4LqZoav/k9IpGQQ65aCNWGzG4iV9QU+VGFQZfYjkNx1QAfJ6fwYUnI3OuTnb9J1o47pix6CKmCHPk8yHAJqg2ZHXCxCMZEaYVINJvgnGIpg0pcJnp81UL5n8FNiMqsnBd9JDXJB6d+hcI3v0XYCbNdvE1d2Wd58ld2uZRnABMfaJnijNgCBWR2fq7w1exRYTmoVBQXC7tI7HeZZxu/y4AsLAk9qLSJRwFUUI58tVS8dp7qiz5japQZuHulz6ACO61xTOayXxNiU2aHl3tBrNvL7KuY3V0xVyzqwkJFhajSRSWlJGURUCny+ahfPUHfcAfWiEXpbC+NJe1UWRalkU5UVIXqnkPrX8FaXePixYs4ilA0fRb9VC2V53wMf/gmrZOtnPyGxcSHr7L44TBPfyhU8zzbm8t8OLXHh5OPcGb9DPv7+0iX0dgl9idKcD5Y4kKOSCQeYnNji5dDpczneqknJdbWbPLyUtpoEqO1liCVm37Qc/P+E5GyTYk3k3UZE1xCaOMS2v8sBgzgoOA+etWivHmVmry+G1+nOj0ZWxIlcRmTrmSsBDkOKZBBpYz/MeplVKuXGJXYKBDdUXnjttT0+2uiNiomCtP3slXIhQPNdw6pnK0tET5CI2IkLFFcZCGnBL/8lKucUhntoEZmfhrU5hH6k7Ky27woBAIB8ryXjSqMKwff9AI1w6W8/uZpgqEg+9sBHFtsbcnkWf3iPDulQ2htlN6wCRSxF8VW3jgRmWTVv1r2DhP/YJXu/Ah/960ottPLxHgJl1TPvWqmIPcqY1faCYfE2KUw3ff0cfWqTUObS9u+2C4RQ0GxOiusceEP+ph3QgRc4ySuloU/C689QIXEF9a8St/eZtmyuL9RRHrEWmsr2thFfhGwAgZRM+xlaosJDZndkk9jGEhi6407180kOIqu2Gw3VeBvn0YPn0MPBPA/u4RVtW3oEUY70VNbaDaBNMt4VFi9PrJ2TgHv74YY245i9Y+i7W3kizLx5CVq6tIIo5hirGjl2OdplujMwE0baFyqY19vEezCIINS0bd7SGext4VvxUGxM5yVtyt/9FmCDa+xrkm0XY30EpVtJVS1n0Xqpmo8l+FhoTYRLxZd/aJ8WVRbos3vpU08IuMEAmLwCBTSQDwjmiaqKFFF8dlRfD4fEU8z1KzQUxn1pzSEOTJmMT3rp6ZYDEuoQRRsifmAKG91eKpzB1eu6SMHyXViGAfkOOdHA4xnOKEbJX5dKSTI84RCfay9IVQpAnIIplJ/zgoV1hDcGGA9IAqLCpl/c4aX7xavxM8yt+JQvF3FtjvOS/sjXLs6zsmrFvcu7TKnGvOsRWdRZy9qHkG/mp7gAhJjY6L83DyD/gBBy2Tx8/v9RK0wkYCP8UAAWzYBbRBUPlZA+LWM0zxKZHIQ7QSwi2x8M0Gks+iuB9Cbp1HZp4hvTbE5P0BB3RRzB1nnzmDiArY9anSh2DZ6xjLm2bDQmgxy6osbKLJ/MBlvSxj7/hrb24fb96ik2s587sAgHIdM34wLXbVYfmWMMzfjZhoVPkfYZTJj8CBvhY+wfFwK5XN27TUkw5uUmUvcUGf7aWwTld3e+U4birWbyPYBoUsy/9el+ulWxv0rOAL1zZCkxKArzu6IpJNPr9WLtsVUSIytiTaV8dOaz3qmgMe7dFsXhXPnztEo8fdl85Y+S4c6eCiwTLu/jPjlIFbI4kpoF0sez4gVRYmzhBw/CvrxWcYBYgXEbJkIVovxJhEtCDEyEyQWstgIGfPMWa3To1rWJUY0wqq8MPGD6MBapCGGJGqKhL0gtrdFPC5OnZpht/pxNkZEqE7sFhVwUgtZwWuORCLoIWFmQwQkIq7hWg+qibyVF7n0XDsXZp9COyVoSdTni/4vmA5cIjGtVQ6yPLXpGCK1w7LGcYEoQYleidCIw7qihH0X0N4OS8EwSTvlkxhHzcNo/i0Mj5GQFtFwBhxz1/vbJzSSQN0rKBQiNrrLd751mZKxNNbdkkVQQTOZeYMjFjMoDoPa+jKZ9ArGpJVEWqRESieUzxvxJkMfBjq57J0TQgpREhLTQSErlO6goRiW4gQVQCEHKYh8FvKFDtom7A20rLqKyjhUkzI7+cGbTxBSBZae5Z9qnN/Qb/CW3mK45C3mp6f53KkKWhfLzWJwVQxsCtdbGF6U0UriivMV/ynK7RH8rhnMtkTghCgtbOGS7xqO2slMv5opIZ0lcyHtlpiLRDjR1YUUw7L8BONCjuHWvzuVRCcgZJdghS4RtFzslTECD48S79kn3txIYKSNosoknftjtI/5OLcUZ3j/AoX7EbOb3RPJrh5ax64w2KcD/i3JUB30+kWBs4uz9gpDkSRSLkuLz/D7+V+k/8Iko9vrVKqEdZ3ibu2Q2BYn7ZPU7lXwhXicwPkNiuwiZgOzpq3Dl1EigmpjbC7vkHsuju3sEzjgTAod/F1XH2EFUDRkJscyGc04leQnN4iGwwx7k3tIwi+L8+qkIlTPQaL668iLPT0UN4bQWWWZXWqV9jV09JYy0FV1w+tIJhdKue21x8Hc8ySf1iKT1gChjBwImVKrQgYHnkZX2tkdKTBUKO3jqCOO1JNOFOVTBnItk1yzkJtxtZ2WyB8RO807WB3G0qDAABp3sFWO/xDdyu7u7u1fFMYuiUUVc/f6olHPCkW5JcIhUVkvHstogDYZyGH2i8SQQtgSny0VyQaHL03mo6SorRE+n+i4YHaEUxpkVIXkJsRCsBHLEoWFPcidRcm7zUT2Nx5G4TBFfpFsMIk03Mf3qHfzidd0k3hnFZ2rw/fOveQ74r4LbXSrl7Nz4ulvVlE4NUWDRF2DeMISP3tRDJ8TW75S3ugtZryiDF99AWanYd4h3LnL1q6ffRlyrC9/eY8vfOECdrWN7hPSDhoL8qk6sZR678eFXLH/dB/GIWzqISnhRoQvahaFeGMRCUvEUphiSxReNOrglqZJRZj2SbzuDZimhgmG7CFUIMrKnmN+/n2kuOlw1eb+TpPD2NQY8cQxTJoxHcDXQiHRXZEKs69Hsgk0icSa+T1fz7GiJKMKs5Kyf0YbTVCNxBX3Avl5N8g9nCPjEL3pRG4WhrqYMvLXikKdx5JHh1Eu1CMKQ4fPTdeTkQBSFVOFCeoPB4BVLaDKaSSxr6eoU9o/8LhSMQKeBBspyBV2nSgsMju1QokRvYelWlTUYxbYHGXRGhzIvtCZfBR1UCBAXlWVsX17KSOlfbTlogf2jPnIERcvxtnRGMExB51pxJmoYa/kERIlc2xUlxOL3c+1yTqqmxwGukJUT04QmAwYX8i4iEailKuEeq+/KU8U+gqRbVOan09SIi+/jnqnzAAnkt00VBejnDqUbyFVkJ9fT8JJkFCE5JJQcRAV5CD7EsbMkSSiSRo0Rn5uLorHKcypY33tBG1ti+TmijYV0uvVQ9F+JXqwB8VcCoLiVKW4mCPU5qDcfNRQZDSH+lTgXh6h6nKaGoqZKJoiVlSDYSLN9j9dlrx84yZq3F/iN1HWGVDgIhkzlG3b3PfGo0R78722z2ini9454TD3xGKcT33vEzpvrnFZldycIDCO6opQWTEX43EkC3U2oK5iJKNdbMsb575CruSKoqz+GcWY2Y6//n7GcYUKG59TUMgdYbLWTW/aJEwU/LpXB5dv76JgHD0F2KlIyiWZlbi0nG/+w35+MrVTlYWtVXYkloeH0b33olOn0CsvkftKDy9PT3FprpaLD0zxu3/627xysoQXh1zCbZ/i4uN9vGzNsKE1/qZO8mKPj+dLxbi7zNJSFMViaHLKJKJeWkB+PyeSYupTJlgpesLiU+4IXeqm2xpEepxcu5IR29jbHpVwbYuTtsWSbeBmvRLPWhbnbNNI896EK78OUEeaFMpbM407YFHcK8ZeXMSKxbAsG2kcnb7HHGtbWNZV5q0xo90sy+wGPlwzjq+udtZrKpiUiNfaqEn0y6JLJ+nxibYlh2rbmG1WJBZlH6jEtoStNizV4critL5hkBpzSxQVrTM6YhsHWH8cfeYzVL7yWV7pfoFXNMwrhRWMjQlZFrblHKjYy0rnfH1ZxqGccnIVl4hnnxOhkIX0N5EmkF2NgZ9md9REXIxnBQn1Y7LFGdhco+JIs7e0KEgyMMT70p+XvEnb9vpYR6t4sMobxLZM/7QyYaTmf0vi4ROi7bCTslGelmSxYX3zyPukNjKj+gyFpYXM9Zh6OvELSSamJ4ivCkWW0IKDTqwZk0+fjD8k8xpWanKaoV0RGuQwLrOwaMnC8oINLVfIsbEtB9sypGeWLEOgKOG3xaptc8q28dmifP00fctBFHgeaQBpgkbVM3DuaRZOOGhtjSUtEVIfWq3CGrdZTryPzoTQ0ixFEi/OOGyHFlm9sIr14hjVz3fxbN/j+OZ8rOkS09OfoifSQ7fqmJRYUzma70f+J5HuQZqiXj08pwZmBwdRVxcnBp7k1EI/eXn3MTJik9YexUnrbqy5PrqCoi73CjMvv8wrr/Qx+Fsvszi2xH3PnWBoyEUrK6yu5mDN/D0q/9eH+c3nVgkv/zKFH3zIi/O/TSQyjdRo8Pf5Mjv5EwaB85IWiN2ESrzOaqApw+ybGbNgSaxWVxuUkGTMWq7QKZFQDhPHRB9fV3oy+oPVhKx+pGnKJfpS/THvBBMjNvGMerp1aWZZNaafyMLE1/iM1jAi8w6Nj5qxUClWum87zcU+kstpxQ45fvzcl3eF8mQIqQ1bYk955EvkxGKGyjkvF1UmcStdKhJxCoNB8qNRKisqqIzmU5Goxj5VRkFnlIq6BJHwJNGWXHIcC39zGbG7/xrKwPnX1eUwMlJGubKjPAOJBI3r7yGV0uwIt6UUFeaaiVkyO+ONWVRVbiZ6iQv5+VgrJ9GecWqd8a5lnxGtXs4GJerQbDluVZjmjbP4ysR+xRXidg5twT2shlw0+aQ5dmwU1Y2SeLoPpyiD0+RaHtraQvkhHv2qvMUkBcmcRSo3qRJ33yT/QjNft8Q1CWmXKfmolEnUfo/CJBXkfVk05T2KSm2kXHryOoh1zJmdatRFUxUEWmaojGxRqRgnr/iJx0VB5zyf6fppnpJDVO3kZgyKCxIF+eJcUZqYK5njp83eRcozk+/rMo62w7mB2w532CjG5FRNSCKoCFI/ORJlkjEbZCwigUArjY2WcRAuN1O67JJbLuprsxFZF1WFNElY3mJ2Sia4y3c3evWcWUzkYiCu5pz6vGFKS58na4dZJBPYZlm83P9NyraOG3S5xPSIgQZuydRtkQ8l4uTniaJUXEGKpK5EZqebeY0pHeT+mFAfj+lN1tTAG21Cr15gb62Trm2x8YGI39/Nk3qDZxYdXi5+mZHgLNreoljivU2bmgfPU/3AeTbOOviv5RHN3UbWPtKb2EpwVUGij5SRU2ChvDxylIOtclSWNLbrZCOt55dx2lppbx8lV1XkF4u8xjyUqCPghin3+kOe2o1pMMMZnDfejuZdytx5cpRjFtaA4adqbDyu/rKlc6yTvep9Zlrm6HJfJVFRSWVlhGh5GTmWRbFE1LJQbi55eQ51vRWEq11y5cNSP768ShYSc/TbSaR+k+s6R6Zf5pg+W6FLOBnRyu2HnqFeIphfgYpqDr472yTCPmFMOHXZfqtUe+YKY9b5NmoruOm7qlkoIdq+atiTW89Voq4qqiXyVEPEGTtAMB0/fj6OnCCL0NDnzXWhkNk0yrSTIrd9UShEMR/O2nl2E1Xsytj5HQldlpdwo/fgwXZiMdz1t9BeGZt+EfacRNZJi88mzzN1RWy8J1SRQIE69HNChWK5WRTc22tWum1R2iJmn1CWfbDOl2Q4WEV1MEjSl7bZBmVMV5LodISvq5IjNAi3JC62Qgz3CP/XhGW38JVT97LQLl5+bxwNViGdRrF8ekJ+rLYFzve+R1Z0bVubaZB7vAZy9rBkEZ2KogsOUhi/REAJUrkPrN0CYpct8nWerZVTvPrek/R9Mcmk7xtUlE+ht76GJqOoJQ/pJBptQD//JeT30/uAUL0J7mqX0MPKSnTSK5MYfNFfxbK/mi6JvOpeA6/0joloBbsol1iZgSbuqRJHE3TlK02f0WsWz1R+WdcVOzsZk0eDMuz9caSnkGLk5IRYXW1lUGZxU7VQRsR3MNhDW5vneDzTSeUZH/nVorUp24l3rPhENKY08sT73paIhEVBcQGVlafJiqEolelzjhhM9rJzaIfv9wv/JfO7XBn1fEimvjbNglCW0V+kPVQRRgWmbVP3jypk2tYbL71OGCvaynRvDA34qLnQSe55b/wERMhv4jF8PhEssIxvLpa+5oHUvIBmR81iVXj++hTM/ZtocZyV3xSPtBTSvX+Gmc92s//hOlIzKtvxkFPNSJkxJ72GlDFFdhcRWulF2z6q3T0KVUi4PYwKRDAo2q8zqfklAlYMRdZ5eO5hahoa0NUt1F/JiZNFJJOvou0+r3+5SOcxmwk/zY+ZvAdf2vLh93eip0XnWjvDdgDdO4labNT9IsGF9zhrXUBlxehbb3uMCrtIzoHpKiWtEqGiouz4n06hPHFeESwdE1yW2Z+8MWAWkM1Dx9gmbscRZ7uiBCYterfOY1mip6cEqYQGibiqiTqjWClfj6VbQmLdWHxEFcK6CcrwNi8Kb6AzVYy6qyR0GVcmArdLom1dR2yproScgOEBl9KcPo7wy8VxhRMQsgqQupArZjXLqCxyUse6JntV/4pQt4hWG+qMslHR/i2he/rRyM0dRh9fSpFG2bTF/O4stm3xrdolnB7h3ucw97yF47jMrLd7g8nBVQC/bCZT1xjxBtKW6J0WyT0Xv/ysDqyhunykGRol2nUBaRWpHJ/7OdbcEJZclhyH4kALtr8LR1NYC1fQXMDY1K0NpHGTvS2+iCZc5opNx7K9zmtyH2S+k0lyVHeyhfo3H2bCtimy5rIW2wU55Mg4eqckXFnI56DP6EjilEx8fiox+kEHz2LMTLNROo5nBpsS8hlIaL9MQFR4RozavZjAtHRCeWvYBD5l3ntCyg7Qqxenuw6TtRktcn5GKCmmFMLVinFU9wldFbP3mV1cyjTX2moicm2Jh1pEa4qptlLoSa+POzKaZ473W7dQfjlpgro8UmaysMRJjSCV4cqjWM8R1rx4LzWhDAm9IaM1tekAxVRdLfpeDqDAKjpTiDSZ3UctH3JsM64s9yjVRqFQh0uT/QDldiVOQPi8/tDjiAd3Uonrb8QW6klchsqhWqgvgLRKoQqZtCfRxo3PbZRojwidcHHnXPO8s93o7CCO+xpSsaHjOBh3k0idaLYB+Uxd+d0p85w+MbYyRjgaRl/f8HIK+NH6KdzAMrlFSfoWRrx+n36vSSmNekpJSOlYI5/Q2iHa6mOkUuLTkvFpNYsszbOujmh7FyPPLqIC4U6ummA120UaRTURZmrT5s9Tsgl6fbTfEpqtwvjyupn7OBtZDxEp1bKmUXwpVKHtUDczc8i/8JfEklp89hruw4/jy/dR9kgZYYk8VTAih8ZbfZG4MtTsELLyya0UrSqnqKQEfyAfxymkoqKCYEM5+c/Mo3xRHzPIn64xcep5MV4g6q+D5T0sVRn/vyRjo35mUOg1IesU2RpFBdIs87n9DOX/Llapw+v98yRXhpm8r4CJzS9gKXOnaMSWcSDVS8aB602WBRLBF2oJBOZ5aPdhnqhqp7TU4nzBCnMP95pJpryarT0/4Q/PcXGigNOrH/D4xQmMvViofBSVzCKnD+kyWrnXQCmdMlRqUx6Usa+qB13oRPYyVRmaS1XQPFM8LuKto579PZMpM0CKaMyVQcqEwjKYezlZWeiOSJ9Q60UMf0whOifkN/Uz72yir8Sp6hBaFvUTYnRf6JyZ2Au9enTLRLFVgJlUu5AcqqqqKCsWtT6vLvuEWkW5zGISyySjqxSyvHY+az5f7BTWVRGrEB3hc1hbCyhYYybMNlHekv0eeXlpbHhZarJIUVE8WYFaHaOGF5v7uIpxKf8M46FqprSE9EUKlM/KYSfhS9VYtqislHFm2mK86tY2M2M6jkzxFiQklLTJGWqjbTl795jUNKHDi8xNZZmqqmLjc8rPR9F8pEGUuIKqfBRtlPFkZJ/eIpvCnR2in+9A+jxq/zyVQ1/CKvfxwHgrBUtn0xDgEqH4Dso7mpgo+ZxYteX1uzIkm5ckHtqsJG/qJcM95rW3HaygZ6ec9pJqLiwdjtKvpVTvYI/MpmkzJKP5DZj/t3Qo/uWQuDK5DvxKUqRVs9l70PTxkMQjEg8kEviScbq7jeYULBU7B5ujYhR3aYun4N1p8UsUnhbqjGE02XzKbzHTneTV4T3e/+cc5Dc07bIsEmVlxOQj5dtT9e1eFLZNxq0TpweJJ8KEIyUMTv9jVF3M2vi0gRje5AX8MgE8X54R3WczfjstNpY7mVMj6u1FvS0kvtjO61MjqKMM/c1ZFBLz/gSWlqkbr2H43oHrOAcPi4Ull3lbyLEwangQVwZydt3zNoT2xflf+Db24BqTFY3sdn0F3d3DVv/vI02aMP+8PLS8jN+uwed6E7htmdyvB5QILnYwTNgN0+S20TJ3N31Tfi50TlLjcdLYmrrOTsWftQP2y8AKbZ/wW3WcP9fH2S+LnXdKcCezB/qUpszgOy3ezRHqOoEx6Uwg2diyDc5eYksJdEDBG6VDKyQLhFpHOJbv3SNHvNXOO6nrEf6ZZzqjlPaxhcFo+5mammJAHj9SyOv8m2aQXpYo01T6OuNCjtE6XPmMvfseP5rwUZpjeWgWYTQmF78jrJCFz/Ud0ajWtEZCcWPSSZnCfKNozM9WQti9YtLvEPI7DMvkQ3BHgqjnMqofx2Qry7jm1BTBgHjvTQPztSw/33z3vVuqt0GJ6oCQ68PvtBFzRjihLyAVsyY/0b517Frv+CahDjExYTSeVZlF5e7JY2JMnlgwPpWbPkM7KRjo1JS5nq+5GRU3I92DqsKoOkynhmguEnd3+mgfG6NECaR78auVidBlnOEYvSriAXUjx0U5Nuq3CT32qzj1JhudbR3SOlPimYinJLTi4B+ZQC3+g+98EnfJoVg2toxf8GxMJq+7hM/nO3rNkB8NiS2Vk5k681hxTb87PJf5ZeJmOmUWB0cmuU9Ozq2Piy2lxv+NqL5vVfxo+AlUUZHxXYSDjeUHt3tRiAwj1TK8IyKLQvEc9NV98iscLn1pE3/iekns80gltt6VWZFzXWOzPTgmLPyWzwxmmdzBNYUi3CvU0Yl++jEUFDs7UWx7iMZxl8nf8N8gUU+SA2rhWB1O62O82SLUFUV6E2PnvkkFnxPKF9/4+Vac7pdxG1rxf+GbKBZgJv8+1BREXV2oowOFQpyrdTkzFDBmjaIitDiXkShllv7n3uFXH/4ywfEpNPIO+tqiUV89u2Kljl+kItpi3asXV0YTCUu0L7VxT34ukYifcK4YeMHhge5jdhiWqV+zEwqRGfBWrWpGvAGRtVMKWKjba88eHcv30zAhcq+bcrGPW6WtsBViQHbG/bNt55YlBryJuUk3zwZWLjGp06gnit7ZRW8vo/xMLbABRzNsd4qSv1PC88vPo6IC0nl2a9nWKXI99FKzsiNqixVj194lvNuPto3Zs9KpZDwwburJtUlDFv2kFtqgE+DdqS96g/Qp7g4f1hS6OA7q6JdwHxfO3Cl22vOxOgKElIvkEJbFkD9MfWoi9RkJBI2pLiSjjbmqRnoy65lyW8/ReB0W0WzxEZKPTomhQdHnE74tMzZk62C3fXzbpqKbzbhzVMauNgj3TzLYeAHbsnl5ZubA7l9eLq5d6ybQGEQlEQxWfxWdfYp6fyt1StIW6mI70IDmv4O60z5M1Q4Tz9+l1evLxdYAqyHThm9sbjITDGKoqFPPt43kElbKX3OTCOew8ScYGvFBLsr4xnJk/JivKu3P/DiS6vdpsscfQ/qEIgGzWT3u99vvaDYXfnLjbtqGmkkowbrWGW6t5Vuf/TZT/ggNGfQFjuOQl5dHoDFG/GfKPEe0N0ndiFXSq+hiV6hBlDXlMf/BS0Qq4oRzAuh0Le19Yukw+kUilfqyJlDIeMzj/AhVo6r7s/iAbkUsmaQjY3NlrF57lCaJlfOF2KX5TFwrQ+3zKCIuhffIz8njYuZupOAijhz2wnuoxEHreRRKNDXouvkSLr5YgLUg8ncP/XZOaGEaVVYaxE/UPFeNVU3lxfRCHOnwU/H49el3D9AJ+cJREXk3SknpE6oz4faqP/rM+TKTb0w6eCbz20mkAnbDL+Hfut4m4Wg936xtmjwyt3JlsKr+2BIh0JRLrVXr9RvP5FMs8s7lUVxsBlaFzGSQVBJbNiGFmNFMlmZ80XuPpFc3qe9t+chTL1KAYNDm3XcbUbIKrX7GaDJZEdh1HM3HHETaNqbIgwl8D7Pg1mISwXj3tw+Pq4sZ/TGEVqq9zy5SPVGvPm+lrgIywV/NzaLBEc6UDErMUppo7+PIoGh+9VVsy+HCxi9zdeAbnNM30Aufpu63XsD3t36KC9/4KpZdjy7+FuHwOR575zGeGX+divf+Loq3oM5Z9OCDXCweR8FRxn5xjM6vXaXyIFd7E5LFRRnnsmEgvp4T2eZW8lBHJW8BS18nouvwgt2i5OffRWYs1I8ju43C7wipjC3tcL+KODCLVwRRLPaXsygE5t7gN+O/QpOELYvy4XJ+60+fJycRTOP6JcLhMLOzs/SVlnHvQL/ngPSw4/YNgpyyBsQSsgrRF4dpuuzZ6i2jwl6SiX7ObJCoosxqjsqhcvru6qGrq5Oq3kfQpJX1bDeUVHJs1+HEygmkHGznJaqVx2+HPiCycJq7isTQkBkQ8XqL6dExrJ78dOToB6vM2iL+mIWaipH9KmVlovsGCAPLWsFniaXDJjHr6P8nvbpfyfytsBC9MHxd9tZTWjE7uxMievIunrdf85gVrWyzjnfNFEzV5/NxYjmd4apG4kmlnXLHtaUlK51n4zZ09h9LrOv1tSZSGuxhmZufZnu7j4M8uhILWjhI/zglL6lKRl2FfeJryxYXJCY9bczEvdyPdaqHYNDl3XdPYBagKaqU2nXeQAIyqWJPZfaD4+r7mL7iHdfutZn53ZhXLFvGxGlZHsb9+Pu7cjnZ/ARqOBqJf7vaxbJsLMvCks0py0o/l2WhcXEquYoUwrIWsVSElkfQS2KlYcXE2zxYibqGkL10ENORrhMLS2mzdfYzrPBxSRgTUhpIomVuztR7c/n6SgHWJ8lw6AidMM80dUw/cLXIivUi0jXjP3xtFP3y/u1dFEolclrE0/kDXNyvpEReUouWAMPfuQt/5Pidob+jkdj5UxQPDjL2y5/Hdm0uvHo9yuZMiSLdR7Q5SuWTs8hJ76J6WlqIyjiLM1U2Rw55yuV3Cmu42jTO/HyUnRPPoXOWQZ0ce59DYfMpXHnQQu8lSSarOPX+VwkWuCwqiSsLv0Rc9Rzs7JaWUPU4inq2yYkJrkgkk0KFSfTUXSQCojJ2o11x9nPU6EaMqUkMYqkJw+sipDKUO3/dhC+ZO1glHeJWLj6JgLb4mkIGGWML7bUR03k2lRq0FslkGvcdlNkdlZeLWKnYfGyTaPQ6MLj82zSBfFLJyzOBk5/o/GFMhPShhSPcQm61B/s9L1RbgaJRmiw/RcldXOWTo5V08JNiPJjvp8Fv8e7DSQNTrq2lRLmcUjG2ypDiWDKmqqx7tSsdoPUJ6yCS6keWRcuFV/lbkQGW3xWV37iIO3OGc31TqDWbv6tcZtHb1CZD4XbyQ7em9f24kp/FI9aCcizyfQ2mbysPRbtQTx+q8ZMM55sFrTyIonGUpfl2cl5dOFrAIJqOGz+f48eb1PM4lrX1uu+WSW+dHusTLa99rOukpN4S/mQhrsYOZeQTuigsRyTPh1FOiOrTIhwM0LoSvb2Lwp4CDA64jKy+ykKiFL8tQuEQjgK8eTGPnHD2i0VlIHhOtwhcFuf9Af7dT+4TcawjDi7XVRbZlSsPQhYQrUVJ7u/ax68ggRyxc0qcvnuA8JAYGRmhtjYjYUpcaE088ng9V1tn0KB4850LWCfCRHYP8/6nxHNY74qIIhxQPztCkyJW3ULowqdosBt4QtO4Y6K0Ssyoi4h/AjvYRyi0RqeKGPIS70SWh4kFC7hHl8ipC7Lz6TBJmZ3ha8c8w7REU8oZ5Embfhxm0kwJYgjJbnzcSkEBi4tvoUguUh+attPIm+M6Zb3IrVVW8viQzGSyJWMCdByDxLjdk8ctS55MAqiPed4ppfwIQTTbyfmSfQ6c7bEBrBYv17dkEC05OXTrEOxxIN2euTITfp+EHQ4Tam+nUGP8DW0RVh2O8ghL9B1oeSEkx2xQvvDj1UG/5KECQ/giSRYiuThBCwUiKC9MJEuTakAa4JLGGEg8RzAapun+GKUfM8VrIBDAddOQ0IgX/+CokoA1jn+xn5LP/xTLJ0/Ql/TRFylHixvo6+/gfjXI69Ehxh76p5x851303OeJPNDPhXffRD93Defhx9jZCXK/cthZ+CbOO+9zYehd7pr+Nm7vzyG9xY2ymBlT0acxyLtpDpA5tyhLOrTBukUplYdoCwpdTPeNgW8OI+vjL7pdEsM9FUy88m3OWDYNDWJ6wPjjSktLmVmZOdAcmyViijA4dJt9Co/oU5TqMsvjqwxHEgwUT/LXX5lhpugZ/s7f+Qckco42hE+iwipkxGmjv2eHd15aYMG20Nnpo8dmdLy6UtHbIfRkKwUnZhm49m0enGxjePpBvhJ4kO7tB3nGaSbsONj2oQTjPlFdX83o4KihPz5RiuOb5x1f9sToSkw0KD3x+Yzm40vtHlyhDXHPve+y9NUAdtLmjM7gc/xYtrGzbq5tkNj5BstLa2zLwjkrNCHOfqmQlenf4V6doPjMMK8FT2TVyeF3TzmQP8mgn5sTU1OtJNVCj+5jsiaEqiJkO9VuviOyLAvXH0KPW6hWBzEixzvPJjhO9Z6X4ZUvkHhDhm56YuKTvddtEUsfI+d1dnscfHaFz6onrZHdukwoE1HiUFc3yVhFjBc0gMoq8DU+ijRFscSEI7RpNgKDmkbFnejqVRT+5LtZV2bDkSNx/+AL9L30r/jtp18h9FAPWnmJwBef5asnOjEQbDGtCqQWuuTS80iAmZnX2Pz2/WlGgBtIl9IMtn19fdTW9pIKZt3QBo4cygssRgZctv+Rw0z7Rfyuj22rAWfjFTQXRg3VKDRGUD04gS7ccAjtBQhtr7OZSBgCRdfF5zMkeQvuSQpDVficXMZGvkL1My8hhaiWlYXPH1PGgj1ko1OpaHeXj7tLd3ULeb2nb/DbpExipNTn8/l8LPqXDHEcURDM46QGsG1xxlnHJ58Zy2vuoXTBhoH3ti4KvaoiWlGJKkTXFTHgq6SndIlkZITu7nIvdWY6ybUrL5G38pGayVUerb0xrFM2FfrGDV+2KdrEcMEsOv8gDa1JLhT1UFlZgCp7kdVLVH0kb5R4+5V2NLFudopv9GPZJxnLgmkZZMTZXNGcIoU7hLA5KxFVDn5/L93FJSSjIjfXIakywipD+jrKqSQn0ZHODZslpUg+fDLwydJwLYHkBG9LNHr8+ooJJcRuwRwNofIb1sn1pLpaVFY2E1IlRVYPlR35KJ5PSm0OSuwoj+xoVU/2j7lmXOzlC7fUICPy/TY6d/jZKtC0dUDfIGV3dEfGBBFUhsrsq0Ul5pnK9AnyUf9lyqyyIrszpbDQaDs7ChDS7o2vMyjUfBHJoqJCVESEtTWNNI5P8zw0v0H+8DwlK/ejl99G5U+h7d9AqmGzpIy4W4PPJ0pLRFekiF/+4mUuNVbzTFAs3ScvYG6PRTmUSgQUYFe7qGjfaEQZbVBdLWamRMXyIIGBZnpK7sWfP0JFrrAKClA4H8sqpKIil1S+i0pFkUdRE5aQVY7aa1BCLC+bRf56714oEcxCo1Ui3ZX+XCCDZCsSdRUm3ujG7ZIykaY+T5l6kjIy5nkSVAbSz2h5iYzfy5WxOKeosF0dkDnedqk8+l2XUlkDReY8uf9j38+k3E19TurGMRe3dVEYGBBP3uVdvEX4Pn0JOadQpTg7Lr64JmrcfKQlXJ0hLOOUqSwvZmy4m0Y5fOfsFs68zaJmrv+SB2rnafPCxTIpC48cu4V01sPLu9hnHewcGy2L6spiRgZb6W3u4+knH8R1/bz7zjH37JbhhBmQMT2Fw2htJcNhV08s1sZDg4N0V4imrgDtvvF0ur+Ai2UnCLpfwnImUPBt5L6N/HUouIndejfB7vtwF9/C6h7C6RpEw4Oo0dip3UqhOou+hwLkd2TvWOZ1c/jlGQl3N8Twm79GxUA/zhdOsPHsRfT8T+DM+rEKzO7AGbiEVXXr6QcVEhp1MJh+L6m6dDRK2jWaz5a8gZb6zWvDZGoguEL7p9Co4YifWBO+wC0+y8eQEZkF56Q+pult9pjvvGxePT0iL8/UY696qbFqjvHbpE0llrWLz2+x+G4DBmZqNkdjMhm47FTuZ9dPSDanXFNv7sQEVuI0iRyLpWGXktoSWiZ+E82exEoKZ0DItvHZDq5ctqyM7GdyjTNxZscgx8ZFeaUYlmtQTuW7mHiQvPTxpUKjnlaUm4sWFqhtEL2TYui0Q4VlITuAvTDjLeDTSAWsKUBgYBVVmYV9I6seLbI1yAWkHNa1jtPloN8TGjbmrFtFPt1M07N0DL7fazsTHV2U/ZslmmZER8i8f7nE5yVCt6pRHmEKkAmki2bf40gfaZGhfD90vTMy7AY/Xt+30KfOoB7j6zJ1e4KjibW2bu+i0ByspsH1dud+sZsXx1EEuSIaEvkR4TvvYGuLc6okJmOOqXOrWAiOI/UzPdiHHbE4l4EJnpeHKpKMY/DkSQokKn1Rg+ZxlEGh0YtkebTcMWoUJXleSKt0jIzT2d2JImK4qI+rLSJY1UTur34dOY8RnTpUkZ0yO/VMe6lloRMRcjZyqNcmKTuyJXG+QehdpfMWOA56fYectjzeXrhC0eir6L1fQHs/j56YQm/9BB0FK7z3yM+x8ZM/T3VFDaPng+ieffouTWLLUDQ3K8bp0NeQm23bDEvYfUc7QLnSvPBR9bFVZBG/Lx836KL8CNHgMMqbYiG8SJFjFp/zwWYG3eIj17qxTKPcRVQ7fvBd60kvRiV1zHnhs8Xdh1FVW1uG3C81iHYODZrIMQPrNkhQZpKL6EYq/k3w6Cnp8PqIVxeuxLAC+Ap9tC21Ee5Nx1Pk6vxBtr+q/Ht5atniXNR30H/cHBGsF2vla0wXTZtBfO0zWM0DRDaFSsXpBYf4zi4Du6eI2s8bqOdyBJ2xKC42qTbV0cG9neNsaI2OajF6oN2cx0zG95i6jgl3XwS1icHg30urtoioEKX8Zq4IBG3eUI9BBYbDlLaKxikRXBrHrapC7gZdO1MeqZzxc0RlYQWjB5N1NkS4muzkMGEkm2hqcqrNRW21GC3iEJX59eR89ucOZVOc1MlLgHQg7agj6LWd55s5dM1KidqAaWNXJte5tSX6bqVvLOlQ5sBj+nOtDGdU5jF+HRvvE5VDdi6FG4g/s08ektwo3QGzQBrK7whlsg5pZLcZklqmMsOM6JiGekDnOSOHGolxbSGFuJA1GI13/mJVI5pcISLxs69dw7ZsjE3aHDfsNVKKwsAMMlHiCjUK30UPDy/RqBYuyaLVmwAel8h5LP3SeQlxZUP0rNzLztVlkw7zg07k1qIPMtEJVahxErk69MxGYq0xqtxl8s5dMt+dPIFeHSdlV/apjJjmkcpR3o3NPo6TjnBM5lok7TZaPURLMijqww4/G6uk9kjU5R5qLTpyvSJ5tMsSUiuywyjXy9ilDbo1RYc6kJZQfTEaFWVLd5HTejSTk//IoD4kcbFVa1G+a+qu1hah18wOMVdCFRfRnFCLSeRu3Wiid0Q8R7j1MrxQtzIIbiSDSmPkU5QpGYyk15dPkimvFUdpdFCd6gj2BckrF7KMOaNcZjHKdUVtYoUs2pSYUKWPk7UvMFFe7vUFoTobnc3GqLfqK1hqJiCzo945+M3BTP7pYwPe7xd0gTWJvDZ5xGoe6+7BsRfo1xqf1mPYtsjNNd/brk3LuTQSZliNbGiGlP1ZssmbazELpJaQitmWmJWou/g0jhZN4npPXpKYU4Adj2fLoNnSv1d9Kc7UXgXG3HEoTuY6bZfq61GvvzbclYO/zvbaPI4CxYdg2PUcgALiMpaGXB1M2qsyuRqK/MoCSZi6b8WYrJ4lT+EbbCwueM80gV/VP14/Th6HxLx49LugjPmwMXP8Z0tvqr+UCc0Zk16+8lB8iatuMRH9JQWv2RLLVgOWmg4qzZJNhzzeGUtGndJJJAertB/130+HxN+zv4Ftuejk1w+uV6QMJMcxk0qRJYY1j3SGn1NG8hoZ08T9GYlbohLztrD/+d/GvrsPdQir+gNkO+i0Z58cECo0ZG+LbcKqPr6CXYmTHjJjfNJm75dOkXJKFUoMy4f0FHrv8QxCr8PSQDTay9ycUQ9Xl/xsBp5Besj8viSimxE+/eivU9zZeejcaTLpwq8rQaHFlOnJornJosHLE2DqNICuPItGK4+cWy4dYZE0soyBZBbil48T1gljs/ZyA4QkFvqEim1mrVnCCt94QZBQTIzNjJCv5A21hDJl2l5vIFbG31OHvvurkHrx9lMikGEm6JCoyRWamvTabgljWipC6sdqa0f1JtJ+VUIKGny9zA5vWSIWs5maMvE3z0kH6TKN2Bnc+SYexLIszyzlYfutFC272eyY/21mLJufl00otMTCQgYJXgb6yKqqJtQ+yNNapFTC9Ysn3hX1CWE9N8rKfg8hPc2nFKCn8Aojw5/G1jbRrRPMzDlUyqJXC9gdIfIeEOPT4mSfRaQvwjPPPMNdJVfwL8yzGAp59ZOBz++Xl/DJQS1LJhvbQT0Z5FaZhJbn0E7EtLk9hipeQt2Hx44nI0J3m3GWSrdqTU6iePwGE77JS3BS2zcgyLO8Z7KO8J99bFk9ztFtef1mMf3dnIU8hObqdfp5UGIh1abeMTGdYmrMoSrfjKvbviiEw6KyQhQogvwRKmpSttttYgqlB3OGehXr76f0/vsplFj9/BNYtktjwTeIyDhz/U0pp5CX5eykjqhntcrHr2IKGrMHfkzi5zKO88tEXn6m/SnGm8Rwg/iFn3gSy3HQBW9FTgj5zYApiOn4TFmHZK/HovuVJ7O/r91AvvhRVVKiKXzROP06R/B3rVKjq0gi4AT4Wv09NHp0Bm1hMVaSZPDbP4PqsndO1RIlamSswYddUYeiUWSXoQazQ6yWF/PQ0HAQFCiJ6oioyCAJdJ0wl3ofou4QNLSiQkR6hZx6NO7SlBNG1VPkBQIUqMAbtAHq5OBTA8ECUaVqDqgYEmagJZXE0fUWxcOSw82QUAEd40g8RgZ1DK7fkzO6nZHP2VJYKE54nDoF8rTMzKjeMaGVXG9QF3gD3I+UyNKG1STi4TDPbaVz8xZIuK0B8pKGcmMnGKR6+xpxPYy0TmdnDl/qeh9Hz1JbO8D4/c+jvdf4fNPn2Vi7xst5OzTHzvK/P7rJQEkV37i2wP0zX0VXF9DKgzQpl0K1kZrUbHuXhoZ7UTKJVldpCoWYzM1hsW6TgKrZsGvpHPPReUmcbsyhoKyXc/oNWrXAgO9xruTMM6mnmK0q4JUB8YE+Q1zrDMds2gZE7ovrzIw/ysADndQ1LVGeLMftL2d072Ua5ZIVyev1J8lC0VYUPi7KN0K2BiSvP3qZAMPKRvYcJ3l5TLouS/JhosKPOy7EUXv8IQk3oK0Z9Ak1hXp5vpDrRoRbpLVNi5bQBQaiMsimTx9/ji3ROVlKrPqdA4e8o+y85rd9UYjHDb2wJOIh8anutJd/QOK35ZkQMpAAYz1JrlxpoFri9Mwuju3w1bu+mn4Zz/YWUiXXS0HXIy8AZ1BHdoNfk4yaui1CitOjVS4Mh/FfFaoVM9/ZxbbstEp7IOv0KUyzbZOTE8Q+ltzNh3SBYLuFfYi+Wd26LvfScDw9+MNxMeLtZAPuBmdGJ5FrdotupygdCPJPFs9RWWkGgU8+XLl06AT1TY+zdd+bTLcMUZGXi+wmugdEX94OXSdsvqZd1P8GctL27Q2ZjG0KztFoFzHntxidCGXverZFT4co36xmI/Ywkxd97JXGUOd5SsP9VHoOUjlhev1n8WuK6l3xlPUpMtNdOvLsu93KSFx/WBwMz8zHHziZEpVYu8VjT8slmpUI/SaoocNySrSPiY4OoZkZY4a80TNl2o+HbnztA2TIjHg0ZPGuZ08Oyltghh5CloFybkq0DddRUFNgdsYJoe0pZpxeSnQK9TUjXz9DQ0OcVBdtqqdRT3Ku2aWuTuw2CL/6sIcWCeopilXsLexef3TEl6aEnZcmj/MHLEbGQ2bCsrupGAweuxse1hIHpriQaOnO1uIlGZ/grDAO3z6UJ5wGhwENMHTDNrjeXJDD9akqZMxFn/Lq6XrH2KJ0R1QqSJoA8jptdEPp5+NGRGdKnwxIY9frLzfjPnJ1PJz9sDSoneS5X/c+d5JJQy/9JZmPUmJlPeQIrvxcmvAoDvxpn8GuPZlmPtyaR7aF/0LA7Aq8CglIvFkrM7Ecdq5Opv8fV7b9v0nGJyDZyD9Oalc2fmmbS+NCDeKd3/Bj28I/kY6ILpBokR9HojCZ5Le+tEBVVsaspKnM2i5U3sG8jgasDOoWkr/ImL9ePnBm+2nvdymp9cjW2kTXWIjl5wYp96ipe9VLg+pR3zDK6UBOB648COeQcIIiYQXo8wm/Avg1w7Bc8mTMF93VoqNSaNZHXaHFSDDI4OlnqM5EYcyJ6W7xS/fZ+E+7uONKM23KSXf2im006kf1wqpJxXCk1d0yr03k6LqR1Kn3/qSDJ1OOcOLf8Dj/J7+/TybfhyPD0HldqgzhVzuazMNoBmMex04vUsxoDYdQLW/LLKYTWxNc2Qix519DEiuDIhYSy+P3MmgPpd/DFZPOpAFEWEI54/gGbCwVkjlB+g7Ght9EQueJYQ0TUBdJVbHgaWgByZuQJ3FcMbspKi3xvE9IE2hujpHNF+hWk+ebMsFn/bqKitYMmunQuEyP1Uk0Ihr8KchpH1KUsaCwPVLDYY0T+IS4fMlcZ/xG2n2qnrK+H8nuA8c4fFNiKc1c+vGkGkVa0NV+Y/v3CV1uMuSYxx0/Yp4j1acd3ZgltUG3aFZtGSHv/AuGQqXaQZXZC9etFFu3WHIlhb3/yySRkH6wkfr1P+iH+pGYlSwLXfzou9rbK5XrWvrOhe8q/kPvvF8clf0Xtnb+2rb0o1KpydL+i9JHkt76L5L+q5lynrsYkZSjyclJjUc/lPLN+d+TK1Tk3dPW91Wif1Em874ffU97e+flOD9S0T/6j/L97oRy/kTK+38+ErL10Xd3JJVKslQoqd3/kX50TvpP3/++Lj0d0MIf50uOpGJJ+nNJ09J/+bfSn/1L/f0C6T/7MyqjTPoDST+8hXr747irb51KPfNH+sP/bUCb/65eKirS/+Hv0b9XryKa0/dULkn6Z/pn+tf6N7L+4/+ti3/+h9KP/oN+KOkvJOkPpB/9UPpz/l/94Q+kj1StH+ma/kA+/bmkP5L0z/80rn/5ZzEV/PYP9L3/hH5Pjn6/pFr/Z1gqkuRK0r+V/H8h/eI/LtFHv/9D/fCf5Kjk3+WqSAWq1o8kSUkVK/gXvyD9+4+U82dS+PvSknKVb64gSbIk/a6kvh9JrT+6US18dAs1VepdUZJsSSWf6CrSvj6SK+nsoTPDkraue9ZlSZdSH35g6jkaTWjj1Cntw3XP+0hdkvOkNPUXkr6n70qS/tDc83vyGi5d/sj7O/OL39VP/eqf69sf/bokKfAHktUhJR79HZ22fyTtl+mj3aDk7ug/FTrKnzUu3Sr3vyo5si703yR9X5LkL5KaTpgx2qKPZP2RFPrv0n/3j+mHX/szfb/5T/Sb+oEk6UcyfVf6rv7ih9K//RXpD0nqZ35wWtKM9G/+QL/3J/9V/6rmj/VHm38kTUkfffEj/aH9L6T/9q8VXJR2gpK+uy85jrq+dEHd3amXmpHGt/Un/pA2JZ1eG9Lk5LCKunpFq6Ry6T/re9rW/3Xd+rxZ4Q+k791g4BX9wAMIZ5X/4L25JNlSwcXrnl9gSb92Udnd8daeTO4PPlLRv/iP0n+Xgn8h7fzLFum/ZfZjV0rNX94jpfr0j1JPOCftl+/L9H/n4Mx/Lemf3+QJSiVZ3/89Jf/4K/oj5WvqT3+ksT+74cC8zqvcYmmTKN3cxLYd5tbXD1Y3Zchmhjp1Rou4cijbrqHTg6m952zgyDYRju6sl5nNOJPOqwPFG9CwmFf5wS5oPn/eOIfXxXo8hr2Q0kL8qH8KXU3f3/EiFH9tc552iRZbXP2WSYRu8NSzmF2wcdqpSyZOIfUOeTI5iDPfa0PGPJCzkf5u/uPsIIqRPpve6TiehjUygmIDRAuHef1Lz1BiGXW5SwZmZ+kQBtzLI3Da+96S8Z90a5VsO30dUg39Mma3Pvnpv+shqkZLGZUxeaw7Ds6gw/y5DwzqI9TCvNXOmAa8QLwQPRqnYF5oUjQFRMWGmHOHyFXca3c/85aVzqlwQ03hVmTWtInkvc/0j3m9v0Ips9BQEGkt4/t6jPqefeyGjNb3rBx6Dv3myOW0tc64M00q4b3fL/KtPIacIfx+P2ccP5N+B59tGUZMxyZXPp6QQ79l8YjfJSA/RbLocRyTic8Sfr+D7AZke8/kpJzN6THrSigknLX0d7ayzRau4+US8BlGTssRkov8flyfz2hGfgfXSp1vG8RhCpJpZ/aVT2J+WSYFwHCkI87gVB+/7vmW0Nz17zvkWMStDZxUgNstP1cdUdUwmvXd4ftEOHCuO9c/zlcm7KFJjs1jcgOZXjXggK8vdyA9Tn2bqDlk1r0lq9CtLgpSFYp7nPPxOPGAOJ0RjFEhUas9zITbzT3axSeXvQf/IfLyA8fPTyHbIt4dZ+f+XHyff4nEnlGLchTgiJpfXY2qcg19c0wU2jm0RldJyoOxhpSRD1jsahdHDlPVMqkDh8SX39zDsS0mu4UCAZM7WVVIE8Yn4I+QYsP0B/y0j7Rn5UvtjgurSSgyddNGOU66ZR/kTXUj4p7PiZdTvxf1UNgzzdvfH8BtNYO0obycsoIC1NxMPJyRWyBu/saUdsT6JYIpJ9thaRC+mDFxhe4SvoyI3fjuG2jpBFppRupAQ7WofoEWtVCtkBeJXoeUMJ2309y/76SIJ8VrihDU1+hZq8Ce9myh5/VXi/75/5O4lSg0ibLaws9x+RFSyYau6XwW4aFPPt7QG4zk5NC2uoq0RzAo3nxT1NaKjY0N3n//fV6feB3n7SU+PVrCm7MitDWE9BnWdIr3W3N5/wv3cNZ9H6mMzTObTIXDjOWLd945SXK8FPV5z7S3hy2XLu0QlrFpn1cPoUiIM5fTlDDdMnxdqQj0i1vi/YB4/0nxzrJInBOK34feeZ+9p59GewH0/hZ7Xn7wVrXSE+tGbwu9LwNh3hbGiXripnWbr8PU1DmkoLmLEk9IGN2g4xbbyzbnB2TSnx76vfmkCCfj7KgL3y0DKDKlAeOkDpKG9h4jZ+SBXAoxKLUiUiwEz7ti4hYAMEckJmSJtb116rVKScCD3mYcc5sXhQoy0QJ2QMSbhN+fS7jUoiySw6NFHpXy+XQDFTZ8k8iJShQSe3d9Acu2jT0y4CMy3E9SviN5RI1YqLIDVeQcwNOCMtjtXBVRnkrG0pFxTo6plMlHcgwKISwm787BscUbHUIBP2o+7KgKk2LC9Pl8tLS0kPPFnIPfOyRW6mM8Hj7eKXUzWclJp+BzfBato6VcSC1+BcLfHqD5D5sPaLdLS9dJJsc41dDAtVDIYLDPiOd0gRkJY6822PK9vUayOY4M1027ZDSgSB1ha4x7Hi81voGD494nupFH2akwkUQ/sqqRpmlUI42BIDUhoWg18tUjJ3IweHplFqU2b5Lo7CjEVoz2W4HO/k8kq8qONq+6kKZUvn68hkVOSQkdgSCWRI6GMNrR3WY8ORbj59p5O5lkIR7HLfKbCHsJKZd4XEQioixooMQpDp5Exj1yUmPg0L3z5RCPxdK704iQT+QpwaRswnJoUBypAyssEmeFLoiE1plTnIlU+9aJnJFtLAWRcsxGpUdmPK971w4oDZ3UaWrHHyY2Ky5aIqILlAYs7PtyDPPrLZAVJnUo7e3ZdXRf/NBxLimn9+m4SFwnI6DriljMqye/jgVH9GqFmPIxDtpbXxS65Y071XJAKRMeReG6jMBNGymOX8aZHZbw62HvtwKkYqKzwlfuQ4nIoU1WM7q//4b+kIgl7k6IaX2VTkWp1giVh4g2b/OikP0AMRlMbHn5On0v+tHwSU5e8363hQlxd3iof4WB+4U6xcmGkwZLfVooJAaXBik9ltpWmJV2mWUJg17wKnpIKO9RDpADGWRdi6vGPPPr5b9OZ2cnbd3if3nw69iyOZGJ+V2WoWVIoYdGR1EiTei3XrKOeoXRIKoZ05QJAvkEE8jaqvClBuOyn/bNF6hSNePjItYlwj1i6sV+VFJwMHlIFhOjo/QmErR49XmXbJ6SCGXg1O2TllfPPpZl1Ok1ZTrjLeLxHL76D/8BqsqMU1hn7Ikn+VzbEn0n+g4w3JJoaPAQZiNCxQ8hDZgQ/colXpAOLeAPYBK9fFJ66v8xxZYx3R3kJLfTdX48ik0EXZe/+9xPU1N/BlvjfF3rBBVmxku07jhidVnc83O/xu8sv0r+o5VouIeOx0RZ2d3Mz48wcG6Rz62Kzw2Ionzh9/lZmZtHXpufltA7CyjgUCx55qlWrqiHmZlpE8QlGe26VKxoiR2FMbtv4/zNCQb54vwsssUJ2exJrOs0tkaRlWRlwSbgF0mt8+SCiMbF4pkI9txUeix6deBO2pzed9CaGHNFnxxeCocJvf21rOM+jkzaNuEbnGfPy+yYU9+V6iAKOJkU05M3RrG9IJvqT0BlbemYKPpeC/WZvBDmuyjSAuXLBn3U3S6qK+7GxATVIDUyYolu9dG9fO8huLyF1qwbmrSCQbFyQhSpi1E9SqvaaDyE1vpLWBRCpKhmfUpQpY2sGxZnReI9geTjweAzFOcYxM/PXxzHvgGSQwEdwRkXS2yqgLgcWiWq85S9WmaQdBXVmV1aTUcNOYkcGiR6xs09n6ovzjrHXyjOjYiCCbFyKYl8PmpdYVd7z5ErjDkgQn65aMmAn9Zf7/mPkYJEgsc2TD1deUS8HRkhrEbye4VbJEKFSQZOfx5FAnxKIqFBpGYu5/dS73vwIJq7WgZtZez5HllYsTBqp0WxUh2/h9xHOswurFjEfRH++pM/T8wLmkpJ2W4HnTWz1KgUR7Woo95Lki6jZWTuUuIFFIRf5VJFFb5gALMb+iSq9f8E4plFIm0i1nvr5wV94mfPx6hUEWvqZUpislEMpXxaloWK63j21Bco3rjP3Ge8hsRdk9y32MrG4r3kRD9HIvogX8/7Jt98vZT5ycu8VfQsjU9dxP7mBm88+ihfeeIJXJ+P5v19vr3lZ2bmPpon7sdaMVnIsp7LkqFkyPjOyYlS+O2HUNT4tt5WDx/mfsg3P/hlvvnhi7z9ncvM/cSHtI5/lqavb+DmTPFk2RzuhV+idquU+Yl9dkeuUPj5p/nmPR9w7ck8pPNozqWq/CWmrCUK1h4jcV0Ic0oCpNhbs8aTbozSOSJBHYGo9utoVHAq7iUp4VMLOrTDvq2SmrPiQiEflUoSaIugXmN+7FDQsEcUZD97KrbresmhXJk8LGHlUVrVTs+gB6vOOOYvYVFIYBJ5G8jZ4dwAl3V0tXzqlVdompnhvMSnL40a4i5dOr6yIjKYdwnt7aX5czz52VwxuHHonMsZ/w/L7D4+/BzSJHUSz46OGpPVyKF77uhIlrJ37r5AaPRocJX1ghitT38ePe7ZryMhpaOG3XNiMOQ9c4/QcAeF4+O8cfFZlFvBgNIQtTXrJfIv1WRdy7fl463YBdqSMtqWmpHeJdMXU7khyleEsdeWEI+LP/2qIWTLvFbbchsrZZcZUCt+DaLl0TSvyrAOOcJqkEpMTupoFEP38ckx2v9Di+eb6egQfW/plp2RQZ+Pd9+6gNoiGC33MjkT4isHlB820jD7H+zjHETID3I7sntdT3yOuHCIoyfsD7Nz4QOUX8PrrkvRxWMoFyTTH/STSNeyvw/K4ysqQusrKNnBYb6p2mFR0nKz54sidd/2d7ZscfaSx77wVywJmcDKw993K5vA8WB+qREqOe5aRylrJDN3DEjklnfQ+txjxwbm3kqxvAn/TrlT7pQ75U65U3TLcQp3yp1yp9wpd8r//OXOonCn3Cl3yp1ypxyUO4vCnXKn3Cl3yp1yUO4sCnfKnXKn3Cl3ykG5syjcKXfKnXKn3CkH5c6icKfcKXfKnXKnHJQ7i8KdcqfcKXfKnXJQ7iwKd8qdcqfcKXfKQbmzKNwpd8qdcqfcKQfl/wNF4wgtas+DtgAAAABJRU5ErkJggg=="/>
          <p:cNvSpPr>
            <a:spLocks noChangeAspect="1" noChangeArrowheads="1"/>
          </p:cNvSpPr>
          <p:nvPr/>
        </p:nvSpPr>
        <p:spPr bwMode="auto">
          <a:xfrm>
            <a:off x="160761" y="-150883"/>
            <a:ext cx="314960" cy="318348"/>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4915" tIns="47457" rIns="94915" bIns="47457" numCol="1" anchor="t" anchorCtr="0" compatLnSpc="1">
            <a:prstTxWarp prst="textNoShape">
              <a:avLst/>
            </a:prstTxWarp>
          </a:bodyPr>
          <a:lstStyle/>
          <a:p>
            <a:endParaRPr lang="en-US"/>
          </a:p>
        </p:txBody>
      </p:sp>
      <p:sp>
        <p:nvSpPr>
          <p:cNvPr id="6" name="AutoShape 4" descr="data:image/png;base64,iVBORw0KGgoAAAANSUhEUgAAAYUAAAGFCAYAAAASI+9IAAAAOXRFWHRTb2Z0d2FyZQBNYXRwbG90bGliIHZlcnNpb24zLjkuMCwgaHR0cHM6Ly9tYXRwbG90bGliLm9yZy80BEi2AAAACXBIWXMAAA9hAAAPYQGoP6dpAAEAAElEQVR4nOz9d5Bn15XfCX6f+Xn/S++99957n1lV6bNMlkehgEKh4A0LliBBECABECAAggQpsh2ldlIbdbNlupszmhlptJJ2Z2K1OzG7ERu7OxETM6uIllbTMxu7PZrP/nHfL/OXWVmFKrZht5Av4kTm75n77rvvvnvuPed7vscC0PF2vB1vx9vxdrxJsn/eFTjejrfj7Xg73v76bMdK4Xg73o634+1429uOlcLxdrwdb8fb8ba3HSuF4+14O96Ot+NtbztWCsfb8Xa8HW/H2952rBSOt+PteDvejre97VgpHG/H2/F2vB1ve9uxUjjejrfj7Xg73vY37nOTdCx/g2RRorD2TTQyYvYlRU+bCJeV8bfbzvDD79mMvXSJ8axruiyLweEdfnCjkjM/mEVlZTgSgxLSCJJFc7N4ckw4fUKX/iLq6iBd2Ps9cumS+b/2Iiocv+9yAoPiBUdUSDiuGNo9+ryndYlLvTah0FmksiPPWV8XkxfEe+98B8f23V8d+oX89//chSqkRjV37L+gYWxZ6NLIndeViaJy8Vb2vlqhq0IdQmpFsR60lVWnQA2KFXvHD0lQ6GPx9NM5/OD7p8jPF2cl/BKXJCQbaQgNC1lHXO846ELm3bVySSmiAR8fnh2k4M16lm/fplViJD9G79tbVErMys+gzlGjfP7uyRNEczPlNSHlHCi/QyJ2RNtVSAymHuWrn13l+7d7+YfPTBL0DSCJPq0zqyRSAmnjwHXLKuA1LZNuFTd6zvMDdVA6Us+wGpmUGPlZ+7Dfj77zHe93m3fvn6GcISG7GSltfg+Ii43C+hnKcr/Ry/n10B3772usP1YK/3FJl0SbRI5Ek0ShxC8pwfwjX6a8XPifSFGd7sOShUIhlEwjrXFBn1GuFfw1Pex9nEXC3hZV4TjSeU7oJLm6QLUr7Mq/nPqPzhaxc1JMn8qjvjeOdIq9j+QeUlotqmzzv3Nmk+FfLUb9EXP8giiwC7AaLB4NljD09A/w5fxXSBN3L7NZuH015FmWty+Ahs6geiFb6LyIxcTmpnf+QD4KOPf9nHH1k6eTKLWKgk1Zx0Ywg/EokkhIhDLH0iKcFi8pTXF1gMCoOJMnNCJU6j27XPLVgIIB1CXk5qJAgtxSUa4IKogjS7yiV5i2voOqo3v3Dnv326+LhVSNarSnFIIKclqnUaHIk3D3zi1GqiFqh/mw4CUUqkelt4lIpNMpKp65gSqEPeGnSmcJys+Q8ujSBaZUwMPrxSTbI6RSmfIKKZUIHmo3VxZPqJAC+SnXMLHaEPlVDnKqKNJFrsuhSecpzL4uIHRGtPpFaU52eUWopoAmFfITiRVd8J75/vtr0cPCum5T2DXMeQk7pwT57xyM70teFTO7RZR+Jby3rzBPaOXBy9p4v4/43w2h0lJyLuZz7bN5tLV8rBS+yPKCLf6vW2u0rog2fytXdRVJNEq8KbFk26zdvInaepCmsSRcW6w12Fhta0h+yhdK6fe9jk50Iz1M5oM5cUK4rjCz/L+Y+p6ScCQ++51PUfsyUvD+r68RMy/ZuD6xtrWFI5vZpgZUVYnkQ46YDkzjPumiojuvd+QgO+tZXKGPxWPa5S0tevuPqlPC7C9x0QvfRMHUAz63gzo6UGEhcoROCWkR2TbamkcSl3v6GHqyAp9sXpRD7ykxZveyP6u2KZDLm3K5VLdGuCXMuJ5GhXl7q4N0WrwyO8WPVzvRTKN5vsxz3pZZbUiUSTRnt4lXvuJCs/Lev2XquiBG50Q05pVlC2mBaNTP+98+gawU0gBVEl3RMAvL4+ZaXwCdOIHSVUzP/DFXlIf0AZ2dIdraRFdXpm3mkaa4Y0Lg+NGpj3BWhewxHCuPgH2KE24Yy7aYc21ijpiTsEeE8vevza17mK+9PE2u6+JzLBwJx7FwZONzLFy5++/lPt/hd/PWcHqWmNU6krD7xUbOGtZRK6vPkZMSTs/BOn9HwpL94N/U1JtorQBtbNA/Pk5aV9Fi67FS+CLLxoJofTOJEtpf+jc2EQicpFgFxGdnSTY30yIz28uXWDxpM/zMU1ycfAO7aZ4rqiJiFaHEwU6Z2Cvz/P3XqT2rHmpBex+gV6bMMvnVZJJyxZEsIhK1EsrTkYP5ngTaUeFpZPlIPv4OTc4U/ktCTaVI/xjt5h1xXSFSPpLY1S7a3kaBgHesESWDPKsJhpX09g0h+Q+V8QnSw8j3Moqc4EFnmdIOkp+YRLVk3pXOoQUbvWnOCYdn8ec3sap1GnSDYCJzbYp2ldNZOsil9G9RrFOkA1XGJCQhdSA1I/lwCkXsdIxE8ojBrlBmJn1gfwXn9ThmcDxLMNJOQ5+FVIOCQ2jbOy8mowziQqtCascXtBj5Wy2oziitfInqhBi45NXJuogSCVToENu5To6ewShX03ZNzcLvN2VJMSQHn/aVlWwbjY1xLiEcRdmtcbGmnmbpW+9QPVJI7NNb2DeCtLUJK6Z9BShRXN/PQ//sZd7+ytf49Okutt0qvnl+jLOhC3z61T6+0v47WJaD2ndRq/dsB9olRJ3qCSuHVpXgSCRjZTRVnyUgszp4TLWc3lhhaOjBv9nEod8lKqFdjdRp6YHLamoaIBAI37H/WCkcC/HgNiNbU4w8N8LcE0+i4CpKlKBoIeddl9YtCzcUR/kO+iSGpp6i3V+E3WyuPyszW2m4n/stygzgElIYKcse36E9pWBZrcTj7pFlpKpExYj5P/K0qFuUmTkVxe9x744Dv5tt4W8XUgip4cCxREJmpvv2EmqdYV2iRHneuZnzmggoyaOao21vltZ64HkCEsF4O1OyKbn5M9iQ/SJeIMbHx2ivrKRGLsHgIwTCIhqLcmn3K0iDd77PVIKP1mcpWv46nSPP0lUWQjlZz5+00eoqKrmJdOPgO8hIWKhKuJMuZ3TmiPpV4rqVRCLm97Nvfo+ffnudAvfQebbQWSFl3s0E0WCQf37tH1LnDKKoaG0RjT+2ad6OISWRKs17yJSRn0+kNsjGlQnO6zu88sok6fTBd+qTaMmc77OJf33sUH1d7/2I9dV+bpRH6BhLYB0a1BP1N9HtbtOfioVUTafKkdOO2mwe+8Y3sGzL9NU2oSmhsuwyrlGvJiLKpS1UirMpFI/zUs1J8mQmFLWqo2PzuwxOCW0NI1WbFWBBAOUH0OoMSjRxZ5sHOJMM4sb395WMl1DRlku999uSOCGzojMK0/TNqMwqWxJjEpUSLw20kxd6gurbSXZ/+WOafvtT1qf/9rFSOBZxQg4hx8Z2bcadKdr1LDUfdaHnv8rSUwXImUfaRFYu8k0iOcxI9EnkzZvO5pOYl8ygPne3e80ix8paDfQjld553pwIBMTK3eyklvZmaKk80b834zqDMSf8jG0RELol1h/zfvtsZFlMSeTraaRuzMBSjCRWalZYe+T/jmwfc0Uyg0RWefWqpOVUHXafsB779MHrMyFO/h0RDNpYloXksNq8wVK/GJ8bp9ApQllmg1GJiITOr+I74UOb7kGTlyzzDs5F0KllZNkHrpeEKoQahAaESkw7O3KISwwNiLKk8UNJovCZ64w83Y9mZnGvJhn542fJaTjCt+MIaRXJQXPr+P1R1lc/Il1nMfjbFi8kZmnZiqDAwoHr1iSGhi3avvocjW+146zbOPIx5diE79pu8zjys+p8+67t6vi+irt20ShGJ9M+PqQp1usb0e0XjrhuCSnE95YWvXfh7bd1yMF+aKXlePc8VJ5lOdi2kGOzZ25rakTNzWbf+sYRdajHOddy0H/QpT3TniTCCrKicc/xvIjUheIVTA6LnKtCTaJTokjCWXBQdINLm2J53kfluz7e7j17rBSOJSN5hBSlc62AVFULsZZSlPspxdW3MWaUzOBxE6mQIolciWDxfhnFQVE6UEKgKsBZncUnH1I1UjmSi3KK0feEfkUogygJyThAs5FAxfdfb79fdOUaP4hiLvpOwZ5D9W5yUcLyicpzQo2ipNSgWAZtocl8lBc19dUuOi8W7UUKVchpiaCSSDVIy4zGbjDW0IAsUdwilNq/hy3xmqJIcWaeFKUdxWxL9xjMzCyvcu+3RV/R13i8dhd7u4qSRTE7u0FMcaJZ1wQdh8d3+4h+5Sb5ynbqCkVlZry5QjfNvipPoWXa4Y56ROSZqESZLvJ9iUdklH5enoj4RUIOUgXh6gD9udfxFTXi9/u43dVMRSCAUc538fcUC8cOUVnxU/zXeshtEfLt16n60Pmv5Z2k1dd3wGxy0xXJc3eWPT4+TlXVCPL50SvfOfr+ElIBUjlVVdqz61cohKOnaX55guIMuu0OGaD4s2lkW6iq6i/2+1sTSrYjvcuD+eFy2F+Fybu2wPxfKVQXR76o6Qd15t0+ItEv8VSZyPHdWeaxUjgWQhLvq4UuddK2PGVmvBVHn+tXN5Z62dxsxw0J2WZJHHAj5KQcXvzV14hVZH8wY5gVQdYgsa392U1KxjabOTatA060+5FeLfKUkrTv7Qvc9VyfhB0QQb94zxJaFJ09Ii9gBuXJxkbK8/JY0dFQxz3xOwSCu/u/Rw8etyyLke1tJIvxFj/F6XuU5ZM3IxfDErLEsn+OjqJcLtRO4DaO7JvcXCEngDSNdAv5fNQPXqQgMxAogAIWmvQbH02DzGBQaJ5vRDIrIu+ee3XYsZB10IwUskvw+WbY94PMIuVi/CYDtKiIX9ASIW0TCYueHmF8IPd+Xz5XDA3VIlXilx8rYiNXjPvE6bM6ANvttiyi2zN3lnOHj8NIQAFk+9HIt+5Rh2WkON8a2cLnraQGZGC2v1T6GZ2z9/D7jO6Y1cW3774S+auVGpSl6A/IkPc9Hdp/VaLHtumb8hEK33n8WCkcCyGJyxrAUa2BKVqlZPD5Qxo6cO6SRItcGkI+NNnE0NYv41OY53v+iJL6egL9r6H458+i/BK9EkoKNWUdCwjZQ/dd93hctLcPcXpwjprM/hwPFnrE+aMSZd8WPesOyRmDW7ckTp827bAjMzgHdQj7nS8Du/R+26877Dx5iZBEV7P3HHKR+sw5ltBUiAFFCekk9t2eISD0lFCZ6OvpZryhAbUUcXIxQMEh005vdy+TA5OoeQfj34jsHUtItFguGngf7cRR+MQdTlBLYrBY6FnROCNSxTlI9eZ4KAeD5jGzSFfirfY8vve9VwkEM/cJsLdirK/HyS1gUFsE1cu+GfD+oJY1EnX6ES/YL5L6cgp1CP+jwu4TPWvCvzdYWRSFTmetoGQU49bR5Z7RGWzZDGgSDeoIR7AwExSL0BF1nf7oSpYj/ijxrgn9jJDSn7f0Cb8jcptbaPqDxwwQ4NA5x0rhWA6II/EN5fCZctiSGFM9ZjA4Y2aXKbHY0s+NX/4tLF8Vb765iBSiJvb3KQ41cuLxKnK7X/7c+8QlviQZc8Ud5p76e15bkPX/IyFRUV7JdF0rlY6MqSQqtovuYap5U9QE8il5rQHli/NKUycfsbw8ZFlHm1XiQgXe36BYqxGJq0a5VZbKOGblINWYdkrnoDqX2nzdE3poF0fYrtlitOwiDz9URVNxMUrtw1YrVMknJ09T2XiR6qpqmn3NSCKVEj6fOJ0ngmMjhGtqKLUsVFd3z7arSwk151NiWUQURXoC4/B/DsmiSU3888gKoS2LaDTKB6PFpI8wMaioCMViPCuRqxz2YaFtaA+iexfZEXVr4vWODspVvr+/RChSQLWyzGC2RfKtC+T13X8fthwfdbuvmxXSUW1/TfvmS08CAXHmjGj56nOk7/G+8j002t9YqRGyRaShgZLLl48851gpHMsdYml/lrwk4V+zWdpyOPWc0G1RY1Xzh0v/mIATQM4JZFk0N1tUVKxhWw4nl7+LrAeFXt6/LO39b2HJKLKnJBrCwprMHPMha/noMmwR1BTftkNoUYxYw3QqRcvcHPIdHZ18KvN/u4wSyxo4LA1Tqny6M+ekbDQ0hpRAC54TUaf2y0sLvSF0UYTmxXQGsWMJxxJW6iLjkzP0SDynOfxdPlRsHPlRWazqPMPPzZLzgkxsQMbcMqP9md/hgc22cSyHZ545SfMrC2jxkN06tYwmDKR0YesV3BMrSEVobgiF74GBd4ROiH2fUymBQDvLS/d+h23nOygfO7yiHET67TvPt6wHith1ZBA4+/vKkTrN/7lCfzyDimOckLJWcH6kJVLr32XIttDJQ+X6hJbF0qlP/1L79l+N9FJQUMrQ0NHv9VgpHMvniu+J8ww/e5n0oNDfEuoRN7tS+GQRf+WblI17tvWWJ5Bs0k0jqLf3L7leHUjmvqckVmV8AOsS0jBSOepLGZv64WsvCMdnM3K2+b7vl87+PRtB82ZAi6uZNSXwy2eQPxLSIxhbbwsmTsNGSuM0NNLk8xnc/6O6w3fiqoF3e3w0t+URT5whqrysMlu5onqSGuCWpnHiCbNyybreSogWJ1NHHXDY559/liVrieLiNMloM/XJgwNCiyvUXYtCaZQTRakkkp+GoWv4uh++d/ukREDnqPMUg89yeS7ZuG/OOyyNjSYOoeehQ8di7DlJD8lX1ETwPgO0LFukmkVLSxDLqmNU3VQ0RZh1RNIn6sr6CDhhUgeus5BS6LNFZC+isR6alaU0LFGUEuPptPdu/4aajySkKD5fFbGY8dW0yEwCkxIlur/h/pgQ7wu8xSRtfvQb+t9+8T/oT/5dqVb8P1Tqv83VJ/+HRf2ZEnJ++cdKRVxZlqTAtyWF9Cf/zT+T/tW/kqLRz7/B7s9aMyT9umJPnRML0p+qWf+TOvVbkmK716RoUvqX/07Of+sorIgaJfVkbvnLMfFnUf3Pfyd494c+tP1J9mG/Lf1vPrVJqjyTq992/if9//Rn+p8lSUHp0V+X5Cqm/6ekfy1NSbslS5Lfp4As6X+QIt+VnH8nXc3d0ekfx6XxKv2vE3N67l9Z+j//H/+N/v2f/ar+NPlvZF2VFJB25deP5Ne/03+lj/TH+g///v8t/Y/7dTpXKKlP8v8Hr/5/KOm/3z/+//k7H+ifhP5T/Y///Z/IffglBeauHHi+wP8qacon5f1/pT/5U+nP2iUVKPJnP9D1878kyX/3V/FvJVd/WynNSCoQSH/67/y66Ej5Ycnea8+wJEeb584pBEaNayGroP9JBx5KUkRLspWjv6eA/kzWgWN5knYOVSXmoQP+bUDy+8slbSpcUyPfR20KT0tOmXRpdFY58bj+rc5IcrwrkfRvlf+7/4sW1nekP52VX52SpPJd6VtsaOZ/mdB3d1+RbQWkQ3X5m7X9B1H83yk48Ueytf9mHUnu/RZxvFL44sqmRCgiJn56CVWP4yyeRMlNpCTqvI3y81k55RAKeddYs2h6C4XD6EtfQvmfY4M9HOz0INLUyMa1CnyOMLNxM5PcLHEZ+9LbBEIpqpTmSx5Fhy3RLlE8s4kmltBS5OhyN+99301rBjmmPNtd4yCEsBs9UoXVb7E+bWgN5AjX8gLxGkTisrg9IFI9wh1ycb8xhMpKszDzMqiR6+LUhvD5D0FNPZmZ2f/ftbSHidda5v9CzGpFfOd0LvNTt0kqxrntK0wE1+98NkfG7BQW+pKDzlq4EltuG5/n54lLzKufjG/BlijNFz+dEUUfZc4bQyrAdV0siZnkIuo9GKCYL8PLtfeMcrJm9O3M5OUz2iNCkyKlaRZlYZzcjeY5N435aErCkN35UUkJ6mxFTjOyilheHiORiKJp9w5H9GyecGYdJJuQbEYkLFf4NUVzZzf/4KV/gG0NcRAG+jdLWjXAbFsXf/obXZwJi+loFHtoiBnv+H2N9cdK4Ystti2K21MoGkGyiKvUfKi5uVQGG5H8KH12L3irqbSUrXJh5eVw8dGvYeCTdym/JIRmjzYZfK6kUjzfEWG5RAxf0F6nVkgUFT2J83gcf1wUqIi4/KRlSABDpWKrRETvArs9UmZlmEDXhN4vRZaDKg5ReNhi6PQJ6n+pB10RiRZ55G0FVCjMeQknKfyNoqBAyG8GsO480RxupkqFfFvl+3QN2XLxzn2lpTJImdNCF4uQvOAvn4zTVmEyg3RP6UWWVYjkI//RCn502rpnzIRyhOofRcqnV+LvyU/p3aCPe5KHFOBLZ0Tj7AiqqaHQEq4HJLigAjoqV3hWH3FVIUrLe9BLDyP/vnM85L0jSQaZ5VGXuJEE3dtfoyEUYuCmqJ8XyvkyOlmKQWEZ5/yohCWLkmwHdiTiOe/T3rk3TF1f1P6kxCPEK33tVTIQXFcmyMuUU0xSOTTqLU6qiNw76Ez+sqWYOylUfjbJkSgNprna1kqtK0rzfejRQkpVy2UNHyuFY7k/6akXtU8YnH9ZQwNVbT1IYqL0PL6hIVQrrF2DiJHE6KgIusL2ZzqyH/OxHXTkWlYurq/7Aetjk7HpbieEukxYf7WEz3MUn5QI1XahklqkHkoUMxxJEtvaRj6Xw7TJe+IX8gknIJzNhLExT2ybY23GJ2Db4rWZZlq8mbi2zTUaqUcqZkni7TJRVSUMIieHIRnqC8mc6w/4CUhcaxG/lrvJoDoIesyne88ZctDmEEdSeG/v/x8sFO6czGw/JkOJXS4TmSyZOIdZH9oKELKW+Nu+b9Ghks9p5xwy1BDnFeNld+hoJ6sj5Iopnxio3Ob5vlUms2NFmoVaRLs6aJpYp8kn/K7YDQq90o9KDwIC/D4/O+s7KG6hbvM+05Fr/P7GB+RLjDhiblQYH8RB39Wc/Diy2dCMCcJbFC9IvKkAAX0NqRKffIYBWJtIDtuZd74mdn/wMfJnP+MY2yo2/UldSLVoWUZp/lV+gwu9KBm95zn+ByivrbiNX51+jpA2zMo4s2I6fbxSOJb7Ehe/eigOG2ZJ+XzIdx7JRY7DVwIBkhK5uWJh0VzT6w9wfaeLjptnzXnaxszUDhJ3FTcXM3XjwagpcnMq2a75Jj4FCffv74/Gopw6ZVA+ITlUaZgC3cmfFFEYfbULLaYwgXUHB7r5s6JhXbRfEy3hjAKKoFgQfW0DxePYbU3MvevzoraFIqK7u3tPKUUlPsuU2SAvjkFIFUxHa2h/oY0zN/c5hfZm7eXyZsctSN0o3Id2A0gOtmz6MnEQEnkRUe3rQT0+nr4sZp6TCQTM0G042g/ycoSCJ1DtDdRssfDCOuXJ8jva5m5iS4TmF+jPzT10zEbtfWhEBFdEwA0z5E/gqmfvnBKfWPf10SKb+f5+xja6eXeinodezccK6YAJp1/CrzCXwh9hlJJZ/Vg5+cx/85zH6eO1U+Gd9byhszTKIawdZIVQqJ2ExIwsfEoiuZzQCRJKoL4wsrPaPix+9fYUrfPZZQaJyCEkYcmP+l20oSz+rp9deuTD1eEJUZDDPF2STOT/kTEXRiyJMw9w77K2NpaeeppShSkOG+qSuNePj5XCsdyHOEh1mEQ3NoeZT2slktEosVCI6pMW00+d5/dcl5ov13Kz5XPKjpSgstkHqEuCRNzPRrEYl6hr9PbnCjNz9Gb/gTAFv/URKY9muUkh+jLBXnnCGq8l920frhr2bNZh5fCRLLYviDLLlFlYl0v6U6FCcbryMYKvhlA4jFVRTkODcBIivb5FVVUlV67U4bpGCZ1SmiEVIolEmTEZqaoI2c/QFSqmsrLyjmdLS9j5MpBVVZIbDBmqCu+4JYsGNZBMitVV0VNby+bHP0FtEXSiHP3+zh5FxVFy8tQpStbSRBZlSNwee4m72cbj2p95RnpEyCM/bJQIh8Nsb3srJ1lIDRQWipq0eKhWvPJhlEjwlb2yciVG1ECFLD5sfItG1dGsUpSXJG2JwtwQj+hZdrTDmIT8LjozfLBOrvaj4DeFqr12SuqAXyqiPMpcoXNi1wlgp6uRRJ2Eoxh5FwIovYacJGrIvQO6+xtdP+Clm8te5HjmXQhpCynM+bGfLaHNHRIUdTEHR4fjSvwYapjsfT60x8T7YBJRhPARSKmqdJqHWycolEOORLn2leOxUjiWB5DMjLoWqclz3lrMzfno7f1FuiqneNkWu5a99+FYn0MVnZ8vBgbu7/7mfoNYVh5zykquYsks6bPr6POh5xcN/4uEVIWtFhNIdsJiaXaWV/sjTPWIVycy5yzgykdBkXj9dYed7WVOL3/CtDfQW/MLJuJbFtacqD9jorKnrEGMPd3MqHMkRq0vo5VHkUR/vyh4RejFWRQMc+IuwVEz8pLYJMTEhFip0AEKkGlpD6JqWULl5ajrDaQ1c//ZkSMjVPfbz6JG4hkJRxayHmFO3QSPMAn1SHtJaJoknkiJ8VdE2vNt2JYhNpx3p9lZjnD69AqvTNsUyMKxLbqsbm54Jq967TPo3pBFtzVPhwLcXDnBlD3N2ZVXiaqJWVmsSEjLWNba3juXhLUk5ArbsrHsLBLAEZFKnciq+1WkQWSJkyUr2G9kgwC6WLEq0LSNYmJZS9iHYK65P3UY/Qc2VvykCayczrSdOc9aEZpQ1srv/sSRxQk7iwyyTKg9gKUFDHWIieKPRsUrszZdpaV0dXUhiZycHMbGRg+UZ508+H3ZGueEkmhpCcvrr7OWRY+aqL5DyYj8/Hz+aPA2BToEtjh1rBSO5WeQHIUYV5hZidu6QDrdgG3XoNwgWrY4uJK4cM+yfD5DVXE/931K4o9UTnFVBI0aJ2DyAep9RmJu4jzl5e/wjc18KlfOExsQXUmDz25QA/9a5fS9FueZa6LWySGoXGoqKmkK96L6eg8hdIHVK6KoXjysfQbMgMQHMrz+CSVRjoPfL2p7RNxv7iGJ3PMyg0PT0fV0XZFMmv9b3AYa68yAlNIhts1gEEX/DtLvINWiq2to9N4U3TnKYV0r2NpCEmm/H/vMUdTYMgpmWsgnci+LZLVwPZPNuERliUjPpijIdQgES6iZqeXD8AV+PXia3J1cSjy/Qtire61ESZXIHU3zkGxKlYtl99G4u4jtnSMJv5PmTINNnuQpCfHlHBG0xK+8/Ltcn/odfDL29a6qKuKhfX9Lk3xkVj9POi04qWfNsXpRPL5N4syvoSfnUVLkNCprpeAgNaAfXcBOOpzXk/vtEBcvlb9EoiGBmpqoShp/2f1/MyX4fQv8s39+jrap/f2xBotXxtOoxkeNEgQk0oUJnv4Xn1BaVUVD1Dzjakklt8/c2LuuXOKj3Cb88hta81CIEzNdNARdIjk5bFkWam4mdfGrONnO6Xrt+5hKRGrWwtE4RimZ/c0TzcdKQQH9+WCRXyA5KzNzq/WJNb+wg0JOBOkr3G15m4i8QPBeKS3lcL8Z1IKyaFcXmfy2lTLpHu91Ta5sFhUi4ouwnRK+tVqkFL0JceGGyPWleV0f8srZXOrUzZYayHFyjCNxtIOnP2rhlReb6IvNoK4e5O4Puj5PDvenSFZ/ClwUHT3GNFSrMAf8F1nUDecc4QbFTkREvGA3yWHo4b/FxEePHPlsZtUwjPQBUjVaF6lf3Hf2R464plCFrGnNmyEnyJAH2jpLSBa+SJbDMim0LfwB85wLWmBYufRlledIvBsRy0VF3P6l2+TGRJUsAkpz46zpE4MR8YPT4p84WWgej5TPUSfv6VOvXbyEL47w9/jxRXzGsX3tLD3evfrOLdOhbgKRHXRGPP1sM21V+w7Y7Lqdseuwwy+ZtukaoCnaRO3mM+w8HyaVsFCvspSCi9RNZNKs9s5EvBn05CRqq2Dk9sdMP52iZXeSFi+504N8O45fTPydiHG6nxByhX9GPO8TdY5DfzBISOLhy2dZ74qRowxjbD9nNMFTno/GtsRgWPyyPtjvB9FKtPOsWdloGwV8PNzbhm59jIkSb8Tyvt+9OjkOiobRuzuoq9Kg2Bwx/cMfHSsF9cjYJ3/e9fgbID6JIYk/ahDVbTLMoEXbHJmkRaJV4s3tACNHOHv3pRCDX7+POoRjaCDbUd3AXRkiPbGUxqc5tuq28HXKIIQkht4V8f9GpBsslhXC77MIyM9w8wiTXxH694PoZhR/yN4bZDUaQL5Thtm106wIWg7fs0dsZfenA7xBJ7hbJKyvWGhS+NbFFZVzo+ePSSRymU/8Muuvfnokc+zWZOb/IJKN7RN/q0t8s8UMbFuf156T/yVyr6ExkSMfs5ao2zR8+5lzRiWelzEBuXJxZB1crTiib0O0WRY+n0uRxDUFuKY3+cj3PI4ttjdEyGf6zh7cNOu7M876KIa91Ozb0Q5f3voylmOh782hMZnJm68YuSNo3Yd8RgFuT03u1yctk2NgXPgSW2gxQ+LncPHiJd57b5Wvjf42xdGiI9vk408msR2Huc2PzD7XRXY5X/f9F8w5aertj1GvfU8z3WFJT4o+x8/vzv4uFVaF6ROVIvBVsdEpijrymZycRKrE7xvHpzf2rm2QQ8vkTQasaTRhzEu/vyyendz/5q7K4kbvELF4zHyL18W5kxaaGMNAcBNIfQcnMC2F6NYYVb2tVLQ2mWRBO+J7P/rhsVI4lgeTYoluHW22KZMfqYAmeQl4tO+8SupoKupaiXOfd98Nh7K288aZ/Hj2sTTyzAixljI6E/smmowEJDpViF9+VJpAO2+iH4coqxaVr/Tg97dwrUt8/2Hxsa5TnfslyrtFcU8JuVU+cnyi6Iq4WCj03GUUvmRmVVkUE/P5JpfEwXoXYegQ7r9tfa7FuXOlRBXlk8JXKKvLpyHczM3H/inhcMud15Tv/19XZgK/EhLva5deOXcktD8oeai8GwVz0Qv9ZIK/JLPC+GRSVFQYSul6mRn+IyrkZT3MWd0Jf+yp9vFGcRHPXKzl6xqm3CunqEjk+MpISBRonuCeEs96dxK5rkvHhWcJjdbjnxA3B1K0zHvPXF6OqoRKvYxi/m30YiYzmYXm/1M06GWgqw1iXcijdFjGbm/JOKiHxWpOPR2RBm6+eYW84jAG5uut3Ep2kBOifHMUnbQof2lk//nCoqS9BGfY4ULjK1hFp5D/MArr7pIuNxTg31ttp6xtf6UZlM3pnBJvhi80lkATuWRPdE5IDJeLQsdGL19g1xXFxeLrWe/+mkR3URF+D/6d+5ho6L6IVIJZAfm9/rh/TTAk8gpE8lQXifZ2s79CjB8rhWP5c0u5iyaFusRUzVUMxNMcc+RQZtmMO2bwLz/i+hyZmakt3ZVeesl2WZ084pgt8myLb1o+dh6e4rMaY+u2JILe6iRx5jFuWi8T1xU0E0RdN9CZPIKuywdfe41Yfz39N+XlqXZxAw6bxc8yPPEWrZNRWiNicFT4DuQasDCZxLwPvEtZKBUZzLsziHSKNa3hyMGyLAKBz0ue4iBNE1OS4ZlhrG0HyaHVaaXAuneA3+anottzMIYlHpMo8Gs/ylnCkstpCeOY7iHblnxYxqZE/4B46WsuZyNrxLTBgPqZ9p45KBEstAhMOmy/Kk78swi3Rgf3/AKZCOyhEZvWK3M86x7OPtZIZvCrkGi7FOLGazfIrfDq1NtD+pEhZqwFA8UMC42IaRUj5z3c6VMmF7PEpqZN/mef2HRzsO1OJidFYs1iYTFrlTp4CVUts/DlJ4gXR5EmyUTB+0fFKb/QwidYjsvGRx8ZhRIQKhQrt1YIBUMczht+P5LrildlEjlVKsFekKH8yB3DRGTPoap1o/wcURkU446fHp2iyosjsDdE4JzQ+Cjayh7kN8k2S15vc3k2L/MN2uTKziKRFJJrvjtbaLIFqZFJmUncD394rBSQRE+0BzX+/OvxN1Kqz6FPZQZF375t198lHnfGGC9tY3GillIdpLzelwRSHR0y5qbMfp9ER6VQjojoJLYOOlBdic5+UVSbz649T/CsWRXUySQReb99g7AvjK7/AFlRlB+l61nheOYcy+cQ/QdX0HyZcfhui1DjW2y8P0+05hsolMse8+ecOFdwbu/eMRXSoB+QiaK9Q14RLU+awTnqzYbLO8t5/3duEg5/XlRqF1ITC+FFmvufoFz9xky32XPv62qF5k6i7gQmbajNuffT9Fyuom9VKLcHWys8rBRmhm6R6tnPdBZRJs1mPpFIGa/+Y1H0mAjliqgVJaIoWxLbPeJiv/jvtqv5v+S1Mh+a4lqODijFmHx8tbLD+GUcB107Q/SMDigoScaElPn/IVF3SiRe6kXqQKPT9LfOENaG+TZ7ZGifky6urrHTNYGazGohqjwUXUWWQzQrI5ttFxGJ3N67T9VUEzkNhYQHTmJHDvYnSya2RO9FsSwxEY0aE9EHQm1php9rJxC2UM/ZB2ZJLT4nVttEb0CEuiNsWheJKWZWnJtCegHDout9PzOi7mPxybBFpyKcjBqU0YVoN1+PGnh1Ipo9wcgOaosQ1PqeUu5SF+NqMgF6EsZ8uWEmQXXCrCL8hNSA0xPjh8c+BfMxdFdNoceXSO+KA1j3Y8mSQUpUx2mJlqDoOiJjk6v9ZOu+RlGfiCF/PVI5BcqyJx+QKFIFYRmKA0lcUA6uREOJjLNzVYSSxjR0RXGUU4izLRpDIidHJJM2Hc4u3zx7lhrXZVAySAufePLyBlZyBaVFY+H+asTnD3Dzq/8K5YyhahGcDxIpnUfpz58JJqW9LG+OI5KpOH75yAkGOX3jBgqLniqLPOVQWpHG2rSoiPsZb5/by1R3b8lBEqmz6xRNLyFZaKUFrSe5I6eyZOg3auQhmtpxnLMkkxY51dU0V5TQOi3cVDNxJTGrERNQGG8xq7e01/bVEk2qo1eFlJXFyB30k/alefeHi5xvb+Z3zorlSTHfKubnSxlOJMiVuOBRaSzE4xT6fMTk8mpJD0oGcHQP82Dz/v+xpM1TVzepzFnA+Ip8jO1FDQeRwqgshmJ+pA16NEGzPJbbwCB66JsmvkElSIb986YTYD1Zi8ZqkYYoWSghOZZktU8kIyJDAVJVJb73m+e5/Nxlcj57EssRzXvpYddQYoDBp18jMDmF/l4jK/bd+vLdxa4TTX4RaAowZ80SUQTbskiVpSgvFltKofQsyuvw0roWI0Wpi4qZQCGWkjRrm7P6JtVaIKpSzIB+hlyJT2XQedoVsXzxUNl7aGrKrLBKhHYTqMXdRx+lK1HbBupMo7YU0pOoOfLFXimUlIjOTnG+rY2x8nIsy8rCj98fRe8XSyxyZMwzqtUenNKyzKx+XiK1LMazMfh9feja796z3MsyKSifbmigrrbWlKnHkNr37itH1C+ZmIBZDaGTD2FZFu1t4ic300xNDZNIGHy8ZYkVFSEvUnQ151exXp44ENRVIDHoupw4sUxCSV7Sbb5/4/vs9v6/0JfCJgmLI6zFBqRbSM7e7LBDojNHDA9OIEWJRsXMzBClyqPb78f60jK6ISYnp+g58ys8t7KM63eQirEX/hiF7rK6OCAnzHNXieCrG8wsLRkfxtgMWjyCxM8SUi62BllUPdFoAzMz4uTJk3vnpCVGNYmUICKL6f4+ruVfYWBGLAVbkCrNPXXCiw3oo6igmNuDS/Sd3OH1pMWXp0w5waCYnTXlzsohphXz3kaeoyy3gXYJS11kqDnuK9grEsF6+WVO/vbVvX2XToqXLJFUNYZuow9LRV5+BYu977SqkmDnHzGTQS9lsPslwv6KvNwIFroqlt8W018VsWIhrZAhM7TXLJwNm5O/sYZGHWRlAA1DSN0s2C8RskIs2xb258TeZJ55P1Ynn9mpAbYj4rRivDw0QWeOGAsEeO/2Ank3xbg9x+KJs+iMheaFlr+Gz3+DF35pnoq1K2hkDFsWjuXsPZ/lPaslMyFzJKyo6JsXpVrDsiyjeGuExsdQOr2PtsovRINjyFox5rlhC10U61/klUIgYPDxsViMYCa1Xloo73ilcF/iZbW6ePEmlooNNDQvF3kDhFyhcaHqfGpqavboHw7LQP0Fzl4WT0VGUdhzFipIrWI4EoV6gXktGFqB1nrKaiy6JS5ohydiIcqDPiylGJJ4MiYWNkS3AkgJCiTqGopZSacOwI79ipJQKT1apCPQwROV0wxXtPFkap7dbheVXcCpEedKIpjBchFd+BpSIXGJoE9UJdP0yaVDQmVlhnRNtRRedElsvYlyclGRsZnPzIjSpja2n3yScLjhgdrZLrDJzTN2dkfi3Hwu2ixG1n6CmkKJuMrR2mnyEmF0OCBJBez5P9KiqbqOM1dTDPtLSeSKfDvKQH2IKktMDoqSSfHQw5O8UvcKOQmz+ksHRWVlBQ0KYUfFxg0dTJEpISUJynfv3NYZGfT6UPa+lg300XVUfBZJvJ53gW+tGKZW1xXjNcV8u6GXhk1xKdqD9HUkm2RDJ0UjZ8mtsSiRmPXKS+YGWL1a5T17IUVLW9S2dPPmQ2sU5yaplxlY4xKzDWK3SajkOexLy5xP5+GTqJ6ZQc1lbD/5KFORGON6E2PqOdofkyOT3+NNNfBBeAD/trioKgpztvgVRyzI4WYyzXKTWJ5xyN0ZQ4ojR+TtCpMjxEH5DxM6fZ3HW8pR+yPYL1fw2flxfvHWAu7tUtp6e/jXxeJmvpgbELcs8cmgePK5OiqbbH4rKhZKqnlSPlKqp6KigqKiEAUFTRSrniK9SamuoDmhdaHXhOpF44++wEphX/qozhvi5NycSVZfY3G/uPkvlvSRQdO4ErvfFK5fqCWNprND9Q08MuwXq2eE0qKrq4tA4GiziZ20ibQG2NkRCdmsKMgZid4N4QaEY4ucLfHmXCtt/9lDNPXZLMqsUEIJP0/UvsKHCx/w7ukUJ7PK9YVCPNdrUfh0DlpcOHTfFFKDIY0bFFZ7K2cUQ/5e1G1m9Sc7J4kFha4IhUXYX4H81YQGharCdMozISSfQq//S5RoQerhzBk/wx8NYGy3NmZWt4hy2vHV9bClyZ+p/cPPCk2KsMrQfB36oGMPAdUkUSLbJK0/fO26ULAaKR8tL6OWFP3l/dgyTuwdxfhd3xbPj4gXLfHkmmg4L7q9GIpVrRJVlEjEpuO5Xj4ojO1nett734dnzkGOnlhNsY+C8XOH0/bRecLjXXspRaMSrV5/8vvFme56lgeX6XZ9pLYveSlQzcqv6qEQ+sbB+yVVy4pexkSbV1M7eJW8lmE6T4hQQvTv7GA7DrmV4vTTwjcsdOZhr/4hQrIYnlhEa0OEHp2ldyhA57sfI+v+LAkhWQT8IZLxMAEZ+GzAZ5FUEFtxpCjyn0ZO3sFrA+JsjdCQQXm5sRhqbaVWxZQHK1BXFzkrS5yvEyOVIvqQaFtcZG1tmIr6R6jvdvjltlJ0/SnKFaBIA7S1tvFKbYyqqlnq9Da1TjNNgRuGl6tEqFsoJWaOlYKQmnjcamXJ128cWu1R9ma7x3KgneSxajaWid5MRrPn89B4U9Z580hpNGIShH9euUVqYcK+iX9aWKMJfNYifgl/VAwNGxqMbyyJojMOTtihXYYy4dGJIU5/c5jgS28Q8Ufw+S2ckNBDrWaZfOoU/ngYufZdU2xquxrNm4Tzgaz9a7Lpkc8sz3eFZsX26i0Cu/WsukL2dWy7g61RocQNtPZd8lVMo4TbLJxqYYj/HkPBNtS/hmQjdxP/8O59tXeXPIIyT3aCaRz3IZ5ViHJLBsbomQL6JQaUz1RG4YRF+0NiNaUDA7jl83HOsqgKhlB/P1I3fl0j0u3HqTNmwMOmHv9eRGwK+ebx1+mgg1grGD/c4Wcw1/UpO1e2j30F0ss+ZLcUqQq50+zYXV5fO9SfZOJCciVcBdlo/Bg9vd8Gml5HkYPveTzybQJ94f19LSPoqRrk70NWGM34jenE1t5KcjzwWxh00LeJKspK1xpadjn16DfoPvcIz/5wHqu3G8WOeuaDsq4kE0Nv8S+e22F8sJ+Tz4S42pTgTzqWqD/1LaRddEFm1ZS5Liz0y+34W1P4XPGEjIk1E3cSVJR+rTCuPAZ1lUBtgPgj4uHBQa4rxSU5uBKBPBt1ulRXi3NNwuoRARVhOMz8qMg2+SQyuUOmhPLFp8eQVCHlMlRWyqVLXUjvoDtYC48l006Zj791pJXuWa+dXrqBjkpm3vIcOn0/TtUQsgqJV4p4pdlXqzBjkRTlLxgzX36uOB0b5dH4ODfn58grLqanvJxcx6Fa4sS6uPDkAnInUe9jKBymRKJMSS5c+BqWdTjto5HEfBXR4RIz474mkxho52OaVUWhu0P8+79GemSXArWhWC7KfZ6RkUvU1ATRRiFaEcY0sU5EXnR1rlCtOLW0SlrTyE2hMlFaGcK/8ChnfyuMGvMwfoO7t0uxROAAtXUIqZeUfPsBc7VCwzZSC9UKkyexpGImfAkee3md5pqLB8q0Jf6BxKx7CZVVIUUoUgeOHI9SIh+VZA2sJSUU6jCUVJjI4+1D+3wclUqzVHdGfdsycQ8l8nNKraRLqjBmOiFF0HYHinjoGkvogmmHfIlw2UW0EEAv/z1Usp9ONTz0LNv5QcMm6u2rDNdh9RTu/T55NUX7cJhHC94kz1dseLE8pVJUY2M/X8Tmxc9YlkuJXkWKo4JNNFFJ0aMXyM9p4ObNPqzSLhS4N421EQepnCoJlZeSqvOR7xN9XSLUFEXK5WSeaM8iPZRPqLcQhXKwd1KUh0RlVj9IyziUX1eEZ4O9xP/IIXDxGd4sfoT/WgGeldjRJK/Ul/P9UnH7F8TaZCFtJQ8zpJtcVY5R/MEgvtxcXugS6kmhgoeRAlR/kR3N2bJTW8fQCy+j+vUDBGTHcqfYslhXVtauOWEGhFOklWZa01iqxdYfc195bAuFRkVNSwvPNDRgS1gqxu8243dtrjfeoP/pcR6uruZ6bQ2OIypcl3G/wwsnxS1tINnYmsGfEPISxs/I4URfI6prRbMvoYeyHLyWkC02OjaYbZhlakjkpO6sW01tLW1VTzM8/hTqy8HtN2aDvDwxNiM004zUiuPoyGxt9RIvrxqE0qwKcNWOa9vI9t0Jz1QRcoa8/9cxpqcMe6wZIB2ZXNQzyp7Rx+l1/oAXVEy/bGY0swdHrNIWb/hthk86PLtx8H5+OVgS45ohkBngrZfQbCVm0F9Gs7OMaR8VdkDuqH8UQ7lx57kHlUoZkZU+fhrs5g/0Jpb1JJppw1UtjkS54zCkKTImXMuxWHcX9u5pWd4KtFGsV+63Q2hqivXHA1h9llHWMZmMa1/9MhkzVcvVyxQPr/Lm8E+9iOa1vbadmPURWJhk8fpn2F93WLiybhhqF4VVIL7ZLqbUQM36FXSvzGvrXv/y+pj6xelKH+uLNufHxPrsGgtftsn32qW1V5TXHC7HwUT6t3q/Z00f84678uOTjd+1caZsbNk4En7LmFv9trA8gkjbttm0EzylQdpsiydsm5BEYe4jTHT3Mi+hqIXGBpCVZutYKRipdop4IrKF/OP7/PPHcqQ0SRTc8UFYSHHicuhRhEb56VUed9qajxBXqK8FJRLEEwHqm8VzEr93QXzn/BBdbq/J+LZUiDqK0Eui/t1d5qxNYrEQJxSnoamJ5lCId84JNyWS6qLBv8HOx2GTWyAaRaksnH+p0KQIbgfxzw8QWWzEyct2zsY5EI0cFgrVsH1xkEDAOD3DZ0VhopfT6mdtRqhROG2ifY/Wogm/QuTHRK1qSExXcmZ9nSs33kJnvoNWrEOJWnLReqtHlb3fvu2+EE7r5t7veJEORFMraBHaipGWWLeaWe8M8lJAtDeLy7pMvjVNOLZNZXGU+vpVpBAxxfh9rdEsw97Zvmf+iWAGJAszyCe4k8ZZKORDm6137j9CbBnOnU55A3jKh3UuRL4/xLpy99hTvx4Qiy3iqd1dntUGvgySaMUifuucgWm+Jkpbu/jwIRHtLiF+bn+FGgmLH5y/QIWvC50XSopgSYTmN/tRlzHZVVwNkR4OcU5TpBXB0Ksc9A/szvxt7IJGzqbiZlCPivKUWK4ySr4k3nXvfp0hd6yX8VmFxJuXX+BHyWnKvy3K++P8MGrg1dsSgZDYvTyOMhTagThqXr2j3BMnRDolYoEYay0f8oca5v/mjHG1vY+FSAPfbxA/aRTf6Ongo/Fa2n49ySmJwe5ues41sWo1EDk9z8PXzvKW00ZfvIlkzTRvF4lQYZKmuZOoQEz96PEvtlIISOxIRPLzqV1cQXr7516nv87iSkydFNHU0TQXYZnI5cZk8gAx2edJvKEF23+Zc0HxeL34qYzZIRwJ83pBB9uXPubtnS06yudRg/C3i1JZLCnBRYna+noU9FYlp06RmLxM+Xj2PWzv3WZI4Lz926No/iLmgwxzWqfxa5YKtbGqqrvUdxjpdSRjzpjXeUqVxicR7triH+6GqJMwOY2DxCR+T5U0fa+MzZUVwp0rqC0HY4vPySo3zr4JZV/aXFHeJPwpF0dRzhZ0ovpW5k/tU1tHJJ64JVbcPm6/NcjJQAcNDUJqIxgQ13dEJBKh5qnvotTzSCbA7y0JZ1O0hGWU8yE+nzLFmTqiTmbm3XSX9vEkEzvh/W5VDpYSKHmLxG9ew16c4cdv1FEv8VZLCxcGu7AbRfutFIPaJLAHLz2L1GjMKk0TKH7Co0PfRm3ze+WHIlG2fuENVFmJWQHEKQwW0tDw/F7SodKrIjVcSnz16ziJCGYmfmiAH19CyXp08aa3L4o66kic/0U2FGVE76DYSeTk3Pv5D4iPuKI4CpKrIImYDqDhkhpiT/kGZJy/e9cOouycC36hRjEmseiIihbRHRYf14p5NfKSLmOrmvg3EizKOKpDbWLZqiW8VYZ79UWanE7aGoV1zaG18izBblH/y0KFYvJHF7/YSiGDr1c6jYZHMHkC7p2g/IssdRL/0DYQxZPhOZyJrKjKJqFyYdkWi99ZfaBEJHMSUW8JbEu4JaUsP9XKy4Pd9D/xJOMLPty4vYcPL5X4qvxsafnAfebmhDM+gopvHEqeYmHy8vYgLbCY2b+9jd6b3zvX9tBChTJEcEfX1yJjclCtiNYm+LLmyJfh3O+0PTqPUXmzxjCuJgxNwYFyPh/BUi4xIvFvJfrWCpCGaVQDNarFscXDpeLJJ/1c9z/F6EYJ0hyWkyCmGM9qnFyZic/JTMYu296ruyXPrGN7ppqUDF3JoTo8aEKZEolWzSDLv2dCqZkXtZFzaHwRaZPl998nmEqx4XgYe8tiIWrhTAhtrLGoACHPdGYNz7KQ+DKGFqOHAnXQPdmNwm0sqA5LQ0gpgskkM++/i1EIpm1PLcSw7UmkRSTR1itKuvOZHfxPiN9BpDiNFGBhdRXN2ehsxkQ6hIq6eaf7jxlrSlNZbqNX7Kw8HZ8veSrgJQ0TVRPnVc/cmAw1imeqXr3n9RaHFVdPj7iYt2icwyHzjsZGRCppEQnZTE0JOYvmfYaEtIAli8UKEWizmZZYXJIX7GibFc2i+b3xwxNfbKVg2aKgWlTG67je+RImDd7nowq+cOLxsZTli/OezV4XC1Dxfmftj4vGtNBjJyhsvX+ysGxJpcTq6iK1oS+zWZ+gyBaqDbG59jiPJyfYVedB+/SQzDJdIllzmZaCeZN8RmbAOyvReEHIEk06T59M3oBaiaLNTXTqFPrffxs55jnO6MHy3CoqfFE/FRpGKuD1qmK+MbpLYX09yl1Fbj++mEPlZhbksF/ohPmQLxxRZq7EhwMtnFwt59ULJsfAuEReWOw8Lt6Jj9OuIb67IL5bVUtT/Rg9dj0hhVjXFkk9jiuXBuXhlzirAC26S74ECQMSOKSgIkJbh8/LQTp5YF9YotgSqjErx08XRHWhSCufKtno3THWSj+jtOAmHY6wPD6eL73/PrFEgtnaII+WP8atwDhvXexmqdgofG1Xo0gJF2SuKbxajJlJJwkoSSovhRxRWFODVnJRng/b9pOfP3Cwzl+7jDYLUO0Y+vYwiRkRaq5m7aHvkEzuo5Jqq6vR6CaSTWGt0KpNTfN5gzDa3ESNfQz8+DXy2odoLz6BLstLmXq0lEm01jYgmfqkdJDCRddK0DshE1C5IaMgvGM+GS4o87z7iXVOyTiZM99JRU4h270ifN7sy7kq2n+hicHBPvJ3Jrk4uo3OTCNHXFAh9rJ4oVLYj4h8vyh8I4xVXEpNzhaqbjfcURJf+6L7FPyu2OgX7XVJXr7dzyUN/dzr9NdS+sSITzScNr+DjW2oY99G75eXhD1moRcCB8nhfhYJimAyiN5ZN+H5Osp+nRVLEgxSMrJDhSr29m2eXmUqYj78BYl8leGqHr9f5Nkez48rNHYJvxU8mIEreMQ97iKheJpnVy5SqFfp62umKdJPQTRz7Qh5UfHTkwZNtHfd8N3Lq5TYmZ4jaHXRWRvkb/Xu8qr85KaEmk9QrpgZOD3xBUX/uo+gHAKBFSwrblYo7wkVGpNff+b8gLxVUZTDA/yDicXwcIClcvGYLRPrIYuAP0B1xGFWPr4uoSuj6HmzYhiUt1I6Ld56f4x4ws/i8MO0d7VTEhFVlkU8EMBX6eCbn0Sb+1xTClajYNXeis6VRws+tMKJ4Br5to2BwD6PzlRxQiLtBjnnCtsvgn4HXYqjWAg5KTYCj5O0Iyho+u7HOr33vu1hsxKekPApiF9+fNEiZnyvEGhI8GHd/OdGND8XmOP86P7EKCUDp5XEzo6wO1pRwjNj1gk9sX9tWCbCXxXVaHD8yLaXAigneMjM9GBy5sYN7PY2pn5x0IAzPF/qJ190pSCZ5fUTdWucvD3Hxb8G9fnrKhdVy3iwEEtiu6IV1e4rhbCvn482/CiWg/pfQKVRs7p4oHtUIJXSJpE4LdY3RCDXUzBHIML6tYZPIUYktLiIksms46MEdgJYYfPx+iUa1cBj6mJiRJSWeuetC01fZE4L5GZHqJ4WxsyydY/6WkjDaGQbX8jBziiQ3lr00iYmTiGJZYlo4O4MsNniyOQcKNsZ4dfsLn48fo0/cM8S9zD/tkIMa+TOawMDnFYVry37KYp7KR+jujPR+6I8Xh1vYPkZ+sGIhBTC51vF55i2ragQA6cT/PrsEulbVfjUb+I+7AK0NrXvfJXQjBh/f41AIkQ8PkN7ezcqiRB9IspPfusEy91lDE+OoEAz8igttLOD3tUBuGlAQlGLlRdeJn+1msHxQdzhGRSsIiCH9rYtupvDaLqb04OD6P1/RN3E75Nf1cb6qz8lWVSEtsRkh6hMBjFKZYO8+Ajvtpv30B48z43eF1l+fpB3hqcId+8Q/IP/mi7bNuR5R0g0GmXghQGs3IOKw5bNkM4SCJTe2aZZtOtxednmnGrkOyrPSBQDZ/4oa98RfeJzJBicwZHYisrAqD0LQPDKlS+2UgiExJmnxMsVTVy8nmPgkX8N6vXXSooMDHV06DqF9b1mX7IwCzkTxM7vocouIS+Qx0rpoygRMB3tvu/j0KUnaFOKhySD6w7KDM4hoeLsc+eQiqmUcBKL1FR17nXofakhf/tx7HAMXSjcm2HWPfc0hWUBJA+/nyN8t3xcOnGZ/I4OHg6/yu9c/8+pCjVh5edT6GY+4EUMRDD7Hi4qfB1VJ5CVBdFVHiYT2sFB4eIhPnvzYR80s/llKJYDqmFYZRTUBMmXiSpuVhOWfGzpNdoy1xzqr+XKmL9M7IQk8+wFh9vn/qRMxgS3KtGsC8jL8WwXi4JCoUAJG9dmqaoSBb1iyDLwVbtIFBQJFRWh+fmD5dYU8eLtHWK1Ib7z+ia/X/ET0t8rQrdE8YiIZHILxFdQxJhfIk0i/ju6Exn4qlBPKW82dXC27ix2TWa1l4dR6n5yVI5fMaQi8jVg2Emf7EX5ZhU5VyyKw/L6xFUUHDXoNAn5fBRVVBCuENsTfsL6FVSzy2uZPnqEVAZ6KCv7CQdidwLCSltUq4+jmHVr7uNd2BLnJUp2RYFr+nh2f3/Qd3tRY6ZvLAm3TVxY3OWFF17lctHlL7ZSUFTofdGkNLftYQ9zfywHZEH4/FFunXrfmC1sB+kTIhIL9hAl6qR/shc7OINPwp6VNxvVnTPVe0mzhRqyB9LPd8TaLR2otPzIY5OaJKgg0jxyRM2amNyZ5e33XLRRzMKprxM+c4a44gxbI2h+nqCWmep4HhUVYo9NMhu+jXFwmrocmO3bMv0lJvSGDmRGW9OdDtr1ku8af0LWPsc5Or9CSinmNE21TEKjDnVQpELMQPcyWm0w95+/j3b1aS/5fEYiMia1A+c5wjhbr+zvs8S0bezZkvHBbToWOyct5l+WsYX3ClkOjiU0NoYGcvG/JKYWlNVm2c7SBZy1ZbQcZGFhAcuyqJO4fSqC42TRkXjABUlU1NTR8vIrJguaJRZsL9Xod4RGhJM81C80Tia1Z788W3wggF5dRuViTqPEDtBNO+zFgqwtMWfbvLn6PAOn+llwFiiR6JcPtb/M2jPVjFj2HhvwgLJMg7bF/Lp5pr26OINYuaWHosDvLolTNnNHfjee89w5y5SXoc4nk4RnD/hwWO71/RVcRG8Oo5ebifY1MDrbj5Rmc/H+hvv/aJWC44rWEfFGZI6X6xdpb//51+mvpQQt9HACaRidqEOpBHZMxNcj+OQj3CL6fCV8WpHLyisi1xHFERkn2n3foxMFWqmRx2uvbbJNHAU6mI8hoAA7eh8D17PYZ1U9KEPhMPVP1RGoEWNBPyNDzaitmvjaLiWp1MEczz55dM4d3r4gQVXSoO+hjhGDK5dQe9a9bBmnYxbEMCFh6J/3g/eSvuQeV49kUFq77xxNeZEvh7OK0SYxeeCYi/S0WYn9Od6nrYMUGpIMnYcVIxsmG28Zo+palVE+jaL+hHhht56Hd/oJpGQUghwKO8/ydGs7djSGrru4YZOmNKoOnpFIqC2rTcVWPEEoa+AMSBQmbPbjMxykVsISdfUWualneabwEXyyUJmIT3nKJtGOZLHrlVMhkYyJtWrzfIatVaQ70iz6l3FnO+nwlxPTCs4Bf9F5jKkwxO7EI/RZ9dQmC0iPRRhw4vgkIrJQqJDxfD8ZOHGrTNY4n0yQWNulS2hoH6rbGu5ncvMKlXdJVyu1eO80Sma2fz5xltSRg/wJpDQ6M2Gi5L1nM31tl4zSbfXer8q0jyZrN+3Unl1ej4uKYijSh8KBPThyUl90peCItjbxyCMG1z3eIXTm4Af+RZSDA4aPra0QodAAu7uXkeoJKEBevIhvT69SWvKiYVhMluCEc4nWG7qHw2kxP086ZTp0rTJKIU62CabAK9MwcFahrZE9G3NcFhfUgZlNZaHH+sRwd5iGhh4a1cojF35Ee2cXCZkPqiko8vxCi6I+T/T7hB4VquzEDExvE1Qfvesf465skYgnSFgJ1LmIMWPd65kayVYKPl8FyYIP2LHC6LFdZFskxh+sjY6Wg+0kmUHh85hKpyRKKoT/A/FuWHtBZP6En6B1GcV85HReofWpW8YXkWeCt4pl4iO2wmPsrlWiaUNZUZzoICYL/5VdHgoZzp4OdVLreG164P4BpB12H8vHDMaHVoWWg+JthLVLfYNFXniWMpUQk0EnTXrnOeqgMCrSjok3qtcYyXiliY+IG5pzSyLdWcWvustcbq3mm7sfIf0/2KPkmNVBJNF8hMblOkLnhL/9DM22S8V5Meb303d6h9+VOKEVcpRDm/ZXj0nHpnM0e2KSR5v6ce42i5cwAApPKdi16Ow93llUqC2OutrvbC/lIi2hhA7UaU86jELuyN43Ia+crDp7OSS+0ErBJx9TmuKcM8ewxCcScma463LsCyC2LVZnhYluHUUqw3F6kWwcxzhX69VD66m38PlPYVkuclwaNc3zEtM/432z+eeNrHDYGRqTF1eiBeSYD2NOhirZJD2JsJ/qUMgWSVs8PfQyyXgVlrOJ5OPT+XlciVOtMugPewBLSWyJ9k5RtOfD8CHZjE8Okpefw+aJTTYCGfbPe5u3rGGL2dgs4XCYsbExekoKuf7lZ2kJBSnbWsSyxdraX8Q7u1c7ZUsKqd/g6+vMwGFZQj7haxLzzwgNi+m1GnbCXWhJdHR28sStW8xIxOObPP30MFeeESebRLDfximzcGwxWyfiPxFzrqiodujv9sr33sGdFCCTSGGcrRTSq6gyYRSHI6RCNNuOtkX2dxieFkuuKXNvIJZ4c1Jcy8lQadho3uTfyEAsjazjyJzjOi4HiPkcGZ9VW9b5dqYuXkyH46WLdQzZnK0RsoMg8yX+IDhO7oeZSYCF9H/CBN49wLusF6qdPbpvvWah8rVD8TdZYtkouz/ly6zkZu5y/rqQPUbto2GuXxfWgFDePPqim49s2RSqkF/UJkVa5sUqsath3C9Ckp2k0JoZQDImFJOa0UJFVUgumss3H4zdwFDled4sKMBeusR5+cxxlaOL5pqEirxI3p9NZmTw+IuLovBuDn+fD/WXoUdv7+37ko4IsKqYRhMT5vhL/Xzpf3eFhqJcjGnkNMXFs1iyqMxE6y53ovw4iom1t8TbORdRqZjZFeOqwjguAziKUjHygiGiy7rfnMwMuqJCOE4eBcrne/mP0+p7h5Tj8FhBAY0Ksq4mEnKIaNTQFQeMbXzLK8eSn0q9TI5yOHkAMprPnTkSPHEcVFFx9DEJu0JUOEK6xinlkY7KQwMVEmkL881+Ec/pp7hlGeWZ+iQUQdqiM6eTJztvcfKceM9XQWtLPv7WuMkVUSGqVcJpfcrvT8Rpy4praFSQc/oIEwx6sD4Xq829zcDnR8o1s+C+GHr8JgrnoEITh6A8oRPetUVCtmjU4UxuJRxQisUXcZ0ddt+9QVWPH6u0FHWJy2eCXLp1mlA0RFFZEfJ1oN1Oc5/Ql1HqI8zKzrz7Kr+QTxSWm++jyBa9lbkkFMekTI3iypisgqqm2SrALfKUWMkKChxUHHdITFTkVTOu6n1Hc0wo9jwHKMVzcwnejFGcX4p8n5fKNUvqhXZkEgw15yB91/SjsDyFG0JWJ/EGl/p6r63fKUY/+aI7miUkP7OBWeSIwIcBDOf7f6wrhQB++bEC+/bUgoBNnVykfj7aeRHzsXoQN5/PRMG6A2jIv5eQ5KIcDC/+Vw6WHxLzJ8Rg2lA/m3LuhOAdFkfiRRml5J9eNFmh9o5byLPJBgrD6O/3opRB2fTpTuTGuESxxggoYBzNsVECXeJafQldXdVmMLDLCSvAM3qPV1LCWuhEihsKgQEZR3mr+eDL9AtIJwlcNCvLQQ1iFQjf1BpScu++FXY1T777Lv54G1I7i+q4gwrklE+E3hSqG0VdFkqKQGT/eMB1eO/cUaRyjRQpj4mj2s/nQ4NeciJbB4POdsTWoJ8pv0Ei+SWa5PAVObhqIXc9zeXLholWO6N7s9CwjHO5s7OTW7duIXVgBRrwL4vavCJ6rtSidw3VggJ+XJ+FE/HMQDsmJmGPGfWk0EP7ddoZM9+ctM7O4WdpuYHSWTEpVgD5LVS/vRfglSOHZkVRZ5RUw1kW1IWUYn3dxR/22kB+JIuRcBirp8egr+qEWy/SBUnaentR2CIgy5wbMH6NDH261S1GIiKa2ORL/dO8pmJaXfHRUzVMNxYjDaD6OOe6vMj3nd/CjBseR9VzQtV3vqt9evZpVJDPYN04PnmwU7+yVgGT7KHd6lqJFxby4uLLJHNLkWPa1s1uY+1w0ITo9+4VQAoaJ7uEGdcixndmp9g3Xx0c777gSsFgkz/88AyOZXM6dBrj4Pz8PL1/o8Qvzyl4hpODa8Q+echwuNst6MNOpH4kP6FQlj1+METzE8+SbGojM+PLG1rgA7XxtJowsyWjXHrkQSFvisCqqLANJYYa/Ayl70/BbpeJ06ViObCC7Gz4ZgEGFSO2F4SzY/avuyLe55kNLJnnGTAMkbbETs82F/yvIxWyJLHqmiQnGh1FO8+zKfGwQsQsfQ4JYhgpyJkr+4GNBbaYDmySrRSc3hrC1xc8zqczBNSJdWh2H5So7hCFpcYJGm0QH77Xz+iQ10Y+EbpoYJkdHQfrYetzoq0TQ1gtYiALy6+wGbj91UHiBeIFiTw1Ec84fXNEb3Mv/n4/0elB2r1ByfLqWtHZydytW0i1pL5VzuKacAuEP+xHoV60LPRrJ2mfjdH8RsgMyBX5qCYDkUygYMsBB/s+42rwCFOjnwOmk5zTxhzkhsxApgaMDfxD5PsQy+2iTyKmWoLBXpMQqVuYwLysvpwvfGfE467o1BDnrRVCWy1sX2yhrecFkreWOH/R5fdGzrCmNdQpdFFMPrvImDtKyKvT0LkqmqcLUccLKFlBMEN+GIpiBmDPfBTQHcgfx+vjKpF37iFrxIpQQoRCA5zvCrE0VIB6W5DPKJpgMIjdYqGBIBPduwwq5cWMiINsxGGkVc5oCKOkLqPTp710srVIX0fDfg/ZZVOmhykJN6PzLShuHP1faKWw43XSz+ovYDlCz/786/QXKSuW+J0LYtDV3sxlY2Cb+OwNA6N0y1B92KwG8vK4WCTWPnVIJHdRXR6lZc8QDscws5YhM2NTOQqLWDSf78jiJZkZvqFrLiCtNHlyjUmqWLwZvb+69ueIsrQwPoHDMQEiv13on8obHGSW/dmUw3VC3TG0tYEaKsh9egLbzSc//00sWYzKmAtzE7kH7cf3LfucWBUylBiRSIRIxIM2xoRTmFm55GO4lrJt/RVIE5w4189v/qiRSksEFWaqeIHhmoOKMxp06a5IH1mPfInzcrGV4+VT8I6FW7HKUtRJ5LvidJ2onChgYlR8WjBER+KrhpMpLIqi+eRtbqHOGqqfrsbtcAnW11GpDPWGjZRLXWcTG7cuIOXhq88jx0qbKNrp62j7NTQock8Kx2fs+6sSejyOCjJ5FR7FrBTbyaCPCjIxItLdzY2WhfIMNYglcSE/36PeMMnszXlRXIXpSmtvcB4vSlAVOxSFnhb5zwhnRNQ4Iqx6xiwRGMxBEzmUVpcSjnXhTDiMNAzTpz7jdxkXzbnN1KgGMzF5DOXXoFtJVFlBfrr8AIGgmyvOfV5SqWbtR/tfOPocv7+OsaoFNhaXGf3Jb6BYiLaCb7J05TdQfr5ZGVaNIUWwpIPoubv0VyNpdAcKyiJHtaT9IjVWhi8URir4YiuFjMPqM3vVYItX/gb7ErJmeZl9jkx0pOED6kUqMY6nDS/q1baQbbO0Fsf/yrtm9mAJyURszkqcUil7iYdyhMZkFEzDApYcVCzsvsw9lxjRKAkl9jnl76PujsQtNVOrBsZk+H+0pL2sYa5sFrWKFq0jePz3JSIx59qo1GJmwE9weZmlpSXsyWkW028Q0jeY7n7vzxmk2EWOynhZonullrqT+zmXl3Qwg5vlNGBZLyI5FBeL3j5hnetgZabGw7JX8dniH7LiejM9V2hFJBRnNIv3RrKwJRy/WDghpBiyJ41z0VqiR8M8/tAnuCPPcaJBLEyeZehPF8h7bolZGXNQXp7Flyccej4+ycvrC8z2DaKifAKOOCWLVQl7732FkKYp6Cyk99YgliwSSmTVyTNV5InJPi9m4A7pQcqKITkhZIsl2zZopnutzlwXzXnoLssyEeuyPUI/4c7NsRK+SFxzjI4IXfIcwepCKjKIIs8sNzpscTHnHve6Q04hzWBgqpl9y96+fk6pClsWi5WLZpDvEyo6hb6uA7EqB6RIaHQeLUS4n/ib/W/aEAYuLy1jjU+geA/Svs/BlfFn3VdZzhi2ncr6Jk8dOD4sywNrrHyxlcK2vJXC2+PYjk3L7v2lSvxrKRNC5WJLDazKx0ZLCydrRH1YDJwW8keR/DSqkS51oWQPWr2Fzj9HKmVhxZLeIGwjncORmf2l5ccoFNcMWvGD9231m1D5cHZdmoSGRfkjIl5+f/Uv0Dp5WmFLHilaSnsdeLXOIRH4jGys+0GpRQri5IrkP54mfruUMstCKS96NJlAl8oxg9SdEaUPJhGkNIm6Kpx60VzxNarlo00mkMguKUZjKWTbtLz1Lbq6jJ/G7xfRqFg7N8Xw6VNo+Qkkkfr6k1gdWbDAA8l+0pho6ke5UFKJPpHxebQl0XOrqOY8XUNFPKyH6KqeZr79OdIhoWguKkuSnBIVs41ccV0mr4jriZNEi2sJh4UqROuPW9l9uoFfD49wKq+R5eXMfX1IDagzB91qYaVwhfGcG9xXfgwJM5v/BlKWY3RUxqTyzgUDcriPCUNfSNTUCI0LFT6EJs6aiUsyScqOopagKSctrrjiXEMZUsIQzdlCSRE7NY97xMrz7pI2ZehQ3uQGofJa0ulis0L1zHTlURH3p42jdvcuZT5Zgto2vW/rPT6Xdlwyz1Bq/DP7K6ogai55sKBQFdIyXo/16Xc4/0weTafN5ELa51UakVjVPFIhbW1fcPNRRron3sN2HCauP/Jzr8u+5LMPrzyaudWyxLlHzLGQhFsq7NkuXnvnIs/sdpnBOWpw/5ZCSJd4Ve3MaxCTF8A49S7IhNCfUyH72b6M7EpE1Y51x9LzGiG59JeXE/vWMvFwHCeZJJIfJZb8Cgr0UD0tkm7m/vd+3uKOYopaCwkrAy/cwiB+HMItZ1DwLkgOR6yEm0krxOlLp3E7Y6Tk8pwyiipmVh0PNFv8PImhlnpUJbqe6aLBsYn76lByBj27zblfHDIZwprFpbfHcF1vdrghNjqDjJakMDNph8jgDdZHPR4pV+i0yLPT7ERWUN0nqP9/QPoGae95YsUi1i7UYkxVj8jMGEtjdazWP0Ys0MYjL7ezsSFuPfwyde/cYNQXIxnLJxIvpPmjG7w9JtznRPdmN1ZNO3lRPzkSy4qQs4cKaqM0N5fJtjZKtkvIP7NLeOUETs65LMLAI8QnFHQ5HExojz9CxN5A3SIWjRG34jixrHd0qJyAxEzkHE1NlllZeNQTZdK+w73r4H1H26uocFJmgLa1Z96pqTnH5KTYuoP59W6ygpQy16/JDPbvirGBOlpLSog0RXDCDmfiCZ6JxfaCwrpkiBYXlW3WCRGLu6jORKa36jpHEzwekrQO0XObOsU6Y5yNruEejqWyhM6J/QRJKcyKr4Tub76G5a2yvr03gcukHY7xjbMmY5tkaLmPlYLEzHdcbJ/D+ne/+3Ovy75k8fZnpQ082BEs3J0NFoNBbo+OUmIJOcL2u9heKsDSzRleVYAZPYdUhSNRWyMqK42DOCUzqBix7riPKzMDDsqsHG4pExi1xYhciiyLtcgZzkx+l/Qf/AGzP32JjWt+FLZp/2o7+SX5LOtuJoYssUXUFl9SD3lKkVki56uRcT3P0bPUJmZOl+BOG6Xjui6dGiFXRbgyAVml2kDDlpl5/SW8pyl3yjCs9legK4OozcatMKaPelt0LnyIHM+34Iqmrk7Ku7vRrdsonkbhXZzl6f0yXZFKisVZB9l+5ARok8tXZ8WrI8P8IBzmo/VpXNs6gNkvSOUw29PPepON78s2bkCUWX4G7CA/0dP8F995m+nFt7EfvU7AEZ2uMdP5fOL1U+JrCTHcP0P2Ssoq7sAZvkFdpyhvFFOuQ87zLuqa4K5gjEodSekQW1vnpb4pnsw5z2vf+EN2El8jd6OF23Y/sen1O84/LTF5xD328kAcIY6EVSj0NaGomF431By27eI4unMgvatkfQOOeSdaFeeunOZrk5O8rBkqlSL/l87yjQ/2c4fYqiOpCkaUPQkaYFNl3nH7IBvvA0kmI57FUyMOT58/4hxX7KVSPXsLdRgk27T7PQY0SEIJNt6XQWntlZlRMD1k8m4fKwWJ0c8uYvlcKr77XTM7OCLf7s9LKo7anxYVbYbL3v91UT7kUFKUlTQklTJIgnwRqSklVw7FKiYUClFQcIP4ZJz4iJnNBI4ov0MdvJvJXVCZ2T9EQPW0F58i158mv8JHqWXgpnbYpfyjISpqmlFB5145TVO55JQ/iiUv8cznSERipbCdYDDBGXkImMrrSHl0yEQ9Z861ZfPY0DSr04XYZaVceOghpHJyZRO8ZM5JpkVLTAaS6P/LeT8lKsGSZRA2aaHUCRT5u5gPuBWV/JpJOKMIKu0m6ThEr02jjldMndwAKu0/UKZfWXw64bNs7Ph55+WLlBYVsea6tGiEfSXpIJVRFUhyKa8NdSR4+TeSXHVNdOtNnaVPtTTWChVZxFVBuXb5DbnUhcN7Dt2SkgD//Op1SrJJ+hpy0NlmEtJBVtCzJQYqekR7XKw4tM8SOiXU2UFe3u/wXnCKdHEbckzcSKGVj69U7O4Kt0R7ZpkFiV6ZCUludnlhUVpYilvuGmdtxgxVXm58DiUyPgV5ZshFoRdqOaNhgke9w3l5hIsBpDOmryzZSBeyznsN6RMWkxusR3splDHpOBWiqETo4kX8EreV4BXl8EZRjwcDNe9GEj5ZvJTtY/lzSJ7Er5QefcxxHMrKyozvcMdM+pYvVFNwogt/vt+0j9dmO9rgMcUxE4HrZFCGX2ilkMH5fvaZH5/P4bt/jVYK2xLuksW3H/Pom90wslxOyiVUK8bPmY8mKWM6mnAnKQ/2I42i6mpUWorkItsi5KxxctBHujNNu8fbs6VNM2vJRG/2a18BOA5+j6ytfEJ8TacIahSpmoWvBmh/ZpuW7+8ysHEb+Ytx3TCjo6OM78SRvxu7UTi9osV1ybWDOLpXJjNPWg0b5m8+/TSN9QY5MeyIq59mzmnGcMVk3p2P7+sRRq1i9FYfKo9i6KpPmWdyhZrFeMlf/rua0ASFe3bri+T6N5nWjPm9sYnPCSHloaGHUCBAjk4yO3fbZPwLBtCrz6Jyk46xWw4LsnnJK9sv4ZcP+f3Yjo+LG6I8OYFOZmCNIaRhGqwGnnSfpLl5mRt/uEKXT6RlE5DLWq8MVPNLi5QlT1GVsfXn5aHmZgy8uJsedWfRYwyjnA7UendTx50Q2Sk0kX9wn2ujD/dzTAdUwa5meW/gG7z4wYssnVzlsfAN09/ahHL8SD66urqprTWDlK3gPl1EjhjsHCQ6kyasEIvyotlHRoyDWkJroi0umhIJphaXGHhhm9G+DDrqcZa+9S7x/HdJ5LWy+vEE558sZNUvptccmuXiUxjHH8A5KxR22fFm9yHHT9AW1pwYT4t1hfF5QYaOT4z6RVRReruvm0mZP4H8X0cSEZ+fD/XBn7+/RYVWPBPaSWXRifvwy+VaIMoHz85QXFvDpDvKc+3t7Na/jaV+1OygrzrGxOc3fcCRcC3hC/uwwxaO8wVXChvdBs722Wff8pTC1Z9znfZnjBEJRSzC1ybp7cvFnv4pKhkipNH9pWlrGw2RCG9rguWxXSpf8COFKdeGN0jNo7pcrL4woYAOIHfCmRy41TLOS7+Q692/tZWdtjaPGqCfpEJYCiC5hN5Yxm4sRdEICgfRWQdD0xw2kZKLoqFV9AyJuoeukrr+GfeT4rS02nDxnAgGKfbsnxOD1dTvZXHzkQ2pG1KAS9rErYnR9p+fIZwTxsyeQ6hcdE114d96gAjQP4cE1YmjDIR0jKGzVzyGVhFNn+BUp2cecRzU24utaYJ9fShuo0gA/aOL6MaTSGJAXXSokZBEf774sDLErtbR2bNIp1A4htJFaOslTHYuQy9tF6QJznTh8/uZLfLRdUYoUYk0RNgvoyRDIQ/Bs0PG/OM4orennjuDDAOk5FB/j+c+e+B32Ou/h8wjHUK5Xl9rbOSDRA4XdIXisVskTiSIfH+Lh39zgZ2vXMO1bQw1xDp+fxLXdZEsGvRletRDnUzWMe26dF14i4/0ZTZlYeeLoa0e+jKss6eFPyF8tk0wFCKQCBPwe7b0eIzQlTTWoymSj/g4/StBrjU4pCR2w/08q2Hm7W/TdOYGnbeENieJqAS/fLy9ucXrY8IKCdkirD6kGAP9i2in3rC2Zj/7xQA6bQJBX3u1k8r8o2HGDySW9hVBqAtZfqISbVrkjIbJ1zi7gfdwbn+T4Hg7YZ8fuSXIOkv/x4/Sk+wzFoCzhoKjXWIkKU58MEv1RwUMDHzBlYLqxJAr/pPPGrFt0dggdC73r5QQ78DSWI0GqudlOLNtcf58Aw0NPizLCwiyctDOHOrqQtWV6OEgUj2K21yo9aOpPPL1HdI62AHjihNQNdtK8D2JNkcoleQgdvlrSCKcG95XGmo0S+EPTptYgGeEPs5FEZHQDP7MYNIv45S7mEJt00h9lJSUEOsrJkelB0i67khD6Yj5XxBTU8ZsYBLSh5G+ytFUAQHqFDOxEeVhqium6GkJMD9/Dssb7GpVi/tXFoRYhp6JYAbbEI0ls+jsTSQX3Roh8S/n8NeUIjuI6l/H1QrJW696zlMf2n0f/e6P98o7r1xOyGL84wvUr+7b0NfTIu50klQvq+pG8mGFRM6OkK8GJV9AEZe3U7k0TFkoYsxQZ6U9XHxIIiIHef3DtkV9fQFSCksGcGDbETartmipFaVTn/PsafP+VFiI0k8fOp5nJh0BmUxjTzxBYyQT0DdIvr7KkmRAAJ81kGiw8PsryCBjzueKtNJUh4qIFkQo2doiFpVh//TJIIJOCd0SzeP1NNg2eRKOXM7pHIY91FNSllDOIoVaYkE75A4JnbzI3EO7fOnCl8hTgLzoaVRRgJY+RaE0iogZJaiRnyoJ+6TQkEjJwtV57NwGciyHxrf6kF2Fzj2MmsPIEhcu5PGE7ackZ5DqEvHCv6ghVejnuu4v4dLniXFk1yK5hJRLpVYIhUS0QF5Ue5RNPUmhooQURJqicWyeeokpxXnNm+RJXoa7pMiLBVF19RdcKVjC6hDfv2Xtz76tJf7iaS6M/dWS9nIIS2LBtvnF5eW936dOlSB1HYDr2Y7J5vTS7AyvFRfRM/gl9FwfqqrElsWJzLk9wioqQOoz90vIY0I09+1WN8V6BUsD5lkTQlNDSDloQcgvrubbjIyJuqdOUP/MqYMxAR7VseXYPPXRCk2bFv0y7KV2Vn2tiQm0az5Gy7J4+GQht2cHCIe9mAndBYlkeW2TKSuYQAvv79U/+9wyldClTto7xM2bl5BGsWyxtGyWv3/1fWkQ60Te3nvW5Rys0VeQEkSiW9x+eYmCAssMZIsWKaV42XmNpJ005/f3odLr+22oZeOncCyscAhrfh7pIazpARTxMPnW80jPE5CYt2SQZs9OU3+ih8ZTT2EoRvKYk/HNZNq1RqJRYTJR4tliybCb9oXE7IvWkXmIK6T9JD8SMzOWSYxzVmj6cD4MY46tr6+noaEBWTYnTh38LixZSCtYUfHESxYdBSXI6kWWOPlrYmJinFeqdmlp8fpgYSHq6zPXrwg54sRJGUTUgpe1TCY9qFYsA4XNEQunhP/VK+i138IZfZanPq2n58evMzP3GpbVzcp8F6eudaBvVCBnCj2RQM8sMTA8RNe1Al6cM+1SKTE2LlJJi/RSiHd8c1nfawtSNRobw8q5wNpakJXlOQosMfS2aCi8R8DefYsZn1ZOnNjbl0qZOlXNiJYdmRgYy7TBppqZUw1jlkX65k2CL7Zz29dDqVXifdPeOxsRK53l6JVXvuBK4RVRVCR+4/0L3kw8iBp1XxjqB5GAdqmRza1a8enQPhKnT7WU5+w7iJ9+OkAGnheWqHSqafnPgvSunKdyK5+qGj/JWIwGidwmsaIVxpTjUSscElcGD66shPT9fcYhJxmY3ZJMINeQkE989tYFnv+u0NYQujp013ZYDLUw+tg5tGBTERUfbYlw2Kx6lmVmdwU9rzCxc5bBKj/xjivIjnnBMXeRPBHIFTULXp3OnEXFxRTqMONnOdcUISnRc7GI0okmZCfQbg5+fz610zJ217/SvhTn68rFxEE0oKfzOVmzSDoogqEk/f3XUNMFb7YqlFtO9z/6N/T/kjchODVJ0z8sNxz4mTIt0XS+nqvnhtgtTCMVYyvBeL54MlfcWEhSU/gCZgJTj5qK0HPzhE+GCa+Gkdr4/DSNS2Tj1SXRkRY1mUxtsRgNZWUHlEBQB5FkqfV1nHjc9KcMft4JMnLlQ2prBqhRHanwEOFwGOkauU/faUpsacmhu1usz1ymurQDbcXQVCE5k2mUrMbAJz1F4Pfv0TFkJHfMe+ePHHq+HO8b8ImhoQZ86SSqqkKJBOGyMLGyclJWEilGUzpGSzyKSoNIKZTjopwc4gkLf7FQWtTYZuVlJcV5VzRftMltSROTmJXNbP4EOXVpdD5JyudjeViccUVDg7j6rMjvEbk/UzR9toyYd1495lFmiJgrus7LrDwjPUxoh/ILZhW4NF5FbUkt3dUzuME09gsRKgLjBC5UovV1FI/TOSRq10RSFyhS8xdcKXSJSp/47T5xQm2kFEY9O8j+izE7hMNhLMsiJDO7GpCh5zYO7rO0q53QAd6SKGFLWKkAsYvFNFnPoJNhVBphUmIoIiZ8ontbJpLy0KAdkZC7inY8KoBF4d6OEMhA0C4tYj3aScrfh8/XdaAd5Bozws3vfYBqE8TeOE14/dCKKU9oXjQ1ic73J9HZdZQ0M5PInllAlKqUup46s9JoE7r2+W3VtxNhZC57FprxEWR+m/KDasBRgkggwB/9xnMMrxYyvxpCdiGBQCkd29pThvctIaG42MoN4984/2DXevIt9xYKNLCH/24VCotAUDzZIZ7v228fR1Em2i4z/b392fr3nxB6WMa34zNmnjEZdFhQ+8nqf69UFBeLppOzxIoLsOQSVhcFcTHbKIOkKRGGJ+hhTLBU7tH1Ptd3x76CAtHUdJn39REvfn2Zgd97mH8yJt5448yBjGL7soF0zeQh8ZRC0A2x2XUBRw79JwYJJca8COMG7skcqnrORUrM/4EK5MvHzL6TWPJ7+PpSFF6iy7JozFyX+RbCdytXdHV1eT4KIdm06vQBZdcnMdAvVJvPsuZJSWR8L+fOGWDDc73bFAwLLS4h5dCTEs4bBuxxZtXmTNMazcWFfJgjWnr6+O1/+iHnd/20JRyeaghSqixU2c8qV3qQz+HhdN8eW29UubRokaQi+L34F8nEHqytNdJX084ft+3wxFkzLgQ0QuJcBTp1CsVGGX+3hfYlkfu0qFL/F1wpePLZ5CR+ZcwUd8uS9OCyvLxMNLqf9m9aYkOjBA45TaUwHRokrS1O+kXwqz2ooQZZLrpQji7/Lq7jx9n2OIZ8R99vO1P/zHGfRc3uFt2r5prN3EK6e8b4hVPrLC5+g8PYf8uycEdCKGxx2Z/khG/w4D0sIdfMQJygkHrYmcrl5myI05+8R1wGETVdWsdWbeeBa+7ZVn6Hjo82aPVMP0UqpFEvss8dZGMGnzBP6BGalWZUIhH04Th5uCvTqF1HMlN+vkygF3vRiwl8a/MosrOfseoBxNfvQ5ez9w0gnUDhEO7gIwT06N6xHIl3NE/a9wQmc5w492kuctvMc9QbKvEBmXScgzJBWz5lED/LaG6UyQKLgAyjaVo6YsVoYwbhtUP7Q0iPIF/OHc8xIaE1PyFfiNKgyyMzU6RiCwSDRzvtbQUYr5o9QCc+qlkiOkt+qoGJvqdMH9gII2fgc9ux5JNtWiTUJeK1JpZGqiOsTk60tqK8fLSyihOJHLTNh2TQOIff7YE+3ohUyIBErNKHXRk27ynzvh0h28KVe2As8HnfU7Pjo8SVh3KyCIyL4ZBZIbd551gpEXrHwnrsJWZCI4R9oliFTGXYUP+88sk4Cjicy+6jk1NYlp/b55+i87FaNNbKZO5j6LGbaP5VLP0RIQ1S5dulXvUMNjs8c2Ha8ChZDvLFDcjEox75wiuFIYmro1k8M6X62cxHHhb++VIRzCyji4pQrktZi1jSIp/oBQzKw6ZMwioVJ66Id5XL5fnHqclKUF8QKGPputBE3KTTOzRLKzuiDnv7eoRa7jze8NQr5M+LqdppfvLpl7ykOYfOKxN6SijhQ/PFhn30iHvtvtiO63uTpfImniqbwqksw58nCldEbECkHspuxy10ICfuQXEssVtmBr0iiUjt2+QM3zlgua5LZ1EXIQUprd7BuRWiLGpw4IoLJUu5HyqGconpLdET7aW57Dq6VoTKAqh0CNkuF78vLJ8o/dIDvP9INcodQxpCqkf2G+ilUeTzMfPc85T+Uv2B+8uy0GM7KGWgqA3l3+L01hyKuviVcbb3YEw8h+/3ZaQyyi+KoCKc1rMEA0UU5i9TpiNWOukhFM0227gYGGrWKrWkhJMP/TY9ysV1HHaLn+THZV/nn12oIel+D7+/iMLC15D8KFyKbtgobOzWZcky019UhCIRStu/juNEUNvrqM0jwNutQs7n06g3L4qtTQupFL/8PKwCcpuajB8hLw+Fw2bS87681Kn3kqy4gKDQ6RykCMUSvoRQuYvWi/dyQX+enJOZ2BXK+GacMlFiGVNvgby4CMn4Op4z36MtUVtbwrlzs3TpoD/mZ5KyMmRZhL/+Fjk5OQbgsVBuvrXWGOpJobI8KkLdqLuLZHUeMfUgFVOkFmqVJjdPhJuyc3D4kPbN2F9spXBSKCI++3SBBWuZpAbRZOs9Sdf2ZWv/f58MNXVCfHtchF2xeUYsDQ8RbQ0zdcVEVdo+C0c7DA1t8aUKMTUopjJ8+uMBygcs+t/yOnBq2kBF73L/KQnJolYbe2n2lmThyKGzs4vGxsas80NIJyjMOc/YE7Oo3eKjv/9R1nL6kFQJNzPrnj76/uuTSzjO/uzH8T4AR2bFtTqxhs99gFVXi4g2iUF3Em2dOfKccNhlaEjY/kqcySHULaZLp5nXPEklWdPE56Q/FENyKVExrvsOsqJo6nu41jzSTfTeewyEw5QtnMXeOsXkj4bYUOMDokW6kapZCLzB1Y/NgK+OCbZ+swI5PqRVPtn0nIFlF1FdM5LIf/YM3cP/GCmXy6kUg3NzmAQyDVllO6hl3fi99vb5kcbQ/5+8/w6y7DzTO8HnmOt9mnvTe++9995WZlZWmqqsSnhTsAXvDQkCIAkQJEAQJIj2ls3uFqUetVEbtUYarWJWsbGzEZqNlTZmY6WVNBs7M909UrdW6lX3b//4zs28mZVlCILsjkBFvFE37z3mO9/57Ps+7/OkhN0nprbOKFOTUEnOu3aTuDoGOKjLRm/eiwYGCNQHiAxGGB29iqy0gdFqklgsxguDf4f87WeRJozGb5FYX18mFotyVyLC8uIQVlUpWw+1Efb3s7NdidMjtiSkKRzZN6f/lriQLkNtX0ZaQlYCOcPUS3Rqg7N28TPy8hQ2lEOg6P1/Yodqnv8oIzrb9h03Z/Fic7NFRYNsymQzKOPKuySx6X12XDG52cFZ8Ov8gmK6eqd+iDZ0E/OeKZ1+hra2e5G6sTSAY816muibJ+qpTseJo6UyWf5tOql3fto+35PCqNC4+G7314hqD1slGM3b9luf23u88u29V7S0iah6uUvGDxx9wPj4bZUypmLa9Qg179UxFYxxcDlKME+EGmR2EyXNKPQ+blMxwXMyjTQttGBWJaXqRrJJpUTtlk64j3yKHmUl/8FcG/fW3cvOzg4LCy/kNHALKYKjCgY2vkswFj/h1jrL9keE05H7XSW5JGETgQBO+3E99XkNblmmk+b5o3R23KIOc81vrHG+m1jdMf9STDrGyvfsI9vhwnv1PHTwJL7BOlRXSFhhbI/Z9eb3iRDUFq5cNjfvpSkap1n3s6IY0lW6olGiEu57D6BLl1BZmmiP/4fcOQaRfIRXL5Ko+DnvuxUq7vhjasZrkaJMTZl3nJYo19tIIcpeLuPR9k8IKE6m36Y1EqZQZ2SC+6NHg1+BDBrG/BZDduMR4uw6i15CTRYqErFfvsiGP8e3HziP8pZps1r546F36Q14XExlOnG9sMI40XoUqkDv1aDKPC5dGiKRDDNti2hE1LwywNzQPgdVzczkr2HrmKtotkE8Hb95/UXnh1DDLOquRwUtaGkJn0TgBjvNsDyIZ1THBIpqJ6YA+/vG1WmONVxaRRJzto32901fnz2HivPoVDU+DXCWWpwxhwrdR1oNWDIw37hMpvdRu4sGyB2QfTK6yInmduofOA3X/ZS2J29icL22FqCgN8iSFfYAFqfqqUzGi/FD3OPzPSkM7RDxh+i5Nu6xLbYiDZH1897M/N2iIi7sPNESFDW1IqwWzGojRYfEBW3Rqzp+X9doUi1qiXjsn1H0YICNKpEoLERpb7AN5JOKihGJlvx8KiVaJDJqRrKJx0XZrIi4yknZb8YoNW0zNJFPxVgrKyWrfNzwogf3M/7mLKzz2S1RkO2YWaTPWc84Keafm+M5fwmK5jGkMurVxLq9RN6BaM73k3juQXxenkJEIqjLZCcin09G5i/nmnk3qEtH4t4uEW4Xz8Y7afJ9++i3iHIGvo+E/GIiKRpLGxkb2mWsfpCl23jXwWYRPh9BH37zCIGVUZj8g3tZtizKS0VvxMZWCq360C/eQddkEe2/HSJecLz6vLH5T3VIC2keKYxmRPz1jyhbNXXV0pKtj2aKdI2YXIpjoqHCDCSlLeJxmVjCZvZ6pbpOb3c0IO70dpo+RYhbVQaaelb5wkLVCZOlPJUDe075kf0ExcVpXrn0Kr0t5dgSKU2iM2kZUuypGL8uGRW7O+pR3M+bSuLqHGrNoPkG7i5tZOTRGVyJL2XPvVdGJvJm/Wr4y0Tr29HvPIsaj3NtItpnO2fADUtE5Ria9uuuU88JhtZbWoJGld7iHdsUqYk8iQNZFOkyBZEIedtetvZ502cOWgwstlBm0m+SiLbnUflEO2HligzdrmXHI4v8UP7ZwfTJfOOyOuv8jG5KBtml611an+9JYXGBK8EAX/7kHFOOxf5aLbemtbXo7RVdSyu89LgIe3TDlgyGu09JZvVVPpaYl0VMwpHNsLxt7pKQvxtZ5bgyK2vJBBULy9ZZ7DEDfv76Ol+wbX55edmc4whZJfisIX6u7UlmqqpOlEkyGO7ZlweJRGzW1s5he3GIZR1TeliWaFQjdapDlvGDdmqe0+LvkrAcC7tMqGfJy2j28N/egDJoWUfbUMOzY+5XJdFimTpZlXCcBRYXz/ORpwtwXZ06omVZNCTijP39FyloTF93TL1Ew7qwXPGd1VUvr8HCsm5wzVNWa4m2NQsFHVRsoedmUbgPWXXYlqh6VHR0BJEWWM1k0MQI1koTVqqB0ZnTSYZnWY7uhPLRxBjqfgI1tZr6ulqK+nvOOG+VAfl44HTde/V41GFXdd2OpaJcdA8Ka0EUrK7yogxTZ+ONXCATr6LuipPup4VZFAyTOrjM1NQUkgjLYv4mbhTba3PpjMXAqFfemNCkjSpGCXQf8qu6kxFr+OhZpOvLf1bfKim26eu1UId1iiXUOpGv0iLRqwSTmrzuOnMS297no36XY5MS0XqhBq/f3Ub7keUiLSCJKZkEtk8UYsOaO34262QezpYMRDvTnmHgiWGa9GnyFCzyJMYmbNZ61o4n/ZXcY84ZbZQf4ro3Yy3+fE8KKmBh2OaRf/Ql8i2bYnVxlkB6V0MDVVXVKLiP9B6JhI9APH0EfWxQkFVNUqkQCdkUqIB0RNSU1TKoNr5ycED+io0vZ1VeJJO9m22QSZmBpzggA++TqJYoLyw0UFBLxH7rA0ovPsT+7ON0d18985nu39kn0XM/TbrMeqWFQmaVm6tlHFGEVCBMdbWZgB50ypmv2yceFqoQHQ2iMyGzMi+pQScEX7Lmp0w1RGLyCMWyz1JJqDlItF9M6YDpN1spcwooHFmlUL/JDUVGCkWgLEL1h71noquGlc+oCpi/u5yu0VeNKHlIpNNiefkcOpXBnWu2xBvNov69i5RXV9HyOz9g5r4dZDvkS6znHj8h0lU9SGV0L4j2dt18R5W16i40uUOmLkODvsJy3gF5a60Ubr+L5CPWHqDkYg6+vqoKdXYSUYQLufEp9RJQC1UyQfe67PfpKyfvVy4aiwcIlhSxtyE0/DT5Mi6N+/UQzolrepaXR0PcNRBkS1yIiYsl+WRUQrLwDWRZNDeIfl3kZii8uCteGBepvlLa7vQGRUcsdi1SFF7CVowritGmIJsSCe+8cpUTOaN/HdnsLJodQ+uTqDaDapPII9g73YYl03arTr07VZl+VOR9l9L1HE15Ek64A0WMjvat4hyqFPrQQuGT0N7CehvLPgWICOhoMotKXJW4t72B5BN3fepxyteYJpW3fBLFlyvoU/Alk6j3Q1zz8Ca/fb4nha0txuYnufMf32egWc3fMVwtp46bGxykvaMTRecIycQMnHCMjY1LRKMfMLj3DpZ1GSlGyNpmNOSnMim6mnoJnrGSUZaL5tT3BQpTFxT+yyFcGV6SXPGa7qt93HXXg/T1VfPlho0zZ3s3IHbe8f5uE5dTIurPQvuOrSQsXuwUzr6I+MReryiMm3M0rzMH5qJCm/X5AM0SnQrSpG5SeTL0FxLh/DRafAW19qKhHvz+Bgr28mj8htC0MDDNGzfe+pIS3vnii8YPnKM1HJThdunUCue7H6YhrwmFtpAVZF9mNZa6yXtelsWK9hmwRE9nA3krK0hxurTHiPL4upYpkAh53EklJatMvfcKisUwQXoL6ezg95GFK7B8dbRO1JBWG9IiJUt7VGxbSEvkP1tPfX3O8R1daPYTjK/bZ0SNQiGT82GLjqAJBrZa4lJCJ8EPiRBzz66xUfeA0UP2i4v+OqJXVrlSEibhuRici7kDXhhLNoPaM4gVW6ymRX2bqPJfoMidMKvdm4Abstfx+0P07G+SrBNNR7uOPUO4Fp/BCorQeQ/Z5Dhodw+FwjTPNFNSnMip02zdyfBm5faJqio0VISeNn/7ZeC5uWWJeH3kdBmDyq6E99CsTU3G7AjM7/s4MlK89yrHPXfa3OM+4Ej4Q8I3J9wWc31bMvkRp0Epzwi9YD6HvHKU57ez1HXtU4xRXj2d+U4uk3WR5WudRW0a2o+e27x2WEf1cPq3z/ekMOln6L5W6v/lE2ZScA5MsGbg1HHjxlUxfnGc861ialCU7T6B3z+LFEFzIdTbzfhanK2Qn/C5k/wmY0vCyr1mLiNpjk2kv4+vq5PHXt6k9gyKAduuxHUncF1xh33jLaDfX4PGLyLLoqXWCGecPiaqMUZkUe0/hW+3hV7VEaR1R6JpWMgv0lYBS75Zjygv93pDSAF+LlFA7+AKanZQn8PIiCir0E2TinLtmmXxzxZ9dKRFw6aOcNNrEufkkJLD1yd9vFVk0bThR8EG/OPF+HTz7bBPwhoPMB8OsrU+SIFEq9ZxlIcri4gGsBRnSyF8OodtF+OG56iyLA7G7sCyB8lMzN2EHK4D7T6Af0ps7sl0ZPlRqx91LyFtoyf3z/D3+wnKz5BEqfL5ytrzJgkwFUULJtgbCk1z4e2xE7DJsYn3CQRWsVVkFhjfbsS/8RbL31xi6p4LvLa9QLczRJdfDGoYkwD2+HG5JKQ2JsrzcCdcRt6fMK4fy7T1m7+nnZPXsW00NobGZz2yvR3i/iBfeWDjOMDp96NvbKOww64lpA3kEQaq30J3jp9NbW7phjk5ubYn0TriaZHLuCxjXv3KZ2hYjuMFptx+mcXdDXcJTTI5IzLQ0uFt0fO+qGs0GfZ5MoplHRKN+fm0tnoMvsHjMm9512+/2s61R679UGNTOj3BXU1fxq/42cdM1GLgz8KKFeDrXjET1O3SvOzqqB5O//b5nhSeKWb44U1+9o7fPArKytVJugEJjYm0LRrerTLbtnKZRm09gEqiZoAvLaGq6bRf3kU6oKpBqLwQKYAt4xYozfKhdwq9a17ma8sP4Zw/z/6haJgwVL+ng7N7OwfUh++9xbPlca2hk412mVWkhD9vAoWqkeugrx3gb6+iTKKsQackIEVTLEZTUzuWVUS7aiismEOOWSln7AwXn6/yILHixQfnUd6XkTK8eV8VZaWrNylXMSp88Yi297T5v/wopQ+eJxY49uEfSpyXCYj55NKmNgoU9FxVBajqbFW6o2uWivS9YuBVce8lF9tXQbhUFMlHiS5xLf95Plkv42nloyOggDk3JdHV7cPaKuPh18ZOxRUy5v0mDtBWKVIIDdrIX4z8pZwrzL67SiRDTqf0DlKYF2QmsebmZob7+738EiOaroRQ1I+BowrpJU7AHOOTVLUfYMmggVIHV9FoOWUFUay0aCoVcdVTpHsIaQATLM5gUDXLDEejTDfHyZ/P0PxSPXbIpfLdYRT3tAuqZMp6E5WysMxioVQy+RZVVSSrqrjPShNQDdFoiGe+uuehYUw9PTv6LO5ZTAEPbaCi3FhLJdIkGhxAJ2DVN7YOiUylqPCQRudl3GiuREZLqPSHkeO8gZUUo/Is3NlCukKtrjCnCirCYTKZzBnnCNmivaeda23Xfoj7FRDpaKL3fMWNIdbVx59LA+LuklO/51DGl551/uGN7//5nhRWZ+jrCfFA6U9haYEbpuB/S7w6L+oKfYRls6IhpDeQ0+W5RY4tKOPO0HmdmrX7sNw8o30gMTcnI/DhIYEcifK5u+l3+lGLcJ8wKki56lryGvq0OpFbm9NAz/DTx4Qe0zHlQ7uO/OKtEm/fIZaWxPwdQh0ujkyWpi2H+2pquP/+Jwj5J7ArxfkZEV3v4bzqed0a4fXZLeplVhkLvZfRfddw1IVUzoxyXDlDoqSshJHwV9H2JZSKo3/4OKq7PjFNEtp20Ws6mqSyuxHbsdnUJgkV8Zjz23Sfz6ffL5Nncv7m7ziRFIMjosKuo9HuMDuhBeEEXKY3NjCC7CZZStGraPXUwOUIyaXaXqE/bBsBegkjZ3qMNiqX6J/0ofAc5++eO7HbNB27mizN9dyp9+nYDsXWNm8oQKR+i2SlzaxEjU4KCy1KRGvrUHUNcvyUbJfSohakPubynsDuF/fNiqdkKLGfeOJuJgb7vZhJAdIUC1ULbD2wRZ8j0loi5Pg450mwOnLMjuuc0Qc4u04tQoqwqhXmJVbkEFUnm5tvM2C/QkrfM6vlc44XWB5FivDRwjfx2afiFI51y7ySs/rAjWxAOQlkMj79EcmI7gSEXu9Dlf3o02QXz0yg5ZOLvqCCPOKMk862E9skYh4dM2XyF14vaOOJnsdOtGlZltHIcP34HBs5No7fMrut8X6sTFHOMzvX1ZNlHcNtE3Jy3GOezZ0/+jyrreNF75Gdv+Gzfr4nhdgFpqxpLus9mhUjdKMgaFy8FrN46coXsdRHVCGkswc2S97WNS6TUBMXXSHRuCFmH8xnLxfmFzUNKS6zK/ClfIR+fgDFXQ6ufhdLFi06OTAYq0eX9pDVhEndP9ZbPrauGz53QKIoJWI99cxVRtl56gr7gcsoR6N5Ih3kwxdaGGkQv/ixuDMdJK47icp00JjEb9eKlnzhD51n16PajkjeBCET5K526f/oQ/xP1piOc4dQ0aVTZWpFCtCV9xWsi47X4UxSkCRazol0Is5XEj34NuL44iLkk8kzuQXuXQURtNyIJvz4N4K0Tci4YrZEaUkTaeUgnS73oqkuuruFZFOsTjIXk8g+R1Ptq0wPDx3p/kommFnsffZJhAIBtLNDPC4kC2W6KCgRL2sa6WWOM4gjmCSjLe7ub2Tv0fO45a2kNU156STF6WYiEiUqoF6rVMkhFRfR2uzgWEz9w39EtCeDK9F+qj3GvLbX3+djfi5GTB0YPpwIfgUYVIA5iVIdcOE1P0XJXSSxohXylU8kZlbbZ9dpA5YGiSlGicSGtrH1KPF4BimKuuPICqLFCydoR+7/cvy6iWbxIM3ikQ75ja1J18fEzrKQjlF2WauXl0dgCaVDyBdCCpsFUrEwO6jj3WZUut5N2H3q7yYZl2hEx4uSLaEJcan52JWZkHhdYjTu8kSd6R8Xvf6jgVo6/v5HXLn8Ed84WMJ56WEu/swV1HGIwvNUu28z6lSiDpHWAdesNUJdKTO5tYqKCjF+5Oq7zxsHcssZv8FnY903ckvpczQp2DIZiKe/HxoaYru+noa4CN7EH1cfE2HHMI76PMuyRR7oJj7tri7a5t+mbtVh+sH32dGOaUzX+VDnULIE/dQwivtRZg4tLZE887olFBTcwd63XsHJL0DyM6nmk4lOyXFisnCV9L4bR6pCMgPuUw+Lb/9+LXv9ERbKzAomKSFng45L4xykB7Cea8T4YCMMzQxR33acv5GUqK4yA5BlWSSTxUgBLMvm7nd+ntBE+OjYwfubCT7nDb6WDKNmTlnjeh5bFbRd+jksewW/ik4E2Bu9Mn/n5e9wz+P3mA6ZFBoROkurNmv9Qo33IfsJ9Ho+vhKbZiWQytH5TYqjrRSoAFki+UiARMUI1mvttHcIySajNrMKlEjWJc2ucOf4+mmdzAwNSGZyTPmRLJKF7YSKbAYVR0kDkzTCLL+A9BGB5AGhr5SgblFeXs709DQ1xaKswFyvNlBCafg8FcojGXPRk1dQPM4lNVNf8wyRiHCDomXnjGePbiLfFIHAJLu7rSd+a7MPsBNmEgm8kuCB5MlVZFI21k2J65LcCDBw+auXze/z1skYyluXiPqcHN/+EBNn5ANd9tVhRZZPtPuAbo3vD+l4EaFNHS0WanSWPriD0pe8mEc1uTu+iETtulDKDOCuhNqFf9vPt8N7JrBdv0oqfIPdbo5VSLwmkZfno739VFJZnmgpE9WKUJiqJdZYh4LtOMlx4rLxZ6opibdj99soIBqtOMXtDnbIJjGYMIioCXOtgoP7WLFulVsVI1cSoP2yVw+6m6P4jmefm0lBOrkFLZHxRba3W9xfYWHN6Obi7tOmoWSvUSyTXHTyuhZas+h81lByS6K+0aL2HzjIFUu2a7ZxPTqDb8XrZPYy2ZwB27Y5d5PnmXXnSelXr3s2Seijc0zaNvnaOHl9GYx3iyN8Y+Le58TjbX78muHbEpKNZdssycaxhVHTuhurpx2r2uNYWTAwzuxW2BcOs/qNf4hRArOob3yG9s52IwSUybB4ziV86WmvA44cxSckUahCXtQAUbWi5eeQ7VIhg7c//bzJwySLby0abqdhGey+feP6abZEpWVjWS6LW0sYv/0SaVn0zKyj8B6LcWGPWWxcu8rqs0/hC/hQoZETnc+51oa1YZ7dFmZVPnDmPW11sbhRhS1DVBfRJgtaRpvH+H7JxbIcvrqxwR32nBGoz2Sw+/poa2qkrqoKS+Lb1dWocwjDf5RB9hiyhK1zKFdA6Kw6GB1H6SJmZBGyjevp6LdIHC28iJTGt7TOufV1kkkxPGJ+X1Merr58474QWEXT/UjF1z+/baPZFTTiP4KTSmLBdhiXjiZZqZ2NxeuT4+zSPnz9D7LWfNxHanV7nEFHfeAmbeLYzvYKLOacf6JP2eKybGYkxiybOxZl3FI3IHtc1CLbMjlCbZk2Hh957Abl6KFw47EjudrY+jrzjkPZI5u80rtMsCuIqlJYepFz1QkiPREWFhZQcRHq6fLKZt+Ge22SE7Dtozpq4zQ1x+dqUsi1YEwkM9UcLjnseTDUNl0Pe7u5bWNWGQGkqzTWfZeh1z8k+UeTBAvNlrQyKsrrhCzR0HNIeksYP2vtiWvN6zStbk66/Z21lNRZRFSHWe3n+r1zgmg5waPWKvF2RRn/TEG+u7/PZS+4WyVRnC/e7/ezelDByJRoSNjYShtXSKWQX7yQuIvarRoUS6PHGlEozpH7o0iYlcejSBHjH21rM+palk3yo0cpWClAySSHwSDa96GXHkDJCLIK0ZWfPSpnQAFSStGd3037evv1CU41NVR+4bfw+5PUfkmU1YlwnfF/12iIs7bGWYtLPHjF7GSK9MxRADXw8iGpfSFHFPmECoTCRSieQbJQwLBd3pgfxs+ZeRG2UI0oqsv9vgyVjKLBziNFPSMKb1ErkVKGtCwUCOCmUzz2QDVJjz7aYO1rkKb54lQVmhf53SLlcfLX1YmRkZu30eLqVkaKP6TR0yBozbbx2cdReSf2pEXNcxl8JSL/DqHhJLqUQc9cn0BoEvSC5jnTSU6vMEslQnUilHHYs6uRxKY2SSpJRgecFK9aoq6o84x7NBHUBi/FdduotZNWZ1w6J9yKh4bB9o7c7zowA6WRSt2V2W1k8xvUKtQT8/q4ebdzNabuCrXO3UUFKOMiq+rMchSpiAOZWFN7OMW1krbbIsQ7SAjnOv4qH1K+ab9Z92VTEG0krx8rfkg7q0yf20mhslAM1/dzf7+PyVoZyckz+eJvbZZVwFqgi4IRIb8f3+WP8BX04l8TW7EOVndfR7bNULE4aM6+5JsH2Ao1w9eWRapQKDZEc69NSiNI/cgXQI6NmYwaCAaPtRFcuVzousD8V8WdPR1sKYZliVhMvHIgnt10ePkHO+y8HiZodWMHgwSDYmvLNPzA0CpWOM6hQvSrxzBT1t9oa9qMlMIvsb1zCS0afYDi9Smq//6BB83bR+45gk9PoZJWJAsFv8VxclQxCkyhSrF7uIttnVzB2ak8hu7tIRwW7307SNeQSI6IqK4wqHsI6gzUxylbtETerjeA+UTQ9ia3LqGuoJmI9uqQ+m7jfQeR9pCMSysoCylAcM9Brs8EmEeEWd2n0JUg6riC6tcMjvwG1y2VmPCJqi9VUdKYZaysQ8GnkFw++MDsrtaUs+oP3qqs++z2j/Bwx51kSjOmTE0pLxenGVuFhMZ8DAbFnm1hBQL01tQw21TNbt/Ja6UkltSBFDM5JBsBzGrbb6CbLWZRlZjdM8f4Bk4ALQ6vBAk7Oatvn4+Rg+M+YEkEJoRKzA70usDpbduI8bvnLi4cHQ+mweCnum7QEaEx71qWCO4JhQNow2sz52QWF7nnZOuuPUXLtZZP+Tw3sPJyNDpids0vj5o4zlnH3bKNmKB1IHD89+d2UrBlgkp/t1lMlAotLaFk8lNdK5Xa5dziMd3CXY0+1gocJgOip8qlo85kcTpPn8d3UI9BoVQfnR9SiF71nnxR8V1i/cJq0RFeelSjaMBFw0OoPp8uLRBVOe9eaiA0mtMY3QCLUdHXKT6IjRIKia98RbzeIPwBEWwLoGrD2X/+gw/wS0wExGhGrEz7icsipdsL7hlUSxMB9xK6NGNWkd91GPpf9nBDPpQXxG0PsH3XLipdQJYoenye2to973wbrfmojIk7vhHAOrUdz2QamZ5+DKmCwPRvIg/Bsqk9ggqdmXyTtRqJYo0yaNnEZ00wVaNir+yb5rMrRj58H8uxDf3FLbQ0fL4Yg4O/SUIVdPb3sjMX5sLIFo79BfaClZh8jezxfkpVTtXli8i9AYBBJUftwJYZRIajMvGSbiE56Pwe8vuZmw1iS1xRJa0qM6v9PRlO/MEb6RQEyZf4al8d8Z4G7uzop9GxqHKDqKWP8rxyrr05QiApCvPz6Vlc4g92f50ZNbObVTrLtkflYNoDITS+gXEfTRoXSva97c2i8a+gj6Ne0lUvUpiPvn2BBZ9zvBLv70etHq22SomqijWfGLVNe7rROxi9nTa5phOAAFULvS1P/3zPtNFTO6wBnQpSl8pIjHpuln2Jb/UI1Zt39X5QDFuiLeDRaJwB4/3qkGFMTpWmaJ1vvXW5fxizbfPufUKRKqRnj9tTkwzfkSu0fetrJRJiefn478/tpKCQUFIcHoqJSYOLd3O3Z7dpMZmA0ndWDkmny5DCPJD5kPFotcGpV01w+YOPWHFsirq7Ufr6bblPPipOk48FTcNsjUToiRlXVK3GsBpsrlypZkiiW2t0q5a9wwLsBlFdbWgf3nuvlwdbWvidMjESrMXOiIwlSmtrmdvdoztPfDVlVmS1X6jFkaHUqM1xi/h0BkOnZCg3jvI4ZskKlwyogKYn29F6ASoVNb+TwQ5ZKBJApfnErt5B3d/9u8ixiX9zisL1k7z/+RJ9tWbVUpTzvV9J8tROZ2ce7/zRN1j+qRVKSp5Hu7soFDpVPgdDNR1AO6IgLBL6AhV3Wdw3lnvc8Xa79vVa5FjoypXrnzWnbEmJvFqH6hcHCSlGaWUlavZTVjtN2u5Dxc0ElGQ/57xktIz8WBbyeta1E2RV0YLVoiht8fKlehSNHGWm2jJ++PFPhF/FfE9PkFHKvJtDmYzh6uoblt0O2VRfGyMYGmG4tIJM62Xye3youBJFRE1VgFL3CYISlZb4+MoDmGzZqpPXunLleCft2Kjq+na8JFFU/AmZD+uwXzcB9E31kVSYV2uEe9o1WFSLrXNcVg1Z9NR4UwHWZtMNXXenqS4+lVlCtSe/q9aphMykTqgb2vLzwMBFepvMBDkmURNxaL2QJj8glDKLqBbPNSiJumpRbIsvlbZzOHfttsrmShxonhL1etfJ4Pf7yc/PJxIRsVjRGe0pgHHtee2pSJ7S3U3sjOTYrH1+J4USoU5xeGgzMWnxqi3Kq3VLFsfTti2DO7dnRlF+PsFomBe/tExnhei1hZrq0dUG7ICosip5ffUVAoEA16th3aCR1FVjNzVgtuorhH3iH7wkOmrEsGxcR0T2xNK6ePaKeKj7uHFPT9ncU2iRnBFfdYXuK0C9vTe4Vy9GeOV6icYTNqaj1YdtO0il2PYAnbaodx9GetGwef70rMdZ/wDSAA2a4/6FBSzLxrLex9q6bFY5mQwaGTGCKY0bSPYJTeY83UO/+mmxRIfPwfFZ+FwLWz6kbhynCtmzSAnWFcbRr2P8xeKIH39YHohgHclFZc5J8SBbyN66oftwwLZp1xZtM8L226RlMbnk47nLG7wSm2dmdRB9598h3eXVvfduq2tQwzOctQOxZPNsg0PHi2sMui7dV0RPt4PaHka9VTgjwnE2SUp8VeI7i1ssa5oLuoziwp47fT1h5wZPJ2QSLYM+NPso0j3Xk6aVCfcLLrOhWTYd4bcsPt58HEPst2SOcYXW27x2kZUPDaAjwahs/dlMTExw3x2/yddWUiS23kUS8xojriiWbJxpm/K+C7z66ibB4DZaEHYu4m9YfKerD7frAWZ/pP7tIJ0787dNFSKNmdV08zluFHCul3hBx5nQyzIurUqZ/rUooXCQrtVJMmldD1uVQU1NSRSrgHHdqN+dtIiMDKu06LWbWVKpFIODg1RXi4aGOSQHd6sUOwt2uN0s5lxbvPFvn9tJIVktKkbF9OEFWieHiK0JJ/XDXyfovfyl3WWaD0Ypf3WI1b8bp2rKq/iLYiD5ZR7/0KViwc9j8TlClo/TgunXNY6IYQV98x5xuD+C7W4jXcayREufKFgOY9nXeOMgn4GUiCeET4bg68liUVgoYrEl8u8oxJIJut5cuzjM7dANW/JQW7EY921t0aI+trfDFEyJu//wa1iNcbNN/6a81W7y+HxPQa5hZJOB37tsjnNdFIlQVC3SDeOo8dTA1WHOH5gXP/uDi2z/vsMrb1Qzqm8g5XHwpB8tGbhdQkKKkJRLpYQZyHJFahJIFrrrMs0RG78WkQrRstDoAL6BQVqyx1oyCX8SWlhARU24reI+d4RGdRJNPElmqpLnU+Klnxfaf5KAwp47KwvnbEXtU8ieQSpDjihdFAUFwrLWePLuxwgVJYhYOa6LoMgLmNjBweMJrDIRrxTJZJKCZpevBB4kaYtzp3a0RSpiXvNklGE+nsE6kBnQL+iYR2pNJ7LXk32i8ueFAqLzIMwTdgMPTyQwg/4QnRLNEv5E0GsfWTy/z6tbP5Yj2i8KXbpEtDdBwSOzlFlv8MX4EFKKWJNwAiIRv8jGzy7ir3uL4uIkltVOdaSCR56oOy5TRCQL6lDlWWpzN7EzdTvOhtQm5SJFzU48eGPYbUAnd6wFEu/JwKNXZcR9/Pmi5R0hdR4lRaqiAzVYmIVJG5LDOcU4p5pPPVadZd+v8jFe6cG+D/Tp1CJvYJ/bSSEl0WSJT/oOqS8+g7TuU1jBnGgtTxAJR/AV+HAdh/39iwxqghZZJrAZbEMXXHKTy7LJa+Zvs2V84IEyGr77ISpN0a0ukkpQ5yvgXNHDfG87ytjDYbJQsr14HL8lHk5MIsUoKbEpLJRJjruNVcSO1wlu9LtliXhGpO8yLoJOiQ7Z1ClGQgNY8TBzSfH+RifWNXPOXv9T+EYfOLpGT3CEoYE7kWXhnyogdLmF3G3w1nIXq2uPoKaNk/dfE7FN4RS1o8YOowUcM267G+WGJHWKPXNFx5zyy2FU6/KybNa1xXevlmE7UfRQHj4ZdI4kk1Q4HsdxbLYPD2kvqybWlqHNtdDBg8h6CnUmCMpAfBNd15BCZgD2EptaWkX37yWRP86LL4pvfHObzgth2oucM0WOYjHRFxbNZUL7orBAhMrE+AOiakDc2SLWc9gxm2t9zAyddKFlEvMsahnraAAPYAToT95rWqK7s443vr3IXQFxv+6jyW5m8P2P6QvOILXSJdEZE4fXQTz9SMMkZNxbWVK6aJe446Uu3HgH91td1CgPNYtAMEBQAaQIlz3k3JR2GIjMUV9fT4tyIMhJYVWJeL9McuLy6XvnWF4eWls9IrEMy5tcYzoBSz3w/g+FhK+wEWn+1kmPuVYpNG6RRbpZXh/I94t3WmX6si16lkRzZae3sOkkrnYsOXSpCZNg9sOMJwksWcRz0XWJBLLjKCb6C0XY0+VwlCP0sxdBPi9b+byOGIwlmckjrpO5Ql3iYlsWAFCL9NHnd1KQRMAvXv7eIeXjuZPCLGb7ufDDX3NerGmN0XtHKXvLbK0dx8H4aHNS6x3Di9N3dG4E54ie2o+lV3GdGkadKToU52lFWNUiZaWPMvzml/Cth7ByVgbO+jpyXXbOb2G2/R498ZRuKrBxdP7Nfi9ewN8r1l4VVp0hF9N91eipZ9DUK2Qy3fT942fZ+PkgOxKWPYSUILLzM0z+4e4RKZrd3sn5+oexZFFTW07X07+HfGGMT72HtgaL5lqbLCrLr2mm5ENpsTAlYrLQhnU0ya1qiqC6OXJh3MxsEx9p0ioaeQmVleBIdKqNFy/UY9nT6MJJPim/4/DNjQ1KS+/gjf/0T3i3qZ8rehUpYPz4tmNw6t7xW3oX6S7jRugTmhSWLSzfJaRVXFf4fA6dEm/l5TEzPY0kZmY82cjLaZZe6Sb6oucaek18o9xkyNpDnVjlRazPTnHw0+eIygRcR60R7rQPj8pgO2JuIzt4HbffFjncpXlG5GXbh4U9LsqtckbWhnFCIl8Ow7I4v/AC9m7XcV0sTeBETsdukkhf8fJajm1iQhQ9tIDWlrEDW0eTdpOaaFYz0hiOl0HeK5sab1FgSVhhHZHx+STWbfPebrmocY7dP1mai7FFEY5e3757e0XFtfMmSLtxm326R8YNZ/sw7keTn5SQmYTWJLNDyD5Hzrlr8oLzBYWo5xZu2axFZFy02sIvP2taM99bFtrcRJFzaNGhtDTDwIBxk+YpK89bwYzThJtFNgZkUFE5447WZNy2zrx33VxqDgvJ9/meFOSIulcPqZ6cpOTcObPy0AjGz1hyG9ewkKqoVjWWJaq/632f0gnq56R8bJZ0HcHhCgtFQfSY9K1aLpbXWV6R+JnhAj5p+GV+sHkntY/7aMw2tocOUZEYKB6gSU1kibk+yzpxtc0ryU9QqgtJHIZKUEoUFhQQiw2hjRLalqJMjTeyXdRGKJRPXmuRIQsLCL3xKiqtJt5WzG/+7AwVwUrcCnHJFc9d+w0e3thEinCxeBu/fQkT2G6je1K0TwndZzqFPVJEUaFNTUzceaqMhgu+yDs3fItnKkRrq4wViI5IEzs7J5OIAgpQVlqGguKiXsDv5WL4LItnqqtxfe+SnnuDovIQ9YUn332quPqI5yn6gzTp7cZT906igzwPmXOILbODqZbQmoVq36a4rR9rZgpNN2Kl8+gdySPhS2KlxTe+8QiLixVo4ldQdQt66DHU9jZuUqQ3RUfdKKsjdx7d77FN0Zk8XU9m51Sv50nLW0k7QhlRVSUmPblNv0ShZVF99QpuIkJFVo+hKoPqHa+d2TSqmtEqm0q7iBdUSpYW5dheoElDXCqcQtFaNrXJpJJ0KYHmt45XrgUFBNMxSq4K5SWQU4ky26g1gnZvDTOWdMMAe5+8DGi/jBylzMTQXyg608Iq9t5B1qI6qU9Q5p2rKpRvHcE6B/IHaIo3kZZxI8l1jYpf9pl6hVq8QPMVExSvllB7Lbp2C+r17FjgCit96+MMNDplPhcG0GopUoRiJW7KGHxsNx7fPteTQsAnfuewmXuLSnlBS6YTb4/cBEJ42hykEd7XGI4sxnIRLoFTx3Z0EEgYH2ZDg8jk6KaO6hi/PSThD9Qh7Rg0R+61Hha+JsNLky8v4/b0fX5Ys8WmKwJy2VUxtqYZrRCqNANIXSDAuxLth80UTTyAlrqMr71K+GYfp6qyh8nti5wPXzbQv+89jwoqsfIjRN7ZNsHPAaGgKLzyiwxZm0g2Sn2AdsMUl6aYnPMSe8IW6jVxjaB/i83GfJIZ+8YJP319Rk/gRr+7IlAUYPEDP1fzLLMy9fmpDduMK0wgcImoovR09aL4LtoaRn4vMdBvE/j6KJnMo7zz/Ot0NCaorzeBx2xmcoVG6ZChSE5fmqSx8TR7bRlSlVmZVdqcH/Exqx7G9BKSZQaTHH4gx3E5GHmeUlWa78LFyK1jeFhUVAtFNpB1LNZi1w3hjhyYz8ow7J8mfNq3vGGoME7sBqPKIfbz+oL3XB8rTEDucZ7AsHBnIjipi2jRRhrDPywGPQiqo2OVM0nsHh4yvD+Fr8N3c23gi/XEf66Izq6cepJQQR9qepCAq1vvEsbGzAo6rBOZxW/LSzwMywzUMm35sGGAC41V2O2noK1peSAHD+vfIw+9k10gmuPcWuGUGHfq2K5MbtPA2Zntkgkyz0gUp4qZbLs9F/WoLmDfBkmg7KeRb8R8tu5BPsM0G9Yp0ahPYZ/rSSHqij/d32c3M8qaAkjWiRX+7dqZvCz713+3fxvX8gVEv0eyNSxxj3QsQOKVLSvyEbCUkyV7lrWTS/Z1lg0PDRO8JKQhwqpDdsBD5gzysGzW9vdZkrBG+xm+87JZNXkDz+Tjj1Oxvk5gbo6QFUa26AgOEN2LE46GePe15ynLKztKRrr6SJqVrleQCtE3L6Ov+LG7RGBR9KqCzplW1LNiynY+STDwVXLzOXLNlUu/b9S4cm70fBfE3oU9grvL2HY+GoigyQ0Onikl4s5y4cIVIjL+YakaJfZRn5kUHNtmZ2qQb9z9a+SPvEGR6qlVLYM6ucpMKMQF9aD3v4F0clIoKSmh4nAHPW2jinKC/lEs+W7xToZRtAl1ieGXM6ivhrY2kekW+noEzc8cHVszWszAnUY+tiGRx6PP9lxP1TIu+v2noJwhGX99znd7MrKxH+t3CaiHXok8DdMkly69SZPdfbxi9hsakLPaf+iTu9BHX0b3Rw18Wd1kd3Mt0jGnkV85fv0SNFhhsohT1fg1zXavjsSbbmkvy7jsvL93dKz2JhlIr3l+kzRq65ii5thundTWq2M5zaHbGCdCMiI++al8upq7butZBgdDR+ynN7XuKLrLA4bkz5xwYQVv4z43s8/3pOCIP13aZLeo/0grWWl96kh+KNRILOYlEpWawPNpf32hDOTsC1euPz+TMSvRYcVIK8RVnQwAn5bQW9OttIMrkELY2eNyOdS9LWpDvBMVxYlrlPu7mtlcSpGsF1I97cojVVlOYaIQWzZjY15mc0TGXfR/fYOmzk6uFogPFgYY72ni99Yq+EZBEMmHmp9ETzYQsMSraeEGAuRVmlVwuC7MTukOivmRknSrgPbxPPSEqMuIkWAQ7e3SKSNqoohOYK+dwEVq99s9ltNlpGpqFc1ZtfpR+qIJXEq8pWpWR17Gyg8QCARIeqiogOQhlRLo8hxq3jf1bFmovp76njGW/nkXXcWV1CuDFCejKnRvAcp3zH1Uzf1/VEd8/CRvfyqVR8HHw6jxWMt6YEA0vXnlevhrxsQGpiT6A8KqFG+kE0hpmh5Yp/D8PAW/sYAzUIfx6W8SjH+DZGaLQolwOExZ2XF85Yg2pa4MFZ9ipfXJ7OqqAmjS7F59EvmWGPvpDZLf7ed3vytaKxooKxRpR+Tnp1lfN+fXxm3s5wvMwJ4UZuBvN2204ZBITy2PfN8xg/69VWjWjzqNvz+X6DBz5Yrx7eelUF2ByX/JF1biDN1kW17GcDnH0NhcK/TqJYiJUx0vFuI6SVliOaI+l5SxWp4f/+YWGxChJmHL4ou6giIRdMG42baVE+zN6eu2RKS9kdJrd5p4U/vN71H/uq5L4DzTogFUbN5did7g8BS0NiDdgEzTs8Mbu+g+35OCLP7oUFROyGDrEzIw0k+D+5Whs21tPf57SiKWnfW9iWZuJcCQf4lHzwh0rS6bzjlvtXmNP/f3k4PI7fDLa9KiKs8E4GZlmSCxHGytoV+Mo+VZNje/gnRIh0T5SgGuM4wjg6MfGBmi+8VDnu2cJaAAq8teORaEdTmMnn+W4kyGp2dEuM9CVRYzM5Ncyk+a+199ELu32+xyFkznHJPQpghqhSX5kQrRXL9xaRzYjC1aFFyVQWpJx5N1nbyVo1cPS0JBsaws1vwhFtV4hCtfk+fW2FxHlo1lv8f7C/9vQgMhMkWZ6zLIqyW6bJusuyDL4W//vSX05WcZ1QKH6kK9d7Fc8SU0OYmiUQz31Rzl679Lp78Xa7mTfFV6WPNjW875nLKMpsaJd+WhbJpaRU1tznfBEN0/eJ6SgRJm3l4ikjPAP2yLActi7kaU7xLyvYvmk9d9b8mi1CrmFaebkMwAMmaJ5WWbsCWWLbGxIZwFsbAnDIAh2wYDSLNmJ9B/8rob50QgsMzcgreKnRRWrBHruizlTpZPJ8hJqEj4uq0TZISSzO5mJvv3WbvDeQxJYTFzmrq5FvRRHzqr3k5+l+ufb5FZQFgS52QTVoiFG1J/W8zbFj6JTHuG4Wujt+6vEva6ASjc+thiZBl6m1TKYXzy5PiQ0c0ZCWx954a//YQnhRKOgiN/05boxq7b596XxeCo0Iv61JPBjcznNPCli36TYfi00EYKnSsj0pKkOO/64y9LKOyg15vPuJ6Hdc859qyAki3RoiKUl48uLRNwCwkrjvQyV9qitKiKO5Witz5C4x19PP54MQbT3cyc5vjOsw/znZkAnbqKYtv4fSLqOKi5mctKIy3RGhTdYVE5I2JlMqu45gGkRuKvxXFe8TrtWpQrm7mJW61mcnxMWEqRlEVUoiqrQVz/MPE7tnDv0fGuoDX3+VowqJoSs0K1hJSHJTGlAiq6K2hoMsHelBrJlw99N89ABO+7l5TKsCqsM+GIJXl5vPyzL+HvNj76CxIPShxsBbDvuEBAGTPQLCygllweGxspyVeu/AIBK8JeKoKrgMkLuYG50onfK7J/2zJukCO+mgYUHab8vSRl3eKJvQLilx8zv9eLu18Xw8NBpF0zqVafcT9nGDX7CYdFjRe/iPljbDVs0VApDj4Q9hHxnIV0mZiM2zIvT0az+9rp8rs0XjfIG16riQmh4Ajaqcas3OvpUJLOQOhEYmiJIqR0WqlQGOW1G+XwVHj3+Sa5dNdZK5dItLUx0CBCp6npXfc6JbdLunSGyM9xpn1MJl6kuMwuplgems8iT5exZR/tOE/Wg3l3zXuDOH7hq6oitrl5W2PG1VQL2zfRMc9avFKUe9TZFZ0v8mjicSSzqGzMHmfLJIWecf4VTWBJx3k5OWW/nX+2PoN/UUmWXEnOZ3G5H/2f86/l/6v/Qdv/8l0VhUe0+JuL0l99BtcNSTqQ5Eqb8iuPuPTXkn5X0v/Lln7H0V+4f6b/+U+uP/WXDqTAXwa184ODMy78DyX9W+9zn37J62GSpEhE2toy95UUk6P8P3GlX/ld+WuSYqpdXz//W/qf/Lbm5OpX9acq+l+uavtPzivx3/7PGvraX0gBn/5Ef6Knf/cf6bloUP9r6Od0ceb39FePS39uWZLfr19K/3+kxd/T//ifpf/zf5IWCKmCWml7VkpVSfqX+g/f/w/6q5+3pVBI+kfSX/+b/1/OM3jsOR9I6E/1ZyHk5MXk/u+S/kqy/6dvKfgbP5B+Wir8C2lHkgrNme1q14f39ct1/kDSv1f8z6T5gPRa0JWiy+q9eE0zDxdpN7KjA0l/Ib9mZUnfScha29alf/Az+lP9W+EinWjRtqSIFHL0/T/8z/pL/bok6Tfk6ju6T/qPBYr+5Sf6a1+X/irYruH/+F9V85//SqZF24rH/1obG3+mX4v8F/0X/kK/9qd/of+q/6L/cJMm8l8l83uTpF7J9UrhStr7r5L+c/bIfyX9+T+T+z+0yWfVKe/v+3TpV/5XyTJVaf1vd4r/m6QL35fjK1I4salTDycVWNIVybYln8989R+tP9cP/L+v//LvK/VvnlvWX/8nS1JMEorp7wnt6qfl05/8ibSrqK59lMjWknRJshRVQPdJJZJmct6tpD//c+nCJVuBf2T6ekR+/Qv/f9b/Jfj/1axPKvaOdoN/Icf3X86onX8t6R8f/WVJ+qKa1KteSa5c/TuF9IKkv7juTFeS7ffrP/mlv7bOuLQ/cOLPX9Gv6K+u6/S/dPTpP0r6gWSGrMh59V0Kq8GWpCX9iX5Xf62/1p/pz07fxPv/X8n/a/+99JdS8V//pSb/639Qp6S2M4p14u5/GtBv3uIYSXL+teR61fS/OT+jP/jff1/SUdO4vjin/v2i/vz6YxU4++Cz/n0WO4U1/egBkM/aAhKv2H4q7Ovl7jT7aa8bMFz25cLVBK57yagynbUlHBtB6znbXFdMSEROUGOfZTYJWQzI4si/6rrIFWNyONA0H83EsK1Bti0j9Rdw27CVOYpxRKNVjI+/gf+CyTiVDN75d3wjPPSHfWwNDTK3ukTGb1Yfk80yUL2c3ZTjPIxldRrdZ6/M1pCYeXMGDT9Ix8rblMjEVaZO1W0gIMafFrq2ba45LRKJKG8uDNMp8Zw8cZRtoRFhR2z2dmwcRxTNzvLqhNgfFsv9FnrBj536Y+zDdpxJT8hlXLgBMTu7jeUusWhld6gdKFdtTSmkOSZqyrjY/bB5jnyhRxwU3qGyrIzX3niLqqpyenvbaLcHKbWq0cii0SWQl2ew98kt3tks4zqVJHikz3Bsbr2OdATukFEdU2cnKu5hY+lNtqPJo2Mv/IsJ7MMryBXpdD4TE69gchQi9OgRdrWL1tZQ9HQQNYK0jNVrMfUL5wgEQkjfwpLLeX2LDblHGdZBneOCDkjKkxF1RUBJxvU1U/5se4iK3mGRmp3FvbiOLphdwKJEfFVoL0z/IyMUZPNmenT2zuYM88s6cvWUFBbybOfLdGjtbG6uz8CG5OVz5Lw7yaG5VVSUiUHLYWtGZsd2G7GI9naLa0+YAPet3L6b0/J0TG5lszmff4mTZIzCxFjOoia/3qIyoJbs37c11n8Wk4Js5RCp/e2wgC0eKjdbqLuz33v0AJVln+aah4TlsONhgB2Vc6A7ScmgECQhx6bg0W6iXVG2Hh2k82v3Y1ARhkM/O4hmrxmXSFWKtGUoB8z3g9yrJi8Nv4wKR9hl4lDlPHphmaros8TKfJSUFNEYqCSsCr5fWEhbJIxxEVSQDrdwtbefN6IP8UlZGZ9885u01tXRYRdRsOpSmDR0zoeqwdY4JSkRiGQo0jJm4ElhAnr5XgP0GmLmO5T5q5DyyVcxIRk3V6lkBtuPV1BPGscRJVl8tyVPaNyHVEREOTrPCqKiIuQTdZU++qxe8pfq6RyoY+zggBnJQB99ZSbP5JHHOZQ4KBb3OqJs7AollkVtVvAlnY/Cp5OxRFRRUnrT3C8o1G4ht5LSt97mjYEB6hRhRCnWN0fp6Kpls08kw6Iy8RLWeR8/dzh2XRzhpJVRfPRuA5wlUCNLhrLBS7xaqjT19mFTE9WFI1il/5xSt8e4zjZFdO0q+RspVC6qqptx7niay51C795JodNNfWU9Kt9DzsnndeVpGYdF8RcPcOL3UnnkmixDusSNGGMrJRzHT0n5IKWlnta4hHyisEgEysrZ1z7BHDRPIt5JMr+PtqeLSNXcrI6EcRF6ORIBXU/cFgpRXFBIfqrUyI4WFxtoaE4f/FHHhYxOy3qaullMDtAXNWR9NWXCdUTZTYjlVCFki2B7HQVPPIdOL/ZOjImPmP4zotsSCQqrLCcY38z18rshsmSLtzKfTlJ6/FgnhZi8AJstFAqg0c0f+YV9luaP+tn81pdIZeoYmNkiN94x+Rndw5GDo5xOGffT9L/cT9F0CT5nmG9v34WBKA5wFvdQeaOofki02+KC/Ljyoe4vkl9Xz/y8uJAnxgLCHRaybdx4mC982eLdoRQvPv8O6/FfRRqjpcUlnRbGBz5OsnSfc2+8zk5REVZjI2GfUZObskXlnaKl1gSoVSFDgeyIhC26faLRKqdd1YxrnGJ1YjqyuKB8LM3hl988i2+K0mulR/kbltcAbcnUydBb7Hzwggkgnr9RHTYiPU5rq8NTV+/kQftBUrspRppHvPvkHpvG5ymGrctHSOJgXvT5RWzKO/Z+cfDW5TPuU4shgsv+beqpdH+ZN14bpFqiX2KkaYSaoho0uoyiccY1jiOHT178lkcV7ZlPN0GxxU/dy5jriNfHHBq9VfH8vPl+qONuKrrvZuUf/R1iZR+b6/rEe9rh3isBNt5/k8lkN+rqpEVi2Aqw4vOhSaEvCyd+coUaUlavoBL5TKb9hC54z3yF04HcHn8fzRpCWmCiVmjYj4aHj/uR9x580+LKw36kfTRwCVWZ56iRqJNJKsu7ZZ8Z4gjaG9cRW6wx33EfqZHZufb0oHgOFYTfz60o0K+zCuEfzFm4aZEsZ9eJyaHbQXXHgehgWEycyve4IIP8ypcM7NcVVkErbs8vIp1ajPiUQ+E9gBQxWd23MSkUqpKWI5aEaqTnDBCjy/y+czvP7Zzd736sk4LlNUBVyTBV3jL79CdrvqgY/2dJChtLmA9+TK74+Y9uSaQmOtVJq77IEarBEjWPDFHw4T6ObfHKwXnKyrIEYBePz4/JBIl83uc9UbF4kTGJyoYuSsrKCIZE2JbXUbpRWRn65nskn4ySF7AJhfLQQB3Dw1X09+tEok1pqcUbb4QISwSD4p3zpuMOSoTadAydc2RWbANCdaJ9RSRSJgM2oMAJt1tYNpbC7GsfRe5Em1dw4o4R8KioIK9og2VZ1Ev0K4ACs4Qf/lmTZDRp4Iodp+sxbqPmID5fOz7fEJJlJqszLBqMc67LZI6GtIWlMN/dF9ayhfK9jNKAuHf+LFePaxLnjtxjXUhBFqMD7A5auDLPfHfN3YwWjKC1IZQ4dv3d+7NhFHBRFtW0ohPkc7drSXXjUxOWJR7fF1U+EXi/FXehj9D4MtZ+2OwUVkVCYYJJP+GJOeIJl+ZmM4gF4vcRWt809TTWw4DfR13ufQJCXSI/r5rdZ57BH/YzoOwu8qucmLDcIQZ3vk27AkhBgyTLCeI6coybSmI+2MJvxX6G3t4IbmQWuYYErk2ljKn0NpOqHscQyZ3+Poxhn7148/MvXsQwpN48P+eEeW38GC4bQrKJSkdyuI5Er78XuZ505YAIW2IzZD7bXaLPu0afREJpsgl5LS0OV6+eDqoP4POJnh4Rj4vm/Q5DBd+v25QTrebIhRS1UdvJdxO+wXm93rMoKcMUe4a63Y91UjiyGpE/dpswyp+g+VyLJ5/Mp35GRlDjM7z2FX8EJTqR3BO5BPkSpXeLut9swvG5vPA7v0Vl5RxSgit6GO16ylYhoe6UiRU0Cn2oowSdzKV1UrPDHB6KZ54RF3WITy2USSTzCyiIr6AXxtHmt7nyGw203F1EY6NQR5PBej8uigLiiRpRF2xjJHYMq6tRjpjKkeWTndSqlSJwtA1OcCNmVVuiOj6Fv67CMHXupdHCSM4xLlIdT/p/His1R0GjcZXUSOjJnHeUFIkOEQ4PU1m5gSWLJq8eR3ScTCTJSER++T5vW30BKUyTCtCVNVRUgAoKkGXx1CfjWD5RkPvOGxvQb68yEbJ4VVe4N6+WlOOnMTCEVbNJUG3EtEjjTgOZngzSk0jVFCTuw9pyeG38CmNy0Bli9Ldn5Wh7BkXNlt+yxBe/dIWi0TATk39Idf84ef80Hyd1iQOvfnVFhobilUbCSR+VHdVUyiHsUUq8VSJUP4Tck+/I8cXIqz1PrE9MPliHK9fELs6wvLwGbPvUIJ1vI+v6BVRSlXTol6l/pQwnkkvrUIGjyhO7hKhuFGMswLhDPn3fy1PWTXfAjaixFZZxTW0e98vj8Sll2qcjlHfcnhsk3OICUnl5qCnH/dck7AHR4KHGqiRCSpKVys1rFG13mRhZdrAOqoliR7x8pwh3iIrpGuTvRwOd163e07riQa/PkIBVFJWHzMJbzRxT3/uR4kQkQq5QKonkoyH7nBE/bnmCS2fUzU9mUrDEgnVzJs6/CYv6/XzjuSU0L/T8Z3PNoMz20UoLvTSLolFWVoXtGJjZwqIYfKCbB//HV5FvkvU/+CPWm5qRhrDUQ8Dq4QXLS6h6bRKVx7GWV7xgrnef9nZUXc3UhChIiTXZ+NTPPSpmeHaRpd5tVCcs28axH2FZ7WYbnBYacdCKyRq2JFRegToH0Q3x1kILX0MBj2bYmiTLFjmoATI3kMMMSTzXa1HULfSqZzUmTyG1ZnDyksUnHRs4j1ssS6xkG+xaFpLXRVNBOU8Ni7WGdf7NH/0bfD7jGpjX9YNKJJJmdvZtViWymHpL30YTLkquGXU912V9fQ1XYsmSyU3x+H/kbCGt4shi9k0RyYh1reLIpbyinI6uTu607mJEI1iykRpYVSOOJaz126VGuXEf8Vkuy56OgSXxsWUTkljo6yPd082LLw0SiVhHUOQ1SwYiG/CjggLsoRd4XFEaJGSZ4yxrkaNsXc+dFZaYkW1oNnrnOZ3Nmwt1npt1CIdPUlkvLSbx+b/q1ZnMrkjiaVk0n1tH9iLGDVTO9LRFLFZPTA3M5LjTOnQDEafiB1Bv323y95wNy56RB1K4GbSzXgYi65VpXrnjk9fGw8rJjVhACpL83vcYe/UP0eWvIbWivj7Wil9Fs/0oLBKJVSYnJ1irSrHZLlZ7e0m/WsrQ2ByNKzFeWV1l1rYpl0WnFrEUQFrD0gzypHNPux0tOUj2CRLMY2tDq9XeOXbOM2ew1E+zRE1CaGKM40nFwoAtBs+sv5/MpFAtdsZuQAfxN2jRQJj373nVuGdO0wN8SrNlVirRUlGxs4WcOE11RVgbT5pj8kRjfInMbz6GqpKEm+4ifO3XkONQrWrmNcYPhkRHvTlW7eJSU/4J1aqBc3U0DZdwrUb8P4Li93QvAT2AWR3YSI00l4rVx8XHKmNFEfPym7MrsHwCAVFbK1RXh4ZH0Wgbqh3OeRaPcK85gfLeQLZxldSui+68Zvx+8cxMBV1tJZROVJCrW9DcnNO5/BWmbj3USULCHWnktcFpQrrAEx8/YaiPm3LrMUvyF6VZAZ6WGJqt4Nn/+wG2z0bNMoPRKUEk22+TqvPiQvX1yOdyWeNY1RYK5ntl9M63ZXZgrlDSBLaLXvsCCpVyRTKuH0e8rjrOawO1JtFCCY1aJKNWNrRBQkkuyVuVvv2jEROWX4kxY5eTf6TjbDHSfJnhsMh7RfhLo8TjJ9X5zs5mL0AqNHTPEbGzc5FQqMsMcI+ZNtWkGJbOUxmPMzHdgVw7552J13U84Z6vs4j6Tu4KRuI27os5q9bsu7Ue4O5PatGrrSgygBQglXqKbifDhF9sXtVJKuezzN+LPzZxW5QwkolZXpf9nGOVOl6dl6iEEiWY0a0WqDVcT3vxLlIK5RehZDUqiiFfBPXGKPBXk10ouW6+0b4IuhRGRH4sRml1DXOJiyj/Cpn8fFJHRJalSPsUqYAFpZAcLl0Szol8qSGu6IvY9jkODk7uFGyJRg0c91W9iRr7kS0WNcC0ZkjLx6iCqHrWE9gKI+3ctE5/fJOCz1hWhOZv2y7hPrlErSjvh8dJSyfUvn50G6VZlTwZ28e6mKAvL4T13XaUMUlnvy0x8N/to2dmUekikdJf5yi4FxbjlpjU4yxY76O+lHEbeX7GcFhYFyq5+AsZ2tvFfiRycsW1YaNoL31hYT2lYzHxWaHf+fpRYlQolKS9fS2nzNU4Wid0FAzrQ7JRf6XXSYRsm/ZIlKtf+10GB7vo3GkgL1lDnRrp0wM0RBrQiuhfMtcM6sa03D2hEM7WFpd+XWaQ7s39/dhX3yDxsIR/fZ35f/Uets9B/fcRvktYYxHPh+ydF4ijTu/vri7k9xO5+B5qs7xkuF4kh8gn9yE7jHqzq6ot0nqCyrd7UMi8h33pSC/ADCoFSNU0B4YocmsIrQl7xofeSSFHRLKZvWf4aG/PkshuQL3m2S2Je7NykB3CyU96VOG5q98ajN63yKiIb2iWMZXQrlIz4SWEcdP1oJhYaTaT35RMUpablyZwoRX5xVROZvKXIzm7sE5dR7rYEwjjjF5Gl0pwNM3e0W9N6JM4eutbKJpNQPsSUgnxjFh/+XbqoQbDvHpW/HGc6zP9zTOGlGRLX0NZMkHPmnQML61WNTUqYFcnF6hVMq5ISVyUMDGN0/fvQvJjP3AvobD3DlIyPGGOg5lEIqbPhEKmv37qtnB75khGqzvXeoUc0a8FpB3KFWBdYayWPeTRtUuj19XTcd0P/RgnhRWhNfGYOllS3g2Dg39TdkkVRP3jvL+xgaVj2b3PxhwsWbz1xS0yZWsoGUVbA8ZF4DXI/Ce/R9dcP5LD+/oYXxYxsS4Gg6JBAdzBEFqrRKGaI/nItTURignfTwnLtjiC78msHNt9OeVwZQaVgNCzQhO+I876LHe6NHV0fFppJnWazfH4+irYQS/OYD8Y9HQiOtB0M1IrjhzsD236AiI2bY4fkQdFlSEkK8+9riXk8+H7O1OGE2bi7Htm383K+jo/c+H/iSMf0iW292eYn9814uVH56WRhz4aGTG5EBd8vuMt8ripk299cgk5q2g8O/m8iNRsFjISmhIbGiKmEInICosDxxjw/v42qqpKWHJFvKMF9b6C5LCjKRPku12e/jPNRdo6eu7vSia2tG7Efx4ZWkGhnEzeIhvd6yCfcceF5FKrU+R3o6MeIsfUoyWh0AS+IYdylTHk4dsvTOnIPTGzKdxsXQwPH1G+H1kyhL58HvktlJPT0C2x9YnQ9CXkz+Lo1zF4+SqTz+Ed2yiPm+k6q8AdWWA88LUz+9XZLqFapF58Cp74fVJnu5dOm0HDmc++s45JC7WOIAXIf+RB5l64ilpi6Pfn0SsPMdU1h7oeReNbrOmQgWdfpuSeAxq+2Y6ujTDVvI26u9HEnUQmW3jQfpDmqYd4SPcyLR9bKdHTNcikWgkvVzH4UCd6KA81+5DGzOTeM4i0ZvqJt5NwpVvAoG88PmnqrHo0eiY/vkkhYezy5cvU3oze+G/QwnaAZ0r3zaB5M5rfH9ImZLh03n5yh8w7y/jkp3jpBVRcdXRMsxp5urgL+Xy8UPYCrnUSw9yXESv3CtXFcd0UJaXebztCYfHSx56+7ZUWDBmZ8T+nzyqTcxGVHQcbE8qlWXjlBs/hQwt3opIs73oeh/oyKhYxvxhpKeM738lQ9vv56FsPobIw/lbRJQt/xRXTcLOuggsiGRXd8lOcKUL+cu7RRS5rHnVdMUinCplVzkPeOftiNGhiEIsS64l1Nh7+75FjJoGnww00P/OcV7ZsEC4PyegllJaW4DgOhzkDQ1l5GbZt8ckrMpOShxFfWSkinc6Kn9uoQhSrBFc+fL46iktKj+vl3Abq7PL+jnMs+9jMrvLNCvRT5OOUS8y4QpeOv6vIdmA9SkhtpEuEXFFebsofiYq3OrMINCFtklDyBEOoyt5DToKMxLItdEW4bjklpRYKV6F8bxFQcbIs2Tq7UFpG1K06Wd5YGD15vZpbRqJhrBwNOSZvRAbmmVQCQ1GxdXRsnjwCuWIhn3AVo0TbSC/jlroMO8M3rCvJoGhaTn2X7Xcn6++0HecxJGR2TDW6+eDaWBAmv6kTySGgOEXFK6gggAbqKRg6x2KoAGW6UIXLkurpLS4h1tBKXlUa9ZRRmd+EMkWoogNfRQHdVjcFFT30qJNK2TRWi6K7Sqi4XICvNkFJT5qa91v48OFJQqFdnrlvnJUHfpu2vD9m6oUetv1CepXg5U/4zXs/4ZMrTZzbEG8/IaZVxre0y5h+mcUL4r2o6FIxL+p+mrfKKbhPlF4Q+rWzdlzGfnyTQta6hZWXnYlvlan7k7ULUXHwvouVEs7gZ3z97W3eth0yU/NGKWvqWaySJiQfQQVpydj83j8ZJ1EcJTafz5K9fuL8GQm5FtILhNx2s729kP3dZfpbQraFW38HG8OP41vdPrscde4RaqlIYtw1naBKxnd5dvDKh+LF6K2voIyF5GdQz1KtEqNidl7cMzWF4wSwZJl32yDiZeIFzZFWyripRh38lsO5QICIXuVOvcXLfUO4ienjttB6GT06ZT7/ontdhmjatZiUy3pzLRstL2IGyYtMuz4CuRw5ro0VtXGP5BvHkAL4tsWcZdwmX9ckIbnMXDzZFhccUWAJ6WsYt8EFhl0DOUwl7mJs8TjQ2n93P5VjVcgRdtsK9pELrohsvsZxcNLQsy+f8V4M6WBuWcvMzm6nB6kBWcLd3sckuj1okrTeclBULEwbBbxiiftlVrcZWczIwZZN4ATi5quc1isujIovrQirqAKn8zRRWx1yjzNhXUWRvnHqmBAGHnrymaamROH+DOdWzhHYHuO0i8KRR/a2u44uBpG1bXI7omb3PCIha4ZgMMTkxns/nn5vmXyQH+acK+k0bW1tDEn0KUG/XqBOKb4SDPK7z4zy70sv8KYmGdZlnnFtXpRDvm0RC4R421njhR0Lx43QYb1Kq5pwNEWDrtJ3TgwFzM4uKNHZ0kJr68vIcfBZ8t79Oe89GJLKKz6HrWw9uiLgmAxo1xWybHxaJOj0YAX2kVwcxyJpx3ncGqTtcI6++4NMd7tYmYUzeJ+M/fgnBWV9dgFOuCL+FthiNMC3398hXSMWHv+Mrx+N8lU5LOtJpGIe6T5H3cMlBHWZr+lD6ktrmPrSOpFIAnv/F4k47+ScX4lUiFaFUnloz28GjKgwweQdFO3FssTFIRENRlHkrIQsC7VeOnIZORIDWyJ4IMbWenhyoZnV1dN4bhtpn6CdpK3gp5BTTKSzj6/5po2utXSUcStNUaFSxhwZF5BERP1cTk/jPyc6GiZ4rn2E1W9MYUXzsZVHRPJgcDvUyE+eU4FCq+Z69+0bqcSc8qQu1dOth+mtaqev6gPMYP4AX9wW8ZDM7sIWuthCzBpkI9J+4vyvTfUSlXERRGUG4r4HREfHJoGAccVsXRNF1UJdUeRYJBSlfkMoLq72r7ARHcLEFKpoujtI0baL5kR7r5+Ocb/Z6fSerntj1p6IXEeFHGFZzSbBScIgW6pR0EUfXiELGLg09V0kH6rpRPWl6IFpFDLxDlsnWTBL40WsN8zRrnbeUgdOgzziv4hpBzmssFZIRIZFV0UNd4wZWcZeZScpH9odQj4zYGxri3EVnSp/EjOBnnyuUMgsNKJvjWEVxchNIhvpEU9YorhKaDGC5ixUl+MKCwRQezu9XeL810U473rCu1tZjW4jOa5IrM+d1Fu4lV2SgWm/L9EmIYXxyaZQojAkrrlRCiRCmsB/sZmwtYhdX8juOxa7MxF+pa2EmY33GYhV0SM/8wrxrJIEIv1MW308GRMfNoi3/X6qhuZpmGvipeI49fLRVTlGtFo81dRKSn3E9+7mCdemtSKFf6yG750XX1qKsPx0M1po4gF9hX8y4aP8eSFt0t0dpbk5zKJaKFQ9d+gd9jVDSe8I05o+83l/IpPC31brjYpvvS9UnUYPLX2m174i4zftnE2j9kI6qxMkK+4+cUz/mxuE25MknF42K+Zz/OP1uKo4Kdo9I668kHuPFjMYvmXgd9sSyj+JEllRgifzc3dnPuq3U/jPXaJ7ooUGu4aWlgja1algYh7+hEP9ZhJVi4v3vE23+zXqlfEU6kzw7nz2eNuPmvZNUPujWtTQS2DaZrAqRXm8/ETjS0hkNE1YF3hiPE5NVTVyZj23yQFGG+F4EGpWkqfVwWBFB8OVxyvYl3dSxEI2elseHC+I9JCpl3w/uu8uFA0z3jJOUmaltZ8nfJZoyRfPN4i8rN+8WiZo2LuHHD9RZTUWRF5zP7IGCChFRGXsNqYYKvMRT1TTkXdIZ2ECPbOJWp7jiLnT1S2E4UNkg/d5trAqYsjvx2e7PNycEzjfakGDLiprQGNi66Mt4v7jNvG2xK7MKrMoIhaqknTIofOSUK1QVKQeSGFFLI52MTLuv/P1olD1NMtMyG/peOeyryZ83m6jSCnePI31DyfRha9x7UbPNzKGfAaq7CQ3OHAm6GrupCF3VxqJGOrxRAWlpZ3cmxzCrX+QlngZmhUDPtHYKFZXRX6zTojopHQ658ksiMrkuUXv1hF6TMm4915uTaV9S4sIBUVCa7gqQAU2U3lbVFypIJ1y+XjqIt9cyKNKCXoDUWYiEaQYxfJTqSSObDL5pm0ZWok2otFW5htEssp8l25uocqupkxRKuXQVNJEuFRUV9d6bbyZSlnEFEcXyiiqFWOlFdi1j/Jmi4HWvqhJylXBxzI7SV0OYlm1vKEGBjXIuERVSxW57rxc+/FPCoNChSuf6YD7WdmqX5xf9f4+LXryI5olb3B4qhE9Vsfo2BiFdx1LKa5IfHFpmpJfjKOiYob/4i8obG3FJ7HQ3kl+Vw/jI+PHjXFWWPYKrk8sLOTcy8q53/q6cV14qAfLmsBe92BsPUIlaWQNITnsrewyMzbNg4eiw7ZysNEO0qrpSNaLqKwQu8foDBRolQlZmAGt6VQQz6s/ZxwpSUgh5jWPrGxOglAiwQvjL3JN/0ek57GsYc6p1Pxui2VZ2N6x8/J0g9XEmPUU6w0NbDQew15te8l0Eq/cNaqjSa8iLaD1ErTUj0LinHWOqTGLZFJYK+adrK6LOc0Q9hAmoxKpKqGO4zYwo2kiivCt5T1ce5byctHVEaCr+znm57t48plXsFY9PVzbZkWPkM0EzrsiRsbPbhenbSUk3Jf6UXExrivWFk+1w+x7yQhrZBZl4cUSVtkKVof3OV/YQzM0KEbjio7QaovLiwQ8bqAJHceSLFmUqIR+L9kp913mfp7XPNHTSJxgEM0vsZFt40tCy3FkT6KVMubfewV/zLg9NGNhxUxOiiVRapXyYuAlXvqF79O1+V3GJl7hiWtJWlssJBvZ1pGWhXK1BY7qYZX5vtMZu9ZJN+j8NIpG0N4ymh333kuX+W1lBdlTaCmK0YiwkVYMMOZFsfKgMHkKpzWVZ9F+H5quYlKWEbDZDmGtLCJLzC+JwVcs5n5/jT+wJ+mteplXOgZY1nP8U5Xy53qTCWX4F2sx/tKe5I/LzP3u/A3x794WL02Jnqh4SWJOFioVq13iRYmX81YYGxO1j4iXXgyzMD9tclBs0domuqtWeUEO+VZWB8TUoZOtR68OHVlYyua5ZJBeQooY3Y6cLOof+6QwnxTT/vSZv/1N22QgzOH+jQKtP6KVCndOXNqKoDu7UZ7NlXu+e/R7WiKvfgjnuXdRvsvO0w9S5a/CkiioF+mKNMspz5edFLpfqL0W61IJBa3ed2fcd3tARINCykdX1w1e3etgJhfAQbpEyxPF3H2Qz8y+eGRmD2c3aFxA5Zsc+6CTdDVvsLMyRpGKeFT1XoMKc6OV1yM6pExF1Gcb5PvCLfVcRq5LKq8Wn44Dt2/m5DcUqoHs5FKQPb+oGS0+w3r+MBsFx/7vF3d3iYWOuWTCeeL+wnpcPUCsUTxeK8Ku+NKXrmD1rqNYAbpYj3w2T0vkK/+IeTMl4VMS1WeOkB1vK5+MHAoLx5AsEkFRlBKxuhhxf5BUykJqoEGmI6b15lFZfOlcQr/bs0MJXbBRtcmItiSuNAqF40zsvEB1aSk1cy/gU4gveh1ewUKTYyNR7BcfJQ2iJ1KYc+06IUeE1Ei31+4KNYT0HKoUOxO1hE/E+lLUK328Eq/RMSora3Y9KrBRpBQ9Podqu1FhN1IeKgxSUGCSsMISFTVieErUjozy31hP0/5akNYPX+Tl1nbiwUpSlsgbFlPTYqpult5XyjiYEPek014WrlCD2Q1fkJD/aeyEl8neYFbdXRLf3RcHR/Qbg0idqDBtAujFMpomEkqnkZWH0g4GreYlcqVNXRVWen3nOmH7fBRNGLip12amXB9TtbXEGkV9nZguERWFoteqRI2VZGSTVgHlErXKJyGHOrnUKY/SoLlfvE7UhUQyT0Qc8V4iwYNbH3EYLOGRuGiX+I6vkF9LGYLE3TqHvYJ8XpTYaRaZhwaIh/4x9dY5Pr5cwGi9i23Xcuj1n3qJjqConrRQ14fUD2Zydln5ZjwoPPl+f+yTgmRWYn/b8hQk8VEwyiOX30d2IQrMn3FMiJtmRd7ESiSmJXzlIv7kAJZts68FTtBC9PTgu3OKgERQy2SZUlUjCtPKUZ/aQXJROg+11Rt3R5HNmbqyr8skE+0VoI4tM2iEQuiUyEeyxGzNFTYIn69LdCzYBFpOcrQUtLxP3bA4HDhkotYEdg3GO0Y2CJZr7bKIhPf5qkRwTGYya7xxPc3kSiuGBo7qO6iseyqO1ELpehtlG+0EZoRdLN7bCpEIeu/GEnpCqMLUU96QqO8JIb/F4KCOmUfDX0UKcvGes/hzMqivGrlmMBteXycci3FX8RT2qkVhg6idEaHeEGZStJHuYUDtXi7D+6bsAyHjutEKP6yglBty2IlMHj1T+Lvy2ksPKi+na+kFggoyEMqu5h0U8iNLXoA5++5yiNfe3KI/HqRbg7R67bJCk0jjBl/vH0bysy9hKYhUQr8qjyCaoW5hBeQ98wImttJn7p3UqaRDsxPxK4QUIK776Xh9jV/7xwnKtidptntJuCKUzAE4WGJ2q5nv/L0xvj90jmV5nGmXqtCM50YclNcuDFeXLUNOqEHRZolUWCTCITS/iSpFaL2XrtgErQkZKHad6VNDEtW6xoY+4D7d57WtdQyf0hb9CvJyYSH6+tdpTqXotnYIBl1DmDe9x9fefozWBjOBTjaK94YP+LhnkM73RV+3uBwQ70m8sPgk+79U7Wk0j3JRlawHRZ6/l6qCLn5udY4nax4nbzLIO++fp21RhFZDdFg27SELKYkbjh3RzWTFfKIKEJaBWMcdkZwNYwUiZDOTNyV2+v04jtmxOjKkljMRGZdibIM+VRv4fUkJmlpGsk7kbIT1E5oUKjXBmI4TRP622F3RKN99/31UkDRp6tnf2uRxnpzjOmbD2zRbBhXSripena3AsYW/6Dl0Z//RysuWeMAvnpVY05McqzbVY6k4BzPtTSTlMkHjUaHxLa+TjjM6mpMFmV0t+Te9Bi+DVQ+HmdjMQ+3tVElU7ghfUCae4DWGx5Vm1p4yrKZhoQEx8ZEfnyuedA+ptydwLPH+eLaTnsF7ZAt94DcN2tV15F7dOqk6tjtxDG0cu3BSivAEB9N6Ddqo5dFe0ZwvdvwbhHInRX85R1nVE0J6CymVk5chRs/7cXxi/pN5M9AET5V9xJR5V2J1zEcsbHHwwQXskI1qiwgMd7ChDaRsmR005tJhi1+emEcKIHfTe2YfP+yCwtmaYObwo6O/dy7n/F7ajmavmc8XsvV6B/qqkTJNK83UUc7JNkfJkJN+XP+xD75MolpRpDVU3oOevAcFsnW9wEl+nXzW1OpRRuyY5zvjmaokmiOi/17x9WSGb+lZfBpHehX5/QS8ybtDYqM/zcZ/00RwRmb32i2ccgdfU4xejZOnQnxD7WyNj3iLiR7MAiSMtM5uzn3Ho8LqE7U74kuXhG/fj2yx6hNJSzgem2z2eFfCVhC/It4Ems3VMay+rkTIslAkgmNZJKN+s3CyhXxRxsI/oMkxk7bjCNcx59g58bighM/nwx80bhq/XAKy8a2KjpEu3mtt5zs+H5V2kE1X5E372X9JrGwsk9fejvNUO3K+ylO7j/EdubRqhA4V8K7e4Ysa4ulgB+6A+HK5+HtvbxMKHRCT6FEP4+NZ0EgLWxON3O90MDc6yvjKOD19FnGZMdiVyLNt2t1NpBgXdNw+9vUTmhRe12tMy8zUL3yKAfbHYYcSbjTK8PvvY1bcOQRXGX1m2YiT3SlGv/+IWZWNTqHXRpAtnlOAjzP30eUmqZKwVIQUwpYoVoHXEbJUxoawq6lUTAaFfiC0XOU16moqX05gVT1q7lkk5CRMZypsJ9KeIrnXSZ5t85WWetyiIh7RSVHvLP/9c4cBlqwCqqq8zlQmqj8RroIs6xEiHvNkVZVpWEVnPnMGVVV7n/NQWQhtF6Gog5RPidaPdo15EvU5ENRRZVfAx1jyKokDibGKSSYqpikqKiBUF0DF15B9jFApLR1FB3NmIqoWO6ogIpcXqkqPfOQvPC0CgTxeq26hpKKE85UVfPlaPtbGOj2NYmnPBH5DMs8uXw+q+jlMADtKMFjA3l6KUoXN+7x8mcudonRbtFS/9iO3FUuVVKru+LsrwrYdiouLUVke+varKB7nOV3GkY0Oq0xSo0/GRbJ4PPgdCdW/V4wSDpKftDIU6AopHWBQXBFUnj4pQxuNcimRwCdxqLB5nyfKGaFE7VgqpVSlOM5jPPK1nyXdO0FZ/yaxUIxNp4CuEtGgUh588AKzW5/Q9WufcLjzCfPRBpQpNG6dJqESUdpSykEqj7L8a4SDreipPQbiu7x1pQnLKsVMRg5SEToU+9vlPBA9pMqfj0rXz6jLIj5r+Ls/KC5+fwU1D2LcTj4adIk9+ShVOUbsapYr+hBHGQ6v+Gl0bJ4oLiaoY0qS0tKTMPCU1w8KJZRMopTZXbZL9Momo4qjjOyERMoVulNExkR68gANfkKgqYkyPcCrVXMoMo0u/Aat1VsMWHeyv/0iq+df4b5Sm/JGMfyhcCtFqk607Qsl4pQ25WGyuPNQWeonMym4jlk1T8lkad4u2dWP2y74fCzPTXFeBeRm9n6W1mCLWlvIEeef+A5qsb0GnodGeo+1iCWk82xJLHmNZNY5xhF32yM8sGAmLtsWBX7x1pzFPW9v4Y4GcabGjRtlXChUj9xuNPA4VfnnaNZFuoZFccXcDWknJKHdfAyvuxf0k9CSiAbEH3zRoSxHKSss43a6/jpDSOc5pzDjQy9QekcaaRxboevee7vE5W97f9utLJ5vxD61s8grtOibdqh52qa2/rwp31w+G5OzBL0AquWI+Q+FveEcDXCOVpCGmdPDx4PeN86hUB/SVaacaVZnNo7Of0wWTbJplzfZLS6hkSH00pvIN3Yc/OzrZKnyEa9+NtnczO7Szt+gXs/Ggt/UtszAsSWRDAT4ysQEsgpwHLOb/VBGXa7ySYfePxaKmuOXlx3iceN/n/D6mTPzHj2BBNVK8or6j7PKHTN5hJxjeugZiVRFBcoJ6Jt3I1K2eNed5v6tXd4L/jzhL8wyXzaHNIbsMFZA+B3hrxZrH67xxDcDHGqO0VER7xL+euE4Dj6rwrSR/h4Kqp9i2llg9kMvx6ZbqMCU2+/abDt7WLOWoZPuCKIj/YBxbrqDXx01CXafZV92hfOUjeptTMwizobEOcc5cvP67Hosq9LrQ0nW9gMszs3QpiIek4mHfbjo4NoOOm92T/dJrCsXXrzp0WbIQNKDwtk5WRZnYgQVG0/COQnlOSdyY46Oy/3b6wNzAeGbEIXtRfRdG0W1tcze245tPc55vYoWWn4yk8LBgeFd71AHVz/LF/Uj2l0REf6SiKuPzwSydspsiTuWi2l7OoMWRfwL3UjTnMzXKOJ4lxInJmGpnGIVcH5tzawcAkKPhImXmtXP1paY/LbIxEQqE+fuO8TenIx7yZbhq7l0Ccuxeecd04DHFtqorBMbOi01eGyxZ4uor5/DZEh3INXR/W6MaDDA+w/vEE1FaWhoIJPJUU3LsYjEhpqoUphmWURC0SNqgx7lKsflWBa62Rnk4oj/Onr1mFNEfWSeotEFijuOibze0wUSRwODRUu8i66YSdiRxHnFCCtMd9edaKUZ5YfpjMVwauTBFH1Ie+b8JREvbPA6s3fvwSiaDqMvFqINk2A0rCAKXeDAl4WFxonFdPT57HZwXKasdd+g/lvlxd68OomrG8t7X/GSOE/NPEVcMeK6iOTgyz8gmBayRFGR2HrpHHbYgARmZZLbLly4i1QojE9RImrEVpeJM22Kg26xfV4UhY/f3/FAUk23kqjVpnS7k9bz4tdXozTG7yVuBbEyIuETDe3tLD+wxV3/hwz/cEt81CTe++UYwXSWpVY8uyB+bjHOw7MbfNjqo7LxCjpM4fgLiCiK4jaBgGhtNff2+8U7u/30X/oGilqG6uO0q+9mdlk3BGJ8WvNLPHVpi8LZMQwBXZivRUaYOW/apCvxlZ5jMsiCQvHFH4R4K7yNK5ewHUbLYuKJiwY5F88QlPh2pWjKyxkLJhqNfG+3zHuyyjm4WkCLZXawBTHx8qWwodSXccWOxS/R1Hvs1quR8QS8ojby5SecF6ZptQmpgF2V45dornC5f/3kxJmFwP9EJoXqR8WkHFrUQlbR6G/W5pBKSLgJrBELMwh+9vexHNH2RAbNppEVM4ND0kJWboZpGilDVOKunstoxkK7rbiZdmJLpsHFHrHZejU76GxTUhImky9iWiUruTcpUZFOo/wk+paB0y1bYvYr7UTDce65kEVZbSLFuaRcrHcQaYe6ZvHg0zKB2U4h1dDefhXHEi0JkaiO0PVILUtTvWyveNoIPqGIabADB0k+tHqpV+wk/85pazgwoj3ScXsICt2dPI5BeLTW0TJRc15UqpIqVR69u/d2dkiEjicFs3pMkvV5b2+LcKSf9o+HkNWLFKM1KewqoW7fSW1syciwao+jOMnzd6DCFGq7hKxjnP6IxDd0GYPQuj267OiM8OXIu7afPiZi6rFJd+HPmVySaickg7ppUjtP6dqJSbP2ci3DyqGDaFTO4BlFSZcdXSCkEJcvR5DqTrb19uNrOQUOpZdKafvZCO9OPMqcnmdND6Mmm+LKNhoKheKivSDAbHGYtQ/GWRqt4qE/epGfmb7IaluafktEAn7yw2F2NEJZ0TfYnhezaZHJeApsNaLZowFxlTpaoPjzL9L0gns8mIdCKHA3txOXCUiEZaFIwoshmKx3XRKyF/CriKgVJLGyg2q99jYh1JlEipFUIZZEIiySfpe4YjgqImkXHy9akhYlj/SRP1OK0cwI8c5+K9O+4zbQI/GmzESYPxyg+pUww9mdq0/c/dOi/1o2blbLrr5OYC+A+opwNM9DyXXUtoWsOGoXiYCFtduKlEfDugjlifTFJM+5G1RrCmkCKcRob4CeV7NtWFQqQlw+mtSEX37eUYgvqB6DNipHShDziero2fX5E5kUdD7XZbRxWx3px2umoS0vLxM47wUrx8ZQ/IdQa7pNa7BFzYKQPY5UgFYCyH993saoRPFWGbL7kL1KgQqYsKfM70ubOP4VpGI0/TQtwSDPa4/po+20qd/l3/otNDZkmFJlVn1LtkhZQd6157zOYKOwsLXAyUHN5qBZDD0tMzAfuXEcE7xeNXGNCVssWQ1sW57wSmkR6u+iQ+LJvA2ckRlqlbp+4Ms1y87Ji9g0/28IfXDuOKM5IIOfbs5HTw/SWLdKU/360btbm7cJHg2AE5gEpnWy7hp7Vihoo61NRkZfJpGoYm5NuG43KukyrqHcMtnCBFp9FEr0TS+hSAyTTGej0lLU1kZnh3i81EYTcyia216WbkjJPGydjL8kdVIoXQPyeKKWye5YLYlvSygYwJ6exipsZ6nvmuELklHIy7eP8zokGddhVN41XkCb6SPY7Wm3XLbM066P4GNzXH09xR/MfoG8xj7czi5sORRlShjs7eVRNfFPd6uYeFnU3F3NyGonq2Eb27KwXQenQSw+u82zz06ysF7B04fdBGWR1jYTp2hUBjeP9dDrtcHzYzYLMa8t2joSvVHHPqqZPaPMubaIZPGgRKeCqH/JxIK89mxcJjaVshgOipU1G1kbx/exziFNsKkH8MvkBWxW5zOrKRJ6mvXI8zgLnivnnA+9+SKqrTm6f9Q2rl5JOFNTPBYKHSvcVVZzoa+Tr08fl7etqZ5HG2rNxF5Wht3bjeaELAvHttg618xCdBBnwiAhl+UnaD+LlsqRYybVp+x1JjVBsUoMDc5cB1fvquGlWdOG5+dEv/sgGXUf3ff3JL7ofQ4Eg0xPL5m46cjZ9foTmBTmkUqoVjWOxpAaPpPB9tNaIiHOb4nDGlH9G7s4Hd5q8+4ClP7suZmiEp1F18dRDn+5zmRe5n5fE0TjZhdRpwzSMkklyc+0IsvicO5+tNNAfNim5vvlyD4pzP3cc8+d+HtFFh36Iq+8ZlPZkmZKYeYKS7zOkkNdEBTaE5X+IvLTC9T+HXHw3QTOd7+NSp7HCQSo2d9H6QxaXmZQuRrWQWx/kpqLMqu0V4RKb69uiiS6D83n/KhI1dYiWSekI4v8zSwUPoN+LYo2opTIxDOef1QszA/zpYYGzG7JpbZJlNZ4AitpIcdIjHZ35xOL+Ri5KBxfM4rkXy8IXyekYSSXgESqUMgVyddG2XQss3ItTdDwZZEJ1aHCylOKZkWkdWN1wdxn8kk5FBcy4ICI0HYVipqsdkvipyUG/TYaTFMaqOHee5/FF/chXSZPNn6JF+QQkRfYLzBllhzmVUiJapDGUFrUjYqKUREYFW9UP8rVj56j7KWPeNiaJl6foSEselROXzLIWLHL6HAV3d33871fvcp9U99je2mAnh4RGkvQMFbM3bV30KoxHtHvMBnNZ7epjHuaruBPFpHJE3ZNhqwkZl5eB3l520gWwcNjiom4RFeBKHJP02gIDV7iStPMUb9xa0SVXYQUwXVd3nvvPVre/jlk2RQpQY1biO3FvM7rPPHuOI9+9TLnVx3qvnfI7N8Te3eI0KG45m7y9de2UO3D3GlVU3f4MKoeZthx2P5iHaPWowRUjGprkWUR/QVR9GA1A//cpWkop4wRF+1UI5VTXfjrXMkk6U+ad/dIWAw/GubRCc/l6Vahl/IoeiFiJqWOEHurXyZ4vgbVxXAkLiuPtjv6eaLITPS7u7uEZorQT4WQJQZTYrJazG4bFJksoYyYVpACj1L8mxlRcpAkuBFE8qHFS1wYzeduD4kYtR0eTlejcCkqmTt6llId04n/BCYFY/0awHdDv+tP3vb3xbgviD+rurUcQKnPNqs5a8NeJ69uEZOTd3N48Q6c5R3sF2fYudclIdfQVDg6gtBl4buVwVLqVGlW69/KuW7OLB+2xEZQSHdyTt6guCvWFtdJF2wyOR/EHREfqAyp+wYyiCKoILYlpoe976ZF8AURuxhkMCSDGlmdu47rJ0/inex1OpXDjXS9BSRsx0E+Iw245632KyTKNIxknYQuX0qgQBut1THaalxaZVba/QrmQFZtut1dHpi/QNuAeyJxbEZ7dHVaRKNiUNs4Y72UdhYy3nyqbIdCfR+QXamvra0Ri8XQ8K+a1aWEfEHqB7ZIaxYDlcwJdu7dvA3kPlO+gif1O5qE8kUgMIZlpZDykLVMcG8P+UWgX8guptf/FCEFSchiRQGqJR6RD19uLCToEpSLf1HEf9Zh9+u7BNsm2Himlj/+E1H2hJiuDDKmPhxHBOObWKEMVfmP8ccLz/Fvi3v5oOld7rw8TGVa+AMiOBzDHqmi/7lv0XNnG/+nO5v5+nA/KYkW9ZLNl5md9ZOpipi2+mg9d1enCciwupaXD3G8Mw0ihYjrDFfakTWSr3oWFi0a8nYZHhR9ThNSPsGgCFlCqXy0tIn0OIP+GtysJkQwSCwUJm6JeDxApCyCekL44nHyHB8d4Tjjs7XERh6jJzlLaaQK9R/gi0RYW5zgMNhNxI5gDQ0Rd2zSEyEaF/rxfRzBnXHNYLwrdCGAYn1IoveciHYJ12ObLaoTbbNi483s8wwSXLuf3YXchcMAhn4kjeQg90nCF+9nxPEmkqDo94tax4t9lYpYq9h5V6jExF4ODsT7+THshQ4k8U5YzD0nyta9e9R1MVzRmLMo9aNAP0rZqCUruJPgca0YxT79uCeFLGFZtjA34Nr4idqIkG3E6jcjm4S+4nVs/xKykp/9/SqFykV7Rzt5VxPEYnfw9f1XqVYtCvgJhFop0gBvqRdVFqKhnJ2UbTG3O8KGROtEC3k1eabx6JTrIywC54R0BwF5u5KgeCmwSp2d5vz75/FP+QnqCfz2JO8Nm9V2r4zbKnudD7SHI7GT/c4vvnm32Pz62wQTcZRJopU+k8eRMylsKDeDt4sjDqAzbF6ioK7OU4ESe7cYTFUp7DkfE/f9AW7bsVbwgDbxe4ORLXGxKYjbcVocXeyOBnM6RAD5xrDtTnyndYDLhJouko0pBEYDWGELzR+ivlykSzvSY/Sq94gmI9uBb/QMLTpJ1GZpF/8ZvvL19fNEoncg2VjysxsMEvJPsDEwgoptNJndRSTwaxlHx/z/qxJ39ovGO1p5OXQ/z71o8/WfqmRqfgpZPmzbIRYTVrnQxSBX2++g7bVzbPxujPDlt7DtTuL+AEtyiSrKQJP4bztHeXjaZXv/DVK+91ny7+LIIqYcEZ4BGQEnCb9/FvuiB41uEW8Vi8dO18f/n7j/irH0OtN0wfc329uIbcJ777333mVGRmRGZkZEGnoy6Y3oPSWKomgkkqKTVNWlqq7q8lVd3aemTXVXNboxON0YgwHmcoCDuTg3c24GmBnMAebmmYv1bxcmSUlUn4sPmbH3/t3611qfe7/3mxEmd3Ps/f+kpDGJ3GEsvY7fb+FYQa/fiVEKly+KeyIyfaL9u0hBNDlJh+vSXiYG/vYy33/sl/x0W/z0Jys8Ofkk+ukREz/9KU1Nk+jiR/Q8OM078f/G6kef8vTTP0RuD2NPPMHtv29BO0PU7EQY0xT/i2x6h67j/N04P3lwioXlNjQo45WVq9A/IzDGwFCQjg6z/mbmxZTPTyRgFLYrlwP3JstOsVLwkWuSJFvooQDx+QQ7ox6SbU+4c2K+pTCHsyHxr5cMdNrvF8fHImgpX5+0KBEaFHbuvgZc1FEUAQmZe54pu4rdt8zU9DLTijKuR7g4k0Bzv2ul4PM2RYUwScAEZ3dU+u8ozUKWqKoSTz7zJNE+s4Ht7ory8jPc2N9WykVZmfjXD9TQ3BTCbOpNJnzhcRj5Emnq95+huTnL3JyBA1ZUiK0ti6RaqJAY0C3C6kBqRPqi5BqRSISDgwMCqqMsVyFcKWrTIugT+rrCJLBvC8v20Tz9Pfwy1nlLviZghpbbp/tetFaJpybfIuJ/yCw+1aLeKLHhmPFuJJ7zi0eOcscMkQsbfBupyv8/xk1FT4VfKisb2Ny8h5aWr0o+b1aWbtkeB46NKk+yxGZR3OFW/y3ul1V0ndzmcqPwtyUqnxDKVJC3Zhu8+fvPulDLnrdwg8y0/zktoSHG9DTNMvQta1qj+qUiWoSsTD6k6BmLuXpu6S6w7KURUj/7ERcv2uh7t5DThhpL34urSjIScy9VMhusoOIzm/Vfircf2qPSn6TS10JDg+XNowrKymySTQ10336Q+zK/IPbP1njiuY+IzAxQWVlBl2zuSNxvpXn4Tj9/0L7Eq9Vf8HHXMlXLuWeoIi2Dwgk3PcPV60YhX27MEO80cfeUNkmqknds0dQ3QyjWcrqRTss5/89LFBPajKPKO2jXQs92caSf4lc9UgRZIlZpQnK3U6LGJ9TTQ8XhIRVhMXipAifbjgaqUDptmgxV2CTsCpolpAyKutTGWuiSRUBRKuwq7OZmZruFlamjdtZPV2UzlyyLSFrYXY2sHW9RvTzCfY+L5VcMC4BvsQzVBzHMxj506xl27EtMtYgmOSypsaTHQ4duks17TGYvqPTmYH9zPx/6BnHqzZypUABbh3nod6RSNJaX8dFzjxKW8FsWRxUVJfPpdYnNSlE/YP4ekejuEdo1f9syVCct4QWsJ9dpHmpmVH6e0BR9myHu/af/TuGjOlUxqlGkF82mIsPJ0fPbbLa/hcxI3NoQSz9ZJZDIFcY4yPn6jN/3k29H+RuLzbzEqE62z1ujZAO1JpH9QOmxjnmJP9QstapkUmvIY7Y8KRWyGN3xocNekl+8y/LMuyiZ4sLFHXybHiWF7UerPys5LiBD0Gc2uAJkdUYi+/U+S6v7BALFMNominNDixLBfAHUFCf5+0tkQV61uJGN3Oe9l1Dn15xC9GRTaHkOa/erko3U51/iyZ1AIba6mVtkud8sosMgWtpjyrZKqJKrZAopc39bEl82Cb3+U+TzjBbbRbLQ2tfINtWvAb/F9rM2qrZ4Vw735M5hC23epR5hSgXunW+Q3quitYjw0CSITW2Lsxnk5cQ+P7j0z3ndfo+/2rhBQMssy49jGbSb6xNlcfHOOzYjjzzFPy29wPRwgP66Q16YmyQVFzFHbMyKpx8Xr9mL/HMFWbpfTC29RqKhET0u5IoqWUx57+PapXXetCzKJKLLK7zrc72ahzlyht64TDjoeb/YWDrnGfeK/z5jzGrldRnsQuv1hlDREbYcL0G8jxzRvmoYQKcmRSol46ltCd0Ri/80R2Q2jJrX0PgkKi9Hy356/UvcJyHNopYoe63yeLAMJU1AYr1M6PUVmq4mGFyNMO9soDtCr4jDiWOWGlc80jrx2gXh+h5B+0O4crmoi1xSboNu4sKFQXy5imov0X9Dpoak2bGYksUbEo/KwSdxxRV7rgGIbO+JJVsEbId1y8zx5k3RoTDSPI72DCx1xSTj13U2bXhvby+tj7XmgR0BXWBRPlQp7HkHx34NJTvQurB8Zr79d1EKPom4XHpUIDQzfD+/6Sb720m/RFlS9LxzgBsJId00m8DxWUohxJl0Dr+WHBP1rNpQyecJ07Ept2E0daCZ9fw9qkvoARFSmgm9R6t8ebTDWVKnOhYTn6GyDE6ymljbAookmPmsD/f9MgYkZFuor3TTtnpE3KsniEnYFUIV5h4WFxbo+UEad3q2cExGpYnakNAPhFGg3zAWUeULaRokFjyLRpNBdH9FESrJSLS2kpbLW6x1vMNGRQUt3j3mIKuSgfj1PyNU9V7+XXV3C19c9I8lTBFQqnQ+Rk7cV8IvVDlDg+WSrK5GKz9Dakf9nyJrH6kFKzhF/Ooh0igx6xJ2bhwfEer4kB45uOo9/cwe5PTbzJXgTDWBoQwG9ljPD65dJuS/jqpfQgdfU3njRSqSKWJWNelc/UO9+Oqi2H3B4qdf9fHhkKirWqUmPcADCtNSJ5ZS4qVd8X9eFPceiuS+ePYtEZkzczKQForFSGcqadyoptsWPtUR8Yo6nYSh/8jIoIf+pTxSui6d6uF8V0kW/53z1jKor8psnK0yCr5GJkRjic4bYjRyHV3xmapfCVPbk0EycXVZMvDRtNirEvEz0VbfUmIxr4DMRoqbe06L1p/MU9PRz4g3DlUJYVkRlPRhySKhZBFTgJ9EIlSoXt4z95eUURr332whoimqJF7VTbYc8dWPxPz7Zn3cTMrkLJauobZ+ZFssHq/yphq4qC5eVQMNakCqYSVcz39tayvxSAZy8ykYzLPkGkhqD5KFXHFw0+WR+WfRQAAdiJavxNTU71Qp5AqgRFOTWJhxGFdfKZ/N/0bSrwhlZS4/eeeAZDjkbS4W0jEqgnJ9l7KvQr9iSVR+r5K1tS9QxfyZVuTgDbHbbfPEA8ekleU1r/ewkTFUxC5akNxmP4zUxWb7MJlIgs+++ozweJhBySi//kfyx7R0icmnryI3gKFzkIGrVZqCrbmFQabXfPh/PINhjryClobQjsHH+yRuJWOEByYwseIYZ1qAQRV4mTzplri6UAjjxAd0SinccStpTWxS+f7bVDZW8ohMnwoFZFqTeovseEkM7RSUwps9ompVjN8SUW3jKMVD8TjJBYNkOUljckNC8T4aLYeMRGRPpvvcV+0eosd7hp8couYxYpawcwqtRSi2QK9c3HNrXm6c87kMZj7fDrOZ4ycH2PnyWZ55poE+bec7ZFkSFQryg0SYP47ew5fuS/zklgi8Ns3cpWZ2W+MkNURYCfYV5a8ff4f/WTP01ImVlOiyxOSAUfa2IqQX3HxYy7khopaonc8w+WEN424YX50PLQpTmFfOmR5qt349pXDjRr5Vr5QwiuB4Cc3soCtFv2sTqjHovZBfpIKmyU2hxWY1OaVwWnIUMd/tGq4JBskE/HRKPJRIcD1Zha/yCk83iXs/8/EH1Q/z+045h9EYz7TfILR2jU8sP/+iW6x8Jda/irPWK6oi67juDFevfUkwewtXxnvN5eUiERF2fUS8ZHxKg0RlUaF19u1GbsV6aFCSRjUi1TIYaaCjvb0kRDno/ZsrGt2UmGlPM75Yi66I6gax/JcOSh5hyxhaLQnjQf8OlYLF6oqFbYtqSwwExNBSaQ/V/61kVrNkleUnP3FIJGQqCL17/k1ZUc+TVhl88ZLGyKoc/5JY9ImUKyZsX8lvqyT6fEJLMu0eJVzHUPw6xUqhsxvVlbY6HJS4uf6VscJXzHPYWkRKsffZHr6w2SxtOawUUTLUNoq+0VXMZvqL08+wL3Y+8hMsv4BJAi7TaG3SZl1Bw8PcdyPD1NYWCkUwrKCvev8uY9g0Pdr0Xm+hS6byusuEG57aLyiQzyUvoVgQJ5NCi7Pota9Q14kknVNo3mNZwrYK53IkBoZEc+say3Iok9i/uMtcwGeqsadOXGdNhqDNZ3iDXna8PMBXe8gt2mB8NrIs1mdELCLjBTwjlDoBorBkMOj5z7x76xRrdQlKwAK2+f28REi9OG47jt/JV4P39/dzu7cS/7DNf9RTfHBpnItL7+HLVOEPC63arCmF9CqdijOuS2xpgZarNUwXbY62bB7SmrHwNc27j97moaeEgqLcEa9qkhErweuXxKw7QbVV7YXRdoue4Sw24W8vVY5D36fyCq28MXMstGojv1ivWGfhKTF4byd9i3W8KjHWIvr7jQHy7ShyNrgb2OE3lc7DAeqXDEzV2dvHub6L3gvydI2YDbkM717mw+R9bK6s4loO2nXw+cT1R4R/0uE13yV+FBc/fGWSTCZNqMzH4r91uFG9xvua5w+1h1bEM/NiM1vHjEa50C1erL3Gy9MTrMYayUTa+Dcb4oYq0MJzKLiN1sSkZUJ3g8tiwRXSOktyeEErPKw1fLLY3PDCkY7I9GUY+4cRFHWIy4SNrX2zvn4nSqFOYlQD/EnVIK4lQs23KbOFKs2CO92ztq+wefyOJSFjtUejor//Go5TjCxpKvntVZ1s5vHrS4M3HvfrJk0DDdj9otI24bOU6pB8qKkJbViEZkXZegA9e4j0MLameVM/9MbmfRNukVDiGEUKlNOuxLMSy7PVZjPyQjvb2yKbFUfPGUIvSfjl40u9nj82LJFsqCRj2wzcfrnk3tclftksAk83cBgtbLjR3kniw7so9TDVLUH88nOkI27Jh5W33qqQDtDtMzyaiFBSzGueJm/MV2QYGqtVTVBZClZgAKmKsrKvKCsrPo9LKQorQQnDZ309Kdclrmp0QSYUoWMWVUd9OHLCO7PQ0hNoslD38ahEuYZoauwzSkxCQZG5LgbeFqpw0MhN0xGsR2dby2dQgSghqiM+SqzcRaF68bhMeOG9tzppsB/hh8ry6ZGovL5H63A3DZl6hkYaSA43IauGVgX5pd3APZU2I2rka/0tST2BZBLDPR5kdjctZmOiRhbtiWriI0KWCIaqKeuq90Ilz5HR/fhUaqjIEmosfoZCQr1GJrZ+1zXQKHRf7v3sE5Yoq5QXYzdU3UokiF0o58t18UVbNZVdory9hbLqakMU92vK5cuXice/W/i7LfFwyzaj1RNcVC1pBXhPJifRHxZ2pckZZmUKC4Nx0Trq0Gw3EA6K6iHR5BNN7cKqSNOsAI4jqrpETbgaSxVUqx5VmxxHvggyKQLhJh6sTNN7f5QnbjzK912XP2wM8cX1HiJOLXo5Q2Z3h5m0+Osq8a+Xxewvq7l32eI9XaTda3a19HITy84Rnzf4GS5robf3ZCMhI9+tUrgurGyWqaUls5kemIWkBbO43cjHOE4Lkh85rmHO9PvQtb9A6jRuuiNyFL6BsIz19h2+3LgMfC+bdejo9xWFKyykGQzt8HdXxNYgoxReXBY9jwlfW46mOIvsF9BB2FBb2zZdEnO5YzMPYa08yKw2iaqWC/o+dXV1TE9Po/EW1F2dj1MHAmHGdRF9XgTJLBOrn4l0Vqb/rfe5I5vlQFGzdltoTrT7xEERO2lO5uaEYl+gy/fmP+uUwd1fOPm8KaGP/Kj8m133fQn/lLhWnxunPur0Fv0aJKEOTExdZGWxpAD1XQ/T0Fwcr4/i16eFd9f5LBprxGd53sTEBC2RAE3ONfKUz5eFwl0med0t7/Pc+arQfmshxHV5B8VjfHKfcIuYXPvk58acjBIICinOoj6kMlCJ33uuwny6ev4YWMqHv3Ib7IqMJbw9u8mUNYKjMD4rw9riJT6dFG99OsYP/0OIvqMZtqxBpIcxif2o927Fgfeu+xb7uFqZQvLR1Sq6q8WAX6h2AN3oZ96RhwyaKBoHP6c8ZUfnVr4W5pRHU+2NXVBB9nKV6qNCYWEFAgR8Phy7iYh/nimJGcVZ2RxAfbXoZqPJTeWUa0uL4fz/NdaaK2HbVezsLxCLOSjgGTLemLh+Q4fh347SG4/Sq4hpgWv3IL/JmVkhi92oj6QVRpZXcxGwceVj/vgYZ3kZ6WWkBqbDAfouir2UcLpNCLJTJucyXCW+97d+ZsITlAVE/9gOM6EYMzMJVle2uJL17tt1UVMU+0MfB3FhHcSJOjscSQQU4Iej+7zSeo0t/yaVShZVzF/Pw88DgVzeM0zQcgn4fYS94ka5IuSKqD9AKDCP/Baa8NPTLx5/5uxx/G6VQkhU2DbLuU0oJBMKqUyjQC+H79/HdIuDtIW6ptGnA+jyAlr26IJHZEIMVgDt2xw0BfAFR36tiXGeDMlYxZYmCMomnTni6C+m8J3spTsROtUD4LeROm/B7wTEjH2JBbV4G4dtFmPIG6ch04pvwTsublfQH+hjUmIy+CWR4SUcx8Hv99M02UTlXGWeKlkHFvIFUahI81ti9Pt9JFpj6MoVA8ubmsJxbK5enSj8rllFPET3nbh/w1U19eHnzFwsNNRxZZRXzosakYnzV9pCcxsoXszJX46Ge1BgvOTcQQn1ilBFjrvHhwlNWAYy5/3OVgUBZxV9fxb1ufl78ivA5eI4vRtCx8Z1zsMgr4rr8yEGtElU5SgoOuZEeZ0wiv+g9HmDol2G5nj4apBQwiK0L+NpeJvdvvY5nJLBpz8kJIuh7gQX/tAo2mCzTE7GEpr8hl4cocL/bYn3NUxaAeok/kQW36/4P3Hv0F/w6Qdx+v3iMGEqZS2JEfWS0D5SjFa9ZyxqxyV07SfmnEPisLwBaYoxNdOSqUBrFia34cOvE9XXk8KEXcrvfs8nxJZ4SHV0J2pMS0uZVp8hBUkkxO0eiyVNsPbxx+yuP0tDZS8f7F9nNRikWyIYEDW26IiK4V2hQ+/cTU2o8hsg4qtCt+R1nxtjWt3UV2UJbgawrH50zetjfniIgmLysnhFFewEPyVlfYqrH6ClNVT5OdpfMJ7gkxku/nQDq+wXKPrP0UUXHdYhzTAyOUl7VxfGw5lm3DrACZ7wrCJCA0ZR+nK1K4fyjrHQpEUgGCjQjkxMoNc/RYllQpaIhyw+VtCDzoq4L0isKkRoLcChLK4qF2INseetwevXH8eytpDe5J7wMAeXZnletTwrEbgkHj0Qn760zhNvpFFzCGkPu074N84e1+9WKeRPnKLU2o4hVVIhlUAD89J+8rOLaPxZlHGRmgmolP//N5FGeRb6jTbkbBCLLZY2p8lJq04lO38bSclAxTYkKvUZp/nphfwJ1LhPkwp01I3Pv0GD6pmVaA39GdbY6zSokQWtkdXTJIuJBTNNyDphlfpE/dAdgqEGnrJFMC3U3m7i4zdmqHaztKfEA60qsgT9lHYLq0W3w8zNvc7CwmDJ+VufEbbnqTT7RfWR947qdaKQK4qaapGv9fRzdwplimlP2pBMM5BcP4AXVcm2NrnheQ5GcbUZi/JQp88pITWg9AK6NIG+6KTeMkooI6OgowGVomAsb3NRhipZxHSbprTwu+Lmn/0A+6CUFts/J8qURnLQDVHbIAY33kUSU22iLReaaiuERAPnzf0iGdc4QQWpkfhQ28wndshWZ43ilqhyxTvPGuTUQ3qIX2mTuO2jMrNBXEEcuTwSeZtIRAbamU+mV3AmTPi2MN5M2DPGUqjCZ+osrEVU8bPTx2Rl0GfWPJJpH9uqNK7KaZPwzwh7VuxlRF+L+OwBl6/0Dm1tbdhWHbmK8SmJX1SIr78SLeUmn1acb4xls4TySCMhWyTSInBbJqLwsdBhCs1f9OZbq5mvZ9XIhFQgtvvWYlhFJRklf+r7NlqVLeWeksy8bLjLedv0G+4vu3wrhW3LhEoDoikpfGmhMm9dVnrvL3efrUJOFDcboa1c+DxP7ztWCg7G/Vzgt0n0WBLPSPR6/6/Ye4QxTfDbIQqKWjfOitoH6xjeHM5vYJYMr/lvfv67SRxp+fQE8q5rFf0/Z73t/GIb27LZti8SyW6z9p6bv/++ftE0Ki8sJ/TpOgrlLBYXaccsglkbyeKTkIiseNd2/OjCz7h6vMkrizapBoutYQe/htndHUKawLJNg+8ZiaxsPtva4eDCidafG8pDS/MWZ5mwFhaQyozV6BY/aw/SieK4h4XteSldEp3F7zcgtCkyyjCrReyuF1FnpzcHrMICOGfMN5ZFKNiPrKfzn61LuGMWVYNiYuSM47bXTDghK1ZfEdGI0NYWchx2n3iCraEh/BL3b4mJE3N8d8cjnusd8EAAFnI28xtApUops89KmC5ZK6ZK+qJYWJjngfJyQkHxxpYXXnIcXtm8QIvMxvtIWvTF/eij58i1cm1rFW1t549LiVgWtu1iDVjomUvInqd5M0HvuhhzxZ2vL+DKhFulBJpfNAniNeH4TcjIkY0tm5hMB8HU14YaY3XVJDUdWeyqE0XHmF5ZIXtiDJatJRJ2AkWEtW7l51KPBmhQC0vLFrdvN6NQL8PLRcSCtrhoGa/k3LWek1qhvl8HQGIhbRbW5Jb5zFEfJXnHnV8g95IpDFtXCaJtV02cD9HOrUUDpy54bCf2N1s4uToVj6n3PG6tvIRkeitUqIR14JRkhF5cRZFhYl+8yYuza6Tu20V7e9+1Uvianu+IBTVHfLYgUf90JZeVJqofEAyK1tbf5JyXzMROCN0S/o5hIn2mOnJcJlxxVvHHdyMOzUpwRzLWcZF30p/JMJA1FuWQTLJVEjd/IWxH3LhRjj3yAcnJPmOBzNu0LnZRPaqC9VOmE7mRnLW/Rbmy9Lwdwgod5Cd5d2cZPV45vrpHKVv9SyylKC/3Yzni6HiVAa1xWaKh9xbJzsew3NGSZ+oumqAH3rtKu2I7HkdyTtyTMAVOJxTLlrh12fw/JPGA3jNFShKyOlHSwe3posx5meMHXvCaphvqbIVl+lFLtMoiqB6TJ/AUxaREQBHUs2YsolyopnsBX7o+zzaak/JyUd3j3fPQFInRRux65Zual1dVURaJYJ2YJ4FAgPX1deq/eJSAxHVFkALmPt6T4cWXMIaBIS1Lq1AsKPlQ/RqqjaNnX0HRclQuhuNx/sx1iUZcnn2ow8tDFd7tRlxUut79JovffTcBKc9jc1eJN/D6zz9jbW+RjqVdpG1GJMLyEVUHlfM/xlIOKunQMjRMOB4mLPHZnPi6UXytq9zRncI5y8vo6mzAcTu5edOsuzJVIjtKzOvolvttT49I2AmcG6YwbfnyMq/U1nrfL6L0KomjbTLZIKeYEEZEebdZtyfBIO3aL6EgN8bITEZFaAABAABJREFU1Innz9CtpXOUSkGWJV5RA357nj/tCjMTDtDa4tUbzVQhd8oUYyZL13W5AqfvOS/rqKWS4Nfi2m1x0xtfA4kvmls3xU/vFW26iS7uovJyjnQaoSfJwKJzc7xeaLoXA1v3GSCEN2+r1UUeCWeVU9HdR11ZhjYrSU95OSpPfddKwfQKzd1oXGJXK+SbyAT1rYt4TouNNEi4VnS9VfoC7i5TSG8gOfRNP0z/e3Hk7KLy4Tyq4veUZUQbRQvL49r3i+i13/R+T05Ur+hqwCLoRvHlJkBVFaqtRZEI5THRZAlFxfEvYsiyicWOeOj3L+OOvI1Uj7REt2ZLUBkPKJe8dsmTtNkifEvU14v2jwsTxpYYrB5gqLLXKAXfOEo+aPISqsTSKkOqMu/M69N8708eIpxYJ6tCBfKgCkrh8mU/4fA1HImwtjDhQ3PNWlcs7AlFh9BJviGtEft42MTn4+LoaAjbtgwPvgbM8wxXI6eLvsP36Fc/4bDp5CdHXs8H0W1bhI6GDHW0Ny/e1mWSc2F0ewF1bRtmVAk1CzctQqHCQtmWqM6I9noR0izu8H/AGXyew1djeZSST2YjyChInbr51cUv+Gr2C8bHx9nf3ye+FCegAm9URML2GvAsSbyoMqQmr17DQVaEzvdjjMyUoeY/RI1J9PYbKJ5COqJTUeblmEV9lsUZPmsNWOQID/NsAVcCKHSVmKowrV0TxGIx9paEekXf31zGVxamwhEHFRbDN4+R5UfRPrS4iGSMlR9IdHV2MhSJMO6d25XIKkpINlXKGTQpBgZacd1vKGQMiuGJs+lQLvuPCF97kibv3Rzf5TydOl2I2HtJBGJ3ubaEVMWQds5QCudQtDiibkBkIqKrU4QV49p7ZfiCb1F74yVWtcB1CZUfo5/ZtM0cM57L1VXHcD+9xEOrcTR8hMKb+IJvEywXU7+YYrD9Q5MXedhPLOY379b1YcWyrGbjDGcdItkwdlIolkDK4rpBsqFQod95l1DYjxQweYOVCQyqM5A3TDIS9RpAcqiWWLZtqgcHafLmS45t4TtXCifFyYeUhIaFmn7LDdYSWhNKrWDCVN+EFLKR/EzZDrErV7H9FkZTFrjaq2SxmNOeSxHkbOU3gl33t7xfCWmZEdn0VIuurgCjukhD8X3HYmhzA30pg3bYFe71y1i2zeXLG3zxxS8JBNaRKvFpnBe1W2irKPEzBQlpFgMX9JrfJMVL/yTWN8TQ2DryOJFsiSW1kQ/lNFpoZM8rXrMwm5CH/58TKxXiJ3vXSQSvm/aOKmx0uf+bvIxLk8TLxYVrk8KqyX1fFPbJyzRXNp9D7gxSOI/LLw07mVaNLa6fNtnMzQ1TUdGDCUfl5oSF1pfR3hJyncK8GxFqu3xqjlRXi+kiRI0jU0syJDEhmzr5kEydQFRiamSEN6728JC6eEejNOl5dp0AGSeA7fV/WJGhIc5ZcWuWSF4unN9XIdy+ORYHA6ilHGkVq/sy9pDIW24/djzPxPXeV6rovk/0FlhQ3ou5m/hccafL5e9qHsXSf0K6H2tvDzdg2D7nLi0RDAdJXRXrP5Khjw/LVIF/dQVplg6FvNqGMeyVJMsbC/iWfVRK/FCbTCrKpIq9n28hw12o6an83yGJmUGhtHDcEFq9whVvPM+0jO8mRcpyZESlUGaPvK9J4kFvPWjF1IgYw+q8tqoGTFGr3Fz+gqgr5uRgbfpwvBapkosCwrLdQjLZ+hL/qp9/9+oyjd1JtDBH49ghIzPCvmJzUHlkADlXu9j7rBtnRaiiHv+V99n78TUO3k+z9sEyyf+yjJ6/iUbfp/b5Md6feIFDBUisXGZck6juh6j9FtILrKzUIGcBLT2NYr3oySdRwmt7qj6s1RtFXfaWS9bmd6oU7ikZxAEMY+Z3same9YJWmDy6QsZvnbIUTklQVI3WMjraymu/aODqNQu9XWvi4i9OoY5+NFppNuRaobWsaTj/nd3v7/OiGhiJiLIyB6mO2yXfmyRZc22EOS+51ZD7rqGWxukL1NlPY7yAFC1boumyqPpXF1A6zbQcHFVT3PBefnHfa9vUdWfRBy+hYDNSA5ZlUVM/Ty6Uoag8DP8MengOVW6STNaQTJrzzEpMPP88/mi0pMakRoW4eK3MxudXhopc1Wu98uEj1zVsjqVjUm8WV61QTRXLvjHmzqkGtiyLvoYG4hLr6qVaNQQC5RwWJ5prazFxdQs13jY045FyijuN1bvCqhUNdSrpabstkVWMXCLvzS4ZhTI+xH19v+SB2/+SxdkeyvJhuUZqHTF6M8ETiSTOV2J+ttbAd0/ceywmvvxqhdr2WazU31JzDn18WCJbdYCc0lzcUX6zqj3zuBKpEQlfgoGGpKFXuG2OHysTnZEeaqoHGPUnyL76DLX3Psjt9lqqrlbjRBz08wCqGUGDGbRUjq6K26/dRlY9K/W3+cKfwhp5EA21U/NBDVazxUzNbVZXn0JK3T25epZc2EYjQ2YO6Bb3SNSlsygYwn9dHJ0Cn5wlDWd+/pRqSHmGQDYjAsU1JF4TnrhMCNTyPqvWN8frkzJGwgWJtGpp7o5Qc/0qqi2sO39KVJ+E0d+uxaq26N6/SLx/Fem/IjXywqGIBMWbb942xsxrN9FLyncz1NA1Uk6ID98061ZdPbipMmoHs6gtxNWXqwjfcXjw1WUqrUoU7ULJFFIVtbNCVjWqGUC+ctTfj/yeITifQnPrRfdYOre+U6UgmeKNxV9ncpySnLV6+jtHTr6TVE66JR5XFab71sljAoz7LvHRw0/w4d+9zBMvbtJ4e67Q3StXPfxAAuv/9TIHXyfR22Jp7Xmaay5wOg7pbXLfYgKVyiFjettLkvkw1ryfLW9yGijgFHZ9FneiE0l8fkNYu0J7fkJf/JSJQIF/qa3VoasryIiXSPqZDMa9mEajLCrWRzdRdcZw87hCWjDPvngbOfXmt582ontNQ3h/8ioaEA0NorHR5HOu+8VPvlgicc+1c59vyicC+yKlFKuexaxZ5S02n1RCb2JCLDO4cy5241X0/W2aVmI813XGuGaFvWwz99TjqKcfqR/Vl6OJu423jXwujtWGbR0j3zrSJLNHgzjzLmt+8/5DEq6/gi1tcKflM0I/uI/35t/j1tN1Bm6aSxz6hILiqk8ExsXVxgUmbXHnSoNHNXDGPdjywmDfTlISvfJRsNhWKPUUTsttv3AuCQVEVlkWxxdpCDdwe74d2zaIq5CERsVjHz3If375Nf6P0b+gZ+6Q2cEJwpkg193rHCuMfhZHYw/TFutiUEVIMce8y4N6Yf3VGrrwp+wdCZ9PLOg60qyR+a6iHNK34Ao7Nue15OMg98zuMLJrTG1S6JzjWuRRb8hb86dzAhOaJXQinn/p0gnlIJmQzY+FxhsMNLToO9sWjmvefW7uOvKVzM/lWYuQG+a2gkgujnOVpOsweiJEXlVVxfyP5z3orJAGUVOSmTHhc10WlhqQvYjmupH/h0guDWM2E3/o0n7N4fD3/honuMPx6y+RGe/nBxNvIGUMajAgDrRWClxwxdUiQsIDHWDJwl/yXn55emx/N+gjs6h/O6K7FMrF9/1+NFTgIhrSEJ3qPHVMWA6lhUgygxZswX85TFkkRlkojGWPYXiDilo+XvEmflmIcJmNklE2Nr/k5fpmTKLodJ3EnFQSvjlTkknsjg7GJCSLVYV4Zrz4N0eEJCzVoGANGujk+nSCKW/ihh8YR1cdtPUTdG85cgeLjh1Beiu/IO4ZHSXW2YmzWYCTmvfwKlIrOhgxcezc8TsyITiJnaEqmubNmB6NL5U8Q7BTOI+Ke39qMVdVushGNZpX0EPDDv7kCHY0TrC3KCHdJlRmEtH3Fx3blBWNByPMrDs0HIdRKERtaz1tDWcUK00JKyLGbg4h30h+0isiNNLE+PhZlfD1aH+WkbBoTwltBM38CPuR5njsqI7+EfEPs2L68JjLdpiYm8BKBikLluG6rgl1ztWhUCv6/X70prh1xVSqhl2ZfEbq5HVlwqPZcUPd8PXYt5rzbW2irGwcDV5CAeMp9ChI1BvfVp3o1CaZfgWPiImwkCXshE2wy2DQ5/VnDHX6eGXdND8K+UWsLEx5MERM5UhxFjuu8yf9/8Tjs18SUQSFc7z/IhYQQ0Ol14vYMol+N0Y4KbQvkhqjQ09gWqEWG3JXzliPZ2xArlDfNuGwN28XF9Hl583mOXbOca8oTzl/vuxyMjcQDqtATpcTy8xP+R0UiJSs9a4uMTArtGu8LcnHiA7yCfxxiav+dZav/We+X/4SksXQ0Ayd050ltOmScByHQFkAWUZJ96sLuXHkH0GTc2jwTdTldUr76BFj0ExfJxCcRuFxxl/ZwFnf4/7E/Vg+i5CepRA+bSCsZ/J7gfxCT4lInRgcHCEQmGVxPIxtWRzKq2NqFUo9iC15+5MnHv39d6wUZjgFO/xtxE2i1pfv+pu4ciXhFlIaOWnzopXAVpW3mG4hWYQ1RFjD+QFMyWyeGfVg+uOePL+N1I7SNznLIslJKiX+9KKoVhCFo6ZSNRLBqq+jQ4Poxo+R7ZDpPIvAK438adRSR2dnH8byEs+pk11ZlHfMovS9Bo2jBqR5FB1HD3XmLbOj9rdYq2+hfuzxwjhIHCcfo8ZtIHX4JpY/xK1cDHpdxkOSmOxNULXhAQE6TyjcepF5VGTbbDrdgtXaI3GUbs9DbFtbbVy3HYViqHG5sEHUqMg6MrIt0Z4UlfPtyF5CnW8iicx6htRSCilJMOijMZbCmrHQjqFO7rhR2npUTgC1PUNnZ9LcU7qnBOSQE9dN09wi3A9CaDGCPl8kWl9Pfbvo6I2QURxZZXRkxCdhsXpV/FxitVWoL4MC1Wip+RSBnpp1iuBPkklMJztNnqPjLNJCkU7LKOYus/nV1IjmWKcpIgwKpcVjEp1BEY2mqL5g0bUiNlfFhxqiTwaJlmnIEK4Vjx0KTY6w92+vk3h8hj7N0lpvoVGRko2tFBV6nq+0zZzEQtrHF/de4kf/YoamNYvDwxS62WlQNK5orRGvTIpbrX60l2BEEbr1KlbS5pYr4wWlRFRR6nJhyBtCdpKgfAZQEROZQD1SzsO8QYEo0WJSjbSlg+w+KwZfFJGYWLksaruE7APU/l31XdmgpPXsueIgtRlIcq4+wlEJzXtUBZbjTolsVQ/pS2MoHeDKlStEYxcwfF+nz+9IfDgk/nD+Bs9fehTdajbXk4PCYu+pcpJJhxsdXnV453sonUK2TaeErYvcVDl6TOjRXhoy5czrEUzouai2yJXZ9OumaH3sv+G7Z4qFmae5Z/ce8rm1aqEWYctHhwqQ7UzQvLfvVCncjazKL5XSPnsb2jcTXN0dMjYsUX0hlzzeQrFttGgsrIDktT0052hTG+1FfQDWvd/saOfu19nJ1Tic/k13t3jmGbGwIMrLG7CsXmQbRNCMtwnmjtvx+qTmpPDsUaRljzbC/PaCchjsbba3rEISVha9vaKxqfg8lncuw7svy2CsZ1+2KW9pYsN6GZ982DveMZ3Kk9NdqHsMDQx450ojexZtb+evtWOJzzZ3uR7YK332LeXDQ4XnSKL5f4eSpRxSZ0pQ6GWh6pNjOkVdXYoX+tfz7q5t+7hw4R/QdgdT9hSZiyP4rRFelMNI+j7m3lzAvrGLLUPAKKsan15lU0GSyR1efdUiWd6ErB5DHS4brfpQ+AW2NYylebTjha6sk3MyRj7xnhvvbyo+uuDNb+934xIVVcrjxndkrmVZ3rlGxU6V0PtCGZHYFq/PG2u9r3cDjfiwa4Rju/Roh2fjwn7d4tG/2mF8fYONgB9duBfLncZyxE40hvPaayiTYU0XCGgXycbJzZMtYbnjWFYFsnz028/TZDWi14UaxWf7FuFNcemRN3AnnmDH6sLSU2jGwirz3t2qMJxcE+Y5HSFNU6eUoX0ftNipSyN7Bm17Y54fIz8aeB49/ji2LZ6yRKcsb7xO/laY2oCeu4+5gvy2ZH2STO+FGY8GJqyS3NORDMAi9/f+p1tszj3JhYfexmdZbOkgfw9n7Wu2JRzLwbJt6i2Ll3SJicE3qaurw7KXkZ3AksWkREYWWt9EgQDlKmdOs9iysGIWWh1HFyqQtjnZzbJw3YeRPYkskZTNwtw8KitSHju5PXM7/9lOnVD/d6wUbt9lsC1vMbRJxtK4YT5fVi6jf/Ll6JxKwjMkfcubTPPkqxBPXr9FdBbFFIurh7vuev5KpDKzsd882d3L0Ny+8kfCLhfqEYdLwn8gVtTFiAqdxRokwrqF1I6qHZQQe8pVuTpIZaQTKmp678Vou0RTrJ8rlwvKrKVSVHuIinKJWvloUxvSj4ylkOuClthCvnrU8c+QE+ZW7r4bB1GdScCmVUOhCMuHlECpnFewhlRN+tNnSI8/gAmnNZLqEdlj5WsCcnUKklDyTeR+C6VgCzWIroAHU83IJLwbhaqFU9dNe/sq0hSOxFOpOpQKE1cCX/oxrGuP0RD6OY/d/6+499mbPPXsL3kkNszPvxC1r7Rj6TYp2XSFhNUsZsvF6kIHHbaN9BqtZRv47F9haDPudq8O0iBJhalqF3LErVvn/LZdZvzT5vl6bhijJS7hT4u2XuF2mN9ekJjrEmNjQjHRnY6hP61DGRPCaUwKNys66oTdJv5GHfybFx7ge+kUdU4SNV4iUCUmlGJVNtWVouHnov/xflacYdTYaKxelSPZqMsUZ55Vi7O0G2FwKkjzsAjFuvi8421CdpA3f2+S+gf3WD8yubvTz+xDipv2lO/LeE8RIQXRzDWvs9ollJpHnYelRtWaUF8aXWymszyIwei75L3hkusEycPEzxWbfMVva6sJPXvfJZOm0+JvrCgkpDaW5DLo7R1BCU2nkJsgnX4ZR2JGERNia87VHpTKkAbpq/w5em6fgFpp0C5dHU1UNAfRc1fQ3/wcPTlI3BK+nUE0+9eoqhlfTZZbjQnmenqYHB5mWXWMaxyz55XmnQ5lkHTV3e9Td8893uc1NCU+YdUNFYr/9KNzn/U7VQolJ/fpt6hJkFEIHllaba2xxM/+bQDJZVc2MV2imMWxWKw+MVqUvDqSTE7h4ERc7cSkD4efJ25XESoP0WEb6Jrm5DWVCZsXM2ojy6CVQlaEL8q/5uj2VfpVyK88KdEWOUIaQk2uh/gplaOUi1oC3v2NIUtExoQVu0I48o4Zj1kTg671lEedRI/8TGqShGel+OX17g2ZTSwyN2eIt3K1EbXKM3je1lERydaR+TdSWIDHEpfHRHBCGKu5i8ouUfuA8kphXzmlkEb63rdYwDmZYUxXCSuMXWuj6jusde7ybLPwtY8zNXRIKnKV8uuiv6yPPv0QLTvo67e4/PkS6yHRFVH+nu1YhPKIRUAFlsmxqLB7xJ9UiL/en+dF54C6WvHWgkhpCNmdbOyJdJXLQdCPP2xc/aDCRPLeYydVitE5rBNw2RMyZOa8Iy/M4I3josRUuXiiQ/iH5W2cufu+F+1dY6wvSfjzNgKTQ1R0dvKZxM+ePuKRNuEMijUlGBroIBYUSSW5oE+QKhgv2gg6JW/si8Y/LGSF0ZjxTnLFkUEJRxFDG98lIhURescOqKi6xujiFrH4AY83PkR7v3eeQ3mW/F3ebadQ/Kjwt/MsKv8EWQk0OmruQw6X8+vCxtI4o0pQSq8iQ6T3rRBI3jtJipl9Y3zt9vcTCxYKJdNp09NlcnKS5tde8z7vRWeh3Y7Ou84go/LTLhM+jUhERu5lzzHhMVuGuqMiIrZ7zzuHHzvkI9yX+ztIU9MV0m0RrCExV+Nn5JLfUHqMjRLQTQKNTST7m0yo0ZvXV9XOg/UPMvvx7OmwpkwOqqWsjBfaXiA6EUXv1dFj/YpbitIelvH03PPzXb8TpWBLLHQrX0mXkw6JaiWQ7vDr0GBYlorCJydlEqnu7ljmfRlrpuizfGWlT6bKeXjM3FNIea59n0/s7fl4oamJV/7DX2GXxzmQwX4v3hSm6Uiuj8C6QUWEQiz98BoNLaUusCthHfgMKueEstySYR31VYyjrnuRTGjLkUEWRf/kMtsfhMyidE1YIVfV3SZTSDataZ7RM0imiUq7hFZGUDrBpY8u4Qv70OJpVNfDqmc0n7z3IdtBly+XjNOaZlgpRi7YQs48uRhxfizjFho5q27E4aT15/eL6WnT3Wpb28QURfLjykfjonhsVrzo6+TDgyf58a4oSzjYCpoNoLMd38I0ExKtBzKIqitXiN7e5+93HbYlvqdpAuplcbEbWSP4a8VKq8WofFTYS/hc777KbNxtYbW24JsZRhcNlcIr2uamoizIEP49WyVe7BRLnSqh3Q5viUemSy3wtExhkK5cyb97RwbN0jYnaj5XKVLH5yNti5ddMe04dNg2IYmQ3+9hybtJpbL8/YC4IxMudBXidMjTxuDsL5tnq1hEL/lRsMAykHtXsxJVupqfiweLn2NvvMMzD7/AwAP7XPgwjO/pX+LMeoZQfs4enHHN4ndbNMeyAfRBqMB0PDCPyiuKqprTGMbRy0h/SEk9SaeKGg99gzwgNCIcn4lIuDo7fOM4DnaeMdjmTNqcuxiynTJNfkYlDx4dZ0UL+e/7Zfa48/eiXnYjXWzdEZVJ0ekTmvFR1nHAyJ9O8FbPGE/eM8bw8CS/X37ML9XHdId48akHySXBQzLV+pZl4QTPaGZVJD75TH5zx8KSjwe0yPAlmaZOdYvnHvc7UQqWijskFaRcIqoA0hC98jF8Q3e3vDw5C+nToTomw0LfpuK4XflQVELF9MZC5VMo1Y6GqgyNtytUIxof7WYhZRZ1TaCWBwe/QP4JFBlj8QsxVy9k1ZCsbSSmFrb1Otn615AcUqohJXHnmoj/UugDFXh6aov+70mzDJz07Y86mdsz7mBbnais3KXeV46aX0e1jfnfT4yL9zoLE/+4aLGXyHYlyvZT++Kn2EF/YZEtJdCswcvPRiKo3HNB64TZaEzyMCtj0dVf/x4NoYIS75UYVt3pRRUQeuMCseo0SdVS2LQK5ywsUOMBhmRaB+YX0qaITIjhOtHgpAgqRVVVlg99AwzeHGTdKeqvXF5OoCtq4vV+4dbWsmZZ1HaKwXQtjrLU16eRKlFM/OAl8ezxImH9HkcSj4wob7hE68SgU8tgjU2n2hlXhnYlqFecSomOiGhIHdKQClL1mNjYFwPJAX41/Et+9ORVHmmWibMfitsSlyTm1cvinUW++uVX1Nb+Er+9wOMPifQVMahK/LFB9PgSi+tXWa+v41CFHhk7Mlz9R2Hhv5YmFAozlPXGyafSdqhnSpbXI6tmY64psOduTYnhZQNhLgnb1tcjDRFTjDLHrAHVvYHlE3V5aG0Fp+GmPqRXzryHQCBItiLrzbsbKOsYKpJDFRWYVaG6NDEluVJ8fJlKQAqRiLh69Zxnra87+3PdLJmjMyqw7/4mUqZxYpqjytrBf0v8KPIqL181wJqDgwMWo1G6H6hDD1l0zN1mcrIWyabu9RqqtIorUe8T1pCIBkXKNvtBMCgqhqpR2kddn4/K29WkWroZDKRx/lhoOIDsSnpv9fKZhmmQuJ2vSSpD6qZSpbBv3b6NdICSURS7xYVtm8+y9YXv62bPfc7fiVL4RrFluO3zn520PgoyJRVi4SWyfPYxCRUopRVA+eSui7FYbdNUxLJMSKXTWwDvbKGWMkzixsWXHUW9dwoeytgYdjyJ7RpMcvXBAQuBeZ7/ZJN6XcJxnsCyEoR0D6/rJ3TLa4lnq0gJNHIeOuHkMyXXrzA2Ia7HXPbdv8LRT4t+N0gO5dXa1sZAPlF8wkpfdlDKYuWSi+tTftHZu83Ym41I4osq5V1TrdR43cwWkUyFb/mhuOi6xt1PK49akk84rktdrcXspFNQ7mOiLi7atMCs41J79YBteVQEnqdj20YpTEgMXjngMeXCT37zDI0uu6O7BBSgTGUMTQ6VhFyWc8/X2Uny5gAjE0soKkKffMKfBAKsHoo3e02IsFzlrLiruNYVdM8xgf0rWPKb+7UcQzTmitpl8WRgnidnXY51ldkLI2zf+gN0+RdoeRllxglcG+HiB0KNwpHLZbdgqQckgm5OUftw3UIi2XVdfD7LjFmvKKsVj6++SnygsdCNTio1kJaFUsL1+VDQ5cpTdWjuPWRHDefV5CKmUY8POZPImkAbC+a7mIveG2K5wvME5s05N9bX2B9IerH+UinXASuaRvniOhf3ph9N56zRy0jjnMm2et4mWlbG0HAOERZDzgWz7uZUQG5ZRXPq1xBbxTUtS7/28d+JuCcYFWyh5BIaz82LeSSX5WUTCcjl3RYlMmqkGALrbIj9YibX+gP842JXZt2ua52kL3l6nQ+2o5bbjFli5LKY1iV25OOparEwI/bkmne37sceP8AeMmvv6tbG2c/k+99EKSwidZpK2vxn54eSgspZkf18I/Y592LycTYLNUYZSQmjHGbNeVZWUG8VA3/8fXy5Dk2H76An6wkoRZ/6OVYzfv8aV6+KkUiE3q4D3tDD7P3ocxS8hhuLErJMBzdJbGyITGaEiOa5VUxrPaCiMJr77Z5BQsdR+uTwtD4iev2PkXu/sZ6aheoDKGvcdJ/PV9SY+ycl5+gKbxB1Mrw3+x5hN2SKCm0xcEX0ehWo0dRIobNW5eNodQjDVVWN1I4eiRO5cgUrFDLWXURoRAQejPHUwSUa3HqO47OErwoTSrtCVhHqNMT6vENTd5SIbGwNGfDAtsmJjI157zYaw7ZthoeHkR5FuoTcYyKByDeSlRlxyPM9RaOEZEI1URmuKVs2ka0wR6kokQdj/LRsmzq9bBqpR3cZKV/E2hYjGaH6QZrlUK4EirSjrn7U1ovCYeQEsWJBImmZzdu+SPSwsEG+JvHxlRyn0jE7O4ZeIRYTly4tcnxcgw77uXxvK3PKmnPaJzytPaFoLVJFntvo6idf0Pn1h9QP3kahJbTditaqvGd2kA7Q1BZq7kYRrxeIfS9KDxZZ4w1IacKRMPbY2UzD8UgvI13PeX9HkPY5dv8BBR803m3Fb8p6bGF6httoZRdd7KWYadRSgXPn15EhfRNA5Axp1OnaknaVIIzMRt3D+WR2woATIuhHKqWJH1LewDI8QyYKUC4xYA8wPWwoaELqZELrpXtBWESLIwhuFCtojKmoRMQOYx/ZmLxeEeloQPmQly8qQooSkUi6IhTyEdV1VB5FB5u0BZsYC4jZWdH76rF5Jydh3Dd/B0ohh8wIlYcI5RarhHFzLJQay0+KWExcznkMft2FH1/IbUdHZ1Q6R1WwOsLyKiHjtMrH1LVrzNy+xO7IGb2Hh8Trb71OzPWKXC62oPIg/iM/I24b0VSKevmZ1CGXQw/T2rzOukao7FTB8r9ShhrGvEmyTV7hnQyr3DDHnO3xFCRVhGp5+uZNWmVRo27K7R+iZIWxAmtlcMgnWj3GJPzqpkwFC2ookSDuRpl++0PcUMiQpFkycNJcKCnZnT/XLUUw3kzGk0YMuqEeKcbNbMDg638o/CqnTXH00gMcpA4IHy4ifYy0TrtCVJaMg43UhSuv50JKyL6OylaR3sCyLEa6uvIY8PPEUYakGvBXR4lFY0W0E2bh2d5CrPKnKG/w6gFyx5fnximG3++F0uwK5lIVWKqnu9pFbZ3UyiauKNpvQK1ZlE6zIfF6oIe66BoxiQdTKW8+m3GKq4xoKkVUNhGVG68qKVQhbNumLFlPKuVH6qBSdZSr3Hi0Z4ZOt3E0V+i90Pkutc6g93cXyr6E0u+Sa4h0TYWkupN0+Mz5MVMaJ9e5TimhVJV3vzbqvlF6vTIzN0PN9bS8/iQ3g0PYDTuUlV+hzv8FS7F6E3pNiURCRCsCRFSH8ShMKCms8Im1XiwWJUSI3QmkGiISAddF8Tjd6kEaOuf430D2dXb/hBqV9tGQDD1HSVFpN8YLD546fkme969mpBCRUXHlRPj6qXKxe8Ewy1bJhOjiEh1WBwNdOY++ke6WMa5NGa+3JKR1rLwyD1y9yvVQjuDSRjdumJDaZXEWSutUgWOJbFHSAtYnFLM5TVL5u6hots1kb99pp0MdTEhkaoQGN5ACp9prlmC+z8N/53DzeUjbDFIZQYmVERVgnJ0iNiIWFmawlMayLCxrGMt6iiXlKCWs/LWsIoicZYmWlhaeGR1hZmmJoYsXeVWmfZ8luyRxNTIiKh8QK/41wts5NMYZVq0jtClkbaET5zhLLj6ifEL85xcslm3xx1viaqSCtdUfUVUlhoeF+lRKLGgZBFWVdviRI9Je+Gx+bo7y8n0+2bxFxEvCORKbnToT2WGnhCYd1LZV+L6mFg2+gjSOpQbzjmwh6zMzKR+rwhq1sCwbbdtY1ok2nR5ev0vGuluQzBwIWmi9gEnvlAdXPuNYx3Z4anOLYR2yoreofXSIyeFJtoo47y/IWFWvSzw0cpGdv/MMju1tc79PCnWLMY1RVVnF8mumyvXLC3ewrf8VNbaYzWEld22HPKf+lGh8rZ5/HBziSYn37ruI/fIGm9E/Ihp9kL9b/Ec+vfhfmVwd549GX+T9wXrs1y22bjzBlcwIG//wOj9/sIIVrRBUECmJFmZLNqhtWRhqiwhJFTrwleRlloQiufzM9/PPnh+rd0VXte2hkDz5TAVjyxJ60jIh09z366InLB4rF/aCxU5zC6G3+ljftlClhTXukGMYmFsQw/c08rxewjc0hQZr0JTo2uz0INF3n9858WmVFxSgoS2FXpr71sd9azm1j2yzJqsQc7dF26Zo3xSyJ0o3S29MT/eRN4nkZhlGg6RlGIP9J66Vqz859962lDcqLcuPVVxb0SbUocKeOWSV7hmWdeL5rJLrftkor83sWWNyYn/Kyuu2VzwHDW/Zd64UKivF+pfKT/ikTNON05q7HZOkaj7xeRrlSNXyD5DFhF6OCUg0qgwlfdgVIl0tIvEItapFSuO41ZSXF9zTg0px9MQtHt4T/ywhBvQYWjtAnaY1Y6czRVYX+bnEy+NhmpYSWKkUkuGwNxC+IBfUQNo7ZyIhAnXiYZ3RTetQpZWuGXHDKzz5psk8Vi+qvHHKZkKkVE9VRjhKktLD9AdixBMnILddXRz9ZIw1n6i//TwZy6Uzc0xK4gmJkEI8+eQHBIMhbnsTPiOhQDtqskow91W+StaTGyicKcTwc++uQgyOd9Agi/aedo4/yuC6dahjBL/8HOrITLRGUTZQRk13lgfaRP3tDoMMii4S+saagADSAh0dYfrevc7x7wfRO7fYt/YZzLYR8Qs1i44OmbzQbKuxuEvOUYsyI6irHWkRZQdoVCPVYZEtE2oRox1RBlpqcHwiqyUstdGR9OFWtzGftqlSB7WyCptFv1mwae991/uE1SoybgbXcWhJtVCrVux0nOZEjPp4CJWJjHbIOPNYLeJ5v+GGsmUzM9DMTuPrnuJ9EylIVq8hXWVETp6o7V3dMt5Eyzy6/QueT62SdkQg4NLU5HkbOSTUi0J/oRPhkSaUni14trZMgVoxJNYvVg4LlOgZybtm8cbjjcO2SGa85ldxMy+ulotHZ9Lk8fLn1XAUiaU0aVUj3yAauoMCRZXfDcrnQHKUEl26G2z820iGtK5jFVn/4YyIZISU5CyupsyZ58kiJSmzhHtTZNSNpTbUUbiOAmWFcOxZkukr2vPaKenEGDbv5vw98+6SDakkLO/KgFBupoT1lUpYdWsUYfUEEV5G3+O7VwrnYnxzknMxLUzD8CDfxm08Kjo+Ui76tyy0eIhumsXanUryqDqRdtD1PWQPmAX3SYgbPeLpjLgQDJLwW4RykLNRMfG1mD4UtiaMCx4WoVw+IjbJXmKPsBXG5Dw8EipFmPVfo85xuKRLRBNlyOeyvh4knT42WryEzMuH9Ht8M8W3uBA2GGPzd4xcFec9T0TwXQ4xWV+OZkotMrdD+IZzf4c9PhMzzr3yejhcGUV+c/2ggvhDFm54nMCAhX0Gztnn85FI+lEySGO0m8XAIldeuMLa7gR9spnVBGUhExt1Zq8R80c50AFPSGy+KCqvVdI+28DwuDCQ4bOe18KvEI5dTfC+bayfTaGej1jVr7g02cboqIEEl+CwQ0KDYnJSyHXx3xzFX2cTCBS7+p2obgu1LWDoTVp5U71MSTT4hYbF1mQZHUMdXpP4CSSLiQrhbxrlUA6tmiy1truLFuikOGwS0gWMx9pnYtJnoIG6ZJBVub/3QmY+TaxGUX+vR+o3RoH+wYgtEVwXE/UilLDQiHmfo6GL3LZihMMWAwNBwhl5m7efwyKun28Kw1lREdwNoKPCdUsa1QRCBpZ9Rs+SClc0BYrmuC00XkdCPXylnXyx5l0lEEBX/hKFN9nu76MsPHHm7ya+zbnOkIu5eX8XCfXKeNynvjuRSwgEjAEiIV83cguUGSFtIP2wyOKuR5EqY0TIJIgLiCAH6RpKfI12TII5GBzl8mWXChXAE9eumUTwK0eGt+o0j9xVcqCZkPxYGsG2O9lLHpKyz6LROfHu8/MjxVks1mF910rhLC6YvPiR9u5+060yru2wDELB+9wvGa6bmX+JrFoTD2v355kybRm4WVejQ1erw6i8xbK4h6uAoXXe2sKainOlx+sDYAuFXLQ4TUbzrDg2+ps5fvK86c2r98X83/kJ5jelHaQ0AVnMPvQ49uAgc66fnncGqe3owDe+ipWsNotlt/i5+tDsu/l2eneT7LX50s3Ik6PjX+KGL5vYbn/pd+2OGFzwFvD8NW/CnOCE9wt1iflMOTvOy0xfidElEyPNnoD5Tdg2n773Hn/w10c4H+9gP3WETz78/gAJiWFrjO8fP8z/8nwTV1xRd+PvmJ6axi8/QXkb+bnuc5QhjZgKX4V4VrvUV9nsfHKFWOWDyAkbOg7ZGGU6VYAc14vZRvOu52VQadOjYmIiw8rKiV4D14QhRTMLfEcm3joj8+5TEj2aoFlBaufEkD1E/PoF1CO6Jo2VOK7xQpx8QIVQjyv8tjAKIYHCDv3TMtajDMpkzrsPp1Y4RWE+/64fK2x5c2kYQ/VdxBU2IRQ08eh1v9B1sb8fwufbRRLjO36SMctcV1tck7xxehq/Xsyf54pUxJVfKrUSfRI7/jnkr/bmyzRXVYztv4ymfahWXqWumIsKa8RbV7Mn5nijsOotLshH5byMQvmmwlV/GF218ensmoLfRnwaxzo3x2Hm0EGuUdOp70/0Op+bQ9XVZpyH980e5X13eUb4nJyX4Rm5c3NeqGauFCIqIfnR/AoKFKIGfr+5H1/R35IhMTzZUa6wjwqpjl1NEZJLqinL9v/zE6yGs9kciiUkg2jSOczSh/pdo48SMkmfos/Oo8KwJKpTMi5OjZloOq5DPi9cYluoYQifur0+rx0o/Cm6ZgZp3BJjvUNkkn15CmlbNtWqoqrqTTY2bhKTCp2KJJO8qW9AFY3oooX+rJGGMm+SRl6lbiDXIKYmf0yguprxykoUDlMnkVWChKKGarmu6Nw18vhhhGb0rZp1R9RU5LbeJutNlurqTSzrmnH7s8JAA4vI6xq88zeZySLdxieRvXcb1W4h/SHK+GmKhMiTg9UIZTLU7G+ggxX0s5+h73+fOstifHCQwUwZVZUZ3lULP1aAB3VI8PZtqvdqGVweZ6+8nBqJN2dnWVOxN1eQcpUTUhlVlVXUO+9yK/UDai8+xkPqwNFkvpbFrRQ33CFKK0xz7QlnqdA9uMkGGnuqsSyLJpmE8umN7wZaqUTtQdRnozozd7LyECDehhCWqFAd5XJJNNZQbVUT6O9EFSJbb3ITtao1xT+S8QJyKJMyESgT2ewoXV1h4inRW6t8gr9eBfoUJeSRM5bKrVudWFY1JllrqBnaJa7WCblGaZl+4Y9yZFdTWfU5YTXxtHLJxMJ81KGDggX8+YByydAT4vejigyJW7n2mvJ6C9jk+hLkxikRETpYpL6ugdVlUyU829yEXVtBTUcHraMTXL/+A27X3OGyXOJlNwpKs/E2qhdlznmbWm5DsvGrgkx267djPsjtBSUeaS3n0e+fJ1X6Zjr88XHTde2CJdK3hNNzTOVXPvSGcNXMse4x9CISOkGpXnlZuHEVff9bSCqFiiq2/bU1ZN95wJA3lvy2iMXglASR0h6EufS7361SOCm2Tm+Ojo1jWbgSS45QqhytGby+o23krOHWy8DuFCGmFSYdC9dv4RzeZOJH+zz9o8vMz4uLHrRsQfNkLme4Ij/rWiCjcuY1SrPOKF4ZHsVpajYJzQ0HQ/vrcv3yKvb7DioTrlYxScAygktLzLmFUFBfXxttbQ0YrHQpD4mTCwusqBDXvWsb0Zw7b7qUvSFTuPfp+jIBpzTuua+ChRXWIdu6hC5XIb2EFCImMTkulKzFURdy/KjKhz5w6Ll5iZdX9rDHJ1h79jrqEbbj4LMv4/g3ONiP85d3xPs/HOGWDnlCIma7+CyzEXeom/9r5DU+2nTQ6lfIW1BW/rktwrL5Ow2w80Qvr770Bjuh5yhuihJUUaeuGXktCIvOE3SZ2JukQQ1MO4tEdMnUC3gwzh2dR9E+RM1Ihon/dxi990+opYUJmVDai7ljnMI4J7XGiixj3dk2ptdF7alnykuPKF+u4K0X3+J//z/N0Haxl3HJyzeZ867eZQ3Y/rMTkRlZjDgnvclanEAXffMONU5RiGnvc2S7ND3XxNiIoSuwrIKVeZZk0mWsjJ2gNlgrnU+TEgOWRbdj4/c7OHYDgcASl96+zJ+8cj+b62/y5b++l8VHn8H1PYu7Vovk0KNLvOyNl7y1cY+MN1d8vVmJCglpAVt+ypVmaup9FEt78+bsez/v8/NkRxtehfxZ41zw5IplQTrDss9JDdIEY7ZoK3p3IcVYKiKUK+xpxWvZyAcSj/yaz3GWRCQ2h0axsmlsWwwMiOGWVaY1iXVOA6cSuShPCaeRho3n11T6m/9+SqFPBm5VlPEOKEDP0hPcuFhjQhzXhZod9LpB9FyPRPBdvsyNe4UdTrBdc4GNxg2s58Txl+1cW/slyYo0qcp4Sex5UGGScYeYCoibc7uzBRe54buBY9scHz2L9DaSj/cXh5iLvYWsJMdDoqszQjjsmFBCHk/cSyDQRMBfgToiDEVKJ8IlXSKuDqRK2mTwxroqL5btSaXy8eiyshs0NAjjwj5GRF3YChE7jCF3r+Tc8UFhvIUZLCWIKobiLoWY6CAdHWK2Mc21jmP8V/4TangNHYtgMk694uy1WzRGV9kf7uDxD7/Hm2NNOLtRHqmzSSbF8JDYbxQ9+6P8w2Mv82HrGt+TTaXupcLOEItZLA/FadUgD2iUjoiwOsSxOrE0SoVEKCXCk1PU7AfZ2BgqYcc9Ffc9Emu22TiC8Vvc+pt38ZVXot1dlCgtmsq927Peqc8nQrVC92aR30+njNVaKa+A78bjmGTfMI66zNxob0fjizTqJmWelTkgo0xOL/paopFfMZf5ffoDY6woR3x4gO4StpBfjH3oJcpPfV/L/v6iV/cS9t5tmmu+Dvy9V7hxowhK6tXWdKY6WQqawq3KSvHZZwYEcda1q26IyxImsXmaH6xKolOdzM9vct999/Ef/+ObTE+/ztLaHrEnH6Im5DAWjRIvSn7e0A1sWUwoRkaivb2d6M/vYDZM4YupqDgvQFjd+cr1CYk2OVzoeoiy0FOkJV5XCyra2CIyeZm79Wg+S25qguQ578HR3TyY88QlpBD/eayWvo5C3L5s4Ihf2eUGZl0sm0JdxyWRg5s6m+Xh1xVbMaLaY3CwjA9vNxEPGmNgu1OkzsgPnpJv7F39u1YKtlDcaOBIdwLdH8WdbyJ244/Q4iz+oU/pVG9pwics1Gqw1yG7nMjuJd668BUrX62w9uYay/XLqD2XqDaNQWpq7mNl5VZ+QrVonci34lDPycdISRR4hmSoE0sWyfl+dGUShQOoT7S1xQiFHFOIllcKnQwPN7DYleb4yS36GjOEFOIgcmC08Z4IxTcJHl+h2T5HMWWVp+BIDt+k7khINdzUIhfVTrlC2Ep6Ya/XuHJlnvCijHJRG9IEtpJUK0rW14EaLqCPhymf/Vc888wOk3WdqGaHSKSPCb+4Ek/ws5EIF7+u5Ovv7VIXWWCnv5b+nTrcbJZoNEZ/f5Cv/6yCF168xM4romnnLboHukholYV4DY7jcOPoiJTrcvPPb3LPfC89GiQZFrHWnBKOcEWfIdWjnk6qdhIsL9+tmluFxZUU145F4FItKjuJTjOS0GmlYOs0GqxMBupqkmumuM7Mk0ZGVFQA1S40YRZuRqJGcWzZpJLi5hdCz8vAaK8mKUtWUkrTvMp5RIzG6zPzMqNcmC2NdrZPIIV85MjmHIWIqY1AIEU4XlOoOM+NkyN241F0s+CxntqYPAkciGteUti2bY6PnyEfQrwplEgwZtmsp8W/336GztkhGg4a6OrqKrov0xCqTRZK3sQ6FImMkMqwtMdNxelLikcHm2mdL7LQo6LsWXErkcQgy87oL9FpxtYvmb1AKQwQJUlYxcCLby9xjWOfoxRu3jz57jw50Pnd3mTyRc+qlc6i0F2mR2zZJ0LSOZkSumwxpwSNRfP6132W82RsLMOvXuomkPNcntlBdSlvvhUZUCGVGqE5qakxRbwlnxsW6O9UKfSptCWkrghtionqau7v//doeIG2pjFeXFtGZRayTiNykpvi+dkZhl98kb7h/8L41mVGL7uMuhbqFhuNuT4De+RwutbtAazxZwvnmbBLmmN8s2SRFlBbKxef+Xc4ToC9vU1kb1Kw/JaQyswgP6f8Rm5ZJsm4atuYIq8eUzVaI2SLLlm025c4k3zrpFg2CvrQ009jP/hQHsYaWbvIuuMgOaZRvCVkJZm2pkk80kDoxRd488UZHhscRW9No4SFZTvMzjqUHT1CQC/y4tg679aI2fV1+mPjdPk6mXZsBizx4kqATf8zZDIrzM4/j7XxFO7lLmyfjWzhU5AVrZBWin986x95sP5B4rbNhizkOFi2ULe4VL/Bsgoxa7sEcdWL1IqmRF3ybCrmXXkhiEsqND0/B5ywJRWxuxqJKNc/w0iXuvh71WPJxMVNEr/wHiydwPl7C6xC4m2tEVWUuMSaKy8kEED2FpcumXzVYzLNcGxZVMvg2E/fawTJ9MPdVJFhcKKaOasqhr24eH1cvDFjmD0HBs5a0GLq7TnK7UJi8dJ5c8o2Y1qmMiY1aeaPhEaMdzH4402sspAhkrNtE0bLbTTZCjQ8guSY2POs0Fc2wUiAzc0l792Y+htrV9gLMlQoKyt56upV2yap3bvMeW89tQvT/rYSo4h2zj/mG+RdrVFxTvjIzKsz4OH23c/pk3ip65DGhiVzzxviqlZZOwdVWNcgunuDWF6tixydqtH6baR2tIa3/+WYV0EvZM8hK4nZr4ooLHpUkhwvSAZZ4yc+M3PjO1UKiXtK4XD+Sj8N1jSPPPIsQ4l2ZlVJr+KkdlXYtKvF3kwDf13/C5Y+eZC+RdGRTuPr7KQ53oYti4flbTSxNJWRt8mVeTtOM1NNNj/9eYCGa2VU5n734ibqPJ/wqUSyQhUzqHYbJSOop9VDD7zkDZJnqdbJaNz7vJcbLD2PVSdu9YbROXG9Wn2LmGKzTEHXm22o2btuUrT0CKtGDN5ooPK1exlvn+G9537FfRf/mqqWBtRZjpamGZyspMpfQ/rTCd5uaeFv7tvllfo/xda9ZFVJZKCV6mmLVd8j7H11jb/490/x3i9a6TyapfLofkyJfwpV5LysNVpVjS2bvksVjIyJzA/S1L5aR0wxruhL8k2/WzKo+rQlGIlEePLjJ4mWeZDJlAj7zrGuisSR4a1/6aU5NjbWT4/T7DXuGqqRiCtOs8LUyyRQvwmmaOLA39QLooJcq8dWFSzZoM6oWSmShlavIC0jr7biAiau24xkk1JBUbpugHS6lOStYDGnUGcZ5ZlcDPyce14TzdW5+HkWn9KkinNeZWIq1UrXgBi3PYVZV0cyMESVxmhcFF1DbdzoOUQ6LvSJqMxtHrk2qBZSC/4WUW8JqRVln6LCvknMg5uXa4nyluXzwRYRoViun8K3WLPfIBn9enmIZhXAAUEZBJkxOHwUJ4zjLcdEqpepl+ipFE5ymuwLZzOVhsMqCbU1qKEAXPgOJDoa5ck7lYVQ2GP3opqq/Hy66x5ji7ACVJ+kK/fkO1UKkrngzsEO8U/ihHtDTOsWUSfJjE/41YKtPvz2T+m89gkDGkBdYvfe0jirZVkcX/+A2Ssf4Pgi+YcM+toKDefl4Pf/lJtjYS4FH2BEfjokaoNiZXSF7KOFjkS2zkgiNcsUybQItU2jPuHWiHiHmRh1deKDaZewDIZ6YyBAeSaOHnLRj4WtQ+69epX7ymLcca6xPWAT/b8E8U2dHuRrMvHpxLd84T4JRy8RCl3gnd/r5D/cGGDtfzfPo69W03HvGFoJEHFDBBREwSN085jZvvt49GIbXU4vjYeHtNTWEAgIX+cN7lvycU2ie2eax27Z1AevU7vSjkaGCMpYy0HJeD/LASQrn8T9zPu3pUXsV8hUXBcXP+WqZZuaUFVV4fOw0CXR/973ePwXXRwEZaCi1hrnNUKSJbQtlDVjMC4he9p4Zyegs3t+Ebx8xjlOSlC8FAjQcEbXPHkegD8gr17Dj6kbOP9cJmSXZUdiWkF6z6BDOCnzEtXTxpoPN+lETcMEkkO5CqGsVHmE39saJHvd5AH8MhuVuecWNNeY32D35SOgkxafjKVu55AnLUgVBBTAksXBgaGi/xc/XqHjfiGNkFIb6wMDLI4kOR5yGZUoLze9imPenIxLDLcGWZ4TH3wgXqw3YxbUx4SnrjFk2wSvrxCUaFM32es1SHHqVE/vdAM7oTN4vwLyut3FCHhwUL8CXPlWvFcnZFrfnm77HIlL3NYWEZVhEDoj2HXCPy2CV5vQfBUTlti8HiQVmODSqFOYSwfnn3dE0wTvyqf068lQeoj7O+4vfDYQQFE7P5/OOqZVYnTC3Gu3qnisiPa7WL5TpTB7v1CfmN7009Vj8czNad6x+/lXDUlTcCSRkc2qYjjBGFGZyac9lZbey6Y/+F8YCsyjrlmUGsBVN88PDFLTcT+SjWbuwWDFha6/grSA1ICu1uFfG8U+LrS+rFCCJfWWPnyzimoh4kj3sqoIf3sg9lxh22nWZ26z6LnBfmsT69pPUXAIBUSNqvns4E0yc32s3n+bkG3z2nvXGJk8PcgBGWx44htedCYjbt0/zvScjxa9yNbWDnV1LlG/D3/Mz0KFw3Sny/3DN/jHe59h095E16rRcQC/T+zvivu7He5vPObf9tbwZxtivaOX2Q9GCXp46KBtMzU9hST6+8TDCaMQ9iRkJ5H/JSTTN8LpFcHkN0zQ4MnPBpGi5vM5MR++h/mQoWxWMEquWCz/+5miYxPeXCh25S/LFIcVx0UzItrhMhWYZFulBWJGZgr//1T4tzawyssxsMWiBTMo1DHN2rrFpccr8ftbGB/3jh/V6RjzvlCgjRllmZZNou4qbv0BvXLOjekHJaa7TWe+gKNT1AI5KVEKlvhvftEaPBkis2noe4Ta7ge9MawgcAa9REhiZHERVRZ5EHGx2b9JmZIEloQcsbr+M5yQw+TkHJYc/BKO047rFgpKAxL/UWJK03wsi8+c60z5RDQmam0z9t9rCFBbazb868Hr7Ev0aYL2iknuvfefCIersOJxAjtnhIQ2hZIiqg0u5Ps5XyLwm2ygPn1jGOjbib9kjtbZYtEnLncI1YmXZNEQvMbHOpHLKZqjlZXGkMr9besCU0UFhr+tOGkbX2ex57FBvvPceceoQFFvyz7Xc/lOlULrQRWKN1Dv/AWVTyaZHmum0aqlNRRGHRX5OKotm5u6iU9iqLyMwN8OoPo9dCTqVUlaNmr5Y4OyqJTXwaqKVEwkIy1IFrf6Z/NVprdzFmqsHEXLUKoWvf9h4QUpxHouQXTDLIhQSDycvOYVKAWR3icZqSLbJjosEVCUlsZJ2l2XKr+M0vJFOHroDuvH69Rrg2z2WRyngpaWTzjpsp2sx3hgUzRVnv/CJMO4OjnTRKrNpaWhCqUtIq2rjNQs8tWXX7K4WUvzdZsZjbPfmiFrpXmxsoV4xff4j8u/4NruL5mpWmU6Nc5iJsmljMG150M1t2/jsy3enD5A6qOmRoWYpDdOX6m6MNGr5aG6zAZ014k67o2RhpBixnJqFD0Bsd0t9tpExBdAJ8IiZ9E4n/V9v4rw99kQdkc3TWrlA53ut1Gl7+OXOFoz1dUZ5YqDjGtdJZMLqqwUqpxFsmgJV+GmWmlsFFILVoOozOPnU5hEaQVSFS2KUy/hrxdqENUSYVWV3EPaW4DljnhuwBtHW6fgfznplLiR+9snHuk0dBolv8vYlI9NU9Zn1kCrYkznwzgF8cnkUJpVVaiZCIr0YBrfUJK3n2zj0E7x/e//GDvo0vTalGndmc5QqVs8GxEbX4jZ+tusyoRXpBbSaa84URVIFmE1U+8e8tprlYzX1WIpm/cWL0vMJBuYuu9/wl/RgaJRVF7ObY/Rd2pKtOf5tyq9d2NhFPfZFuy3l8ucFcad0QwtxcWCd5UeihlELctit7eCzoSZbwGJ148cAr7T4y+Z0FGmiFbCumzRHP91wC93l2C0kWRl8TilMeGuCu7ab96WV+sU4Dwl8p0qBW1sYLnl+NxJHPm47FimarZK6OklUzLuXdi2hM9yGBkZpvLmJtLD2BLXtM6UZaGHHkKdnaU33NmPmrxexXUbqNtiTKJ2w0ustAk1X2Ju3CZdnGjOOCZJVrxxVFn099lYGqbCeY4FraKmMcKP9fC8I6otB4XF0Os2j36/HH1vESUaKC4aW1hZIHS9NK5tyySzLBUnS7+tOMjv5+bODl/92TEL00s03VnnyU7h2D4cu5Z9+y1+2B/i/9ac4B+t17i+/iLBlU6+54pKR8gVzkWHhrh4a1rUy6L7glUoEHJUKKr7tvckH7leD7at0ipUS2wFROhCPyofRYv/geI4bHZAPP/n4vmQaIzLuPgnrnFe0dCpOoFdMW+LipoJtl/9FwSDZ9OQb2gfn8Rul8VG/VdMy2K4pYW+vj40ITaq93Acl9XVi2h93eSQFhbQrb/F5Kv22NoU+1FhlP04DQ3lDA9vMaI9Ay20hb0ndMn7TeO28S7yG5BIWBZu5BKaL3gn3yrWnUhiv7B8Cq3iLPrZjXyBZEJSD51xbKeKKaVzCUcLyWJmZoZ4bIDPNh4j4IzjKIMURs5nlCfbWJ15hXXZrMomYNlU7V9mylU+QTo5afodm7ngIqXxOxP86uUNftryx9ha4umtbYa9d5ft7GT2//O/orl51NrK7Ogo1RWpE/dsefdpGcROzTk8/yc3trv+5qyYuvNrHH9aXNflhfXnaFEzss17vHj9Ku7FVeNln7x+szfXtwrXt7X6a1/3tESQNhipqeGh8e+Tz6vZUxjU0SeczLWVzLmATIdIpSnu51As36lSqNNFjv52ka/+zT6PdvwNLz+7zj3O2e3penrEB0OHuHK5qVH8inNdGxTizf1Fv/coZy9cRQvPI4l+tSONE9bJrmMJohJuuXDrDEqlPvkBLSdRHAtN6OLDTAyu88MbM8QUQ9km/I1NPL4jXu67if8zP/e2XMdf4XBuz4eEcdd3JMLq51pIrFwRjRJ7r4j2TCXZ/uy3qmju101kWYQSCbJJl2HF6O/OcjjUjrv0M27ONPHAXBVtIYvqgKhWDEcOfTKUFfU3Rb/lcjvxHI4yXJPIqB0lxvPX75KxIrO565artBL7lNzM/386K375tPifQ2K7z1tcDSK+IOxEiIF4Bg0vlC5An+mj7NdpdE6DTL/blXOuPS0xEI3S0tqK+vpQoo89WdQ3+Yi/cA+WP1QyT0ZlKoHjWsCSWNMYHZpAlkXN2BitoZDJh/gWMJtRIv/uItV+9Ho18ieYrU4yvC8GbaH+Y2TZ+P0iPmZxxY1TIWFfFsd/II9qZRU99+KJEKjo7u7mg6HF/Pz3S1w/d5zj5BLGtbUOzz03zCkenldcEhlTBxCV8gSNxRLUWUV9E6gozJR4T8jvNZf3h9H1n1GZvs317ThSJxGNckUL+JL9Bi11ovbBJ5MU74yJJ9od/s3XR1w4/grL8rF280PC3rvrcJNEq/4H5FTn7/nZm8bz6Cm5v24kr5HSfTJcU+dVOdflNrW7yR6nPYWrSAETeVi7y7ERnYnW8YfEvX8QIpD2Y22LGymRmE+g8rPgwJuk+jLULCkfzXB6xNHoN933txEDcc5kfHR3P0GNooYifqvdmy+znMwpHKtgXPXKUxJnodo8+U6VQr0usTy7bAa1sgFVNmI0m3sKBzykXMXjEnrmAv6wy7XglyiwYhasf6AQr77puUnV1eiZNWSbJGQoJAN7lUmGlcUnMDj0XW58KtxrZsE3xAbzPY3zsiSsW9NUzCXJ9DRif/5HHHd+H/8rVXSfx8ceEFaFqFSYe19+A/3xlww//CAjTz7JxYsXKdcgoXgSWXETpuoWVYEqKgYqkLVPjp4gJNPnuSRhq0J4ZGJCfPRllo7tzxk47kSqNr91xZWYiBQpmIDE+HXTnzahG3RL+FWNcgSBEsZyuEK1DHNqo3KVpTpbKQSylAUCxFTIg0xognvVxqVOcSkkqheEkmZjeuAozn33WXwQDmO9NYKeLZ2U5p7EgMpR9FfIMSGGRk/MJD7k6ChO3BZORlhlIn4g7ty5Q2v7OBr4EGMcWCYE84i8fgQ5jvoAYwpySSKuQSwdUzH/DJmvbyDbJjM4T40sDHKo4HaH5HBRMSLpBFadCbXNy9Q2DOQWjzfevj6x45r4/82kQ9PjdziK38GRa+gsGkrHMRAIEAx+cyJaErVKsOgphWiDGH2rnVzdgiSqVcPyq8soI5JKclEXS453JSp3hZ3fwFeQqrhfB4RVTo4zp1sBftyfxc1by67ZSFpa0Na28c5HR5nX2W1wc0qhRyLeWU3bYytc+iTLxQc+wbJ9LNz4FTlLtVZR9nYvomQQ21ujkzIovL6STe44v94SCRnus8e97y2ZotffeBP9NSWi0m54OXHE2JboKOrRcb0vgs++fOZ50jrR7nTKQZOH39l9jg60cufWBrUKklYIRd9ATh2GKuZ89FGfvNzC4PkFvd+pUig9eSemgcMsUvYUvUNHbmIM2+g9C3cizNrh/wMtLiNZqHXNI38bQM7fIBl+mIYyoSnRpDomlrtYGBfpSvHGorhx1Iv0KpIP1ycUCqAnnkD3lhYWjWiEPj3HyIf/ljcfX+S5n44h/5pZ3GfQUCTWxKQl9Ki48D+KH248Qr07jnZ92AmXjXKXydkZhnWNwQtXkX+PdEWakeFhpFZMvHQJrWW96/dSn6kuJLojQrNizbuebZvYreX4WPPuZ3haZCqFs62Ccp20aImv0e/9Zr/IQohLTJVMDseEtO4y0Q7XxIRsVjtf5lddXVxQoZ+1LRtbFpY1zUMP9XPnrTacHfGkxLSzjeuEjEX81mvo0UaWlfMQ15l3xOCK8Qy0uG64W7zz7h+n0cg4at3AafuceblknhWBEbHjiC3HweD8y4jIgw7mejqU3H87YfUwp2G0foOwQvzT0D7Pv+IwY9scPPgl6gwjbZHVPkOaRwqxeqUBe+bvWdO/4PLSEj9xXdbW15DmkMJEtcozsilfr2Fp6Tn8vnXW1tf40ZaPx+77CufSZeS4rN+zXlSEuYZl2Tz22OP09PR8q0VuZYU9ZP6fLBOvviH6koVQkLVuYRfRYNgnFn6nyvk3zmgR1Nd8vyuHoIaQmtC0sGLt+PQ/onwow4d0kcT+PpOu69UpWGdTfJyUTAZnfIqfHbzK1s7rSPPsb/17pGHUK7LV4rX5GaIDUWItpoakQWexnzqGYM8V+1/dQr5+AzjIfX9yTc7Po9Bd4MizKmE4MOtqCclf6iVEImj2HOh6o/LKYd2by6sn1o+jEN+6FeiGUPRsVNBvpBSsUe7YdzBG0RhafgOVnd0qNR43OZzizypkQpySTDjZEqYAs+e7VQq3MzO0xFpR3VPoVAKmAcnhtkxl5c2bXlgitcLtYC2W36Lqzj0oMopk0aTcyypHegcdi/j75ZT7stTeV4u+N4xd9SsqU34CITFUIXxuGfJPsjlRx4sftqLPP0dDQ6g1TKPEfd69HCnFB+qhrLILldslE8jnivp60dccoUp1jI7/MV3/+f/AXzu/IP1SmqpaYVV3I9VTr0pcjVLt6yY7lGG8e4CP4/UEX/icQOBHpFIpjFU6zWb1JpUtuURTkmaFMW5u0li8FaK9v59s1ozbw2qiRmI9IYbLRapSRYytQrqFMlaBMPCE+JTjhC8lC6uzLHzDwyiZpLpaTAbNxh7MiK87TEih2lu8DVVVqCdEwLb59KkG3h0R1qUs7ZNldMbjWKpCkTCqEOMTorNT7FY8yLNv/Jw6eV5Acw0zlni2yqP5KJaKCvTEGJcP36Ux1kcyVniWoEyopdrbnJrKyri3Ikt1XR231U/Dtas4oUZ0u3iRioqVFLcn3iFoi+cahW41kXVs+v/6D0mtLiFdJSiRVgWNIxNU3/qYnb99icHsODVVVVRbFtWvVKPLFSju4t6sptvZouf3f8KVK1vY9nNUv/wylU3fo+0Hf02TmtioquaBvxnkym5uzlcjy6G6+qUz303TWQs9qELtjj9FZugiZf6cp5ZFh4/lc0FNZySrA1VdpDbTDDQVJeRXm81m9HdC7aL2QeGvEO0j+zR870P0Tg7T3sjb+pw3T3gf3yiBAFamkqN7/4npf3sLuRUMvDxr5l0yi8JZstmLuEs1aM5g4pu9zfUwd45albIrV7cguxI1HpVcKyJxsCgDOa2oKOKvOkMqVNLVrlrCJLPt0o6FrmsK9M46R1R578XMQZs9NZa0AG08drB93y557KiOG99JnYKLVM+o0twpym9eqMmQDvjMOHmf1csosw6fyGZLz1OjIo6u/JiEkZLfrVKY+6H3QkbfReF6SmNbExgXNoOlNa4WxapL5XFkXWLh1mdErghfWYS20BFzjosee55oRyfDGsaJBIm7Ftd8Aapqn+GlDz7g1nQfGn0Q3T92Kg46qiJ2yFOTO4Ttj3IU9ZGqdhl/X/zZz96nV3/HLfVRPX/NS5J3YtA1XUgdjKuboMQjZWVsvbLB1T+s4pa/FXdCxpL1ycTCu7uN15O4lr+mQYUE0HAQ/URoV2SvXKGjox9pn7hmeUliqlb0N8pUJv5aVdreZHSE6ztCET96rpGxpTVCx3+D6uoY6BcPJozXFugQdkOII/l5MBAgJDHa14d2ywwy5f5F1GIR9Pt5Kyj6o2L+gx6q+8tRlx8FfN6kCiDNEbgsZsIzHG18j/GLIhiRsUL9Aa7pVaQRE6q4/OdIYzQqZMIVfhm8ddolcnMGu6kF6yc2M+88R2x8nJ233kLKMqFe/Jo6/cw+HwrbZlOYEsZTtagPOPRbPgJ+v0kU+sS066KISe4rZHv3XoTciHibQ1Rmowp0EPBFUdjBGh9nZm2dGc1g9w2QLeugoyQPdkLq6tidXiCkywVEUJFcq1HecyyLiY1i6Kr7CFr4OP/3JzPCPZWjmjXz7ZMepF7z/4VZ5F5CUyaE9dquqC0X23/wV0yufoI+/xy/XI40RWNqnxfXLnyrOVWgXxaObXNl/RgttCM7wF8EfkabxLjaabI62I7+FQlrgmIyxBIZNuMcldexzxa7IR+hqbPCMqeb4fzGcgZ1dkTnAwF8cnnXnaLNMUbKVYmPdDYp46rOyveM8U3Flt9OgkhjpO1hXrryAOFc1GDiAorn8rE+JJtZ713N6rTXVyWvmPKMcfhOlYJ+JJQRQ7pCSLOUUiHnxEYKEdK9Zz50VA30229wz7/K8N5omOWPPuLlF9pN8ZkvxGoywuDtW9z6L2+wMNrD0fQedlOUQCJByG+d6nvb2ip2L23iqMfjny+S0Snkv03sD96l98//ieHfW+PduQHcayIcimKy+ZbhqFnfxMC9Ctp+WCamX2FZPDg2RixbwCEnq5J0LXaZYiO30fs85B0/RkJT9Ni76MZDRoEFczkWH9I8U96E8+tkIv1bSIOM6zsgZtvEtedvop/6Uc8T2IEhJoqa8CSUJTh2yL7rUnH453zprFF17dqJc/rR2GX0WoatC2vU3xE+S/gTYtZOMRJ6Ef8Hc5hGRFtID6LgbWbn5mj/23UUdGiwJqgqK0ebm4TUhtRBu2TiobZMcVq70PNi6v9+g+Dfz/LjXzxH0+ttZnwiISzLMjH6tNDRmFEARfc5IeEs3GHqPz2E2y7Gm4QqJ5ElOq538GnZHAc/uGQoSOaFBgfRWyPohT9i75VmbusKk/Kb9zAm6j4SNZ8KfSJUIYIfB9l/5cdM/esmc8+T5pq2RDo9RdvRD5HPS3AOqDRn5DgE/f6S7l8lG62tvMVs10UIvDSQ/659eol0fQ+2bfJNp5rotKrQVSvkIsXR0pAJZ7UFySm6wL5pufrF9/6SqR9+glZW8Mt4h7adIRDYpapKHizX5E5unLHxWcWfOSL0A6Huh5F2CR0alJqvVTh9YuqfpoiMRU7krUaL1pGBoebPWSeCMy6WFoiqOPcQpqRh/UnxqwT99Y3SoxLONb/E+zqDRblI4gdNuPPGMwhJhDSHdLpBUEDfTMP9TZJOqygPukFhL51A6kH1aYIr01iWpyg3LqHynFKYRaplV+fnDfIFvf061cLzu1UKlW0oHqRR59PQZuVDReXVV5IrrPTXsrBrkseDEg1WA21LQaraRTaTpC7Qzhd37rD48MMcBgI0zs3R1l/Jmdh512Uj1cas2rhkJ6m+08LFp/+WdecBdENkHQelUgQlHnr7dUIPbRIaSFA334jqA0WNsb9ZmmU27KjEL+7cob7Bq7aeTxBpTFGjGubmGpmb7Sf1xFe01lfyqRyCaiGs9tJElET7lNCcg9TCrEyNwVnIrWIJS8SezqKAxWjdbZa/uIKaoqZqtkFUhTtoHfqEedtPox7F0lO0Kk5WN6mXTVhx1DLjueMe3LdfZAdz17h91+u3K0qLXYXbKtOK0RKGqHAeqc2wj8omrda8pxYKvUg81krVfILYD79GqU106Ya55zui/WI7qvCa7NT5UVkZkf5pooOmKK1pQPzs5W5Cbqm3+ZaEXzW0/90+9uECrVmhZJs370TGrcJqzlKvCpJKmxhvOIAGLzEWr+DATtKeydBeJzQs0j6zMarM23Q6hNrFL3+RRbbobxMPymDyY639VM68z5QbM72mG3Q2Edk5EmitI3nZbKiqiaInPIx8OErV548RaxQ+n8tbb98oOc62RaZvBsWL8PeOn7VUI7OxILOVRSiclJAr/tmP9pn7yUc8fOuXlK2JzJGo9lVzu/w2yWQBXx+VsTJ9iqLsWcVkfqQkQ3Oib/ImkoMqBpDizFSKrrj48t1Gqm/6872vmxRkVu8j1aBsznIuKsBrEPo8iMJvUCfDLXX+uLlou9woRFcGBipxXp3CbyN+iaPsBZScIq1y7pfLQ+riWK1n/r5DBgn3mzYQisVEZV/G1HZlB5DqDcAi2opUR1ARWvURtsqQfOhCuTGWSs6TpjhaE9JZVC9RigEN0netFKxXzMs+A365aRkNuqV7sTWDWi+aRuqjomJAOKM2juNSbqVY0BJqbOYXb7zEzsYEqngFa/QMhk1LWJbDnlWJ5Zuh64LN92I1zL/6/yU9/P9jbeIh/KvfQ9t1+cTkRiSCvbBAtcSgbZmq1kaZSXtdlGbufegsvnRPXIkd9ZBQC3OaR3Y50jaWJsixZnZ2tDO82Mqr/2AxkjKoq1PnyvWZ2C4Qh23JoGCKOYJqZcJglgqJwKckutfXkd9l27KwLUOYt1t2i8XFZd5aED1/nMOAC60LRQ0527xEWvVsWVNMDm1TN/wgmjEb74a+jbUziVRhwjG2vhH/fTGZxHp7mfqRRXr7biBrCGUfRJMW2vDCNvNCIw7WZJChV1epey2FJiZo7WijrdPbPGprscaGz77epMXuqIUmbPoGBmhqfQ5bFl/aYlO/wG/tcJ99gVEtoc6QWWjT06hsgLXACL6VFXSP0Jh3vrjQqzIb6tYWCvr5evtrLNvC6raweixD0Lhdg5zXkOcJWLK8Rjkn5WTzdSMVFWJsNBe6SrAw/yrl5eVs6wCf44V1fJZpBlV0XDwZ4OOPt0rHolroB9OY6vKCx6G5JRRP8Kt7/5LNjz6h5pd3GLfGWZNobU7y+uszJfdWJYMWkjrRdtMZ6zqDNIY6e9Bz7SYM8XUD0gDDlhiyxL9/d5XqmlEK9T3VGKPhReytE4WMue83R09Vk4ck1sd0giIkjqVzEsW/pVgS1oULTDoOD+8a4+9ly6JZFnOaoUxJdnWalLF4/NZU7OX/BrQdKysmbL3lra2nlIc9V0k8rxWCCiIl0eLsGQ2dllBPKF8AWq+TUGBhDMHSgr7vVCn0TsvcwAvKs4hKJkwxddVgfbMqZ1NCwTKUFA3torZXvHR8i6+//s/0dCwS1xFSkLKyGqyTnDXBEGptRT3l9F9v5b37/pZbA6+zsn+VUMMx1XKIx+sYitZ7ldA6G5vcJEOxEJGx6BLyYmtHFIi5XEooE1RAksRiorlezCjsbQRxdNMl7pbx+tpNlDCLcUiir1bEftBEVJESd65NbQQUMJC7TaHq0gpDy3uJfol1NfCMYpTLz6EOuel9X55K0V1fReMj9Uwf9nC5fonosCjvy5BIJMgGRVdtF07MMdbufaIiaZLQcYnB/z9vfx0eWXqde8O/vXcxSVWlkkrMzMwstbpbrZbU6larcZiZeTweZs/EA54Zx058bMcUx7FjxwHHcRw6YThvku/kPSdw7BjGOMz3+8ezSyqppYFkzlfXtS6pdm149oPrWete96JL8dUHFW0/LF/JkIjmyODG377D+kB1RAVe+Y6ih89E9ffwtvEYifx8cdExcU+b6He1YqIy6CJ3G3wQVVffpsHooMIlaMyHdtUify4bE4XPJ84Pi9MRLe6xPNPnyqNTKh/cK84/rpqjEyr62MdEXa0S5wT14Xhcd9xkqeXEfWaQNW0eJF4a1YCjSItZNDtBAQfVuv6p1qkhtRzzKpFOiL222v7uiNr/x1Hh3SUqh8WjfyaCue79FhTflnCsV1Av5tlEnd1Ms07PMqmuxWIq8ngUD/6SrIN/JKhQ3fKyfOWbNWBrzVI8nSuOZ6GcTjSpojtHkchWx2aOwNHjT39B/g89ohO/+A1x/CJBo25NB3XLkWolG1DaNcN0YEAIgIFYW2bnNE227d0RHWeJsW7D8pv4huCgwkPIX12j3tOuVTgZ0WZ7uiWImziJLCkHRfGJ3MgpC74Nyo1wSsrfPZCVrfD9k+bmZnVOTysKKkggy0bFN/QqMFSveaqVJKiPwynvQAKxDxmATJk26MIPaOd85e9CbMTdCBehFsvJ0Wxp6To8mNi8cLYGBmJANKdQ0by9vK+LwjABk2O3Ga1No7W2NTk46gKNWCgZRZfHo9p9lq2mjxzR6EBUV7c8qoquYlXiaJNWs955UqaCT6Bdc+i+XwppzzVXKPWJJvVSppWqJqUSCwoSMnbcu44I21aXe48AO9jkK9g2unazeBRdDwYJC7rMIvIIyhmuUF31HnVkHM+7d4tUSt6ckNo+8SUVxTtNMu52RG+uZi+/SgUFUUVAFoOCKjUv3KCcnLTybNssYDfdJP/QsB4koJqjXln2vI4fiWsAdIwaJb15igbzFRuJKe9jaM8hRH6+hqtKdF1rlaanckV1ROtaSRgxElX7WLucoLPub9nbjpbvMh2tiy5T7xUepS89qhnHkm9tQL61lNi1X8cKMRQFWxbnPNDNk6isuEyjjJrj49twu5S4g8TCmKjCYXnddhmZnVX5B7oFS/L7Y8pPBpXPkpxogTiIBv3oTNByM8oZ6VFwplfh/cjjRYHAQUFK0S73OQWIYnTO5KQ+eU+nRquaVVo6olRqSHsbm1SRDmm/L6w7Wg+oK+ruMjo279y8tKsNR7Euk4xnAKOhNoOinK/HZ0Y0csQrqBX2nLhuVvzLrPDt0k0VN2hoaFoBfO/oA4o6nBKj0kKezsrYjRMYYsBmxN77lSE5ayG4STNtaGjQxMSECCDH22UYM30+4RtQbW1Ysdj2CJ2xL3xBziOPKPHANQqdc5Eiq+2qcmK6OdStfBpU4ka65nCqjb0IdCiCnE2Lv1/k7BaRRUWPfVFQrkECqipO6Ib9dUrTo2yiwZWVbHqVDOHlYdUwqxyKxdmIMyPuuNtitipBjL99/a6wfbT3f0k8yH/UL1/KJ8JXCadMo7xdhHpKWK0icpsAOfi0xn3v+nkVePQwxxUkaPpLiqyFMqSeeLe+f/Vpyg0Z3yZhdtipd+pIolHWPDvGexzBtQpUIwbe50Whp6lH5YXlwkaeFeSJesQlXTp+uFl3+Jr1+ALynndAzv3ILvDItpFnC+IjB9TX1y9aYtp9bkiXee5Q/vSl8iyg20ZQy63I8TqyKi1NtCPvaL/S9GqEEVMpvs30u6dxalpA4BSs+wCb7W3ToBBefYj9goT6mFIMNAHy+BAHi2Ww7LbAVq8zoBwrbt7F0y0rr1BOp/sMOyrHGZFlGTujH1skLNHnUSPopmhUztxuUeYTbY58dMn2VMrC0dke1DGPfmUMXVHSpaWBr2mta03WKHJ2bZTX05Zp9L0yaUvRwFSfpu8/U3T7Rf+oKDWNP21XayVxpuxBW0VFqPEChA9ZHo8cUKOnUU05zeoadVRgIfbdLwKnYqAdx3DCrGPmDxyQZVlmMcyu532m00bL4uq/eUZVmMm4fWhIrX1l6rx4SPt7e/XZG/p1r71HqRUDGHDYiN2Yb27ROa39ut0ZUlkZ6u0NCfbrwJZEIU63I3/RdXI4R9R3i9Lr5bEGtHIgpkUmFCSwHvD4XmSFw1p+cEH+uF/EzxXdg6q0b1TV4ZtEn09lrdVqu/h2dfkD20JO88lXK62Ceh1IlMia2vy7RZEchgQoGkP9wxgH8u0eN7o3LbaYSiqHh9V3+umiB+WXG3MgjY0G7caotvrcLNAU6OgXLtL4Iw/pMt9vaNQZ1n4PSiYqtWvqhvX+3Eab8mnWuqIWRfQbP1rnfrZEHO8Xn3hQzPu0svsKQaNsemQVdMmZ7JLZYW8QUno2gUFmBbkyu3LHjJ+DU2L/qoy2PbXpHYxyYf6fmto+tamHd/bFvWfxoo79HYY7adoRcUuLvAMIJBdxnzsf2cgz+e6pwS3K1tF1B/Iwu4TczO/DKqVIY5P2xi7gRoyie8q9bHmwTJ15tn/Wel25c+L7uiiQQCQbdHHxBUo9kKucR9ByZ0r1NQnlkXDxwpulANRYgbBt7TmvTMf7ytVZUChf4iyVN6N2GwVL3QKXIU5cLqxFEUbFXcguefvKTbA5/V452zt/0m4D34iJ5KyrQFZJqVodR9ETJ1RgWfJh8L2Z5O9dWPJ0HxD3Nim/uF1Jf0yJEGJ1WU/HmzWTMW34wqJ4XmQjT/yoOIW85ApvrjgDnaw5uQ47PVl+UgeWF/VHlyW0qxy1FZk0o/mlSZGfENGorH2WToyeMPbvJAa9U4JmB+IafzimgpJ8leAzGnpXuwjnyUeBniBHFDeJO1BzGBW1oMO2sVN+5BDKfcB0oFTaaPR+ntAa52+uMw+i66gI1glKlEh4FI36BYWnONDxII4ir8/YzjPHkwfHleipVEdrofK8KcXcjFHZZIKZe5WNt6thtkc9xWnR2qbVI5cquOaIETefAzFBXOQdFcmLRWpFe+YS6uu5SBSdJ3zXq4xrZONfR9e8F6k4ia69qlShkC12+8U1+YqN5yo2cbFIeRRKlCvRsipsYyYpKtqcMzlI0M1nkKtsypQwR3UI76Z4C58XFaQRt2zAOMu3K3NBWNRmmags3Khqr8jKEJYtJaD6hx5R/8MfEveNiBKfOHJE/pJWFZ7TqZg7ZpIkFSShddoZL5tMwmNkxVt0los9g8K2dPKbvyqG9hlzXiSgizlXs1Sog9x3Xdelhx+UU3cqWVuKCYVCu0TxmjiKSrYZ+0FQAY7AOOR3g9KRGpEc2vmZYffd3o7uxUaJsoRi2UynR9mZjgN0xAnJV7S60TbF76HPVVXJPzpq4jlOmudzokVEJ8TKijmnEDPZ+xEdhcK3mQushC2LY3lWzFKwWBTsErSrnItlZflS399F4cFV0bmkvvaOnfOg+vzCH1LT3V3qvOMOtXocXTaO7vZ41Hb6iI4Wj6kHwyeyaWvmsE5qN41B5jC8JDyb7aYWZsLOYIn9GOTJhPv7KDs4UG3kO4H25KCb5lFyHDE4qCa/X1WWJa8Lf1zGLB55oItwlPRNy2Mjb3+3imJnGeQJaK0ZjV2MaGkRM73adeu5KiLXfac+QYX6QCHKZYUr5M0i7POCAuO2PHhFQ71ou03gKHUINQ0iWmrkKykWIeSzbOHNMhOMeFV1X7VKuks2IHq5KPjDJtk9jbJp06gP5YRztLt3t8ap1PrWPh9DUz26pW58Q+JOn0F3eBF+n7Hvn9Mqkil5vdO6tnZNxcVVgpt3aHdkUGf3q65uSH19fRptG9VwukJ/5vWq2FMlZz1Xxhbxoor9aPAounsE2X358px+gWBVPOYOOEoFVfLQpbKulAbPRjXUqPjg5fL1+nU8ekhzHNYqXj0z/t7x7o8dQpNL98vrj4ilS2R37NaR8l8UdR+XITIcFxxUN0FVgXp6cPMtv7Nsp21aWLp+8ml1uVrx41k+sQyyz5fGIKIy1/kRY2iFkBz6dGjb5/n0qfwjuv++B3XoC0+KNqO9Xle5X7deN6ASDO++B2RTLOZH1k1dHnZA0ziVWkmUydlj6dD4MwLkNHjkSXs05F1Q2OpUxplZjq1+12dnbZ20XJnx3q0jWf6YzPs2g/KSSTOmdqjLhI3avO584Vjy4pWVNhQl5pyAIORaFDwCr+n3bYhhM2fMkcVnNIphAB5FNZfUqLim2IwByyzePnee2VoOGxc6nLVoZCsJts/EymRf4/OZdt+gtN7vlveQ5tit3PrcLBitLVg27xJD3q4BWVsQVwNsgROPZf2fQLTZgpMac7MT/t9ZFBLh7bcoeUlRXy0OVorL7hI3/b7afvUT6p2YWO9scZBFhSKRGq21HFF3ekqD5aiTWvVtonjtU8BF32yyN9qIXtOYj2B2ICfcSrHXK6dY65nCtjaig9b+2aQVDAaNttTkoIPd6OJkUntcJtY4JhrzaLxPn2/z6OnPHNKuZnTtNYho2EzEHpRMovYOVOL1qsjv1b6ggff1uwMzO8tULIYWXCZKP8Ymehkp7WLWYPG9ueZcl/+IFbPo2I+gtWS9ONRlOl+8X9QvGkedxwy6vnwUrEQP9taovD5p7NSrJQoHSzTQHhR9Hq07eW12dkrlus/eZ4kLsjlcysTyiEKhkOjL19b0mf24162icDiqtdYx9U9Ma/j4cZ132nla6erT3+y/RWeNdGu2eYc8x/sQkyh3b0CrN7erJ41OHEd4Q+pbt80XCko1wXkqy2+Wv8XsCgsmJ7XXuk7XcpoiPafpqOPT2TzytpP0dhIKo5VQyNj0+7rlcJ3OYFYcnhWOrb5LENXH5SP0nkwX4z1o5RRqlT6BrZzas+RzUVChIxu/H3b79JHt6qkJhZZxs2tt+d2yRN+a8uYv1tADDyk03ChONyapVrtCNweuXj93lFqVkjJUMa6JZhfbk/Axj0JziKClyb4vCao0UDWowbxBTd+0T6TblMHZe6iQ3zWLpNgwD2bLoeWodoeMomKRiX7u0U7JY6BPXgbVyVETEX1Fg+hHweZcXck1KmBGKyvd8jd5xPwVavP8voIP3ii4UTT8isipFn31YqBbob4+BWmXzaQgoPr2Ds3tR/hRua9CBZ60AYUk0emH0CHvNvWM4c66L4h8y+Z7t4NOrm78XnUE9a+wDlt2HHT4sMkWuMFrFRRUiWiFgk1Bkx53fWEpk8kOaXYHu1uuUTKcpVTFcVOcvo20IwIlMoiwRpmFu/J9XhRIqQhUk0AfiZXrI6VVSp1VpRMdeTpxxnU644kbRG6uSTUZrxPlYWGZyduHT2tcrmCwSJMVUwrGO+XNR137i9V+x0VaIUOTUK+MD8IGJcfQDRVoxmKT1hQoTensqKXpaFJPnWM4dI7dd5loT51SOV5Mlql7xsr0VCqsVVD0RLmK7TFFulG02quaeFwfz0Oz4bP1Pw4e0RmRBk10ovi+iOIlQVVWIDqC4kRM5FYqnvSrpRRVdHaorLVVxmzgVUmmk5/YrqFOrP9/ArecweAGigoz2BllE/wsH2Pr9UXuNo4497gFuisXsxCUHBHXtblb5JTS4Rpd0bOoVMN25Xh7aYZ1Rz5XIpKWsJObWULDiIOZvMhumwQimuy8WYOpOs2k02o8cp5SbYd1z/K1ao3tU3JbHhmvSOQoNDqo2MyKEr13Kz8f1Z+BKER3kdFeE4KUpjldJa13i6OooA/FlxrEyQ+I1j3KqzMoElJbKNnJFSc8WrsY+fyx9YEGeUbjdOv6cMlhBdYCYjJXzHUojwt1jMNysNUQYzOFQjxuaBSyn3OQTZQqYHIK2DYmsncyc7xezFvinjpBv2JkQx93yFoHRvsrwKDqtkOBJRDNKd31mUv08C03KTV1ozhqtMsb86p08Xz2Lu+YKG0Rk5ZMNHJQe9kB6ZNCx2ocOUtJffnuL2uOOkULkT+nUImqXXK2jdcYUD612rPN/WzLVl1enVIYQktz3MS7ACLpFbGjSpZklKkG5dpN+vPklCroFfUt4lHk73R0Q/x6lXKnLE5TstARo15VxXfJV79LHGsVlVMiPKyipiP6+Git2hoaZFOle4Lt6kp71XLZNRoerhKx81QwdZ7inVOKk9lJoUQM42+JmUCxTGBhILB5p1jNxo5nLRfd8dEbVbVapZMfPqmHp5p11WpCDaG0LgvlKQ9LVaBoMiViw6K+W4mKuNJu2+eAiv2IWI3WlcuKLhGIuv3DMlH4JSuCCW2gCU1/MqZWvzE7B1PuNeUyi0Ph+7woWPt0dV6eXrxlRJO3XKae7ps1OX2zLFKyrIAsa49MblpbVF9iVnRnI2TewjIDcDxj37LV09OjdFGRLAzbZlX2JIPRXhxMaHkYFJ1Hk/aQSs8/TR1tflntu2SVmnP2WZYiEeOgMuUw90kkTtPwTWOyY5fIoUGOZWlhydJefLqlZbc6b87VLROjOm2fpTC2brEcnZtGM99A3WONqqqq0ugoSiQqtLTcq1u/9Dl19vZqAEsNFurJsTQ9OShIaldmgG83aPdtcM9YzLsJwqvFcmYSK9R2HOhHDwb1rT2zSq9j4JvEfJWb5hDDf+O1xP6ztB6BGY3JmpzOGnSbJQKbHcYZGUfELO0lLIdpw7U/4xWBbXjwM+/oOAbjT464/lZVTCfU1oq6rHNVxD7dPXuTCiIbdnartFTWde3q8HWodN+smLxSdT0L6pk4pum7ptRfgs68ZU4smvSS2c/sBxWcZ4seS62tqPIyxG0fEBdfqkctd9Du20rnMCysuKzdCG+XOzgcwR4z4CfQvn3I2m0JP9pHnmxnWJfPX65GGsWQJfL3axMWfXzcJInarj7WpVIZmHN6H+oFZXIfMG6p/LR9asUgacxvbplA1jBZwUrucydsEds5rmZ8wlLs2F6t7rU053M0v+8r8tKt3aAEVRrn5vUyWfS6/c0RXKn1XOXbiAXaR45sa1Ll1tfVQZvaO1FJF5oashWlXtl5SABjrnFZZTPO4nUTxt5ZsRSQMTe6yDb2iF6PKNxnYoq6LYPbt82OsDeA5maQxZmy6JflIHJzNTI5pTxrUQHL0i4bkcoTgzcLVje1x6wX9e9C5fvcsswhlsPqs25UQWGB6Jo1UfRTlboZw+sVBM10Y2Kdeg15YWZ+Gi9HR1s27r+LDTPT0BDq+vOv6eZrb9YtgVu0q7FUv/nVWR3u+hPtrbtcwwO2bk6dr47ZO0TvH4oL/1RT3KJPVh8RV4XV59yoM889W3R5BbvduhuTUTx3a8MKsVNshOnj03ehcAFaW5vXrbeO6tbO03Vr+/ttPjqJvF6vKuI5ckYwnDhWJuLvsIzp5lRNZ9OWtDAljn1dNM6K+oeF3b7eMcL5KJ40Fd8IqvegyVp0K8as44CcJIqTI7Yhn0qCQg7qjbO5HN5CVXfH1dnZoPNAT01PqePhEiWx1Jpu1kxiWI9egj6xq1HTvRO6mg+r2FemvArU7CKYjhxBzUV1ak31q7Iyqqpkm2bKzlRHZ0qTnSX6lXi10jsMqnUZ3VI3Cxjn1Lp26RObUvpZorFR9n+zlSh0TWyNiNPCIrkNz0reotbD5dPF4so7tilHtcAvhx24onJt4RxTkoDgoDacpmmxQyJwLMtlRk2InE9rIFqkpQiiOKpILKn2e9rlpAvX2+SEv0Cr5XXKsyLy5xm6kfb2AY3tmdDS3dXyV1UqMn2NOOzTxu7KZMqKlaK8+j0qjk1psvqEOh5YFidPE+l7NXQb8gS2tD2G1iEY3Kbc2X00DznHmlTX1qQ8wrLscl0zEtIiD4mDF4jyJ2U4+9+B32Y9Qx0y9mKzC/SRCVTsNv39yIICRXlG0WFzkJQfv+5frVZ1KcIJiDrXmemxxB0jbj85NcNYro2cy9DR4WF5brhBxKpklZUpWV+vwmCVjlXevF6mcaIqiyZF6dTmsRTHxP243z2gy0H1nCmoV03N5zU4WKiiOZSzBy3esKgc/wmtU1RUYnyDEUTA7JKOHzf3msI4R2sTCXls20xulbkaDqDx3KTseyzhy2q7pLlfoBjlzqDaBgMEmXPQ0aOd4th9mtu7V+mRp7Q6NajAo4jqRlmYHWwD7kKU0yjKHDFRr8ZazGLRNSK6CoWd1afDiKAxUXsw8VcNW+o4IwGyKSYalSArhwmI5rx1847Xi3IqcPPPh0zMlNfktzZZ//IEcSWDHlFmCAzJKzLjHxObMF95iZKBEmMt2SGINJvMjwiKH0ROMKWCgnpVVuSqMjKl+cj7vSgMYrD/s/tET47oCQhrK0nYOdsW2DiHh8zg3tOs8O580Y1wapTJIOUrRTel1/RNbO3liLq8yOl4h4l2iwTJSvZyAPWNo5pbjqi1zdL4TI8IoN1JNHozeuhhrxobP6O1gqt0uBeFk4i4JZZCogTZH1pUd5aGm49LDw1yysoUaG9Xe3uJmkdqxL4+nWITtRF3xkXrRYJlHfnSER0YQkH6FE7ViF3zZqINr5oBUoYYcZ1L4E4oX9em3UM7wt+prZqZH+Q/uluJxUFZ6Q6R94ui9WZVgR5cQQl/ZvvbKusdibsaFaVfixxSOJxrjoXKxTapITdJyhYrQRU3eVQ34lfgtBkVdPXp1rZ7NRpoVrMbBV7lyVO/v3LTtd5W5O8LKNTWpoqKCg09eI0I+hTeEqLPuQFVNo+qmbA42iWmJkTwoLArdf+HDysZzNVGWL+pp+6moHIiO3PQZyTmGdeHOu8TxGTZzbrp3Pu1p/vPxHSb+HDOlrgXW7Azf36Q4Cb6a4cSBTJ5HhK2gnuDsmkSjBg/T5avLmwHdXqw1SwiHkQnCh9B2GHR0yczsW9HzmcLztbayscV++CkGOkQZ50lurp1Q0GV9jTfrHrC6s6cn5srat3kNJlj+WzOG+Ggkrt9Kmo+T9CpI1WfFAOVqmRAeU6tuOOQSDcpg4YK4zH3C/lNnyYofEmRSApCKjt6VBdjFslLjqC9LWhfGC37to71TsEHRZMlqpBvDXX2ZMaE+9cOG0CEh3XbfQ69CoF6wl71hL2yCYjkjML1XllHR9VbighZomdBdJdsnmB7cCfyoMDWrrALAwZBSGGftQMaqdeM/fDhjWN5rKdmTWPAMy2gNg6780SFYMaUJfNO3rDCGZ9CGFk+n+KHDhkfVm+z8Wl2sy39P7i7zSBiGTm5jgKHAlk+BURVr/r63+9FYaZBOGnXlrrT1uWo2zndAdCGSBr8fpAeQb0sr6WDkyvr1+RxSOdxoY5WX6i9pVUKgiy8ZsCsb5VsGb4dc83Eluf296PwFnsuXtTkQSfSXnEB4irEIJq8B5VWZrTHgCawxWyP6I+KjpDw7jPaRMS72aM/sfF/+pJLNDY2JsdBjgfhmTAOt7Mb1OBtUJq06LdF8hbhdAm82rXbK6+DLBwdtOyNejzgFV1tIpUUzobW1sOsouumjux3c7Q10cYAaI83ra9N/L6iJwrFSlDYXhMp6kWLGMrd3Wym1thebEFEXgZ06PEJMxCW3ukaRCKu7r2z6qobU1ffms5yztNC3qJuOu9BtYfaVeUyaRZXoOYt5GZNNhqwTQSrbdtyAg8JcnRw4rHNfc0zoiusPo0yqNGjiKmD4oZ9ovw85a7maMG7TxMc2qinqK3p86eVzNkmGnSTTCjgHdHKcEgTE5h0nBd3yW67W3i6xZ5GDTvnyJdx2ve6/WOH+80yq0QWgKI9z9IFrW5ftso07blJSWrlo09DA2yCS+7PGdee3ZvH10EvMqaD2KYyn9puR7T09Oe1f/YBcdgWHtN3LjiYp0Frr2xW3l3K0CypDLSofOoSYdvyTp0mPA2mbvPTYuZmVVgtat7TrPMu7NetB65Vo+90sdgtqBK9u1XW84CqPvCAcPbL8nrXHfV+n/H3bR3LgKpxVBrdLXqtLe950O3/B0TOipizDX7f7U8XgSZsxIEmcaBZOGOa4E7tp0OB7kXl9KGuqV4ZO7wxma2SUjvNOrMBFZchE1uR0LEltOwuAh7mtdwW3uLc9Qk39oRhxPHt+0MGhWWD7PVdmS18y2IxsyO3Rf2KlltdVOYhUzcf9HpVA4ax4d2yKHtRmrTGuFYQ0jjI7uwUySbhNLzPi0J5UoWENQdGY+3IFCQsii8UI0GdXK8011Oej8rqERxSnBLdS5OsBYzjDUdQpODJBnUevFu1beN6sK1SiwsZ23upNiY/y/3uTiKgVAAVfxhRjYouRd4rUJ7Hq4vc5OJ+0EWDqPlBzApbg/CUiCJLJ8sR44cEIZOTl0KdQt1rbR6slCHHcVRcXKw6UOoA6lxE3Sv5OuOCCzQa7tBQ+4KSdlIRwsYx6TXvsQtLg5Osw0FPlvnFWYXixhvNvZvzRaJR8LggrFJSKmTeOK/CYU0cOuSWc7PUk+GvMbuk/OLiUx2grmRf7zmGCnfQOIx4xHSHGJ7T2ydaL1UmAMmHoU5I1k8qMXBcDWMrSnU1q2cXmu8r10irab9waamBHGfJaHu7xsfHxfKye8xQsZ8syyAuWmRspdOCOtkU6WD8l9UQ/bAWbj1fnZXX6wTGFnxLVj/Bh6EOeEfyujLhLREDtkbqEAUexcp+Uzml42KuQKGZpNrbOpRyHEVA+7vSSoS9Op+oDrOy+V4+XMx/ozJw4GAQpQpwgQIVouA2lfpukgOnxH2UlZad6p8oRUsHUe7FyJhpLXEyG+K7QWxY+qEvyHr4EVVUhDQ+bhZDXyql9MKCuPBEVpBUmSia2jHoKRNbkcukYu2nieViUfbnggU31qFQhXxVT/Ml/dKts+rpO13J+lnlkVQCFzhShGLVKDfKjkGFZaVRGR6nEjPepg4ql4iivhpRWKjSxmZxydWi8rigWAeY1TidGjt+v5Zsx7z7GhoOoOqsesjBo2UKVRZqkJ1MqjiBaiMoTZGi0U7l5OQKUCMh5Zfk67qpFU0Vbd6B52GsHEVFW4PyMvOXQTs6V6Bjl75TH8uWKq37UwpYz/V8PujwNAqNVCg5buYCQPvYpzzXLDqxZSwnYQceriKB15xbUCACSUHyfV4UMKvevFuQjYdfJEaaTNQsmAxnODrBaVpgQVNTB00yiO7DOll3uzY0v4CyuYdqakwCHBxEzYpZODy45/tF87LO6Ed75kwgVjto1EE+26MlG+UsNyoU6tXg4AYPvwd0PiuaYpcgVwTHxdB7z5Bkeby69toV3XPPaZq64WGtlqMeD6LWo0h7RBMjw6fyOK3LhMzidnD92EpNrrixV40XTaqjA5MLOFUiGBCOracO2bKsjHaxfZmmTmmHLLFYH+x+P7p9AZ25goHbuUiK60AlbL+AGGkX5Gl+3kxqHiztDBtEUQv1eVBpVbGaOuvV4gyoIL9XgwOjClEls2VGzE2dcm1lY4vaB9u0e58xoy30PawAOWKb8pVZXRpxzpHdXSf7hkpZA32aPCOm4wfRpBcd3BIl+7b1lC0+E5U6FUdOl62PtpyhfVdWCp9HZcUBtV20pAZfwARp9vcbepDt7hNjg3BvXSzjkB9Hcco12/PHmszbSmHuTmazOZqz5zYmawfxpEdzu1EsZuu05ae0z/Fl4d03xItHJ/L368B9U+KaLjFwtgCdl0S75yzVll6v9rosupm72IZ9c6PMHgKCZeE9Ljyjyph6m3DUhOXSiNgiaovdY4I+eehTQy8qql4x/XBy455mfkBmEagRFrInS+VwifAY5cPj2a+lpWOKx6Oane3T5Ili0d4gZgLyWZYCCxiAgBcRcITjk8dBjt8vx/a7Ec9eYYWFZ0je9Iy8zY7GGtBUkXmv8vJJVVdnvetESHWXPHxKwFzH4KAKios1NGQQRzv3H8fU07ucT8owMVX76VImd3dGRjBzW+fbjs13kKzI8PU5pwLR/T6bjyowdrFlTLLojQeWq91TK29Hh/IjaFfDvGBYMcYUJqw4EV1Nu0IjUdFiOnI+O+eIZQ5RFDGBVqvIrHhTwhdRTgB1d6NDk27mr0F0ZdVR/SIoHvFpXdvvNhPfXaAcIgoR0tvlNn1bSSTE3r1KJCLKS0ZltUQ0fTW6+jxH0fbDKmpB35idVUHBDlme1mVjEok4iEOoYxL1z2A4/YtdG2xPj87trlt3mHVvd69uo8Fsu2AUYxzSGaSFhfIiKBnpUX24Vdgm8joEOsnRty9zNwqHzT2OkCeL3WbXtX5OrrBrRCcKJUJq2tukYS86GECcDChnX0C1j/apOBpQYeaa7ThafN0KFcyr/8hNSnhRa+CkLEKChwSWcX66A7aqI6XZ05vVcxTVLT5k2jWCzjyzUz6fo4lsH0wIdTdt5KJ+O4lGo7rjjjvc97OVWNgn368UiV3TenjoMR0b2qV3z4bZpGzK4lxKVMOUoEt2qFzhQ3+r7qe2z+plr9kK2+H1eqoYRMn2owqFkG23Kjb2R4rYPh3d0nY2jo7woBbyf1En77tT3JIv3HSh7VXo5puRl4QhacxcFzYTSAgDRe7GgEnal5dFZYsWax9VlGnxzDNieUl0f0JmcR8U3VXCRoVdrSqy20Q4qARFuppGNYyhvMYti2YtKstBIw6i0+TcgEbV56PuBsTyxjiJNMTk1KBwr6VUd7fKg0Hx8MO6prxcjx5F0RwUvBKt/P6sJoeu0JGJqB596BvaX3Wz5nC0xpqIobr96CYqVNk9JHpRpLt7w3ns0tR0d/fIKB+jp7TFaCCgUk+e2I5C24uxmGwzvt9JPAkUXPYo7B0QEa+shg0YeBCjzN7GbcrNRIo3uW1Fp95OMVuXphxxXq2gWEGq1EyzKjyowt/7/i4KxRjPfG6uCcbgKJp10HW35ujmx8sV7WwwSJpMOsGjCA+KDZar5OPniJRnPXgqEUDV4bBWxj8sysoUX5/gjptBTp1CDYM6aMflJak46GhHhy6+t1VXVs9pV19aJTYqK4tooDyiX4nH9NTRNrW7XC7JJqPZNgzsFbWGkjmRGfxsiTL1YBABO9rsEsrhCTUPjmiy/0M6WOJT/y6vyjtiCkVRKmgor/8zC05zM+rsRLiMpKYe+rQRr7E1g51HcGRz4owEm8wNoYqQystKVJ6TI+9DEQU+epEe9T+lT6a/ra89fpFycgz6KDcWE16vDlkoGM9MLLaOkcXp34mIxGVyJqC9mQ66PplHRU6ZaESB/GJVf/oyTcy26fjUtCIlEbU1RXTWwRnl9ySV12oc3EmqzaSS9V4hgip38nRNbq86QRfEM1BGg8FuzjMpWYkhX96kIqVnarLmGnUUdYn4cXFVgcJrwzrodTR24t71+yYi6NLubRLXbCMXp46qs7FdTJ0wzuBfv06h2UURQ41PooYRNDA4qNraWuOgPLblHgfj6gvZqgcZ88CGQ7+jtFSXTE4LGsX5xeLwZWrqMZPxGRhTi+Hm6tCtl3bogJO7vrsx484riKkNdP+nGuWs2kquI7MGZHIW5ApateeScR26+QHRFhPHjHkjGEVVXRhEUNRWPB5XIYW6Il6mQtvWbYmkrmJB93CHPJ5h1U1Pi+KYKDf0K/c+GZHtjYuxjwiKNAS6remEsBwtnHG2FgcNOCKHKhXTqhVs9SUN+ujYsWYdpVNzZeiGCPLZaK0hLeOcrlKgOKBQddho/74OwaQxqZSgPdWovqnJKBSjEVHhW59//H40W2P8ZEdxtJd65SaN/ywngcDR2bFc9XorVdw0IlpQaLJJlz1h4pZoRMygprkmM+dMnhQd9do3P++m2s20bVTr5vCM+DFmONdcbjkosQMh3Xbiy/ErMpWjsKdBfnfObHL7wAGmhK9EN0XqlJPZLVThsgg36F0pt5GEaG8VToX81KrGzXdSRMv7uyi0t6OOEnTj1ISi0eg6Tt4uRVb3NgWzEFavOL9A9FmiFeVWoutBOVUVoqVbPT27lC40kY8mcjDbh7Aoi3nl8xENYMmyLdlHYxqenFIH8+rdh274QKduu61L48ND8tTZsuqMJmdsbD5hGdz3OBu7m36M7Xs9QCuOwefv27mSR7GVt99W2HI0S5fmU7vEjV9SQ09YPXWGU+mdTBTW1rrZ9Hu/oED3z8woHggqF8vUU7ZmWoC4FhexkKN1zWbPLhMZnZ+vyaHr1PORY3poz7/o94bHldfTJbq6ZOPIthzZHnO/KGjm8iHRnC/Lh9p2b9gp12MD+npFZ7vovV4QUByz5d1U7jQGhgkGtXKbrYnJCR07flzd1rnqtM7U9bNfUbinR9SaJD/719t34z71tXVqGOuRfee0KC7W7us65Q8g9m7RzAdQUcH56vEOqu3qT6qqckrWLVPisrhCex7VrCeo/dlmvBxkvQPrZkb2Pm7Jt4I40xKjthYWH9d+9otBdNe56CyLLBOhdWobWrs2Z17L+r0Q1G+7uPML58WtG9peL4ZAMOMb2r8Qk8ee0sLerHunUrIHh7QXZC/sEV5HT1n7NsoCglsFpfrYobDmd+9S4Xyhuiw3mU/cxEYwvVeh04/qhtnf1608oVtmv6TeUEi1+8y7WeW2dl1lyZuFsrFokP3k/cJ7p0oudNTWZsZPmcs8cPm+RjXsz9jiFwS7ZRGQ9ZG9YgJZuZas3ZYsZ2Nna7UgbrbEyKiqqm5WS0uLMbkVbo4H2TRmurpFcbFmZszuFYzisLB347y9C8jyIh5HcEjW4KybtS7rnpMYE99uNvtT2ixRZckas7L8LmypY1cqMCAa97sP9OG3oZXfKiWUqIsutYNuBg1ZiD1oNyF5mRY9yDo365oR3DLNaTuT6mbpNDI9IMINyiQ5KsUgM9/XRWHPHtTZjHI5S5DUMVz7oJ/1JNjZUhv1ynq8y5Byuce8dSb6zxMPypOfo67GpPx5pWI92vV4VgO40Xt0CmdGPIji/y2l0/PPVIx8xfI8KrRrtFiPnsbRReFjImxevgvD8eKA6vNRYo8xWQ3hlVVSJX8himVFqFZQrvb67VMp1rmd805O6BdYUxEpVfpiKuup1tBEWslktXJZfEdK5ROZ/wcRnztx6qTSGlXykk/LtuOKptD0PPIQF+Qbp3Uehv7Wwe0YBt2yRp5msFThO1vJM6vltMfkCVes74wy9UA14pxKtdX1apxxLecuC1+lYES73Emp3H1fQBzIEdUxQ7MR8qzTlez4jpGk6FpQ4eSEao4fV9HagvLaDqmay+WMzIqBCVMP20R7t4WM1nfV3SgWyFdh7JcFUZG60+0DJqK5ZBqFS3qEdb765qfV0PCw9iUuUZ6nRMdTeSq0rE2Ee/jZgV1yq9Tr8DQKXG6+Ox5bjz9+VMN5BjE10IHuvTHb2WjYdb2gqhJOocrG2ieOb2DuI6WoeMoRDGuw6AtaSC6ZqHcP60lSTpHsZOw33ynnCLqiDtX1Xi57xaOrT26FCCcEHt12G7roIuTP9yvui+nYGmrgSrFvvxpLr1Rv5Arl0CQ/MVVV5WxaAAiivEpkWWMqpsIkf+/MU93eC2VV3a2Cg3epds4oFQGQhUeNZX+ovPIZg5ApQqusKkhQd16V0uIZKNHQLJY2kibZoNppxGdPiGRS8XiR8vM9mpioNj5FTGR1EcZE3A9apFbEbOFHy8uGOiY3168nFyuVzqqn/AzrwWHE9LDAViVk5c0OqiJZJn8TZrHIHoMLfWKwQRVxFMheLOpLZQAgb2cespTKZDZ8j1KcGVcplMKRRVLR+qiKFrJoYeL7hCdPJtWAmR+rQV5S4hRyQRPRnMkcmTkeqEHRofcbkgqGAwezHV/ldDlb7FsbPESoLxiQQ+d6cFa3F9067K7qpchXi7pap0WqQotkaC62iM9MggssKEFU3lzEIzPiFy4T/WuqZlgLwwh/QLRY4k7UGPJrzrY1wgH5SLh8RKiGRh2kX3ZDp7jFPP8gZofSFmzV9GBYB8PIu4ShjRgzlTrMBqzMH0LzDw5r4fpBXdT9sFaON6m4uDgrb+sBbcJ9u+IHnZPFb0P/lvf0Iy67WNSuCXyKYPw3JmisXNSNiMTWTFb7BQU6yAnlcNjstDzIexqqCB7WRwipoOqYeu5Do35UGUM0t4u+7eMUopicuf2n/DYgOF2hbTSUErKw3NE8BW5e1vihEa0eX9V5tWgpv1UT/t+TMQNlmD1PTf3obWlRyWyrbrkF9VTk6dxf+Kys4zERMqyPjRSpnTI1gPKcTvn9Z8jr7ZbHUycOXCsuKVMeaAkEZ23cO8wmjW5nGTA5yCOINVt4g/J+9k55bzkiZqeU11qtw1/G9D8Q1l5xOK4AqLOBbbJibUyygOIlqH7cL0IPaLCsX8FlS4TcQKY7ss73sq69rlGlTIR6iEfMBNYXVN9DyI4GRDRXxP3ynZjVuZc3ae9SQvEzjiiSf5b2Lx7TkcoyeaZGNMa0Qq4ZLkRIHESjXlRagoYuN3ktGmzjSLXxiBWfhn2o/CoMDNtbqonYN2R39Kpw1yNqzE6E49ja/fGHtHevG7zmoJAfhULo6bU1M9aLMBQgNiIakuMzuyPbtpUbCGhqHJ04ENcSt4sSFBwzi0ENCbWxRwWgJnr1oC+kcidrvjkcEna76fdBTP0MIHAUrF0VJYZjKrs98u2org5eo1D/NoGYFV6R9qiV7MC0ETGQNe4Os7GQBENiyfh1HHxa5Yn/1KJwivj9Sjr5qqVNGwrykshQ4zAiKFUnyE+Z+FDhqQFtNurwb8zF2Xml39dFYQz02GOrcjCTqY+jAkcHQWcwKB8+5ZGjaTqMU/DqYYOTdominC4UdJNVF9ei6ouHxQWXiI4u+XBkcUKnENoNNoqylLx41YalJgsR9opwQEMeN+FJPmJij8qcVlWEysXEuEintUhUAZZFTo6sjg4dxJHRsFvEbEIwIB9+HQLZu9BowuUv8SFsv/AYFEB9BHE2qo6ZZEIPhj2qCnrk75vUSNBMcJNkIhrdXdHY5kYaB13j26YDZOTCFtFduEMnQfR7TunghhIhpdwhvxY9Pn16DLUOodaz0MMHfVq1p2TZpSKEPFlIpmNlZWpsalRvb69M7MegavFtOIIxnalv/btH1FylQ0U1p7Bo2mwwYUbi5bruli+pY6lZjccbNQaqKmzV8Ni1ClVYJjgPxHocwYbscRwtxDzyDhs79Ep4XAG/Xxxy+44rLaDZLltnnR1UV9eYamod8QGfOMfSw8Mox0HZHFPvRbwRNDiE8OULptVUe59abvwXERgU6QvELWSlkfQK37twOh/ATPS2e+0Bn+KfQruWusQhgwzC17gx4FvRyLkjsixbPiZM3dej1UMzWkew+VDbpROKP/Hn4jevU885H9IHSofk2/uArOMF2nXiiCYmH5S/p0De83u0zD06xDmy6dMhfsmgrDD1fIfHkEtOxEc1u8tSHtXC1y0PKC+AWr2I/ejRuf8mD4Oq/JBfvccR1GtsrEC27ei0c25XdXWHKX85OjSGjiyhp30z6/1lFpP3ZOzXV+UZMopWMpnUA7tm1TGBGhzDj4aN9nlRuApRYikTbT0MyhkclF2WZdt3x9OhAsS1XuE3fiqPgx456DMmly2TpVWDvFd5BZaG3f47htkl+2tWRdEG/NoPLuOrO+6qWN/VFYJqCAqfiyjsc+QLvgNo493K6KgoapchxDPzS1fXvKLRjJ9jy1yw3bzSjLjI/D/CiKax1iOu39dFoQpUWYnSaVReji46hp7Zg+aKUDdlcnDkp0btlOiW4U+KmQMyK52LHXYpavkIiuWhZHmFSKdFXZ1WVixFI52CHJOVKh8Z1FFacOHGy3pyRcGSOGls4DYIv19OXp5uHClT2Vim04QEcWOHS1aLQrMVK6JIFsd1snKXDvl+S+FHPi7f3Xcr30qrMlIpJ4dNdBU55Cjiixh7px+FrkKPz42psnJEVskZKvfuEMBUsV2Dm3oYzM3VneFRGX6mE6aczX8sEttvP4s8yCrDOOkzKR5PnFB+QVpn+x4Q1z8qAj41VaJ0iTsJZbjdixFcIQjpJIWymFNHbq6K84u0u+RG+RkWlCkPRxfdsPFMD9nosIBIXi8aT+jt0Df+ZETF5+1T7+5R7Ttu7N3FxbU6Y+a4vHHW7bTFJ0+ecm0uUcW9CVGaVrAFxfdfI4ioeFPegKgKeEKpnmdUcP60iuYuFz0NKug6R5Wtv6AbHjuqQNCrk1m89kkv+kj+FgqCHaQkhio+hLHn7rW198Z71VF+mdjVJurWxF2fEpHsXc72OQ028+qHBY+rtLRcU1NewTF5b71c+fYF2thR5gvCSluWPEVFqqitkJW2FKJScdBCHXrwCcN22k67OuhQOo2CqUrRXWagruBOFCdUc8XnVf7QI6I5LA7lyzigW7Sfbl1R/MCmspa6bV2RgQtnSRAzFmLlaPcNdbKdMtU1fFbxvHkNk6eZD0RkWY4uOe3TWpzs0PrE6cbiVBRUrOPvazyorBA9M3KjbCyVs2EaiVWgBI471t3nJxA5SZldn0/lmJiBICU6wEYAZiqFEnkonuco4wy2cJGJFZxqog0UiCLDH1WOWaxOgM4CnUgmXT6rfIFXnqKwSq2DW8pk/u+tR/MDWfe9jE3pV/+r0tiYp+XlSRmkUbGKbkX+DICHiU0xKifcdyZsxtgyqCuI8tJpdXZ6tL/15vX7vO+LwsoK4gAaHUXLSx75bY88DrrccnSPz6dDCwvKZUaX49Eyj7mFdjZFUC6zvO7IDOGiWWZm3EJ7ZLC+hkWwgxmBVweyKyyCGJrSJsqFREJ0d6uqqkbV1cap4lAiaDEIg5IZYaO665p0aculWSYvS3g8ysGj/qkB0X5AgXrjVM5MfrXUqtyNxK2pqlH3Nd1uxKDRXt5dI5vnHeCA+d7YJMpPz3qnIvH1b4u2bXYKNWiyzexgrBQmYLC1VU7ttervG1BeMnfj3FUE84KoTptGu23c3NUTwjE7mF046mdJU6T1dft25VnI8NYExRMe4ZlTg5WrNha1GfrWJWb7hWcjBsABkwgkk58hniNnbkyU1IrGbtl2n4oKezU2sjmj2Ew5W2Ctptyx2Jr2zo8rXYjaXbKxGZ7QpoVoeFgHPtYnz7njmmy4QpTWa3BkUAfOOSBmDwi/Vwd3I1+m7FHkDGx91nZyQOOhgLzTi/LMWLLxanb+YdkLC2K0WxT8h3j4vA0HpGPJBNIZxWTTDmrG/ZvJ/uf4xMWXiiET/RpbRgOW+d0JO2IvKlld1XW2rdDUlNvH0ZA74E87DQ2OPu2OpQMCWzgTwkq77W18YZbjaNljaemcz8j/4CPCKhF2v9o5rGom5MwOyPP5U5PbvJMsVrfq3yrvk4c9Ou3cf1BT7+nqsW1dseIVjq35g1doISvz2oac6/Y9RBDZI452zczJcG9Nbjo3REB7mchqa1sWlpyZ61TTV6/uzlW1sqSO9IzuGZ7XPc336Pp7+tR/y5362B29+vLQkO657TZd0XuF9oyhk40oes+S7rxnQg9e0KuH+KCO2EMi/2rtmt6rc1rOEPd7NLbiqPSIpb2ORyN2n2qtBhlzaUz7J7cLWDOSyS64fmwecfy91evbSUF3tzrP+bkM39iMGJ4VOWe9/XUliAbjTG4B9TKsxXVT7bgOuBDm93VROC2GlidQLR61tt6nJ9rWdGDaUbLwmIq9lo4djSqvAkOJEIyJ9lFhH9CxrILHssL0O3pRzjLuQFsVnK1MGL/J87sq8G1Dy3CtTmFlBBkyuDZRg45Fj235zZYv73T5/a52NpWrlvp6eVdXRedREbGygj3GtBmCNiRo1ERRi47fNLa+/d4x0dApcq/Aq1h2ZHA2nHHsCXHBpdtHIvsQATRWhUozE5Lfr6O+PDmWpaMPdG6cewFq5rj85CoXFKVWSSIqC2Bsuhi/TTAdU6LS1o2/0KHC+phaOUNeQiJ2TFyzpt3FeVpZT0WaVSflw+KKbnWQr7CrseFx3yWCEqkSzR/+XZFaFaXHNTLSpLGaRi2E2mQixl1NsC8pAlsgfmm/4l35Ona3sU0fpFVBF4a5cZ5fhI4o1tAv2uZEW0Bwuri6UdwdEmeeLQ771HwMPcqyIkSUgB2ZYjdLTJwZEvefoQc708Lepdb+JbX5K9w8F4+IM/5IhN3y7GPdjzCJcRauD8yU+38Dah8PyznwiEh0GB8CiFjI9N86tHruqny5Pp32zAVufypUJs1mJtd1QxDtOf0CebB1HxfJT5sWp69UtLBZdMZFd7sgIhavVOyjcRWv1Gj5wftEeUqMNilAQD58ujpm6bMffe8mDj/9+lhgnzxNA0oOf1tlp0+q4ciQ6q65VXi8Kv/AP6ii0PUpJBKiPJNRLm74iS5H/iL0SPXZaortkY9RrZaUiFRKFqizIyWbEkUqx8RyqahFtHcpQaPmVyJqKTup8UCOICaPJ6Z0qFPpQFqpgpCIjCpvNl/pUEgF+flKBpOKhFGuH9kFMRUUhPVYIqgvkq9L+kNivEmxgwd14QNxRVfXdOzjszr9kyWKjq5pvPdjaq2/R5mFaYSdczRn2ibz3R6y1T7X8Z7r1vgGltVInYFNt7cL21bc69VVwQsUzji358NiZhs/SDGbAQlbZCMFcVgxV1F6Nx+bd/mpew5Kfwxv8Sb/5++/wIX/+td8MbrAj79nMboiXnjxed56qxhe/QQBeQiu/pQpz5f4VjnwaA6ELJ7jOQD8g+DtWOP517zgAcKfAz4KPEd0FbwVBdih3wBeI+otZjoybQpxFNjzq9DwAuQAVgjwARDg7wnk/hzeWuLzvk8RjmDOOQ4x+y1ic79E0PcqLE9R/noxwy+/DJ/7HLzxaXhBpN+MU5ILxdZf4o2/wgEgAsAbwJv8ffn/4Jv/+G14LYc3gJfebcXxSSK8gZ+fABAixJmfcsvsbya4NAa/+ENy33hj/QoHKI7m4Lx5GoTgD6Lwf97CvNCrr/Pp137Em4KvfWUNgFFg+El45LRPEov/jJ8Bz/MmbyHeegX4AoCHF4jwcstzeDre4s2CPr7nLeRNXmAAUfvcV+HXHf7yJxZ/xE83ip8D2K/AsxdifWUvb/IWL/IWX8xUzaeAF+Anz8JXP/tteOt78NZL/OEfjvK//t8iXnrpeehoh5Zmc7+33gL7rc1V9FY9/LQB50sWlfXwvWfe5OWgIP6ce0IX2EMQH+O5N9/C9+Ifcni6FeqrIbSH3GeSrH3pi8R/K8RuK59vWb8DuS/wEyeXrxaDP89PESVYlEA8RA4lJHKTODjEiBHnOfjEW/BLL/DLqVdg9neJvxXBsoChGW758Od55H/+EpMvvkwtwB+A25X5JvBDbiJszUDsSTh6P1gx+CeHN771Ivri5fCTH8NL/aZtnxNRwvA/HT73R5/jtedf45d/+jweYBg/vfgBeB14BXjhZTjwS0/yFja/MVYM7X/HaxbIsuCN5+CN1wHBl3+d5x79KS/89Lvk6IvwH4XwV11Yva9g1b/GV8bneS2e2rmb7lmFVCGHAd8oFA/D9DS8GvzvPFzyF7x5dIy3Vm/irRe/yYt/CM/WWfDGmwSe/Dwvv/Wy244V5Lw1hA2Q/1PY9SJ8CvQWvD7+FhqG4ILFVyd6SLfWsY95LnozwSqrvPqWD16z4M0c8P0rzwX+mb/51Rz+6dW/4FtH7oOZfbxRcpzvv/Qzvv/K93n2B2fAC3386Psv8rOXXmKs5od4i7wMvrKbn63cS/QHHQz+4D4uvriLA4/U8ud/10bttxI898WXeOJvruH53+ziU1+2+KXjHTz/7e/xrT+/kr///92ANb+XY8kkPzW1uu3HtE0IOAiA52dw3huRnet2m49FDjnAG4TdkQq5b75pqvF1i995+dd5mRfNyd9+EX7001PukfsW8NYph/EWQ+70Evs6xkjefz8n1nwc/LUYFxx6l4V7tzsFuw3tOctsl/dTL7hW2F6BrdkA8s+gOMc1wLTmQMdso0VhocnZ3QoEXNSLhaqXUKvlaqKFZos/i7EV3jiJunsuV3u7CURLteSr79JrBCGzHbcRS0ti77TwDSij1c+DFvbvV+/AsDrnj6v7cxjnYDmaYUQn7ZgWQI5ttqa2hWhqUm57u4YHh3Uli7pjH7rD06eipQtPiRYuK0fNlweEd/d71giGQefuNv93clzVboxB7VyVmp66Xjg+FzljJA764OSk4vGkZg4hz3oMxZzW0TuWpcVFYx+1XJm+B3WmN+el2JCUYERYKFKEJn5/QBSkZLbqyJpb0kaidYyJJ4XBcwctsXZSDE/LRLRut1PLEXxNlE2J5ha106d2So3Dur5e1LhRoWWYoLhN11qKFtqau9MWA0WyznVZQBczv9eJcIu4bVjctiBv30XatbBLWPOyZjxaTCD70H9T375HdfEZF2hqaECdj6L2c/dr5JvDOv9PntTvNX1VQ/yh2pZ26zbfb+rjX/+AYu3XaebqXXqybU7TLdPy0Se4VbZnRFdd+ruqa2gUti3n3LPlufJK2X6/rATiJtbty92gRynWubu6xMEuYdfJQKxdza4TUbBHmZ1XLmiScZGdcdCxdRdoikY1bANt3AuyvWj/bzmiDvX2X6m8VPO2fS2Sn9Ke++5WuthSx7CttllUZSHbcfTUgY18DPkYMMEsJkWlZU8Kkqbf22acWhaqbURVvVGxa0J4llw7vSVsRw629tcsipqN+KI9WAqA5hLIGsL4GeqQZdkqtM7U9Q90aWDS0hU1lhxsOViygxExOa3T8lFX37y44rBya3L1QeuDSlyRFJ0eYduuyazHfVauYNxwsbFXtrVH7MmTzYBqHI9qsWT3elRUYKnNY8nC0m4s0w6OR7N45Ni2jMnaL2OKQ9i2bNACM5rdKSagFNEUUMaE6Ew5Wlxb2P7cHcTHHs0TkDHfbsRXmd1Jt+7ni4q7AZBDkyhnC8LNA9q3Pids9vUVWGjItmVbtmLJpHbNzaryqiX13PV+Q1JzULpyuxfcpXxrRHYB8tWMKAkK58aVm0wqBaqZQfmH3AxUBMS+UoO599SLimqddCe0Arrl8Tcpr9Rg69eqquSzbfn9VYp3XrQ5VzHIbLM3TBwRUElOjs466yz5cqZNtGEcFxKbp9war4arGzRsDSs887gOPX1YoStj8ubkZkUwerTO0WO5HdpvOsHEZL2OX9W/fQKdjAQwsLVNx72CcvGM+30wRyfq2uRY6PjFYXFh9JR7BlKodB4NkqszyJMFquFmVTAlD6jmNmQ5tmpufzrrupDOO69IXYm3oRDJdChPjq655rOqqakUq9eLYFSkT+ji/YsqTCR07FbkKWATkVzqpls0nyqTcZ5GT7mnn3KVlnxYfVXlWqipUe4YymmuU7zoNHVGomrN5gpyUEEVitKmFWtIFx9IK2dPUst3o2h+QAW7czYFFuWCklE0vTKtmwJ3yMpNqSB1l8hZEhcvqOaGPHk8RaqsSIuKiFLJIsULUO4kykslle5sUEFNXAnylYtfSSuugpqIyK0R9Sidm1Z+ToFsGgR9wjqq4aYjGklMCXYpWrlHBXOPCV9EfPxqcWKvmltQ10Mo7kENBJTMz1VVemOxoBEDUMhFNS2nUlrUg47edJPsYFA3nERHPQfkHIvJ5ErYPMjTnJRjOzo2d0xE0JWJw2reQj9upFodFwd08JI+BSoiyp9O68ig+c22LF1TM5LVXibKv4DN4ApCrKO+MuMq7GsT5b2quf12DQ0NqQB0sduOk+dPajoyfUpZ2mtv1/wNlo73I8bPFxxWIFKp3LaE+tJVarjkhPYtLCov72lxfEAU56vCb3Kq0JxnqL3detqASfvFgbgbF+URpNyyu+bJtE+QUKQNRToQCRTwb9CcZL9nAUdlZU36fWzkT6gB1R0p0MXeTDusKDtOoT6EBmK2Mr5NK99Rdf1Wk/U7iB8Nrg2qjjrBkmi5zCUKnVY5NTp06BzZrskxyT55yZOJlN+KQjy1bxUXo5mZA4Jxcckz4sDTomZEPP1/IU7h1NUO2UzLT0AHhnzi66NmgiueEeX7BSYT0UaHqxD+a8yL+se12DNgbLY+j+Cg+b/DONkODNwvXwbt8QFc25lxqh1mi00Pk/loI05iSIFAQMG+mFJPHdOHdu/R5x+J60MDEzrdOV15Q7XyUu9enxTsWu90I1OX6+ryR4QzJgYC62VKp1FV1Xto9HUJCrrEUDb//pD8FrIOdory9s3ne1E0YuCwhRSqkkoxglavvkpXMKoAaHDwNDm2R08//fRGPdhx7YvdqhZfjkp2Yr4EQbNyaNM3O2Pak3Q0sDQqgj5xGN1goZIAigyghU1wvoDMTqB3872KWXc0R6yoOnrHlK4bU1X1YcGQiLeL5iZ1Rbt0Z+zjsmMf0+Gbp8VDj6h29BHl821hnxSD9bLSrfLfvaJUqlytxwaEDx0+bDjqiz0elXsSYuwxHSu6Rj4rLE48JcamZF+3W4+UF8vvRz09yGjgjaZ8g5j+mMYs8OsTyIRaMdQCm96n/7j4YL+wHFH730SpsZWnw6Nqnj5X+C0xZCuDHIqQiZ63FcGriUqvKMxSXlYQYfTM49vnXugf71cwNKNj3krh2yeI6uTJSdm26+PymgmxCfc93An+ykmfWtK2jpBN4WEJBvVwNF+xQ/epgh5NBi+V935Dl20FLJ02sgEUsDHQ8rD7fybRzwF3XGMHXLhjqwj9legaU+0NN2i4r0+1eJVPRDio9OFDKut0fQpUiKUBQ6dxzrRivWa3sWqtKhJLaO06W9QfEVWPicKgUTpsU47JEVRS4tZTRYUo2pzT28t2Nv7p9YmZfjYodraRXkzA18YxS9kxRd5AQB4MbcYhjM8wM6dsf8+N620bDbwrQEO2+NTLPap2EyY1gO5gA+K96EehjLI45xeJkCz65c8GgLwtSZ+5Vwr0mA/lh4cU4P8Pi8IEKM1hwZKah85Uui3DeppBE21G6QxfaIk5g4Q5hl9T9Gr4qszEstFAaVBzrt+wOILhKw8hg3G3FcBAr9YzVlmWaocOq4UyzYNSqZRuufYWHY1+SPbZzYr6fYoG7PUKL8UsPICIWqLdlMmPX8OTwwqVR2W04Yc2yp7F6PqfkeEMBUKNmaR2061cztHWsPWqLlR4M5t2Dw1elB8KZTFjnpRlOTr59NN6xIcm+lC8EJ37zXsUOittSAV3LItHhaESff3qHyk/3Siv/x5BjphGAz0oeoaZaM6lyc0JMCw4YgY8126+l81G4pF4Qsw9JAo7RHWDoFVx0mrt79H9DxzVyod+S3zoowpUXiUSUXEiqty6sFpau1VKSH3pQn3g7rsFjpYYUQCfAgG3zhpmRPsJNXXcqavyrtVwaEZVX/4DFZU2qMM/qLyRj7+rNqgH5WELfC6b5pZzmrziXkd02OKqK0RZhwCVX3tUA/ceEoGgDDnalQKzw/WDyCvVwYYhHadLUCs6OkSkXvjNgn5azdZo+XZBTBxAQxPnqW6gT4z7BZZOnDhkzBqViD4zGR7dUs4rfRer2W7U4f5+BbfAovfn52vp3ntVkdejmYaLdZF/QrWgrjlLFyU2mFmLMWluLcyOYQ7TL8er3XopPCzGUTnVKuFhwYKGw2Gd7vXKQKk/ZHbv37lTLGYAD7YY8wofqj7wy/qd685Ubu4u5UXytPDAAwrcWOSO84BgVcxZImHq0OdFtr1RTxGG1Zm1YxrCpWLpIStexKd1zdnLjgloYLtFJaJM2l7H69VFBw6oFqNUfhhk4dd0w0mVbOJBMlKYRtXVOYK7Nt57C5/XO88H/ZoiYdCQFnKGMwG8TSIvIf91fSJk5qUO325FLANGyKQ3xsOOdOQZacXMv4enkX0JOsL77Gje7vP7wPf5LBZfwtaPePmVV7H32xxPHAHegGn4QUnm7Bi7ng9i/3YMKOOzvMn/5lm+/zngyApEvEAasChLQ9Xzr8Iz5srUvgM40RjweeAtVmuq+LWhHF7NKkv8xQjPR2v4KlD08sv84y8/zaefv4K3Pvr/8Pyrr1H2ylu0uec+SyH/kLlwTfCT1wB4kwjf/ZslLvnB88BrwE/xAg3AT/j+xsNOFgMz76mubF4x/zwHvARfT/2Qn5X+MjhvQP7GeY3JGOW/GQLlAV7A4Wev5/Nizku8zusAXMMnsHmLNPD4m/B/fgiv2vD3L8Mbfyj4s7cryRvAD2lLf4pYyOb1RT8E4cS/Qu9beUQ+7+WN6DH+/uwXeMX/CvAs4IGi78Npn958q7fALRLeFyzy/jJMqL6O2GAPYzRSRIqf/OBZPn/j7/F7V6zBFWfzivPrBO5o5fC/P8+riy/yk5/8iBd4g5///HV+/ms/ZJg3cfgOr/Emr7wSNzf/p7+Av/1Dfvr69/nDt77FP+pvKcz7BhSFsXZ38sraLxEm4/bb+fMz4BXeAl7jDbcmMp+1yy4j8JIXfCXw7BH4yx9DTQRY49/uv5A//atz2G0l6CBC3pIfz2Vh5ER5NR/K4x52/ewfCODhBA7Wj38Mr/8M3nie+P+EX/9/X+EmoDQaIxwOAz8mxGvUfbGAP/n9L/M///Qf4FuvwtgoBYOTpkD/AvwZvD4Mn67e/B6fOfAC/1L+Ot+0LF61LHPQBo7Dd5+Dol+FQMU/EZv4In/06r/xXeDHvn0kiv5x/R7fpZYcfoUwESxcuMZLIf79uRhvAcXf+ywz34Jafkr1JR+BlTR/d12Mr/W+DrzISX4H3niT4Q/cy+gL/7zRIf79dYjAs995gKt/+yf87IUf8KOXPXzlgXspuPvHjPMq0Ab8HfyW4CfwKvDaMLxVsrpevtf5Pj9C69//GPh3MN3xDTAIlRzWPa2vA29uafAE4AcseL0A3iSd9eMLwG8AoNdf52tf/CL/jHHuPwKIN/lG5//kOwWvbLrlXqC7DO5oegGfO0EdcETs2A94t58gkMMP+C4/x+FNkoI3vw8vA/n8FApe5dV//SG8ZN7tx7s8vJ78PC8BX87c5A3gV7e/v7+4mMTMDH8P/BHw2W/AWx+GX3m3BXyvO4VZsqFOG6vwVA9Gu7E3cP6DQ8bsAgj7iGBKtj0snKyo1mWEk7GTufTEu9xV3bZVgKVvjqGCTfwyZ2k9HzFm+/YLz6DFRQSOLrVQT0bTTiJunxY5OeZcUJo5tW96B1vVFmq1g+K86/Trt1+kUQzR3V2LufqaNWUyIL1rcbd4DUbb44Poya3QsdunxVk5ZgeUHQHd2CLKysTkTSJeIYjItqfERzbO2eUYG/GuJ58Ui/uEN6ACCjQ6/01ZsWlhbecI3pBwYVQ3vXSzClryBDMy2OwK7RodNeypYOzh2WWuQtycbc/sF9lBSDE0NGSrfGJCLcePqxdbJRlNz8PGzsey3D6Sde+GBpNqcnSX5ijTA/ZtyiEglnZtPq8LpfNL1GP36WIuVhllGpmZUndvXG1tyLF3hhG+nazgaP8j0/JHg3KOnyVG+9TQvF+NjQsyJrPvCD6lZrpUktemW2+/UaU5HSJUZ9pu92my7C45oCVSmuZOxZ0zRGCfOiY9aisq1FUDA+qqq1NlRYWYslWaRJc48/KwX8vnY3bDi7Xavbdqk8mim25jQsw6NtY/poK8Aj3wwIxycjI7bEs4izovFNX9k5NK91jqON/WUUxOCduy9dSup7Luky8bQ5i3SCbWolQZZtqCAjQ8hJpa0LUDObLnRmVZvyXLdkn2eFK27ejj11+pxWYXRJDJ49FsqD36h4dFNCpCM2KsTxtUDduL445l41TeOL6PbB6fXTJafrHgNhkKiHmtswnMYhhXwewqkphdxFTm2lOf63XrIPvYEo68mXG8Q15kPMhx41HeS78rBF1mmx1SnA2fSQg0ZhuTm72HrB2RJZylLffJAp2AKjFEhWAC/bal3Of/kvkoyjZ2Nj/idIwNct9VIm4mi3AYeT0InyMOX6RQqE2XX4mS2VmKcjEZtyIRtWU6ZxKt1qLalVGlqNAUW+mPT6Vf7p1F/eMx0bio1BkolOEa8rSJyaiIOKK1VVO2vYErdxuilr3yNyQV7EGEwkrNpNSH2a5emevoMNFNNBDvLMc36iWEKES52Xb+MOJTPaIsotZN9ekTuLleo1ETrRr+kMavPKay7Ny5R9uEbaltbEz8QqEIHZSnyKPjf1ao2O5h0dLztuXzOyE9c+JGtZQ3C65SCUkl6NUHr7paZcUm8rFyslKx4qw4gXRIrF6uTDJx0yGzTRcJwbyGWie0MnFcjeWjys9dlO1Brfch3IA0qqvF4Jatdnm5/PVNamjoE/F6xT72AdlR33qwWModSFApyr8uxsbcSSFP82s9KipbUl5esQ6soAfeUzsZuZjjOueRAQWjd+q4Z0x2jlcLZ35IFYGAoTaI9stEhnuEg3oKe1TlRLQLv6ppVKwc+UZXdJiQcjipaP2UnHPmBTliHJV2eTXRElYXJsF67aHdChemxB22CMU0nhdVY0+V/LnoqH/z+AoR0qOcqcxEnU6jpXOvVFl9s2Kxg7IsF9VnW+LomK4YOlcjK4dETbvYc0JjmIAmq97WRQMbi0IpburK1u3zTXg8ZvwGBlDBNY+IEy2qPvtKDa5muLNy5WDra8cPanHRdXZWYnKDBN+5ztu2OXYctLzsUWR8zTjq3eM5ZAcIxmTMNbaMiTfXPeYqIFF2nsR3Gg+gD2Im00zZzuND8mVo5JcxQYXZ1wURj6LjFch3AN09/B773cEd6mkSlZeg0RhZihTiWM6WczP1YL77eHcU8e/m857NRy8ChwE4gkHUA5YfPIfIfw3msAALiPLii0u8/gZma/ebfwCev+Pbvw++j+QQCMAYIcrkBX4NeAHLLTkWfO5VeP23v80b/CvfX4K3Ytml+F/An6x/s4Gal/380yuvssiv86zl5SUraH7UdfD8YxCJgWXx38NhfuDxANCLMQ1ZfI1X/+nHvPyXgPMiz+6e44Vl+H4kxsM/e5PP8jzfe9taCePFIbj+/ZPmz6uYgIbvwc/eOAbAJNB2UZLwZ/fR9GwOXdm38b0Oq79JHrDn+efxvfkmoRc/x199cZB//1nZxnlfvQhkE1+w4HPfg9e+wBv/8QbWJd/D/rMX4Z83b3m3fnIES/pd0PeA38YK/pTcM16DGBtN+k0Lvpt10bMp+Br4Gn5MoAfzYiWvw0TmhJ9D5Fv4nNcIBl/GeiZETp0PC8iVn6Tj52gE+F//C/7kT9j0efVVCL2CddKCyv/Nc9//Td56WfCzHFOW9RMt4FNY+CjoPR1fvZ+v/sY8//HdZn70oyBf/FUTNgFAFzACrO3Gd3KY4GqfsZF4ciAMfmL4cYAoj/FJPvuVV3ll4Qt8MmzBzyHwqVFeVRvMhvEW/SVBcoAQvAkvdS+wFku4yE0L/g383/5VPs9LvMCvI/6DNz9VBrkj8Nfwf/69gN+nl78C/hGwPv91+N6z8Btvwb7n+PmPLGLOSexXc/m0fzP0/CVe4uO8CrYFR80geP4b8MZ/wHPPfQEpEyMAfPrnfHLxo/z0W1+Hf/Pi+1aYNPB3wGFLpOxPccrHvC4Ax7IOh9+AF1+Ehj+F1F8a0PPx7zyG/jZz8jxvOnDG3gb+OyYGo+5fYPZy4OV+MBEdO36sbY59Evi1X3uDF771GVNRAPh4jiDrUQBLz0E0A9B/HmMUfA535jCHtsHub3wimBlj4/OqD55+sBfq69fL9tThj/Ga1zW4mOlpywuE4A9O8JV/9fLGl+Azz8d4T58vYOxFWz/fBL4DsedOx5L71nv2wddP23Lic2S/6GubbudhiTBROoAWAI5VH+PEE++ybO92p9ACak2gnj5bzjo1hbsCRXzi0RkRj8seHHRXuJBgQrt2IY/Xo6mFKZFA05OW7q5eUlsbsumXtVx0ioNollIRaBR72wRpw9a4lZ54knUnp22juasbRG2jHNCsdZawXaRMMi0mZ9eTzw8NXazOwja1sQ1FQQJxL0ZD9wXE9KPvcuUfUzmpjRwN24qpr25Q38FzNMG0LKyN5xcg2meEc8jkqQBVU6YbadAChsSLsTERDIqlg7JsR0/seVIsbNTDPXOjSvdHRP3bk7VFooX68l13qCVdKPi66MzRmTXo1g+OKrcspulp5Dhd2rTdr8oVNwyp2kJtGU0sQ+UARmObmFb1iq2u47b6LhzQb/SVyuegX9jTpJzcBu2e3dBqJjL13WPiKqrTUXH3LhUWlar1sh4XDrvs3rtCGV74AstSj9/Rpy45psnySQ1OfUCx+OOCts3vmSnbtK3KfFsdGRNlwbIYdtTEouqJycRmzGrfyqT8e33i7GV5+x099qFbxEKzsEdUuitfPUxrHQxhf1DOlsQr+z1ofgolWNIklinv4VvFfo9oLxAXdqsOw7nTD8otxSQschDkaW7uFkUiEfEYp+RNnsUxWqFjUD593ePKyyvQBFlgC1d+IScl/+67RXePOPd8NdOgUko1h6XPZ6WMLCBf3XRuunYzJY07tkCx4jkN32HLU14uu8s1H+1xZIPObVtQdYsp10Bhoc5ubRXYms2G1YbYoEN5z1KpAB2GEgeEM6rtmHbfvUzLqEVbjnttY9ocwMCK3zaHOSLgF9O/omV6zHwxvfjuy1CIaN3598ICdFPbgwpmYl3sYWGd6vDeWVrkcKnpM247OJYjx/s+m4/ip1Up7kfJPNReWLRuvzKFtg25XWmpOHlSkKOKtn5ZhwpVVISsQ6erMPSLIpUS8/NZHbNAqZaw+tJl8uDRCS6XzaKKToRFKEc8FlfVdNBMmB4zmawnOk9nTUgWKhzH0CQfMMR3fmytUaEAVeovKVFBvk+JREzp6XOVLA24uQGSmzuIH9GHqlpPGmhh4dB/ofNtlSpBuVI4eui2LYsRGHjZeWkRcmTQHZagV6UVM6rIvGdBgXAc3QpyLEsjTz/tDpBDChYH1fHVBc0lizWWCUDbqdN5PXq1NF8thFROo0aw1QLq/OAH5S8r01BhhRwrT2QnjSn2iTN2tgmvt81EvcGdxw+pqLlVXq9X91xz80YuhprbZU8PKX3Yre+kMUlWFebpsrsvUzDYpvhtnxWRoCrX7x8RxMRxdN6ucqXnpvTxJ6bVXVSkFGfJy7A8bE5onplQ3l3bFAk7LdK2yEVOl6V7HltSvLxDgGZG0Gh5Oot87mxBgSrYaEfLQoWF6IS/UVbxFrK8QJ1IHFIMFCGpjnO+olhjmbi3QgRs3Vjs18xsUgniyh3OPSVuZQR3kjreJujQkSSq8qP0tch2zRo26FYqdXvFFTpiP6SKnqDGz48rhxyFCauM/folrli/Z7I0oKaprAC6YrLiUsY26i6OPKki5Wf7l1KIu26T5Tiqf+AjinWMCVAwmFI8bqDeRdnvH4+KC1f+y2OoGDRzeYFI7hBUVsg7IO/Q/v1u5rUtx9fjFFIILzv0JyP1oIGoLb7QKCqDOmChWKHxDyy552RQTDXusdy2NoNKAxGMaDWev8Xcs9FXg0F0XjytkKtIFlsp+U/sQL65rfiVMfPmZpUJ3m+fwlmP77h6+vx+La+tKZVCM9MISjQ0dFyOnbE/hmWiPFeFz5LjQWFPSE3D16n+20md0TSkgGu/8/lQ0IvWPMiHV6O77HV62AiGghf3RTcgqch/BJP9C7TKEZn4gEHlM6LPdd+uwYZaVVSgC/Cq1bZd7vpq4WThoRMhced+jS4Vi6ZHBU/pENtM4P8ZWZ0RjOmod1jXP1EjrM2NXI6h2N58XZ38Q53q21LvI6A529KvPP20TA4Hn1rtuC6/+wwtF7Rq/u0mQz8Kpy2d/8dhxdO27mGDdXLggwOKlkU1xJAmsXUFWcnlkykxO7/lfhsw4kg8rq65OdWX1Ku/cUDQKj58qTz4dZX/CZUSl4ne3K5czUoH+3R3b69s0vL4bhIENLI+SRmI81gzKkqsCjzi0AkxXiT8tjj8OwqEejW6sPVdR3Qqs+vqNs9fNe/iQ/5cv+iwVXbVJSovN0RvoyO2GDsmfJtzUWQw7TZZjtDoXvk6Ozf6jBdV2ZmsdR6Bo46OqxWLVYnBxzToOaLayy/X/Pi4WluXdeVvz8veslOYyTANr4thElgdQEF3bFhYGmFYzOWLxfuMk/X8jWt6LPTprKC0JKiJBa3nku5g22RZlCNKc2So2t1jdch/zYflOOiO44461mHV+WI9/idLIrxtZsOdxXtK+/l6kZVli199P8YmyOPxmzTD+ARBJTigO9l+Iq5hiyN3HhF1tMl6EvDL63d3Xz6f/JalQAD5fcjvN/W0scuzxNtA3vtBsW3ytOwshSKbay1L3t9F4enzROUOmmIkosCjj2rYNhGEBpVypmDJeP+PrgrfCUUIqnUO1Q2iu7sseX0BEUEOlvrLg6IO7foEuvgkOr6KfAyJK8uM+QjjcMpsI7OD1zygz4FKg0HR2angYKMyjug1UIAVWVxgOhXnyylrkTOMDndXKl2XFRFoWSIQkElg0y8IKTjA20cxb9NhUtv9FlwTLMu71innlgtkzBZZgxZ0PshoDJkyeUSfd9vFOGBbCj/9tPoIygGVNKEbrkRHrX2a3wFlgY1YRbGcAl179zdVW9+m1pra9QnshuUbVJIscesJRbLyDGNXib6bDWFZReaeWUFZ0Zjo61PjyISGDh9XXd2Q8kobhONR/aGTKqFEcMcO9eZRTjCmg52dqqBCg8vXioBPrGV+bxS0y0+jRigy9eI9LDyFsq5DA2f0KGz1a3FrME92UpR12S7JUFCMHharI1obfNTQt0z+mszuDkG5WP6wSaySdV0MMymVshGPEwFdS7sSzMg/irqvQsdKBk1AGB0yFCF+ma19SD6COh6JKODzyapa1mTjHbJo1ToZYA1aS50hMDsxE60+KUjrYU51Eo9bC+oNPGCcvpMGlZLG7GTOmNo4L4GJxH47OvQNGTyl3tbOCArH1uBpt6mLvadcM5j93eIdA622l10yGRg3ji10oWjWvd6Nc/WdJaju7vtVW4fM4neh+glmJdvZLA5b8rwHEFabMsitQRCn3aP+hztUubtG9rW/otWctJ45Gx1YRJdckqeW2hodoEqD1Mpqb9FKLTpUh+yuTH2bew+AdtOuRHbyqHcUR3T5tq3z93dRYEwUbKBRMuk4m0CnO47s6uqstHcJ98Us0YIO/Q2azMnkdjWIn2h+vnKsZfmveUa+NXTrr3WL6SZje0yjtcvMrsGgTGY2vVgNaIjDWqcNdisvmUqJK69U1TPZKfiMhNwBOz1drJKSpGxyNNe3T0UNA9tU6he1jiC6nfeEZkjDNsyuaD2vxNKSCo6dGhLfU16u88fHZbStXIGlUOiEop3m+f4alHtg43wraenqqac1yJo8+EQdqjwd1XXmqbT1nSiS0ypp/XNN7+nU2WfXa5CYagnqUspVeIpGYrllCojOMsP70pYW+fnCf3KDTtofEJ3lqk8VaqCgRg2HUartGnm96K4rUAK/oEL52bTnrgyBxoMp5fVeqZNUidSfC3vDrNdMJqd2s0ZZFvZhzRz5R3V1TYmLUfs+FI2+3fu+k5wQ1Y5wqnWyblrYSbXNHVV7uFywS7dRpBFWFSV4yiSUS678BXW60FpRNGXrnBNelVtdglZ5GsOqqjkoP3XKtSxN7MlXbzuidq8oKRehInHoBnGyXKw64ouXqnbiw9pNhdK0icMj2luRUkutGehlHFM5aHUVVVSYCN2tUMg7o62qP7BbcI4AVRNVEUHTh2/fOC/JNhHdO0g+tTKTpQleHB5GH/wgwrE0dP+0RjraBMuu6XijzRLv8v7vSSrZCJh8n8SybKVSBlZrgU6QryFMcF8ZmEUtPyJjak5uyc9RkNUXDLS1DoRTK6o7REdalIwKfKp175+fH1V9fVpQoFoKZZWXqr8QDRYiqxKRxX9Vm4/YVybyNky5fvdZ273LGKiiGHHO9vX0vi4Kix/s1P7zNlLTGWeopWLQVVjyg/awX1i2WLhScL2wPcJCAQst2O1KUKPxSUvTH1zQ6pW71OXpV3qv6bxYzcKq3tDswgE5e/ask3OZycloNRVl5erq2IBd2qB99Zi4AAuxbys/iK0qrlR9uEnMWSou6VFP33k6gsFwnzoJnqo97T/lvHchWXj8/VnwsT02bl6JDRKt82CTo3piwlJnp6WmJmRZjgrSlrp7DKHXom3LGbH0kc88rVkcV2spkMOQ6tkazr9VbEFEI4MT2t9RrLM7OmRiPjpkc5tqydE1mEX1XJAxeewy9TrqajI3PS1uXlD6A4Xq7+5375srZ2hCVqJcltWqTstSoTMvn4Me22sr5tb1HraaoDARt5GoJqfcxX96Rvj9Yr+pp4WaK0VTkyz6tJfHRORiHf3BJzU5OSmmbE332FrtQeza+b33wtvm0d6zZ498Pp+wPy/sITmPXyxrf60YGlbp2R9UN91qsVBZnqXp2x11f9BSU9M+9TCg/D35mvZOKzAbkGXlCoZVZaEWty8XgLo9jhp3z6myAvHSmLi4U9AtuFpYZ7n93NYCWZBU26/O7lmVnWe+17h1NXDlkFLN+Yas0L/1XUKCa9YnqxaaVE65LAstLm2c1w66yJrV2zptLUvQqN3UbRDluf20zNovG1tX2k+pwV6UY4/JsQrFfp9YuUHxxUs37xb+b0kZxvQFystDI+8VGgryeizNzZqx4eDIYo92Y8ubIeD0InY3C6dT2CPaY2XHUZhdkslsaMu2kQdbFn5tVWYzUlSE2ttPPR4GzQ5gfKiZ43sQ02xK+VqQRt1bU/pu4UTayeT9vi4KibKwEv4NLTJGTEssiZwFUZKxhyVUQ60C8WrTMc/0ikZ0zBfU1WsPysNZiuVYCpQlFAplCmrSJ6YJKZkIiMuqRG9IwbNs/cJF+1VxfYWpFDKTFzovPazT676mDZu2pXhZ07pPgeP3ycHk9l1nq6RIOKXiwPXyTdYqsnevJgoL1Z7Y4tUvGxexMtls1qTes9bjscVdR7Ouv1hQYhJ1ryfk2NDox2hxy+zWb868nPakcsNh3XTFh0Vsj4z2d0SXHDsmx3Y0Ova0TFyDT8WRCj1WsaRaCpTaMUjIFhxVTo5fJ75ap9a+Ks2tt51HC1yodlI6gU8d1KunBZXSJArbRT2y9qLjAUSoREQOypv2KuIShSUCjp6oydH+wQEtL6+K0XPELfuE16f4nXfKIWPqOH5KuVKg2pyQlpb6BLmG1sLjMegkUCJQJEIhTTGlkvIq+SZiOrOkWIGAXxxfUOCjdyg0Uij6M7mtXWne+D+O0fpydmivoXhKXqtJ3Dsmx0H33pBSe3m+iMXUNb1XYcJiAOVP5OvwuY8rUjaqYGhaYCmGyfbVmHW/QAMK9Zj/oxifUboL5fUjJjvNrrvIPb8YMe0RHNlwyPegwAl06IwhHe+qlpXVH2eujKqo2Wt2adbm9/XhaqqY/9fc/+06S099YoNZ1VeKIpO5p0wm61JcLKanZcxGRkttPm6uDxcjX67puxNtezQ2NqfHlz6h67hZJCwx3yf6t2dx/a9LndYD1cAsii4y0dMR1olo5Y5tvL2Uy8ek1mhUXu85eqL6ctWT1BXhNXlXvGo5gepv8Khs9pNKfmRM7LeUqLtXRf3IBPvlyLHQ5U0Fujz3cu3d7+gjHH93C2IRmyZ7G5NgancSlVKv9TigW9nM6+RjS9yEtWlcFYMudNv//+qiMAVqLnYU2h8VrCmGGwVY0CWrCUXyAsLrVS9NG7boGlzWSEf420X+hSIcEd6kIn7XVnjM+ASuolM10UaFG7uVP5ZSgIAgqGjUowgR5WShhHalkyqvL99cKYWdG4MsOiEH1E6ZNtskg4IbVOYZ0mhwVP7SA/KlDHNkA1514zeRu7lR2bAZYfVexUJ0oihREULHnISwKlUXGVeha3vMlq5jJiK2H6PRRixLF46fJz+WBqsiIpUngoOKDlo674mjchxbTz89oQxjqdNYpOB5UyqiSmnK37Zsth3SYuekyiY9CvwaYiIgurw6HN2n4xcs6p8PP6kmT4cqHkKVdIrS3vX8tOsyhkpKSzTBhPkesrW7MaymiSHVHz+iA7NtoqZL2D4xdt/blqcQ1ESBjnKjvLUJpa44Jsvr23xe1BaPLojiCmHlyD+5Kl89Ym9Y7C4UgyWiNWu35cdN5L4hlbAx6W6RpwNHdOnBPtHVJTxo8gsV6t1dIZhW/+yyAoHzFSAkL8hmXkeIm0CpJXPPWtgSJb8heSUlah0fVwl+tUR9Wh1vEOlwVt5qI37QaVF3p5D0ivK4CBwX/V55HHT/uea86VpUGEMrKxEFg9am/pZ3+Fzd7MnduO+IX7R4tdpsa/eTT7kTSGRzGY8ccXcFWcccFAmhAfzqcifhLpcLbLAC3ZLMKDxuciv3ugjICpSJ0/O2rYv/qoTpl72tXwjRFRXbUI/vJEHM3OPD0Srt4sly0XSF8tlAOXaBWlpQla9Y+e7uK0WXi0yqlEkmhIo6ipSOpg389p3grBkpwzBGZx2rqUErOaiSVq0vClchyhoUCfeIR8ZE6Q1uG1qyMUGG5LrMxUHkeOPqI7jhyA4hAlEReJ8XhX7QjY35mrh6TJOVHlHl2jPLkG8EXfvZLhWPVuoWsqibOxB5hla3/nC9Sj51t6zpWU3VXKvF9lsNwZsH4RmRZ6JDBw6cpRl7WvfSp046Bf1aWSnVPme/Tkx+zISq22i6gs0pHW3EWWwwYV60sklL3JB8wT2ySork9HfocL2tiRKjKdllNbLrMoylT75Dg55KFbyTLLEkZ9QxVNQRr4499IsaYeyU86Y9CA/qmDDmn9kBW58//SmFAiHtvXCvUrPtuuyzX9HajWGt3uqRY1t6+vABwX7R6lVLOqVLnB5V06wWGrI0lTGxBUURjaZ1yw0/V1eqWb2+MdEyKC6r1O7dXg2ee5O6Pd3q6EB56awyHmBdK53AJEifPZovpz1De1Amh5tlTVryH7c1eV6L6CuQ46DJpR0ghFmSJqy7GVNZeVq3X3u9Ar5sErlyBUNDGp66R9PpHtF/rjq+7lF1ObJGpzX16fipfp9WRO2U3p0jFX0Ej066qB/ba+vmpy5Si90kcFR2Rbl6e/9QXeSoC9SDs0Gm9zYTQIAJjeBRkWVpyHFUS6s6yuq0+xuIJPL7TXrbzPnNoJZltz9TIegRp50lBm8WNqo9ZGI6eulSHkl5PPu0CTYMmoxeKP/wvVkTZYeordYclhKeVRlz0RbHsMcj6BUluaJ9XIx6DGnjCBqiWU2Z/BnTc6Z+QL51xJEtQra6Lu7SajKpfaBAF4a6/l2Okfciu9m9vjvdKnF4h1ihzTIM60wFHhCeGW0lqHxPsoyJn0r9J693JR9DZrd+zEFgaRFbXr/jIhf3CMLKBc1MIc510/32o3THRRrpHDGKXAViHNG7Irrfb0dz3rBGSp6R1TqnkhjyxtAZbOCR4zWoaqJCZxQuKo+E4kSVv7aixtp6Tdgp5bYdVSQyJYvNTuCTIKxLFC8+qBi/LuYXjBMzc04FKq46JO8ze0SJsZU9vUUTLgZ5h1g3H5Xfx7rp4ZTOX1Ios2NIaq4a9WR2FxE2nKYMCaZ2briTJZu/p3lndMVJRCSkvY/eqU7Cugh0TdbvJeDSjrvvdI6t2667UU5OWCW3H1IyEdRMe5485cYUYRWjkrvKRdkRkfIpXhtQy0yecjBOxDSoJYIKugZUanv15GS5nvmLQ3qm57f1KHvUc+zfFJhdFh++SINF+aoL3y/LslXeVi5vHHVcNq3A4ub3PBdjIhkEraZSKrluWFxyicDAh4soUM8kWj6OrkkuqzLULK/H0nXHymQWph2S3YOCeNRDocIMKO+Ks7dsj6PyBJIq7C1USfCgKLhUfPiIURI+sF8lJ66Qg1FGKjbdN7v8IW0PRzUyU4putM31ju3R8Qt/ZR1XfhLEar8I+uR3B+3btnUhwoccilWYtSjlxLsVzWvS3s5C5Z9jIJBFmf6HJcOemhU3E0Hcc6bKQ4eFhWLlBsSQKjimQKBq22cXV3lkFRWK8pBsO6WyrN1IK+VKVKHVMnQvCA5qY9eQL8I+kVesVJGl5lPunVakpFN5dqeGO21NzwbEOWlxBsKDUm0p3REIyI9fa+uotCJtMvW8J0kq2+e2LsWcEtyXET87IP/etXTKMKfGBAlNTKR0yzN5OvpEvn47gjqT5Sr6Coo+g0odR4e6ShUMz6jn4J+pZ6xaqQfq1F1yhwJXBVTaWSHbrlAg0KB0T1o5PSg316sCitVT7lJqJJPCzTNSjlEGSzE7mOR/ovwZuu8bA8WazZtx4cSbz3k3n3dPc5H3R6xd/9to+rf4znNNrD3XTJpxII0H+Gkf/O+PX83HC79MkBfIjTxPwfO/yo/+V5g/8y0yGbd54eW3ELPYJNZv+xkAz1MUfPdrpPg0M6/8Nnlv/gRWg4aWoBxK0q/g+bKhXZAXPk/FpqIVA95nfeux8xW/C272y80f7xtQ+ayhZxj8Ob/b3cVf19WY317AcFB4Af4C+L2d6+IT39n8PQ12YJ0hYtuP7zNgvfYmv/Olv+CveYn/jpcns37/DofwyYvnu+DB4vxnHH75wbvx6EUO/813GfhJkprKH/HGGJS7z/zOX9fhu/RleFFY//wK9rd+xGudHbw8Mkz7nj18/b6bmf/dAVYegT+9q59zPvpjzkndyQ3RP8B+/uO88r//HT7zLf7kP3L516W/wnZsrrr9l/HE25j9vdeIO2/ixUtXv4eaG2z+0q3fZ4HP5efz3Vd/jOe/fxMs8BOhiHa+rzr+JdjPn171Pf4t7zlef8PiQ5+vxTRmUSZ76ikfK/Ym9uKPCPMv5D2WhBc2SEOwn+cNz4/5nv09viMHXvkWnav/RO2bNfC1l/nhi79MDnABcE1WykHf0e9k8Sm8BHxuh9Y5xJtl8OdBqD10iDd5g0/+433w96/D+Awv9w3Avw3By/AqFj8kxPZEDe6naC/4k7zJd/kewioCzwj8PPGXPB/6B357byHPfsPPmz4o64ZSUwNAO4b50/28BkNf+WOmX8oHj8NzV67wHPDs4e/wSuVLuJ110+fZ4kX0g59BRRzbTlFZ6WDbNhYWrZSTqIL/pwweBAzXQoa/4Yfw4mvwo++S+g/RlHXPnJwcdu8+nch3Xibp6eSPuhzeSATgbwvgs8Ab8OzfPcsHeI03PW/yGd+/YmguitixwTn49nXIj4GvbD5UCHtP30vUF932ilc5xLNvc8c8YGqH3xwHbOevMcypMSwS/PHv53PHOSk+e2EB970A/++P6yi6zSL6FR9BT5DPd5YSCsfo+bWP0lMRIPW3Hrrz/w+BrwYo66zEcSoIBBoo6C4gtwfKzvLyy1PF7Dt8iOK7fNy5+CRVHXdhWXsoP/gg7ZHbuGB+kn30MbEwztHhZbjhIOyyaU7cyO3HOgk+6MUu9oEH2u730TACC/OQCgZ4PRri84/4+FShePVnb9FiQ+PbVfFOn3e9UwCFo4UisCaIKYRXAQKqxjGmCh8iJ6xWy1aob81ovUFU1pmviTO6dLL7JhXUlchsdzPOrVodISHPbQd1VfLDuqKvW6HgnGx7SPzCfS6feL86nKACq5bI7RXzlh7ZskJ22LbG3IQsgDiyw2oaQeyfEM6g8I+ox+dTnSdru7ju/D7ynlfpKrIzRJ0qR44gf9jSyj0hGfqI7DiFekGxbu9c1owvpCHy9Ef8f7T9d5id53XeC//esnudmb2n99577xWYBmAGmEGdAXsDq1gkFpCS2ESKIilSIkWRdmRZ3VaPLMtykVucOHZOchLHdpKT5NhOcj7bkiVTpChSJO7vj+fdM3sGAxCU6X1dC5i93/a8T13PWve6135VNRSKiQoFTgYUwFUgjMqjqKh/Si3tHYr9wtNaC4/Lj6t+kP8g+u50rz7W3a2joZByr79egdyAArloZN+8OuxuhfoR4bgaP/O7qjmwrJrJIVGFTnwd4TgKT/6iwKcAAaVxdJdvVclT4/Il6k2b9m+/U+ldaOIpr16xBUHVNU2qb2xDIzktqnDy5bp+HT36RFbb9O9dR8m4OHZA/eSJh9tE3BJ45zaxhTDhw+XiulH5H/HLLXVlWX06fjwmy9OwtgEM6PiVBp//9u0X1kiwR8cOuzoRDsvGp77Wr4i2KtF1h6YOdBg0FHht91FtAxj2kNZVEdl29pc6aDyAsSG3oP2HUdpD1QVC27DSUlBxH8I2Gm81JqCxvt9DCIXrBKWiMyhyHZnARWM+asOgV472Fsi1D4ncE6IW9fQcUX392Nu8f79aWixFZ/ZuG8uyFAqFtttjS0wb9WFMSpX3VGpockgcGVV2ytZe9kpW83NQVTgotB6SFbuQSfDi99xOwnW+9PRUqL5+G16aA/pCHcrJQW4nWg8gE5djC46rh5NyGFR/f6bv95mxYSH60/JR7QW4xWXRZOpoEg1HmpQXaJeVrlXORo7ckoQpdzhXtpVUKBxUmIDCoaAigbBIRGSF0KadUDKSo/HcFZU5J4TPlf8TR1UwjT55xFLBAw9obfJj8v+LY9oYK1NwakE+zkfcXdJcf+mLwmlR2CT2vSg81sYLTY6lDchE9+WKVEyhplL9l+lbNN01bSrt6W4xNaVJSlROTP469HARym3wKrUB3fSe4wq6fkGjash40hsE1lbavIzcickYlfl+4S1kzBtI9YJlRYkqdCGn1bstt6OAY+lY3TbaKbV1vFRsRlVba9gpi1yfzm4mlZOXo7hdpyOHf01f+6Vhffk3b9Q3f+HrGv29X9eZ225V776XlJcalmW5agTZFhpNI2MXzVEtaDpocO2NjT2qsTrlb3DkhBLqPPItVbXNq2F0VBSi1HMI11Lqhe2UjTfCFqOsC0rmbIrWQrPo+hD+MhGf8s43z6SzSMx2KB6/TYFAXPmWT6dTH8yqi71pvROJhFZXV9W52anKui/LdkPnnzszo/S+UtFkiZqUARZYVeKRMpN5KxdtZp2/wYYH/b1Qu2w7Q+8vbVDkeL5ux8BgGxgxx8vLtfhMRKPcIAajyq9DC2/X1t1s0zeDysrQ1BRiETG63UePY7DwlZl+24Ua108Jy1YCVGQHReVVZhFwUOrxlOhMGZNABBMYake1SZlqQVfRIuq7zRiKIUr9Iu820y7kmDaqICvdppdm0m1QZVeOQl1tF3yn/aDC7PZ4L2KfpTAN6sOYO9IMiMCzGjwWUv3m9qJYz7vECpAlpzh/oSmkUPsuFLj5NtJPwY782D4HTbab+JcjtUcU9e30YzxwfEMhf4saG5FZHBuEN399sDGhMYpUB4KkLNo1Ckosom99sUwPVVYpz2mQPY4265CVc1ApN1dnnZheXH9Oo/eWao41HScsNtBp66DuSj8iOCEmfeKsKUMk0qNQqHmrPwEmKj2A8q5GBbvyOl/Gu70odNpKlac1ZJmgtMU9GgVvQC1ayzLh8zM6WLQs32BY7/vMb6t6usp0jtlqWcdaTSh+EQq5s/rY7RFRbTpPJeh7C5YiPpTJjnQx2Q/65azvL14wpD4iuE/Gdtij1rZWVVZXClAVVWohA6N7+2desJN3cp4dDzDEdf6ArP3z5nrL0qKnxVqWZZyL+yxZIVSdU637xu9VFag3FNLs7D06WHSN5u5bUDS2LhxHk86ELvvEFdo/v19+36DgOjl+R4vPLcksfpPbZd3SlicFUUWjUU1PzWrAKtVVdIt2tFRlyXYcLb6w7WQ/aB3cKl+uhUbHJkRyY8vhXFhQqL6+jPaYEEyIyUlxakM93b0qLi7WnN/R8eeyYhOs8+u2vt5Sby+anbF0fZml93aZuJctaoSaGtHbJGYdHbgG0e0TbfvFTQdM6kznebPLm8tql2a0XL38NovCojK71vC+uOYDT2rZsjSFgZEuYplUlgdLBHfLaMrlF7mfJ/dZWVHfxr/Tj6XmFlRdg8ZGR7WZk7OjD1ke+mfRQ5QAIog6P3+lbhgZkg/08WwqZcz7EmiTxRmRfR2I5WXhWxR3HvbKMiZIGty7Dx0oRPR7dZNAjI9o792PB8SALIRSp7DKhOXFmICmQMssCy+TGNaSJtgO5OzvR10FF+b5f6fybi8yRpa0BUwII2vWtN2oZW8xKVhYwkKWlzfGyoprsixDcOliFDTbQpCSzaBRJBaQM4qsdInm6FQAZC0ha8LSchwthpFvxvLGq0eWaeVo3J5Qz/PLavGeXWgVaoBhNTXdqequGnHfmJZyvMDBbkQxemxmWpdHIufV2bu7KERHlKysUfv+WtHYcWFHiG2LU7dufX+JlKywq4VvH9Zoca4WQSOhJh2I9Bltxo+OMqD9kRERatYiVSonpH9xHIX9plJr2Rtzm5E8dvIGvZS60Lkhwazi+FUCKpxCOZ3mWHAkqMhyphIXZTDIF37mqtfhG3d30CgiEBE1lSIwpm2m0SZhBUTrMdGQL5YWlHcK1ZCnw9PvFaXIn7um43ZYbiqm5KLHYNnQIGxbzU3NwndEnIiKjUd01n6/Pjj2O+L9DRoPJbXInBy/Tyefv1kBLh7AlvY7urMmR4MEdDUxU+anNmW5rhpfeGHrvNSH3qOg368PHD+uRze8Tt6UJ/paBY3yx/yKl8W3JjCqF0TRnOJ1M3q+pEnxeFqu39Ytz2fxumzuhio6CodPKZZCOX0oFfjQtpM5046hUhFrFznPaZNSY6o8jkjdJmxLTY/kGc15DTVl8jNHCpQX2tb8GrhYvl10BT69hyHx6KZyMCadPC+5+/PLXSqe6hFuUrvRPudLSiQXdzhD/ZQpzpQi1T0KlTarM5FQ3M1Xhs6khBLNrs6KeFZ/qkUMBxVtuF8ldxZs9XOzGJSLYtNXiyhSsikpmwM61ZJrJoUyRGVKdeTJF2lTU9BM9k1NqK/Pa1s/e3MdgUpKSjQYj4taR/ifUJI2Az/f3BT19cJJCnJlUaFGkN/vV21NrZZAV3JW7mBMHDJRtxnTWDyOov7zE3T906RCb2uGarrUe/XL7EyrRFNQkT50xKvzDx4+rHnPIXyGM+qs36fCgQHBCX2Io8pYTk49fEqLjq0vkdTGZZN65nSZakjIAjWS0gBjeg+WZkmoOCtBlQN6ATTuQ3at+a2OOrm4oskVJBXKY4t2owa/VkgIyoUbEpVJ4RbueJ9+chTK5mLy5FI+l+5obv1T8u2/YiwQgZI4P7jQeecEn/tbjloRouEFfkoY8PP7nS/xhzWdfBv4qzf/gr/82Z9AJ1Dg8OWVFb5v/SW89ud8jxD/y23jU85LvEEA+D5XATlbD5gFCnY88nVs7Mixre8vfv9ChYsA9+KSJgQEvufH/x+Ms67ir35K43951ZxWGoSJIAx0YbePEGLxvDu9hanlKDYhcnGqHXgiDD+z4PU74dgBGM+FtoyjLeo1y1vwD38Hv/br+D7n43Xe5Kvn/gAE+ocv89Y5SH4/j8FvP0EDI/REP86YFeep2++Cn30FvvAKxz/7db7OOZ7Y/AIEL+ctLCKRVzyKmVexgfAFayCCm3OO3BMWVFow/Ab8LAC//gXQWxS++sWtc1/76oscYInffuubfO0tj739L34Afx6DlQhvOG/wcvBlAGwbQnnngD/j9Z/9K9xZH7W1b/Em8IuvZiVO/czuxnmLn/zkc/z4FYsfvh7m+0VBGDwMVggyp75WDz+uJNhxF5+vt4FReAsi3/9b7HNw5us/wP8q8GWIZpj3X/Xzg9de3tHye/vcZjlBAZ8KwtNHfgqpz/BD4C1fhFnf57F5k5xokOTNSQi/BvyUELsZ+bM/34cffXtHrs8i/oYh/pj6n/17Kt78c6b+8R/JexNMrkj434jf+tpb8DJEI95F/68LfxnhFefr/O+vByF6iB+c+BjH4m04wRD8nweAYQIE8EV9wL/krf/8OvxfmHyPP/o+EX6A9erLRH9q+vhf/AX8yZ+Y2//wDQi+DF2RLhpzG5l/Bm4pAvxhgsEcSt0g4XAYy/53/Ij/xDcAPvMZIrEYkagoqHmT2ZkoUY5h2zbhSJi/B/49v4b1b36K/X9MOpFMhsyXX4ZX3oIfBy5YcZf0OX4wTCKWackQF4d3wHYiBoA0sG/n8XJgFPz8W1z+kgXC5P2Fw6t/YrJdngO+8NWv8vevvEJuLoQXf5eX/+sfEfjjPwb+LV/lT3H4VxwDPvf1z/Htc+e4EZd/9Uoet34pxGv4OARcjZ+3yOU7WKRwCRI0ze/CAvCvm5rI7e40HdWBnECU08Q4fc2b2NaPOPsDH+2e0/6/s8Z33X+k++hf07hms/+vXif95t/teK2f8kN0Xn7SS/xc6k6h0TmtYntBrnudsCIXWXER+OSLrmpscVYVkyUK+8N68sS/FrZhUKyrK1VnZ63RpvJLxI2TqgnVqowyzYDyauq0MvBv5PcYHD+EoQow93a1G3u+ZKMrDmdh8ScvUK4QYjAk0pYXx9Alk4gd2XXI6cRkCMv/FeG2iS5HOU2O5vbALm8nfT+pSV5Wvl0v4uti1OPd95ksXTvw837EoVZtp7FsEAwJd9EzCfjkY0UJLA0Skk2lHNrkcq02XvrTrfv4QD19Z5X40m8In08OQ7LXyjTqd3TF88cUwVABn19mW89wWIWRQj06+kNV2Zdr2LlC9PSI914px7b1sTmP4rgdra+tawKfgj4UT02qJzs2xOdpxV6UeU4sprm7bxKpXoWY1n3Oh1RoIz+2PurbFZfhw6Sf3FG+mGDBkNGt+tQQtLbgzuXYqiah0e57VPSBo6IlKHxjWsMnC9RCqTq9dlxPoTNtaN/WPa8Xk83y06ZhrhF5BaJrUIxnNExXvklL4Be+EfEiAkc0H5bPi3WpvaNc/aMPi8agaEL7ui/MPbOXlJLSBHfLqYnIKUMD9Cg5aaCnzaB8LG3h44+YPlNYOaTG7/1QTJ8Sd62JBZ9IheSzHG8XEtBOTL0lH5dATx1AXIs60ugG15GzOiXbmtbAqKX8OxDdRwX36LrcTn3rzFmtn1kx5qeuLrGa1NFAQOsHD8o6avxfu2NgwOzK2tmDQqaUrIDCyUuuv2z5kLuoAmIGe29h4OCNl3p9Vj1nxEY4qIs61VIil15ZpTFRa4LWzqTRtThqrRnT6XLk8/WIyYRGQT6adSQvXx0d2w7dLgxsu3FqVPh9KsxBs53IV4m4bNd80IO40swllm1vU7OXIQZ96q9bUbMXydxGnXro9OY3n5ZAcR+yfWtymZVFSn7QNVwcMn1JVqFLXRTyyFOEXsHTe3aEC8np+5Frh3Vb6WfVQUwFoFhsQDlJEwhTloem59Y065ZpkJiWKFA1fuWUPquUHVEYEwvhXuQZpaAryoy5Jx8ULD+797muK0qKjf05Y5oIBERBodlm9mGccM80mtwPF3s311HXk6fU1lYjuFdQJWxHlO6KYXARRR6hHIihXFF/RoWFyOff+94B0ipkSU2xYvUlqwVplb30Ia9Tl4pN1HntWcVP/I7ghBj3iypU7PfJff5u+djFZ58l5SBfUUrFj35SrW0TWllZFblLOh1dkeU4Kn/hXgGaaZlR6UeHVYLZ3pb4y/XHhWg2FlPfmaQmfajibIOYNph0v79JhUWLgoDC4bjOHP26wlTJdio1fOrF8wdiKYIyg+n3oQSuVikWbWd19AuoNIyiZdvtW+ki5lrE7CnRvC5Ky3QfyOKAiFWJHGMi2RcqU3caLxeDX4t0Kb88JYe0SukUtWGxUSwOuaItKVgR9yNjOy/V6XKE44qNe7bKWw0ao0TkOabfFO5dtxeSUCikVCptKA1ixiEaKDdophQGX27OTeiessfkWI46azt14NgZYdvbwaDgTWpFO8dYAbIWUBktKiUhK41RgNb9ypk6oTMdyCpA0CScp8V7fAo1oTSWaQPKVVRkKVCPwFGKUqVCIfX0FKr6jstUtjSqgvYC1f3KtYaRF0y7vYBBjSUSJnCLasGYcjGRzRevl0vwzewhxUWH5brx7WjwjMP9ndynFWNmw+uDIPpztNkYk0WRiPl1MgcVp9EzYdTls7RwY5mOxZFFoU6XB1R2wpHt79AVobBO5TuCU0pimI7v57QeLy3Vffa4TgenzOR/G9poQwsWKqZVx1hRCahptFwlRVfoAz50Ga7K6VBlWb2mQKU5aDOGrEJEDWpJlOqbt1oqLzcmxlZQrAxBgaLlAXVh/Dth0GGKFN9DmX1XFwUT8dglprsusfJNgXxryHXDGr/1W0rUlqoPVDZdp7r1DqNJ5xfLbc/m/u5VSU2O7vuD59Q9HVHBXk7bXTJo20rOGYhnF+ha90KBZyHhmsQ5Pnz6QOch9XdXaabvrMhktwKtncnuNBd/vy2x8CIPHWE5cgOOsQ2H0fhQlwq8pBfdPaiqCo0MoFjC3dYcjmffK1c4MyZpUV2dcNDzC65XxgnhO6z79g+o9tRRmQAkv9Zc5Pj9Wn3+4tnifCAilhjr02Bxnq5uR05jo+ziCuFY4uMemqgDUfS8WPKJkMmD0IejeFml3DoPpbK2JjALdiznGvXP3W/qcEubRX5G9TyLgpRw94t1VwcxgUb5R6Y1MWSLyKqMbXhIfORbOnB1v4EOPmfqtRxUE0LOmR5ZN7eKrjYxjp7Ds7+X2aLetN20F3TYDqrPRGFXI7oMZPjDHPFyG+wUU6Y+caRWRul5VquryHFQefnt6n/oDhEMKA177hx3i822DyM/v1jd3cOivV3UN8ho+Xs5wKs19bErZLm2cI+L4FG5h49r2uuXLq4MWGLMU5JWBTGRQtbjlqauvFwT1MjpQP6UpQABNdCl0itrdkCJHcyi+eFFtOHxBk0zrTzyRCik1uVldRxBUzhyVt+rz6406Hd6XN1wZF3+ILr9sAm2Mver0ttSS6yYsbGW9dvFlLyLyhBZ0HEEltw9bOeXLqa/dNKpGmo0i0eFEkbOQeQ/5o3rAPLbKIgjx7YUWA2IsVE977Eo2C6y8QlcFWOpF0fjmfsPsitzZKmgRY0u2pxOamiwRwdjKERIw9wgpo/KBe96DLJuDa0GJ/SHI65KQIFF9K0IKp9C07O9Orye0C+xnVBngSFF9/C3vLuLQmVQPO6Kg63am5N+txwTuDo56U2ggbFtKlefz2joY4gyVyucUJRGbdHQ+kb07PX/R5FExEwubezBBmmkhx51uB264okrtn6LPnWBMsUQh7Y75WwgqqDPUZg1mSQXPeb6pp4Lm6C25JAZkN2ZiafHwA07hkThsA48M6tEwpwbYtvhFgggnw8tYSun+cQ2/v6lrHtX2OL2sMjHbCXH0eSXt8n1+EhU9x21dexzT6qLZ+UQUfQkwo+iz0cVgj0iUpFrWXqiu1vBeIFaD35ag1VVunq4Sv2gWk7Ksiz1TJhz60CJk1HTma0MHG9BMKKjPG4oSsqi8tV6iU7sDRGOCupEeETc2SFyTT1fDermlKy5mKg9qQhmMneiKESrstN+5nbnqO32AVk+346o5sBQQLd03qI22lRPvbrKuzS52CPLQouLDSoru1F46SXbnXbFu2o0Ey3UGig61KP+gKE1qE1MqqMBgwYr8vpQHorWoqqOoPImP6YMP1DUe75bkKNg34CwfCoCrbCki8YpYEwoGaRNaamriYmg6fPJQtH87I53BhNnEIDtdz55nWLxmB76+j6xv1oOthcpHBcc1EkQXCu4TFEHNU5aoihDOVKnrzChp/iGwuSIaCZZTY/8fvTRw+jJJEpFUMxDMoUJaxlb5d2WSEQ0EDWQ2bH+UQ1/+NeVthfkUCtfCA1ctntSPy5wlNuDqnBFxsyREe+dYt446AKd4N1CEFVrjcHz0pJujcuLXFtXV6dEwpjxAgTkw6cwGaQVGltAd+9HzCIeQzc2oY+xX8N1aT0xhfwhNHmZWRDOHkMHQzeo5cghpWL9upPjCnjv3EiruglqGKOswEkRcMVapyaJqbGlSVR3a6gkoM66NvUmt8s40YOabZR/Il8VlCnlzV1EUNRTKMNhFHTMPJNxRmfG2D/vonAUs+LFa8UlZgGaBpW+dJssy1Vu7nZqy64gmvBWzjIMnI2eAtGcZyBz6VwN535SOVZIftBqHYpfwNTSTLMarFpd2ZQpU1yM723esmNJ5Rw2SAHXj4aPX6js8zKJTN7mHcNhJWdCOvgJRGGzWcAato9nM6tubpqdwiCDqvPyDWdkZSWm6gNZdACxItF1Ul0l6FfOojw/eqrlNtPJcxHNqHvJ1vKRF9XIs7IJizxk+VzlPnSTCnF0xx4pOS3LUlNTk8K5Req74nNKMKsSrhYYlIVjoUc8Lp5WUC5+4Y+p/3i/Hn7PqKzlnbTX/hiKZbbxtziyDiZ0K0GFo0mtPd0j0pl36lQTbReYBGpVSkDRmxwlb0/qJt+myhoalJN0xdXb5+WN5ul997xP8c121fm/o1//whP66tWPyrYsjY2hwsJ2MdGkshF03fP1Guor0+apPO2zF3Xt6qQeHjimTvy6IfqYKqpcdd52Up/8xVP6pLOoX7r5Ll1212X61plPavkPf1X7Pnm12s98TR2JcfHZFfHVB8Sxq2Rgt5fQ9xMI17T/jncOj4ucHtGd8PiGEONRUWm49v1kXXPbphw3rCunr1PNMIKkQjiK4vkzNlFOTkAx65hyQVV3OOJXnhKjYUGFHqNd2wi6Bhm4ZbN8PjQzg2JVyM1BH7HRo95EOAoqakQkUXPAm1RzwzLKktnZpDE2cx8e3DSLTibRvKkSHG3Fl+zOdbxpnpOJM0okMn6JS5ckF0eRbUkTeywK+d7YNt/Ly8tNXmzMJBoEYSXEhiuwxUSOKEc5uTmKpR2FCnINFU6WuarZK88EqDSAaudQMpLcQhdFQFXUqomAOjExGyaBlamnPsKqueM2nXp8VKP5ft1zRZ0ea0InQVeBepuN+TKXXBVmkm89uSl36rA+0hPVWDNaxpAxvgiaHUeV9Wg1tndel3d1UbCsDpEulT2M5qnTpbARWqClQysK+3z66MJ2Or/ZGXT82M7zDLYZYY0IOrW40KFhvwmeejuNwp5Ei1vBQkPihb39AREimrVMcIsPdFcbqqpc1PZW3tolb9PxGhtFfb0sx5Q9GJjTnXf6VXovsgfRUnYZrU9672p5A3RC1cTVyLyGhkZ0VeF2NCU5OWJiQjXV6O52dIuFHlh+SdY+xJqxS551xvRbB39V7HtG+EbFC8XyW3593HleJopyr0XNFswrWlSk2UcfVQll6qJH0KYDXC/LsWR/wpw7gKUCigW9smxLtm2dx6Rp8Pfm74VT5bIn79cnqRQ57bK+1yOrpESOheYbLAOx3Lo2IMP5XyrbntAn5qM6GY9q5oEZWWlbUXx6umPfFl1wNaiHiGace4VdIGaDciILsi17Z9/w+pDlTMuiR1byJjHuyLZMIhUwnPdTGBbaZceSD0u2bcu2bTmWI8uxZTn7zM4HS4zZJl+3ZYu2DlnlF2egXQQxMS6SJ7TILo26eU3UzImxMZHr0aZbPcrmhFrG21Wu2IK4bJ4WWHKY0a3E1Aua8d51/340ELBMrmjbEg31orlZ9CPrihfk85lz4IAs7J1BdwcQc8gOe5PsCOKUd6wHwzHkIJYatUCdbIZUupin987Nye/3KwUatr37bN23VDt2CZN4LMlZ7ZNVhokJlExewgSfJTNwwYxo58teY3iv32bURlDVIJgQVpcI9YpZY5J+4ul5Pfr5w6r5/CkxM77rnbclvrCoCWdEkKcDc2gp0CmWPB9j1tgZAF2JmddSoBHbluNYgohse0aObfqAc4F5yFqxhW3LsUzbWRhzYCdeTFIBsnYxBGMZEsR3dVEYIa4acgUTSpOjrdyuF5PSGY1FS2XZtlKjdUoVoaUKNDuLjme09KjpgD09C2puHhXkKElct9Zdo7mpKlVWxt7+OWmUvmz7+2Z+dp7YfHFwQeQiHzFVc3jrWDSKrg2lZYFymlB+39UqLj6paPS0jmCcZXmgAxd5dn2gXlaVpdpN9DG7UM3V9cqtRWWZzu5HVKFHeCnrurQqD16u3Nx8RUhrZsZSd6mJLXC992EJ45h8rk5nrprW/L/+rt7b71NO8KTSD6HNm7r1VMUXdX86rSuspNbzO+Q/5tfzTz9/4XqyEPVpJXKLtHr1o2oiriWKNERMdQ3lsl208QLajvzevrYh6+8IO+3DgNLFMZHbrXpQiY1qUuh0SYms5+eVLjq5bQferJWh+LhHbAaFlatI2tUgAdV46S9DhHQTN23duxTUlJej/u/cJUrbZQ80qi4woRToE6BUTo7q8vNlY0w24+SpmFrl9BwXPZaSyaRGCwpkF6PIJFobtzTjq1djfb0qLMs4eh22Fi4LQ/qXIqG5uVUVF58W3CtiMd2fm6/HyxfON1dk6oGUTI6QbRz61m6YqCCkRS4cdZ/Eo6TfREHH1tHaQyrkg9rPitJZu7+GeFy1pUUqqUX/AnTzwYPKzc0VLSfFxyrFXJUsC6WW+kVjp6BC6RyTyWtb0/YimjcQeRVqKMk2C29nPDRlzVFhuk1NqZRqiy0RN/6WUx/G+J8yY622YXt3UEmW2XdGOwkK/7klIeNzuZRz89SPrUfIKKAhYV8jUsbikEpZKixsVn06X5ArBpKioERQs2NcPLr8CeWvpgV+3VwWUvnx+8UdBQZVdOupLXBLAOMQHhtEj+1DV545qBc3xtTNjC677Et69CszOsUpXcWLouERgWXmgnxz/enVqOwHxzXSclC3MKpKKhQaKFJdQYFnpo6cX9eb+YLL391FwT8ekFOXKzipCwaM2Oyw/QduRR/vQH43rLX1j5lB14omZht0+LixfzrpUgXax2Vs9NOCoArcBlUN92rErVMFbXo7+NoxTOYy8z2g3fmPMxIkqi4OyiAfTEDV8eNmdS3EVQU+1dej3BsvvfP11/TLus8yzswBn/zcpLQ9qq7AoqBVhNpEpzEbAfL3I7fGaAsZhMY+UDlhdZMJ0ssXHJJbhHzrfapvdnTXV15S94jhymEgrIN3nlVBy7c0HtpUkzWtJb4ue82v/s985MLltWwxcFTxZKGW1x9VJSkNUSv60fFTYVmOpdBTYdMJdwVp7cnrVFoqZibEZcO64YY5LS69TwXHzQJyIQrjsItZKMH0Iwf5nhzRl54d0UMrnXIcdPz4KQWD232sGFQfRF1dCAYVfnxUf3TL01vJZCgs1IebKxQ8ZCgoToDqqVDRzIrosFRQUKCjVVVy6lByA112wtY3g1fr9v7b9Z65A9pfcqUGImjwJlQ1hE48E9QfXhNR6VZu4UrBTQr7fYrnoJMt2Yihi8jamvGfed+7ulBjIwruC8pO7Z3c5ror0EEHhU+gUAKdei4hnLicEHrSQm1HC4XztI6n2nTTvS1qGDuiDYy5z4cr/7xPoc1GkZMjP5nFu1JB7pRdiPoqvJ3ICQxV+3rGnNOqQWIi5C0MW85c4zwFVMGA8ZU0oYKiLMjp0bhwlgUp0VMrfGbhCbQjwia/9vnv+nNwH/3cEvL6dDjr+y6/aA+iHs2zV0KtkMJUaiBVIutwUsdP1IiqBkG3Br1zBhnUlU/9hqxsLjVqZXOLUSAq2ab2xygvftDd14a1r9Uogz5M/+hYeGYr5zcDpswNhajbY4F2PnOX4hsn9KWxehVRpDbadM2hT6v3rqNy/CjMDboQncy7uij0j5xWZc1e+YyzJIWXJc3I2K2tqurIleuGNTX8sa3fncZyOb1Gmy8psTU6OiqjRTmCu0TNhOhpkgtK5x5WW1v3RZ+7QjY2d0Jwy57nBbHUj1/God0uatGsZ6IooU41ma3vBfwXe8q6N3HYZpD142q+oUS33rrPG0w7kRG9Lqqx0X3gJbOv0q2gDo565w+bwcWi6ilRJzWCZr300tcM7UMEwbruG7hftde0aHX1Wfn8CUFIdtjR6Klpc07vhcrsV6SwSCOPPiqbDI888tvrsi1XazPPem1xftrM88SeFOGQOHFUwaArn99/HiDApl+jVSGNXjumrn5L116G6JuQyfNwVPh8an7xe+pJd8g/iioq0NjYU8a2e94zWwWr8kfRxgn/Dtuy/x22WwBHAXzy+fxyazYU7kNjLchuRYeHlnUmcKVJi/gBNJ5fqEBjq1Z6EV2Izh6dl6hmL/HvpI12HCN3+WZVbe2dhCZwLfIPoI8HUDAU09GP/H+i8ik5i+h0HDn+NRmzkqWQHw171NQW6BoaNXNqQA8OG+oR3yCaCiCwtA/fzsnOqyvHvzPP8/DqE3J9YeNDBJk4FBMlvp45rx9ZlVlka35L4BPj2/dJ45m5cM4bA0bWdam5LnZIPwZu+46uOySj5KzLmFDXZHZJWRO4F1Pk43xzdZBDeor9IjdHHPht+de/vXVsfBw5ODrGMTn+7YVuwo/Gh1ABAd0N2t9cLlrPNz2e9q/Lb1lqHMs4oZFNQK47KIYDW/VkzEnmeLv/a7qeFk+BHBNY8hMSsTkxOKaPX4Su/F1dFIwPoeCCD9tL8loKFGwPyw2GNXT3x2S41fPVx6BWmdf6JKICWZSriXKjOaevUYP/iAZZ0vj4uB4/eJ0KWzu9BrwwH39J1t+nS07veY7rxlRWeERme5Uv8lBl3Gg1N2EWlkLwOlCed98LPdNStomgtgMNL3mdKFikwhv2Z+Vn4LyyfxBUHk2IeI4K8lA4eNrrsBXyp1H+EoJBwbzILdBLj3/e4OMdc6/i+7pUU3uTiqmQlWvrdN1pHff59OH33mcGfMmF2yWUKlLvtx5V9ahJ8jKEZ96wLXH/yAWv2yGTiPIJFa5Ny/HQJfkg/0ypSgeLVcIRwT5ZTqUq/sXlqrz6fhWXOQpWIYNnrzL3sVxReVZuChXegh6u/gW1HP2mHCcmyGpHNy4Kz4jTLVupKSO73zE3T8HaWl1XaGnSaVJLya2ylot0+s5NhUFHGdfpkpfkblyuU+6ndNb9BRUXdqj+4TalcppVnraN6S4Th+BDlKJPL7TrY4d/XyGiRgEo6tYlmU+3ZLs/gVEIajf3PnfjDuTcgqooEXZUFP2RdizQLtpXYJzCE6Bykl5ZbFXyuFx3VpeX3aZSkF2GKlxMak2MuTSROP+ZPh/K90wTFeEK2eu2TrNrDKUxC34RHoy6SPCC6EiKjyCclKgKKIBBLRWALufiebF/HjlcaoK2LvmaEMb0kkT+SMmFyTKTiIjXh3cds7FUwRFBs8gvUUnVozILXZGq3r/HvWpR1RiqOmn+LnMc1Z25V8SzYjPsgCg6LjMnps1OwvH6XgnCLhdHF8WjvcI6oCZS6vOuDdOiQgp0ENRMpcAy85RTLcovU1VJ1XZ/ImMuDAty3u1FwUTi2mxjYd9Obr0JPXL7Ybn4NMWsNxHco/L6ejV0jcjmQVmUKMCyPskBzYLRBLoxGhmI47Oie1QOYRm75PnaxTKGiwgXjTmoYG7v8kTCEc1PzF+gvLUK0u5h2NPKOMxmmNmbVM2xxcq0caTNIYqR22J4YPxrlmxnn5qI615MprKCTBLvXkQ9GsJRotKSr8kVvY5IWYZFM4byfHkacOZk1SK7HXHdiD7x2K+LRzG7MWdG0/fdr2O192qSg3Kv84n7EI4jd58rSAhnbxMaGIf7iDOyA9/9PIdl4cpxPi4iaHg+k5XKJ+yDe8P7DqMxDBSOKx3173OVnP2E5g9MasZ3g8ALALNdWX5XfgfZlejo+yM6ElhWAZamvDJEQKMOuo+X9EsTBrprFg1MYFQY2dOOSUAPuh1UNoummVFOBh7a0aH0qVPqHHNE6Dox0yYsb3d7gG1I9OioCLfrULRNo8O36rIH/kDvu+aMAgd9O95zE+M4rrjS0kDfk+om4QXFDSmTBvXSJC2czq3vQ1wkInoLrTMn/EExs6LsBPCbEbQ4gsoO400STcpWOKJJND9vAA12hqJ+dla4qLwCNXjouCKvHGB4iQazHZP9eMGF86IlqpUGZPdikEYTWfW4Q7qVvfBl3jMDQ32nk7+z9f+uXYazXxA1sQ+7s+3tJYWYYLUmlCyZVR+29vI12A3IKkP3sk+VTu6OYy6en8dCzjCaXTssY6Ye1+HDmfNsudhyxh1ZRbsjy21x6NPiwKHt33x4sPccQZ+od8Qj5reS2Yy5tlFQJhxj4l5hG7jgYMx3rvf3bPXs1pxZuHFUo6M769EosM3v9qKw/ZJ7QZ32kqUw+rAbl4Nf7dwhQwAWMUE8o+O6nHy1T7larx7RjRyRn/ztCgvubJTjF3nOwy2Wigc7xQnUsR/lLu19np2yFT0bFcmkqKraddyvtyc72yVxjKmmD8GsNoMNev6pp/T8QrXmZqMKYCuNmfBcD0PPJOLbUdFyu5qHG/X4NbfLXZszAzsPcRxdc2uBGhfX1OhHPUFU1TKvlQc+YuIsLMRJFFk/K6fwdwQxsc8Sdcj1r+v4Y8+LpC0O7DZvxEQGCpuPuAed4tTW8YmuuFzH0oc/PC7sgMLRlm3kTF9sC2qbZjt/7Q5CtZwnRHRJMChiZcIKKY5PNS2uWL1dk199jz5+yNawD+3PP6q4lVYphTqUmfDiiEOoIPclNVV4+Wm7tp8TiMV00zMram1F7VWtsrwtcoSIHBx1YDSiRALVVWfyJXd65UuJmMfg6ZW3mCzqFF9cI2Hk249xmtY1C4JKYia1wYIeXX30OYWq/crJi6r+HeQBBkMLXn3HQRE1ZZ5vQOnIBc4/0Slsy6SjDYbF2hU7jicxvihfHIVcRLv5nvGv2CdRtBeVx8s1RlYehUV2QCldULiV801uPkR/pfDlCKIiYCueNG3TNb67vNZ2Hdeygy48W47zzoPVTnrteTKrjwLiUNTk647j9edLMOOdJ/HzfuvDiy2x11XzRP52H/ekkRI15uZraSlzvU9wQBNxo5AUFS3o04WzWozsU8Hpehmzm2eesl1x+Z+KwK58FOWIuS6BLfy3iXTxVtuEvHGW9tquMS+tKUplgboSbOVM/0XCOkCjCXDz5kzX/ZLCYUP7coKdEN5L+Vw6IV7W5+W3PSMJNrzmwrPHXyZgvcE1c/8fNDQDr8Ib/xF++h/5Hn/PX/3sTb4be4VPRFZ4I3AOgMDPIPzTnXe8WAKhz7zlcO7NY/AF0G+A/nrv8869fI5XvvwKSPDWW/QBDZmDnW/A+E/3vvBCn5eBtxx4OQ78jM/89FXO3H47Z1p+wm9aQ7zOOf5+q+yGIW36p4O0/mItvPkN/vzNV3nfS1/jze/8Jjm+/22STX0RPve5H/DmH/wG1ASwWkOcm/gDFqr/HOagOwJNn4fxV75E7lt/DvyY+df2U/+zAYh8D+vXX4Yfn4Pfe2VXYcUWPZmTgNghPrfxua2ji7GXScQhx9sU/cR+ixsyB//kx/Bftu9yLvO7XQ0sm1u+55vEV75NIOe/EX7lHJGEzRUlJRyeneC6hs/x/es/x83fOMef/gz+09/9Cj/Wq/wv/oFv8FteXSbhGxbJU7/C2rkC8rDwvwlgw8uniGET+90kf/M38KO33kIh4QTA5lVc3qLQhpyE17Rx8OeGKMb1Sid45U1IJEhjONIyhIYA/Oxlfviaxbl/swj/vQYOvAWV8CMS/JiP8z9LivjD0X/gNcQbEm/xFgEMHdulfKokTn4lROQVmwAQf8ubLvb4JH/9TViGN28+Aa+fA16BYXMsSJCfnjAp/vQyvCbgTUPzNge0AB2fh1e+D3+tv+YPrD+ApHfjb2NO7DVf39yAn7zpvUSGpO6UVyk/Pgc/k3n26+d4+bCpsDfrmmFmhmGGqaHGu8hj/vMqdG2PevkiO/gBL+nzeZKcAz7P53Ye+MYs/DjqTUI7WvEdfPaawcxs8PK57/DGL/+AOMexvMx2qQRs2Of4/j+c49d+DU5tZCgnD7H0snl+h4I0nbua7776J/ztL//XrbIVkmTu3DmCv/Qpgq8bYsgGPFq+c8ADG3AsCm99jhN/fw4XM1/YJDhHhHME4Nvwlz8Q3+McAp58oIwDiyvQbfPRJvEveQteg9BPc3iGg5TmJPiJbcb6F8gar5f6+Xl2Ckb2aTuD2m7t4aCIIHtfjywnX74wOvhMp7BqzDkWmrWW5Xb5RAHav39S4YHoFiSwCtQxQ9Y2dVz2bhuuH5Oj11sJD3plGeFihFBhGUe0+W5h0AYmxwNiK3YiX5no5reV6LoY22WqcZBtWR4pm1emefN3t22pasEy0dyxOkGzGEIr2Xw6V1SLqXtVZdWo2WoTZ/plP1ImHMvDJSc0Yt+lHE6JWdTvH1CpdbOc5X2a/1TCaFEzFylzLCr2T2o+s/1uQfZNaPb9tq6oPGR2P/t2Ji7aU1aK5TCsOVDyS89rar+tqkNoIBjUe+ffp3JKNWVbitt1woObloPOgvzt3aKkXMZRFtU+TshhSjct3qR+7lcXwax8y7YgKtvJMv0dRzlTxjRXA3oohJb3e8eWUMuxVtVSm5WbICjmF3QdaHivdwkExILHp+8iDmaODWnAyteVSzMiuB24Vofxa1xKH+kkX9/iNzRAWrWge0G1Fzj34+yXa9visKNAHE3/Xqe4tURjoF4a1Gg37tnHbZBVhaL1Yd3BhE7Pe+Mns2sextjNM+axrLbfiiG5gDkmuoDGbMTIiLj8clltlqySvZ3E5weWXQINBphdYUH2b4e0tyN6b9TWP1WsTG6EkSmR6NQyLfKBCsjXB/d361NbaCxLtvOJrbJk3rehrkX1NXOCD2ydRxui5JBsHDVwSI3e+5SRMf21av+LPWJuXCS2665kfl59zAsGBNUaBiUwCZlc0E2ll2v43vtEJLzLrHtELiuyrlsy7b3He17SXH+pi8IIBarZYUd9e6fzDDkqPd0qvxvSiaH7tisruamCW5B9tEjUR4U7Im65cqdjtsBRoV2lxlo0W5EWvl22RTurEzkYrPX7vYFweu/y+HBUSVqGh31CkFahx3deGyZr+1sn3oZx0sFkf8ItNE64Pc4pyP7+XvN//iEUP1BrfAOZaM6ZGY9Izy84IcrGxfWXKZxEsRTGUXbtaR0/ckQvRqNq3rxCeVaTfMyJggFhFwq6tG6hhQLjKKvYozwrGPODIZ9Le051zCISelBOytEH3JvVSJ5nO9+WWo+FdMdvtWZBLQBRMSPKRwRB2bbkHZEAAQAASURBVOQonycFtUpTJYc+7XDMBhG/jBk0pASuCnEFaWMDPoryQ7vMlDHE11FFg3GwpuMoUcH2pJeRWgSVIs+n4gJ0Y7kxKaWLwiqsWlcUY6fONp3tnKC998zFlKUiV0FSSla1iyJ7ZzAWyNhqL+50riOgI+wXjAqade8iqr1AnxnhTtk4gtPyx0Ma/JNrRU1IaTImGL/XfxEc1Q5oZQQ5MUcNxR2qrOmQH2M+AEx/85SswiLUmWW+ystDB15ApFE11du+CE/ccpSuQLVtIxpeuFwkUG2oVhWVqHAE5fadEda6V3cBGdqLzPUR7eV/SbMzuJMkO0zGJtYja1EoxKPLOKy9zD//VEljJt6yK1CgKCzcmKhEgdMB5ZKjAnrEbc1iZUlsng/7jsZQpNQVKymd/mitnMHf0p1N96hrpF4Vzj4VnmpXLp1iDsXu9sZMfkKFDQOivFQ13UnRPSC4TBROCmyl09VK9HxQKSylh9DBxYyP4AFZ6Tz1O/3qJWkC4zazxmftfmWDYLLlXV0UGKgTVflyyIKmgddBLwZVfVZ+N6wjE9uQVIrwolUbVUKexulRcGVQTGewtY4gpXoeUWqsSAxNvD0MLYghy7KnlElekhELS0c5qmA0qp4DBxSkXDCsHtbVzrgsCw1lRVhz+XGt809MCJKhCfD8FJd7v9fWolsLPMqPRkSHmeSKtwb8KXHrsLERFtWLKs8XETT3iQWDco9erzlrISud5xWCm3XUOaD962mFMfwyW2XxoYiD4gQUDvbr9FWtcg5tH/f5fHKcMRO05VZoMl6nfk8rDmAm/mGGz3vH4WG0Re525THR9QURjQmfX3CrTK7rPm1RhvjZqY0W2GI6A6k0BG5OBfJNGu2/4Ni2jydKVAeuP2CchpjdZBF5gicFuQofQU/4UOlwiTj8HvH1gCIHUVcnurXwmKqbclTft6IUQQWCyMr0Jz8atoMiuOq9y7D5v86S1WApcEdA1PaKj5w2Gd8KHEPFspXqsElvx4NUQome4D3KYVAuDepbnlMiPwuSarNl2x8KH5UVtMUxFPNZ+lB/TODIxiDW+giJqW5DOTNokubU1GSNAcsSt92mUw//P/IxbfpUniNrn8dRhcHCH8hmFs1BeDvZAQbk4m7nMg4GTdrTs6jqnkH1958U+LTKmO7sRQ1PoLKHMu2a3UfeoX/u7aSebWbjvcTHTkqNdzhWGyyfSj3fVNT7bbp3b+XKzE8+wbAuz7C9bi1ofrHql+/kqE41Nyt/JV/dGH9Fhu22l6AuAwVrEAW/JKuzXUOREhE9Jg60mv7kc1T1xQEV3T0ssFRUhE5UeYvCHcflTDs6vnZc1+Y8pIWnPio+elB8yOtHzxpKE8BAi70IaR/v9qLgQxxcEm1tu6I5bW1RacdRV/vuMPSgCPsVeOKkYsTUQYeKiw1TKGzzhpxy3W0+cWoFvWogoHRRSky8DTOrjZd3dli0Bo2jddc5AQJixhLjAR3zGrUBV3fgyMbSevWIqpomRd+QuCxoiNT+KZ14EZFAw6zJxtFlW8dqNZNZtBxMABEm3N3Br0FOKvYV1DGPDHeNt/U+dkyu6+qhtSNqCIbkJ7CNp25sE6kCrdthzU8dFWHUfjm6MjGiOh/iFvQrVehp+4CuXr9eGyFXTlY8QW9vn07XdKnb6lDk/e8XXzslVt4nyNWhfpMBbyT73Qa9so8gOCCIiuCoySx3H16MhE/k2Opt8dBJYMx9+VmQV7tA+M2CESeuJZZU4aDBdYwSEHxWW6kOsRToDIiVlLYDcywZLdSSFTCLuI0tAn6zs/AmiSBBmZ1fTHBMyysodkV2mY6J1cB2jIW9KNbjpkz+JXGPLSZ8oq5P8cIatft5W7K1bLEx1B1duGrA0dy9fqVqs7TgIsSELRhW+JqgupcRM8jyxRUY+J5IVIlWM65OgByfNwn6DHfQuEezwjoKRqPqPXxYQxVVurLxrGBUWHXCf+Gk9dFRw0cGyM+4+hnWMTDjcW3NaOhDaD3iqNnnEwzIpspAN12yssyl5bKpgVqfOHL05x87P48M4CmaPbqkwLgg27E8h9B6uFsTOzjJAjpD395BmCO13nN8ugxbjoOG1jLHp2WU5P4LPtvmmKJ4iMl4UFZ7t4aJmjbMjvOJYnZQHSgTbNsEygsHzeQfQJYVkj8WEzFrm0wxiHrxxp13vyoMJc27uiiMMKqazz4krrxS0K7zmBC9wpSVbON8c3JQIFAkTvvFoycUIKBSSpVINCmV2s7LUAFyY1PyRfqN9ttgJp4CUJSw0hRfHNbmIO5EUKO5Ykt3X48C+ej4bhtpX46484at7ynMltEC9SRqlCqqF5XV2s1Xf1FxuaD5CAxvj8WcKMps59KqKdy5/S3CDHjbO79ysEdly5eLSELEdwY5xcgsuikZLTUurisQ/VGtWZa61hZEb5uuGkJHQjUq9KGCwd3pOV2RmxYBoz2GQDUEVU6p/D29Ii9PUKTThA1+2t11fTVmIa7Z/q2w8GOClZ3vH0YVxaYztrEho0DUZJ3jl5ngt4OIQlTr2ptHFYqwdW4EVBLL0fM3fVml7V1ap0NTnNimJYigE3dE5Dv5eQXoUD45eqoHNXdsGqgvDYJBjYPevxt/Pz8vCnfuLLMlF4+9tOBmUViiYDysM+wV9XpxMbQpvYIWA/cM7jx+GEtxqlXOhiqwxQeR7cR1uOpp1YQw2jooQ99QzTasNdM2LaCBmKOKI/lq7W3Vseu/bCJivSQ0haACHFnkCwI6Qo6iPShw8DaVcUg0IGewTpU72siQRzaW52mQpPJJiAQq/BBybnO0cfzDSow+odVcR6eb7tSJF+fV/HVHHDfjy41wQVTSP4+Ue/3qbc7zISq2v9eAPoqhUE95Y6SQSp3ZuqZHeTQbypua7f5U6fXBajAT+CFk4muCMkzRaCWNkj1sMSIXERIFJs0u8ULRUe5RCMWUk+lvWIICEUOpTuSjRlCgZizlFe1+n0UZP+jxrXev4LB8xLNyf5g+/q4uCmCL9LxxkNKoTJTjxaT7JpRuX5QPn5YdL2G7bba7bW27zq9vUKKyUqNgVvxOZFbcck1iX5wEy94v5ryJdnREFOSLKcwqmYeYMI7BFsIykbTmuvZMY4LqqNEQnZoHsbL/0jthCeID2997elB5+fnnrb7g/d2FuM7UA4fqzCQxZHuN5xMsa7/zeTmMqKbSUlvzTmdbPa2qpFZMDsnKvVM2zUaTKPQw3daCyLPEfkTFivyTaOoju8sTEb1ju7bj50edbi3EF8KDFxniP0D79nlkXHu2j0dGZ48Lrsk6liu4XRA1ZGxebER7pu2886pA9ZGIhj94twoLO3UebUIFovGo4AF1sF9nOGN+L0ec9fpTR1D0LYje1W0n3KHMu1WIQLd6Fo0jPPvevbatQseSNTUjQt3C+nn4e4oED6nViqnWsmRbtpyVvc6z9Yk4cmdNW/qJa8Z+WhaFwoOXHgQ5I+jyfEO3nbl2y8EbTcve/4hKCkvU3/F+0RERNSYZ/L5DaIagXCa8SSTDFOBk/e8In6MCFw37HXH33Yo2P6zb+a7yuEoW3xSXP6x93+wVP/mgeDBu/Dh9iFSxsNoNtYfragTDxkr9O62vi411R3Bw736aLhSjo2oBNXFQ5zmlvblgr/s2gX4Ns6uzXEerp8LyHZyXiX42AWzOoVXhWrJAlu31a9erO8vrS44ty3FlO8j1Ict1zJyZ8JhXsbWfEjH1HhEKiNz9YsBSxiHfTYZryhXMiAQaGjTKK8zoelx17c8uu3HIr2x97xcrWX10zisbhgj03V0UyodFdbW3lQnokmyGkSrRe0aW31Xi2IiZhBZQScAkTdl9fi6e88mP50OYF0xqhZm3iY3Y8CYYVNMe1WjOrvD1qFl9d2+fQyUlCqSMJt5JQBNcrjg+kdyLq+VCnZQdmlA4jPx+ZBZOU0fVVKss6Tnb6tmy35Lw6jEyJXpKZbSDhFIfTmrBQoHGMYV6swJecFRc1Kd0ul91UUtdjjHrLICSsQ6tVDuKdz4uXmw1znZ/0iCJ4sjguXdqgNtEZohsPLjfL5qatJFpi2N7v3uZD03ugbdvbW2VkzEFOo44cULJJDp4MKrc3BmV7ZU4KZcLJpLP1HNkpE2pvDxV4MgEU4ZVT53HQ5QjSMjX4VMk4/h12k3b+JEvZKk5HBfh5HbCky2nsV9YIYXj50ezMjur+987ohFGVDqAcususV/sEJ/gRoW6pxRoatIC83pPYjeTryM4oRts5MTQBhsiFtfwB55WNZcrg8dPgKz2alET284+hgngzAHFbFur8biXG6BIhAZEwCOITGY9L4N1bysW3CawRfspEXpWfP0x9XykQ5F7m0RbhbhyXtglqslt11DZEREuEcVhk8Vw3lHfgXYdOFCr2GhMdHeLr31N/P7vn8eqm0igxYp3FuU8nYdKsiPXVxDxnRQo63jatXu5nGhUV4CC7EGT4s0FF3pWEmRZyzr20C369GcC6pwYVEfHTXKbbN1eeZluOzIkaxHVN6Erbw/JmbldsbM3qZom0RlQ+1hQ1sFbVHPLt3TzfWX6xq+h235xQzUHHXHPhxSYu1FLtauKxa5Qi/OI3A+44rph0Vin9EBaRf4i0VStREe5KpxFMe8T00Oy6uvVHkbQpnBljXyJhOzmVrX5D4hQh+rql1WcN2yUn+aISObJoP0KRSb2y5NL+VxynMLw7B9R/cH/Aa+CScl9CZj+V6Pw5pfgoA/93gL8EPgDeON1+Olr2Se6ED++FYvgf8NP6LUQ8B3gd/k6v33R2IjYwW9gJ34EJ2Bl7BUq6rJQ0W9h4NbAT0kAp9nwDr0W6uf1gIlU+A+N4vd6v8jL/Ax+dIGoiAQQ3/XbOeDH219/8hN44w3IjqywsNCPMg+FxM+8v3/6OgR/CvoeCet/AT5gHsdaIkqM1//nX/Pa//4bKLLAbWXV/QzRE5dxiteJI/478G8BhzA+K59/E3+LV/7j+zjxvT/D/hyw/iPWX4XAy9slCQCFxIkRIbGZhwGprwOfYxnIARLXO5y+Ks6XgPAbwJcMhH13rbxcUMrv9k0CcDIXrGgUcDh2zMLvz9T/W/CFL/CjH8E3v/kKfn5AOOseB4GCAATcU/DjJFWnTjESO/9hsZjNsysxShNgxSE4Z+FvACtqkcgF07n+Efl/RqzwVexkkEQiCOPAG8BrYayfHIGf/IjNn0LyOPCP3s1PrYOW+UlrgNwRmJvLPNUG/RkPfemP+U83NWD/2TTWf6uDrZq61I+AT/Ha//U9Xv8/f0GU7/CFf/z7Xee8BXyBT5yDt34Mn018luBrP6H423/B//D9NxyGOBEIsBgIYL86B28WQxB4EqiDb3k18ONz8LU3xc9c+An/CPpj0Juw+Dw4d2FZBSzHIpSVhWAqbOr55u/A889CwXfhtV+C277AWw9bvPoNC/72H4n758H6W6j9CfGhEazOTk5VfRrn/nY+9NxROj+ZwF5fAQusN94gfscd8NGPgrTjDS3LyPmf3YPqwtesfD1G7OUfb13iw7z76wBv/hJvvfIKnwJ+utW4u6r4lShw/rTXRx8FNIC+xV/e/yxXXyl+9v0fY1kf500bvmj9ez738r9G34b/+vfwJ7/yGvz2V7Ee/iwWFp1A2w+Bb/4m//2z3+R7vzzEe26A4Qd/C0tzJmAg52Xsj38div9frlr/d0T+01H4fzZZtizykq3kcIBD1mFaNyuwmAArRCI/iJYtrFMJ4hGwjkSo2qhm6dgU1tU2J/GzZH+G6GOjVB38HGvRQ7Sn3suBf/EpiCe4eITXBT6XulOw+5F1Q66g95JX+W6GlaZQvhg68FHHaINTu87LzxeDXeIZRwkynC5VOkGnaEcUpbW9zd1b9tlzihMTDhq3UcHhfRc4N1/w2PZ2s8MWNUabqbBq1WC173HNrLagceuofYVtKOclS49WPQqA5mZ0c6n3ez0GJz7crdVCozk2NjqavNbRrzGteG2fph89K/dRnyg+IoeDwknIiaPJew2U0Ny/XwXcogf3G34bJ4PCcFCIKU3h14lcdHuvrZeqZ/WlmkNaYEKrzvXygUc1MSdneFjEYoom0lpcekQlbOdL2Kqzcraim1cta8s05NyKeGBSkLf9/D2kgm0G1VzQgD2ippsi6r0nqVFnv6yyUtl3t51ncyca0cQjD6roTKE4hDo+iGoqkDWLVq7cPq+oCH3wURQ50aoV6kyuC9AUIbkcEMxpERR1ajVLlfFJOI7wO2Ia7ZvPlW33e+0eE/0PiqV8PfH1g0r0RESppYth5efwtvs7dj1FGmdIIerFSoVmLJS6AJPvlqyigB/N3GlrriIlhwHtb2yU09TkPd/rkz5MDgkLzV2Dwh0nNPa+74rCeblcozPHUdtzqxocCQhuVjj8O1pemJJl9QrHQwv5LLM7tCzBtNrbe1RYeLuY7BMP3KKVu26VY9uybEsHbZ8Cdr8c+73C78jnd2T7LPUOOMo7sU/+SbTsR3Orl0pbjQxY4QIpTq9E3MiWM9vBo7nwTH/Z/enSZEbssYtoxtbVWBpi21TTgav8DbYj6zNShknik/WbZWWbT7f7iMmJkEEr2VvtddAxqT3BkW0jViydZFUHCeiIk7m+QyvUyHIs4azoAGjUGVCfU6IRxxYOcsiRzbyq623d//7DGhgJ6aH7SjU+Nbnn+1+SVehSF4VR0qrpKZO1v+08DPuFJA/PZBNE3J51LNEk8vrM38GgSKfEcKV8sEULkQCRMy5CPTpM60XNR+/BcOFQtWHyA+/A6GY5Fh93xImCLT8CoP6qKr2Ipc+zqVlOaAtJtSXmXlXE5ZBSJ1lomkuWVp0+bWCLydOo9Rd2H88Tp42pad++fg0dbFQLxpRRxDZrYzne1tuHcW7HyfILhAWFyiFHXd1VWlhd0XB1l04G/1gbx67Q/wic1kfzblNX+ZWKVXSbjluNau+3NXpNr6BR9tX52izweZ34AnEoEbLMLmGvfiqFL0+kDwqqFMYQDKZL0I2zO+MNTp/ebo8AKGUVKGdkQGlyVACqbglr7OZO4YxpC3k1gjgcFzc+L/rmxdGjpgyeGShBlfIq7xVFFSISUTnIJU8EEsapG0dDvci18809KxD1cY1UtcvKmDjsSlHoqLgkIOPEPymYMnbonKgKO/tkX+EYJtAbS0XhbmemiTEpBqXThmRu61gYFRQil7ggquWlEt0xUL1n/VZltbcdd1T4J30qrsmTTUojSVTV7U0+TyL7S1eoYvqDGvp8UIvOh7Tvobs0c3uZzgy3CnJlkavGBMppNWWCZlXWHVDRoKt0JKLC9ULR1qvbbntJKysr2tzcFCdqlHPsBoV6W0RnWuSOiNiI5lnYzvwFKuK0PrG6qmQyqVOcUkGeo0B1sShEKRs1Vr3TMXIBqcM4yr0Jt4wK+d4hzcilSKIf1TWaoEAfqJIhpSYdBaeQm4uX/tSTbsT+sODjKqHKcLZly2lD52/M1UXiyKK4acMc83jSdsRzHETkbjutI9UoH9uMK6pNTmYwC2MFoi0sCguVC0r4McirQVSZMk7yUPGF3/NdXRTMAG2STc82PHGSLO929uAwWbrGZ/0qLkZrfp82ThxW2kJLPlRfjLo8bvES0IzjyBo+HwcPyC5KaXWi66IxA702Cq8hnjaDcc90fQEUGN4QdnhH4vbRZ589z/ZpgyIBV9bgEQUaDF5/tP1W+Qdqs/IKeO95KZ1u8mZRaBzzQ029OlNSY/wKScQR5JtGoeLAlj07EMgE7jjisOvx09sawacoATnkCPbr3lvRI22r8h/0ixMtwnerDnCH/nKkTa69oNHRQgWpVxAD+x2mX+Hyq8WdV4iQo9OjAY0Nuprxn5bPLpLf71fEsZSMouWtznthOUpaBpo3LNbzhPWscFZEPKTGgwfVgOH5z6Sw9PkwWhFBbSGVLEvVI4+pBuM7qaiu0MB9t8kN+Ld3J7ONYqVDvtvGZb94ULRdLzCxHSYXxajqh6fla+uVXZKvfnwKUiWiJfJ1+2RVuhq62pUbapRtp+UbRCyhkZHp7UWBQYFPR/MLxdQ+BahWJgr7qN0nPvIJ0eM3/b27W0TeAUtqO+I6D7q7jhbtTpXN7h2A9cxRS+GQt+DEYvI/+TVhF8jn9+sTFZZGvhqTPbckDrxX7mWjGmJIo2MJwZXCiYrKtHjwiNFmpw6qOzqluptGtf/JOV2fO6Xhqb9X26eeVUPno2p2mo3T3UL+qFlsQodDOuR/TEcfLBc32jJQyI9qW5N/e2RPXS+qvOzSUva+U/kgAyrLIgj855JhhhXyubJtA7kP4CqAoyXQTYGwWHW92JIiGRjqdrBrMAOS8CMr4ClyDkaZ85sdg98fMBDurGeOgGx8So3ZasKVIV4cVRfWVuwE/YiVYtHRrKojqC2ao/1X7ZdzNRprQ2MH0V2738eHbMsEP77LiwLeQJ7ZftjuYCSQSe6eI6JR+dfeK8fJUSzsavJjE6rOQ2f3byeUALMzuJ9uRXfkvt0OhitKFWm+c/LiKTltjFkqZCigz6NnsBDH0Do3yt2VUYxQSO0YdFIlCBpUwrI+cqRHkUeSOlZ+zKQi/b/bxUa2dndAl8qU2dzl10KuLejVSH9E769xvEAjU+brA016ePQGPYxxdh376BXeZDUpgoe9MrVrnGl1sqZGhgUhxarQYk1Cg8FeUWOLyYB8hBTHVmtrUPH5fF3mq9FTfaggge5q8RKjHH9S/IpPLy08Ixd0I2gojfbPLegDTTnqfAYFj+/Vtp4EED0oNNQukzweEaoQfEjU2qLf2gq2M7uOdYHJDVxQgEGquEGj7beiloFOtXmEgU6NI/9H/eoLZcFgXVfk+DSx5ldxc40YmRYYzH4I1FBUpO7K92uUNZUeL9EWwiyC9m3uU+qaVXFkQ0z2qqgcTfpt8eS6CP+K6OwQh+IevLZWocVx2d136iitYqBN2Ki8t1C117aImhpRUCfj5H4Hk4ydK4auEoGQCKGDFrrlo3ufu1qU0PKSocoOglYng6IKOUvLuiyRECFLBILCH5PrH1FfTZNYOS26Tqv4phmtP/qinOimF+UflO+ZYbldrQokgorYZYJO4U8IJya7B/UHELkR7Xu6Q6kDQ7JCloLEFYo6WQiwkGhtVX4ioRoyDKEXeV8fOu48I2MCGTSa7KUwmpKrCyWHyUgEo4W/ewtAni5EwzE6ikqPlsjteY/uDAzqS4ONWrFQ5fGzInjG69u2Vx/bkeXHj2PG9yoqOO6NuRbMjnfZBNeurh5XMHhqj+dOaO9o5CLBadHQL3K9HUYI2QwrSEh1oN4x1DpZrypSZjeTMcHOoOr8f4Y4BRNavpfN/WJyWtAo2w6ptvZ+BTkf8tdEQBv+bnFbxmxjqYGHtjTykvqAnr88eXH0kZUn6jxNZs7sRLaP+5WJOHVwVJusVcBfrhQpE+iUQpVLlu5iUy22LSvVLuPDqDLp+HIQi+Xi9klx8OA7ePdtKW1DXTmIozWKF4zq2mvrZGB1BjFVkixRpC2iasyCeecn8w3kjS6RrhZWse4i6mHde+QWfEN5l6dFokGNt46ozp9ZrFICRxugijIU6ojLcQpMxGsYVVWgllOIljoxbqm+s14Ou2IQ8g23/gXhpWC2sdWorL5J03jb4lvLxa92q2HZp4F9UXHgHgMDTTniulNKdqNDLyAKTSTnUQcR3hRlKNKJEvX5SqXMRPj2LLzrMlHSj8jC0mZOUqT3yMsdwMABQ0kZemmvnixL1A2JwKCoLBd9IY8ypVB0FooyL+F9Xb5yLNTfEdP6+q2ioEokCkVeWVbA1iVIWVSpq0bl+HwiHy3m5SrdsttMaWSSDCSxQDZBpeNHzeBOpRQpLlb1ZXmi4BpRhU6M1qhtpVicGheVE8ppG9RmfpfWvd1Pan1d9lREt09sahlLNA2LviWzwx9F1lWo1ofMzq1S+aMHZPh2tsuzxbF0dbviNUkVpNGIvTvuZbfElF/QIbPbrTOQ1UsK9osqMyG6LsrLPf+cLXqZHXJMP38EdVRQpH4yGeiM2BQqRb7x+1VXKeXzaaAO4xf1IY7XiDlbp99/Wo7r6iOnPqLHaZOzH22OouA0Ovos2nwRHdm/ohtJKnEmoU+sreruKhT42FEdD02Le0dln97Qxoar/JP5slxLBacb5OczOtF/UJ2N3TrNsprCtfrs2TUFqupFDB25/oiiiajY+KQ4fUAF3fmiER276pjaR9vFNeyZdOpdXRQsq11k8N8XkYxGHwHNDZpJYMG2FbH3yr5kOr/j9Bhc/e57ObZw0rLoe5vnTggrJpxDYnRMdk++6PbL6lgSFZfLmhoWiVqF6dVdfXcpv/By7Wdaa05IWKvCnhb0al/uhNzHHjMmgoFt55FlO7Ity5uosyT7ezlbwSm7Zbgf5V9l/m4/jaom2JGjwepFFB6UxX5BSAuf+IQmp6eVTN4r9jUJ10sI70k8kaOxsQe0QlrYyLIsXeug+3lYkS1fwKjMIkFWQnvv72VkOSOyKFAQS4sYoj0sxDza/ywm4rmYC2RwWxS4hmPekwTPa/KeMTGdY6LKu+4UHUWy+jCO6ZvYm4bARrV1qOuRo5p4dJ9KrTJ1WP1Zk8iMYEMR0PuHBlV4XaGcBduDLFuyJm2tpBzjS7IMntxacGTHHEGebGtaGXw4WMI2mH0sxziYbbbFcYRly55ztNyLlu/cryHH9ibpbeey9YBlzDOXOvEUoqkBk8LzwPwhTY6NKjdnb2qMX44nNT09IzB5oN/XaausFDE1pfq1Nd0Sj8qemcyqS0sreSnZY2M6SLXmn22QGxgUxYWa7vPs2hl+qJoa0dZ23ljN/P2JBXvrnmAUlP0g4nFZH/iOyN8vZrvPy653vrRq4RM3adqyleDAhc+7yEIRj7OVE2CnZNoyq+zZ97Gs83Yl85a1zcJwoWfu+j3EIU1b87KvRwyauIRkEk3eh+xcW8EwWphHh7z4BMuyzrdmWJgUuFlzhZV1zAKzyIxMCCuh/eyXYzlatEqE3S2sFp20KzUJogrtv32f/H6/7EOYSPwwggUxamnxpMkl77cQhbbHNrDdRzLPf1cXheERVNOe64WSX1gOYPDSNigZQ/jQjScf1NVXXmcGshcF29SEnEpUVhrTx6rKFW3eeZ9wKKS1Z9fE/VFhzYupeZFOq4rdNBpG0u2zyn/8G+K93drozlG4N6gPJK5XfiBX8wmUcoIq8CdFfb3YRJYf7X+qX42jvyoWTwki8gWiahhMqtU/rKbeed032Knx5lwtLDyv0XRaA8fYXn0dTJ7bTBkCbOPfd0kM5PO0nsEZ9GCrCULK8Y5Pg0o3x7XWkFTYZ4uxXMUTCbmuKx+ooRy1Dhv+FF8hIpUni8/plvr3igE0NjamwfsrVUYyi8wsLnJcUYJKhlHTCJp7DpFAgUJ0pv52jXBAY4xqgUE9mB3in+H18XMBXHeOwFJujC2svEOuEnGUm4+Ks3Zqq2Rp/tWIgTE1NVXIcWZNAvTbLJFoVsB+TPWJtDarGsXIL4rBWlGXI4N2K1cCdMuhmGp7fXr26jWFo2HR0iI754BueewFMfmkOOLTvWVl2vfFF3Ti+heUm/sLWl4+LZOe9T2CWXF3m1bnahQ/9WnxJ78o7q5Vy82l4jMNKvnOf1ayd1k8/JxyahLKKTGDcSR6QLOMyMVE2c8nDgjn4nxHO8SHiDYI/MptuVldi7biF4iCL3JOqy5hdpBB0BXDw/LX1Ii6OrUHAuq4AfEC4n2ZawZ1i9ukunhcc3g7UlpFOk80NQh8hizSwpj0woYCogwv216W5LIhfCHRuKZG0FXe74GIo5t+9REVNnYIrhDDwR3R7HtK7rgSWHLI3ft4CkMFcyn119SURYGzLrh+x/GjR1EgiChE1vwhNZ9MqDlrAk6ur8vK5J4+kNW/MT6vBpAvo7x4v/siPjUcuU6bfeXiCOo5gdqcFiUStjbqNxQd8umaZKOJbF9lV4xNUrglXiT5hpkrTl7k/Q4cELlePU0jSjfFGiKMJjfQ8xbKa0T0oYmJCd3XWW7QT/OIvBaByafxKVwFaBRtm+K27GfsExv/DBHNQwypOna/qH8HRHEhzDb7cLsI+8yk6YXcd3ZGNFW3qrLKhKivEZ2772sJ0iLWLuxPKnXff5V/dlb1YRQ7T+OMqMg/r9L8eUXuul40NCjSjh7OQoAUgEoCIYXbhpTvQ6X5MV2dH9ctxSk9t7igmx9slH+4R21tqIdpdbYe0ZHAgBqSKD+CnJhP0X8Kydep7O8nzzseo1vRNmT50NmPXKfFpaMib1yb9Ki7GnXPmA7sL8EkydlVz8VBNB1HXNOhLZt3P+KY8ZXcUoihBwcFg6iltU4XZZuc4sIpPY8ifKg0UanJmgXzWwwxH1G6I6iK+qCihHQq5soBHe/oEM89It5rKzZxgzo6viF37Ki4Mk/UW4IuhenSAJaJhg0FFaRcPlIyxF4Ze21IO6CLfd0iYquRk/owO4OiujBRqoBOkha0KBMciF0ruorFcKFobVB3XqU4WKvKtoPKK8wT95gJhuPHRaOjwx1HdOipYfm2Ai5N+stLbftS0C9EWxW3A+IJ1OigouvO7wOACjmhfmxxMmYm8rSpa1paFAteuP81k0HFxQR3is6Eoje2ybK2zVSxWKOwejQeNSgnc35AO5zHPkS7Qf/Veu0aCqHmU/UiJy7WUDC5C121SwZAtVkU9Sa4c0rnp9ONiNi2BWHH+D9xk7A8FoSOjqxFAZFKiVBK4QgK+fIUDKaV4cGyolF1JRLqicUUCyOcXBmUXFqQp0gkIjuZFNgKEVV/LFdt0bR8oZBO+n1mIYkhP3610S9wFY1asq1xmQDPiOhxxIBPo9F21eAonOmfyROae9bWcwV5Gjxxp+j3fC8HEKOI9ri2o7EDGmDdY+hdUsbEPYUB3xwGhQOo27ddh5FIRKsfXTW71BEM31tBt9cfHXGZT5xoNwvGdaiDgFpjWW0bi727i0IbbSqhQjYekVNGCjFOlL06yAiiCI257CLRM+LgeKv5qCCkw2RvaYOCB8WRcjk4OlvnV2O1bcLUz9OyPiiaShR73Nb8QUdYlvyYxOHJZI76brlVFbfeqmtqOzXOgh4rRY8/vqrNx4/LV2sp4DryLVRoMnKD3Btdncif1Y2jKBSq05VXlutD+1De4WodpOvnzznr2aCbQCV7YLI/wYyWvIH64v6j8rnzgpTc7MnHQUzWCY+Z8TJMhrGxAWT1IWcSsZa1vc6E3oPc2XXhZHJEhAXDXmL1jMzsLFPG1HSRd7HolMPNqqtD5Q9Mq290RomafoUGu7Q0NqD5I2UaAXXZtq4M+GU76AiWmYSy71+FYtWeqaK8X9xxhU75TczKjud2jojUHTJZrTBb72lk457XvxyQPW2eYSinD+ptkTO9GMhfRulwTTsdsSwRyDZ/zgmSl9z2Vhqt3IMiEVN3Fujwsb1x+Zfjah5LuM+LuF/87rioQPYQWr1QtraMVOBRhxtT2tLBMYU7g6LU0JE8d7mtYK6jiQ+hEmY0PIpobxPl27vECUx9zcx47bxifu+5o0c5Dbkad9FwH6qouHA5TM6PLEDHCt6kvgutZ82Iw9s7riPZx3J9YmBYlB7RxHUTcrtcUYBsx9HU2bNi4B5N7LPVV3mHeoY+IMYDgiNiYVFcdpliKyvaf7sjmt+jmfFR7ev4gCh5WHP7zyp5xRViKqIRZ0FFR24VSw+p4YohVU3WmD55GOPHuXFQ5JdoYcFVJHLYK/+UWMszNOXLqIhCjTJqyhxz5UyiwCyyXVfNLWizyKtHB6OU2W5WPbkeUnK7bhxM/3BADZ3osm5kDaDLb0MN9cj1m7Z1FiY0FVkUxEXfV0WyZoucMM9CXQ6yaZG92rhtTltff3cXhdyRKxWe2UO7CXuDE4yz7lpbXLUpylF+YYFCqWYVFyCnHBmabVsV3G92DevmujW3SNGT3qArKhINAWOmqkBGOywQiS4Rb1N2xyvDaL0PF96gNCnd93SFFm+3NAZ6/nRAtVc+o0CgTQXtHSrtGNdUe5V6LdTUjGrSZfo4jsZuv10vvPiiUicrdddQiwJtlupDpVrsR8XBpOLkCYrVW7GL//0dymmPA3+JIXU9UL9jwi3IL1D99Z/TOsbu/MlP3y+r5Ho1UaJPOeh9mWA3P+K9CWUoDxoxuORi7z6l7Ep7WMsWz8/p0geFkxYbaANXDoU7Uw4GSkVPiQliusR3Cjd0Kv/4zUokUDSvVPkFKI8G5TmDotiUp6i0RHk+n5oxAyhIWpAvUl0iGtWqhZJjCflq0yopKVF1NKyx5Vzl+LPNhBVG2/xVxFy97Pm0yn+vU/Qb9Fd8YEC5d10r7rAED5hrehCf3RS2N9juLddGne3F2LiCm1TR2S5rBT2QeU4KFUW9xQnj0HRALbSom9TPlWsYUDgP5b+IZ7Y4qyVs9Z2ueJvrSoUdV6r4aZMDorBUG+75OS2ypTWGuhMYU0U9WqdI4aRjTIAFqNSPnISron9VKpru01oRiubhmQiLBAGVeJNS6WCdmNswsOmET+n2LgWSDSrmLtmpyEXpIgDxAF4f3/me65h2rQBBsWgLiNyIYF3Np8d0xve8ok9FReemKCwSz3xQJVeXyEpbImzKVrL7WTZ7w6fTiCAqLUZlKUTEry3ahxJ2jMFksl/RqId8qjCUHO95EM93tabdaT83ystVY9uqrAzJosC8jw9RWKhoU0p5qV7V51aqJ4I34Vec98zdcoqY3C1o67qSRNToN23XNItKvonWvZ2DxS0qoVXgE/n3CH+pDFW9X0FQqsQS/eXidIW4wRLXPiCofHcXBWgUE7dogcksdMiEducuoNd0sujTubq79251PnBYH2n36eToqgxU0NJ4Fikdxcgd9WCka2uit0cciBvb2jgyCJ3zUU8+TAathiT6YR8qstDY/jH5x225QRTGr2FnRR8pWNeHp/ernXa1jFXpGgcdWUcTnUMKElAAv3wYSGpneFUsm+326CC6P4hKiQp6VTxuzrlQg1b6M9mULiAbzwlQr+uqcX+26cGvW9u69XDe13XgyAGFwmGNf/FjordPEFMgYCJkwb8Vx2CtId8enWuAdxBYNzEhCgt1EEMRbifWxbVn1RAt3UG0djHJa+9Q6/XGvmtZ18nne0bFDKiOHrlDruyyoBgYkNPfL6fpfnXSrSSNgh7ReJVhJ7URH6pQ+NiQBkYfNYlsbnLlBHplU+0NqHFhRYVvSbAu1w3rPVf/jRrKjImipKREtddfLsYcYU+IkM+YfkAwp/VTtyowPaKhcXfbjOdUaXxqU7Y1o4+TL4JB9X/lkCoHkW3bOvLAhmgxisoGR3WVr1HDg6j65+A+Suehs1ejSBDBuHw+W5OB8T3PXSOzq7YFuWoMPalC24N2Mn8Jz4uKWx8THcU64jNKhpWHfB9GjDiid0N0jMsusBVecuWPoBxy9GHuVmo925zojbsqRHlEdPaJ3AnhjIjGEVFYufO5LsIq10EGFPT5xMczEdLb72nj31JaxtcQdo8xk3mZ344w4cW17C0W20qPfw9kTWZeMNaGgCAsbEu+LaRYtsLjl1EOLOEzi39wbU3YlvzjKM8K6wnf8gXLEhgZ0YTramIqV7bbnhX71KnCwkY1NFyvRiY99gNbMCaOcB7Y4gwpzTGrtYY1HW6PaoolFZcihnyC7ahwu9SRU3shsM4eMnBAhBbF+LjotkVyQjD5bi8K5uVCBLNMPJ3iAo4kK/wRhUgqvwz1n0SR4bCiUUOWtiNTlYMImM6bcYLtlKQuhl22QZPLKOJF2U5Po6Hb0cdAV/WHlVsfVk4wLLtoUH11yOlEsKAH12qVHEc3cVzzWHJBfiu8I5lP+B0MfPfEHmRqnjSCEi+Zd/P392vz/myN76j2M6vLeb9CJ0OyopaiVxWo1drGwteBajijz1OvPFBu2JDg7VmWUkRxSFsLqQ+DWSYu2pu23y/YKZx6hajxbMBhQUg+7Es3kTmOSWMJys1t1sLCY6KgXFQ2aCRwuSqGf1+Alnw+zfmSMv6BuOh5VLhR9Wc4532I0iJx9lHlVfaq5olN9Yf8qs02s0VDanjvFUqeLBF1roaPzKplbA8TTCmy9/vU+83LjWnTCil81bXbx682/5e2o+IWBEGFsY3JMScs10XgqC75JZX6FkRTo04kasThGvn3VcltzFfbO+wbpeRonvqtcbN/P0rdvPe5xRhyOzghX3Bc3U/cJaqrZFmW+vreDoWHwBK35ogORx9ZRTlhlGej/TmI9gYxOCbGUGlZqT4WGtcVFopha5yg7K2Uk7XCo2UB41Nob0fpalQ9gKBJzDWIluNipVbB1RJ1zCKKHIUDcVlH1hQLn1BLuyXCpo0baFA7n942CYbf7j36Ba3q9zT0WgwrbMY5fuxYJhBypyyToam4RvCsqCzS4aFMdPGJHePOUJmUiFXUE0bvn5qSbbXpOBHl5Vh64oMdypnPUX0T56HwQnhm9OKB86l7douF6CsxRIKNiIRZ3HowdR+kX2FfWuG4pWBnSI7Tr74AGs7KC9FQ2KDuiovT/eyUkPYKrv1nWBR8wqkWH94n58Pjys17QPi3bYKp7AKcfEq4xxVrQyUfRDSjUGhDlZXVysYUb2Zfk4dxyux4kYhMspkLV8DDuajYW4GTIP95PgdLLbkN+pclyF9jOlytXSL33aT0vYiUza0pMl1pvkfnlAqev/N5FLyBaOve9pCqNm5SE3nq42qVcEJFRDVJ6faEnUS4ZlHMw2ypZ8FsmfMi2uKocjBUAYRFdbnwG26k63LLVFlVLEaLZZyTQdmgDUKmzhMIf4Xwj4vjF3i3ze2/C6jQad4viiZF7YYZbI1mQkhHUF4YJSmXj7CoqxOOo0Yat3DniZBfq301ijOo4qNX78q0lxJOvkrHP6fooSoFWhzdNNDtLX45asJVHwbG6C9Ny7ZR/Rgit0AkbxVuVn4MvxmUaa/etn4PhsQzR8UH0wJHqfZ7le6oEFeVi+ERHT36u8oP1SpIUlXs7SO7oJTliefGRDSj6SXF5t4+hdtIyuGQoFEucdXxtABZrq2GB0cv4XmOKM0VUVS7htwwxjG7tKyUF1MSJ1uB6VGQ5i3qmjyQRbFIx2UUPkclJSlV16Ce2qCODMcE66JnTFROiZESBSbSqkkhyoIiXiOoUT0VuqdmUVxlGFpLKfXySVjaWnByckSRK06gSR8qL9vUkSlXk5xQMw2CSjV6TtymeFzpQMBj043ICcdVTa6Kg0GlKyuVthPypYOqJlcOjhwcVZMrPwYumleZp+Jqn5LV1SJWJCocJSxzPJVnKd+uVGpsnwyFdVA+F9XWlijWF1NpOefTf4cR66iExvNpLgiKvJgZQ2UIK1fhhgLFaVVuWa7xR2CUPR8oSZUgYJSjGgSNaiCTA3zD1FlJk1LVfbKIK3vHk8r+30bxPFTt9yuRSIgISnmLbzCNYul3fVGwBCnZPKBF54QKLVsPDQ7tCBraYXO3LJ23UuVYXj6GbblopPIlykOTqNizcQ5iKb07by8ToqZb1h1NwsloYheWtzv+zmVQBv2AaG/XcvmNmmQbqmmBrOVlGc0lpBc2D8ga9+ouZIm5DAbaESyYuh1F5NoKYe/RKWMyaA9LFgEv/mHZ3MNC0SJ078OW0mUY2zvtyjivLWoEjQa5lMmBfQnY7iQVmrQeUOXkhNpPnVIPPSqh2PSBBkQtGsJSHmie/fJndWzLskRRVPYj0yphQF37r5IVwOs/lmBRViQi6+59ovtF+cbR/G8dN5MS44KkFhYsDd6ECv/tC149hgUJMXpW5GxulzkfE2EL4viSmLG1XIHosExcjGWiibEbhVUv7GGVLBeqx1pQO8Hzgi8vSQoLZA3cLQjLspZkMS6svXfYz7MkF0csL4tAXOz/qHfMNrky3vZ5YWFNm2xuGe3Ww8Qve+OxD1uFoLkFS+E1tERSFveJ5S7tD7bJN4cX2zAtiGjx+JLsGVtW+YjoukxWd7cOdPfKHR/Tgdvfo9gDPbpvdlpd/75EXV98UAT+ULmUaxRrG4/v/Y3lF3j5SsbHxEZyxzm2hVqwVJNIyJqY0DIVgjZ1d3eruLjYmJV7GhSv7dZ9TOqysjIduOsuLfsHlFou071MKWbFFCWqe5hSGuT3+bT/zv3aPJurkXvPiq4T4j1h9TvTKgAtzPq0ErxTS8s3bsU8hEBz9Gp5+QHNMqQwd2iJblmcVWXlabV3rGz3lfOkTOxrN2PoegSTqiOqbtY15VF0+Peh9wYMSm6LNmghon5nRgUUycIDhSybNrOqLC202vJbvcIq3hp7ixjFcAlLBFH3LDqbn6+BgQHRgJbrzAJUtoQ6Drzri8JjghrhfEd5pz4phw8rZ4/ELBcVl52c7u+S9LK9nS/nakV2pNVDkBShmCg327HU29zv7Y6/UykvR5G+JlGPhspQXTKlJNvMo9Og0lTKaPQ+lPfoi9t8TDYiF30oM7DIExsbwnaUs/I7+sTpLytke6YmyxKNjQoEkqqpuVVwvY5iaYZc1ZDSIVCiHTGUEH2roqlKLOylffqVSWBfx7Ydt4pdOSn62Qriys2N6sBytyYni7SxUafYeEyByjyZXM1xBUhu8RvdQK5CGYXBdcVDDym/KKQ7H+1TIBFQrK1Hg7aruqZNYaGWRjRBTId5Ttz/lOwZNHE4opwcb8eZm6vh5tvkJPxiNiXIMfmfR5v2XtBsWzQ2ioI8kYtS16Ce9If1gdse83Zgrtq/+ZA6OlDF3LpGZ76qK/mKQllUBu9Eyvzo2rjRCh95JE/L9qLSpPc8Ny+jRadScu246nP/t6BHFjsjbi8kvli7ag/XqyKFxpswJrT3NcmardZGMKgIPToy8bwoH9XV104pUY1SuIJKkYqJQFQMoub+flE+K9LtouBhE/NSOKr6+x/V+KElDSw8qSNfulxfeaxNPeUxVVo5ipWgZIWtBjtP2Um4ThIz9DKbFWJt3GjZTZi2uRqx7NVTGZqaMo7okOuKZFIpgoKoKClRNB5XZb2txtlGNaY6NV8xq6niYjFZpmLnPhVHNlRRY4mHGk0fLq9VU3GTnFnU0FKkpvCsmJkRJUH5S/2qra1VM6iRRrUWtqrpFrb6iw3KJaZUqko5JGRTrhQxQaWCwUJdfXVafr9pq+22Cei8nCV492zc+ZuViyrsXeMpz1acHPnxa40ehXFFnokefwp09fETOjHnE6NnxFSF8vMbVZKLZqqqFApdq5ZdfSQNujWAFmsq1EixipqLLmmuv+R8ClG+CvwDBB6k+DvX82DqYV4+8CRQdKm3gDeBH1366ZfyKQDGMLUAEAr+Aa7zd7vO+hG89mP4658A8H3v1zAYavXQzrO/z7v7CYWmSSS6IHIYNxTE9X2fH2Ho3QF+h0n+12sBVvNXCdthfvAH34WPPgN5eSZfwz/A14BwWFjRH3D8s5/FmnsL3xtP8kf/87/g2BHKOcnTlsVoJEK7/SPC4d8APsevIH6bf+C/R17jN4Ef/0fgP/wjvP41Kv+bw/Dv+IB+oDarxDYQAe/fTCcJA072iyUxnP7AP7yew7/81iz/jQb+lAHe+v0f8/obQZj6Dvh/ip1jEeYbUB3hlwZ/yNpkDtS7Jt/CN34d6x/zCX5zldfdIn58eIZzQQdFPwPAfy6E34v+mK8eupGTn/47LGeGvI9vkNPq5c3w5fD6K19l7PU3KHv1++D+kK6nztE4fPV2iddC4F81f7sOw7/4Ai2p98I/2Hz/JXD+/it8++9+zZTJOof7X38d3//tJ/SH3yL4xvV8MXAXP2VHEpBL/vzNG1D0skkB8PXUD/i29W0ORbLyKUS2/3zr5A9YjgLfj2MFOll6+B7qq/+KMJkUAhaQi+sGCOQGIRgm7cI+aw2OV2C/EiPynQh/VVrO7w+MmnQZX46ivDCfDYV4NS+Pr/zZ3fDqn/ELX/l3/GP1FXz/k5cTWurB/v7jnD7XxMd6oaU9AaEUBOKQ93X4wFuQ+hnRr7n80W98lz/+t3fwlct/iROP/w/+x08W+dunX+bUBhz+23NUBl8DooQAmwif5xXe5DtEPvNX8OXfh+YIdHsv/P8D/mMECPI3f+Pwx38Q5icfsgjVvsniwI/4/vBPoW8egnEc9zShCERTEaL+ON8Np3g1GIS8EEH7Lwk6PyAUsOAbXs6EUJhoMIqVgkg0QNRJmTEVtLGDFpFIhCgQJUo0ECNqAyxAZJgQ45wd+yBXXVXID/kAHV0VpEZK4dlG3nftUTreeJXDh3+w1SKmCW3YkS0k6xPd+VX/AH91bldWmh+c42V+yBu8wVu8Ze73AzgM/CvgF774Bb7wmzaRf/9d+F4ugXiEYCRCaSgPv/slYrseE8DPr9o5fDsc5geREMFY8KL9dLtwl/hZB0G+WHpMzhNxBVsR7t7OjH8umfBW5cKsFdEgEga0lax7nG2zx3kSUoZszwcmhV0uW0FdYALE0u962V2tTR4V+IxTd3Ln8Xa6lbee1sSHfArmoMmp50TYhL4DohWRRgcPoYUNL0jLNRrIR1bWNe33qwKfQhitfgs6OTm5/Zy1Nc2TzSvUIbu8R07/sLaJvSyVl0+opnVcDF7CLjD7/kemhOVTTd2kRvo3TC7b6edMOVsPit98Sbi2sNcUdII6MvSwqK70rm9WJDar0YVHTTmOrMoJGR8HNga1YaH2HnSyJWC4ik58SGt2rUcXYlImOsPI8uC7ThDZdq7o6ROJYjF9lYnWzUNON1o/2Sfb7vKeXyhoFO5pMT0obFttszeonRZx67iYL9Dj/SNKZExefbw9JHOXmHwKIU2cMD6dFz+edXxt+28rhdx5TD0EIxo6dlDVNnrQtnX8ssvEZe8T9u+rvPx96n94TIweklWNyRXhv8aUawlhFwrnBkGbDsZL1deLNq6ZUu0ff108vSqeuFU8MSmeOiY6T2jGt6A8yuTDUcgxtA4jYNLTesSNWLY45KWXfAIxPazm+zd1f+uspkO2Hq9DD435dfzQISUSCX21+4xKyy8X1VHBojeH+AyTrp3Vd1iRQTKWaIklRYIRWbbhP8JBOD61gPIpFHSoClRBRGSACt58ULiK7C4zTxAOq2NgQLmTaMQ3Kf/oGSUmT3q5F8oV2l+toZF2TdIkOKO6ulmVVCEsV6w5AlchJ6RAwBGE5DiubMcWIZ+CgYBC/kPy+XyGguKfQbLBHq43zzGG6BzWc2c+JbhJHB5TbOaIvsysrirO0+hVps5yc1FHBzKxOS+pC1ura6aPX5JV6FIXhfLyPNXVRVTUg564An1k40Y5zrrI4sf/55aMPTdClpOwCBW90CNf0iwKG7AjX8LuyRlKFGaXk7GQLfqKNJeGLCnGmJnenrwN7ctHxZkQ+lxEc6bBjF05n3w1cL1KS2+T48RVXn5WhhjMr5Mnka94UoTLZWFiM8ow/puesqjKyJENCp4tO38xK9+JES+iRL54p0jUCF4Q4RxD7jZULtpqxbWFii+NKNldJm6xRCViwhJcIC9xefnW33lXDehA8bUiOilyNjQ+jqomvOOJpOhOGCx52c7+knknH65KKFH1JBobMwl4otnPisWUf8MRNeaxM3ixGPGrMdHnAR5CDbJSHSpNpkQsT4uFVys/0CHKNpVnFypcHzZ+hQSGmiAfEYgIp0OU5KusImomwfJywSntK3B0T1eZ7sh7StFMcpYijFPwUvtuCJV0PC7XTetsmUHNlJ/dDZ44KjhjYhlWEKeRQ0Ql3CEoU4llqaatTbR3e3mim0VJvkk5GuhUUWGnOsvy1HpzStaHOhQO9eiG9ds0FU7roD+moiLUWh5TTlnOtkmt2BKu17aWeSZgFKsqw6rZsKOMO8u8wsP6//P23uF1XNe5929mzpx+Dg56rwQBkCAaCzpIVIIACRIsIEESoLooqstWr66yLMuymiVLzrVjy7Itt7jHLY67b+zEyU3uzU2c2E5cZVuVIsWO9/tjzwEOGgnaut88z3pwMLNnz549u671rnclKJCxR1nKiaBqL/BTvCSgTRetlhtvki8rYahPisOioF60O6LGaxsx5Es4KqRBSc/1taD7mG1vzAKFOSjIUQKUhqtUNtFMUKQKkeuNEz6fcgoKFCxBRXaJnKLVCpTUehDRuHwVCRUW5aiUTMFqpS8r01W3zPAoRXA0RoOmKTXWosmVqWUyPgF/ko1pCXJ9YbnizmOCewWWiik2qtrcLJWGMwW5Ir1Y/rgJMlQVRcUNpm2FQignp0CQLbd4lTZZlrYQFWS+vpNCX99Kje0tUfNVPtkJZnvizWOMrNaC9MIWHk53kShLc6WlZYaxchHJAd1C63Rc3ibMgHKue2bhodcxPz6wD9k7bdlj9oJ66TYvj7IlvIfThMaSu5f9iM457++gXgux+T4RStd47risvpkdWFubb1ac2h5M/ff0FIpt1cYO0dunRu+660M+x5HPskwAj4hPVm6uOnvvUqT8OlHeIB9XyirIklP/pFj9frF6h1jXLPuSfjnVjqG2xvK+1fp5dUMbKijcNWMkuywuWttFYbeonvB2b963q0CsMv4o9CJw5WAoBexB1J2OR7Lm866blV/B3Lr02pnPv11Nb9qvyjsDslrRjrFSTeuws/fIaTikDZV1KZNWoeAyraJRub25M2UqQ6xGO9PLFJi4QSM/dNWb9NT12cbgC2Jfr1jZpcU8on34ZIIzuSnnUtJkIQ5tEKGQeT/LkjGGm8hbWJYHhfUp7fKEBoc2C7tM/kivut7yXVF6qdi0RSS6tH1Xq3qce5XLW0VXs/B/SSSuUdu6q3VNT60uDdXJOXSlcrKytArUaKNlthnMbgE1sE3gmvJ1OPLFNpjfvYjMCkHTdLnbMAukHRftlD3kl0W/HN+YDANBqfEJ2X5A231md5qXZyILAkpkZWnNO/vFxZ9XKLRM7e2I3hzRecU0jBkQxSi4PKgODolF7Czz5HwYapcqVWjndeOyLUs7bIQTElxz9jL5ljKOLXGsS44VOLKw9MB93UrPNnBcq39IPem7vDR1gkYN0+45d3qe1jtT89mlId6qKDmK9DyqT1o+/Q1lgjWv76SwljLl7btW/c6I6sbTVA8y1Aj5pkCzIITuwh0oC7HJ0my88FkkGDxnxTsYp7EQxmizkPOLxblC9q1Uqu/Emv41Yjlq6mrSinUrllbWs0hfFdp3yPs/gHDneIZfhqEKibQLK6DLJ56Rta7WI9iLKBjc7g0anoQxdR71xEKwRnUYo9RbxtG26wb04coLVJY1LsbGlVdYqP6tWwV1ilOvraA1ZeV6z7W3qHkyQ2v2rRU1aOXKlWrs6hLbHtJ8rhpPdiPiKMsXnXZ0C18+oJX2ZkGtwnRpB0GlrcnUcnaKwoASK9CWLck8JtTGfrOjiyAa8rX6K5fIdu/Smo0bxfbthgMp9ZmxgNi2Q1CuHQ0HlJ5/udyrf6Rap07DD1wuWq4SY2NKlPdrxxgKtCIIixW7RHSDjKphTKSNiTEjq8fGZNWNKZq1T1ZdnSLNjVqTh7BXifFtun/1HXJr7PkLBk8CGOz8PvbJRNG6cLq97Z1OVykS6aqvvluBpsyU+ztE4y7hdKpvRaluPOgoxh7ZBzMUju0RFT7RFlJZ5ogyfdUivF80XK9oe1BhsuSQ8PpZl4cgqxUpuHZA1KPAXuR6iL8MUIAugaN9GFXDnj2mrFYY4bhaKFbChniRrMiIKgYr1PqR94lok4zKbauIFik6Tgo1CIYtOM1R7RVhhZtiYiSg5dV1Kk9DFThKnXjOS9Z4z9nj/V+NMmOZKltXJtaiNUnEDgWaHZPAJ+NTFZXFCq1ms2BELK8WaYbepQRU0X25wFa0eo38ayKq50YtSmcSCokdO7y6P5sszHG1mHTTrUIKNZn9DkXu8/xrwruEnTPrfSKev1iYqIGuzlJnRhUhItvjjwuxUwkyBMEljfVLNjQf4xTPffTDfOPMF/iXj7/CPwPwN8Dv4NMw2wZ3ChMtfc7xPPAVYaJYL+E4fhxOn553OsCMbe4MsAFjhNvLNZzGN5MwAgTMfvZ4kGkbUGamn3SixoCalQXD7wE6GOfduLhMHTlOPJLOL3/5z/zHH/6DtNJSiNZCpGVp5U49MuDHQfjXj08C0O+D7gvmVPtpjEHZ3wNWkE//9RR68YQ5RwbH+31cUNbIhb4ecvfCpfvAenUcpgrY44f+9V10lOXRiY+T7OORj8PnPv91PnTyZwRfnCLj737MCz7xo+/a1O+v5M5DCb508Si/et7iu3/3PK/9/jDHnj8FJ9L413/9V/7pu9+Hz70J+M389wliIqUfhhN7j3DYvCJ66jecjH2ZidzneI1/4DNs4czxE5zkFTglXn0JvvcvcSiNQum3+WHpC/z8lr+Eo3HQSnacugaHT3PzG7fTWX8YJCZSn/uq4HOHgZN8ZscfWf72BPfkvYEBHefMB1YQOfZddr7SxJk9mRx+zcfU6AMw8QSceie8OQItFqx/GzyezvZ1vcQrGjl2/23w8BGOZF2DXlvH0Y6nODb2JpgKwS9+SrSpBtZvYrLtfsYeHiMUMoiEkeQ7A/54nL/1fx7S/4GIHSWYeRNbRj5O7vXXQ2Qcdq5n8kwhx098nKnjr8K1mVg2XMfv4fj3Qd/jyK/+m09+5Qyv8ixTz8JrPc/Cz0/DD4/RfOILlDlD8Noz8L8e4sgPjvPawPOcKQhDehhifyQzI5cEYzjrE8SajGESSuH4ek58L8Kp5wrZzH5scjnBH4khPk8modPw7LOmN2oDkHEKODHvkw8dfo1M33f4+Ylf8e+fvZ3OE8+zjONs2/Z5Es6vOfLxjBnUhIDj4DuVSeBn65n646vwqjhx4jgnzyRHhZTBIggUY6y1+UAMCIehMAiPA9nAHsDv3XZmO/x73KBLNg1yZuoNnHztJKzu4NiyQi/TU54MAAUQmIA948B+ZA9xfP8DsPcB6B6FgiOwz8/JSx7k5T98G5ii+I+i+R8hlP4aUAM7YpAbhsJChoBsMiHzGPg+41mKHeAxDGBj7vHRBc4tfnwr9i1+4/6GYN/nsP7mQzABHPsUTP0BiEBsJ/hPc5TjCJjiiPliR1JzSeMorUwh4DDHeIWXOcEcs/bix1J3Cix1trMsMbQUPPX5SrWSMMlimFaVgFGnxEA2I2YFZmVr2I9uvwldUToisEXlkLjBrDS2bi3QRmvdDCzSNmqw4e2OfJtQHsNqf9cmvfGdO9R0T4k23PN1sTpD1C9uVB9erNybUVsnuvBCc29jQ52uqZit619nrVOOlSM2WiKEnvj4k7K6PJ3+DTtF+50qaPo7ta5dp5UWWm4jrA2CTNnv2Sgr4peVa8lq6Rfcpdjua7Sh19YV7xtWS2CbBm+7R1lvukrtna4se0S2ZYkOSy1N6IrVAW1koxieFHQJUJjINJ56nniqIEDk58q3dq3nn2LJ2rBeW5591vhFrGlXTlOTmtubxXXVit1xu3rv+ZKG7xkQ99wq7mkVV79F0C4sS5ZtG3WSbU+HyEzqbyvwgAWW174sZNXbctYguxMNs0zwBln4jb7/FkSkVtjXmlWiXaqgVac+ywQ791mWIZ2zTTyFImytI6wBa7PHf98rqtdqpGalHMvWFmtUlp0S/2K9pWXxYdUQVkvLZ3RZ7kVi4+dVF9yl8pFMWXaPF8bRi9+QUn9DW5+QbTnaNifOQA9mN3sNW2QnOfhBVhPacmibWSEPeXXSigovPKTGwdWiGY1cfaF67PVK22qJCLJ6TGzv1VhaxbjKRh7Ueusez0nK7KybGFHzrH67eN8r3v203vzle0RNlt794CbFPeZNqwcRQxabxRx4emZGhrral+Bs14dGnx3V4B2D4nHEVYiVK03sh+Tuw07td9ZMeW1LDJu6arAsFW1GxmBt1C4tWJ6dzfK+q631WIpbjoElWzN51dq2rsSzKYxUKBxepVs3NivPWi2sZlG7Ulx3nSzLFoxo4xByZ8WVqNViEdzOS1oQueiBwKDSh0LTsVAYNtqQvnWWuGNYtCKuXyGuKjc+S42HtPWNqzTkGrvoLY6lyCbzfdpubVPj7Y26o/72pY31f/KkUFU1L7bxtGRnywVVUKRZlBZ/lkQEYRUz3xCcMYqctHrt379Bm5yPquCeMuWsR5VZqIZqlVmWqqs7VdXtqmR5hdaUVmvZY/vVEb5ENVkYR6GJLF17AwoUIMgRmZaiTrbBCs+j8ojIGF+zlPTOPBdiKWfaaS8mJmdTINeSpowDM+q2zg9kG+/uMKLcFtYyRevHtX71qFy3R0HaVHboSlFaqvHsbPktS1QcELuyBJXy5ZcpM9NS1/IuOXkeBXJ+vsqfeFz+RNr0c1bE0ZZ8S1lkzXJCdECZFGkuCdg88ftFWprWgFZnfkBXXv33qi1t0ni4VP4Pf0T+4XcrMZZQVllEmWWVKqFSZZ7evYPZ0bvSMLQB5RUV6uycPZiEyVAkM1tFN6H8q55RQVGP2LRclCIrHXUSkvFEtYS/2niF2lHNkLGF5Cem1pQ8VzADNghSqQRPKYsDCmMWHcahr0EwoJy54REzbIV9b1AERwaXHtcMDXlQlJbOhELsLhAlKw06K4qyeYPAVnV1teBisX6/JstMWdKYb6PqAH3zjdViuyWWV2l/FfKlo2CRATnkgRKEhF1m/FccRKZRbcVBfUTVREhNW+5WLKv8vPpcBcbzeeWGJmXe/zZRg7IeqvQCGKHyjHL5Hf80caC5zxFUqswt0sH0fV7fyTb9JRaRXeTX8uXjM88Jody0XGVXZBs1XRqCbFWRGq9iXKz3m0XSvLHG/I2Bgjko6YUNHrvB3LGCOfYeT6IkSfpQ+op05azLUVo3qrwT9WALqkQQlZaVKkSjskBWAR4t+OspfYIiHRq7VbFwmiZB1ghidIa9gOIc409THhWlYQNOWFeq3L0xZVvIfwANWCiUjXBQYllC8cq4KmOV/48mBQfxAOKSZjPbLvJyIVA7NWLWx/0zpL5e1NZqJQHFp+mkQyoADRMU2LJCISWCvaqzi9Q27te6CdQ0/lHdYg3phpYHddn6oFauadIQreoMoaCFbGwFCaoatHoX6nLRzew1utExRAbaOGSMbmt34qGUEjJ8TMVaVO8+V3o9fe86zKAVDIraRvH2darxzQTcAfSehy6WY9u6h3G9gzG5uEpvHdLe1RMKBCYUYbua69bJvixNsFN0RMWtjhjZKmIzcaNbslvlVhiOFXLH1diL4rhyccWQ4YHyV84vq4WlYKDJUJgsQjw23RYCZte2hl7Vr2rQihhqD6GOUfQIJrxkMajQQrXBJC+NJ7mIPrTKXaUOt0NbGNGysjJtaOsV/lQAQ4EIlqqmKahlV7eqtiGkXZ94p66+Hg1ZTIduNdK6YFn9zLYrFTOXbdOSn5AyQTfbKG03uhQPtrysTAy9S7SERCUaDg+r8IF00YBgg0pKCtUxHekqaqKbRX2CNPn99XIS2fOilbW0tCjs9ZPqvbbey5hidMqsOFPT+tXKB+RgazfNpu+5KGmXqwDlEJMBdpiVZSBkBunRfSjs0W3fzDqVEtcuWBq3lR1WU8DY6Vqawxq49Y3KrclV6B1dsqKuwqA1Wxp0ZVpIBjmV3Cn4BGsVy0a3vAdd0d4nGp425ctIl7MCrVuHzIJqcJHnl6qF/GkCvAU5xdIQm9H4nzCWrFiBGjoRW41jafLbhTE7sdvJUxllJn0YGbj2OhFBq+pXKZbcRV/o9ecAqgfV/gllmS8BgaPR0dUKh/2CcVnDwxr/8E3mehcGheSixjFUsydDWMOCcQNt9vprI3Mc4zz5fzcpHGDh0IopEuXPo5qeK2WOoxLHkXG93+VV3jblge5gSCuIq27nTt3fG9QNeeXyBVrkCyDHH5KLq3L8s1hOd2xFA2HjQTrAgByQ4zeNMJQ0kvsRlgko4gP5zjZAnk3q68XBgwK03FelfDtfDN4hMjeJ8Hyjm7//KRnyQb8GiKt+ZauystYbNJYXaKWffmX1Zwn8wtcmQo3Cv0ZYliKgtTRolpHM9gsXrWSlaqlVfX+9BgvSdcGC3y6qzV2bzVa2baF36jCDQCGi0wxAyZViFWaQrvcbD+jpASgNEykKBG0C12yLXeSsdORr9snf7FdFfrc6Vz0g9qWJDtNJ94HKiQo2Cz9yXVc9l12mYHnBecS38GuxCSOXXK2iXtdxi8rINXw53oDoB3Fzvnj+KpEZEDYKDLnafZ3l9QFXtm0r1OPTBb0XqGBzjVh9meB6wTfV3t6noncXmS3+nOfuw7Ci3uDP1xD9svCpk7isJG8VyBjIvy7sdfJ3htXZlySCmwvksARjCkbRX96K6jLWa/0DrQqkG8Oxu3qjrFiGejqQL9l3HWaXKx+11yJfKyJ/t8dSbMS92ZVdY+v+7lFF3YB2g1o70GUR1InfQyOmiIXcCAr6HOEzC6L188o7AyZYyUqzY52TzzK8Rc0C+eMuTkJ5NnEc5PhM/7aT/hAYWm/D/2V2aA4rxe75ZQLD0OyrQzQh1iOHMjmUnHdZ5smqLpFRoLC/VR1eACTLH1T/wPvNdR/T8REcP3L8yXr0z1nANSsJ8W3A7Jrg/8GkkF+Y5JpvkLHmn/slQ5wdIhpkjs8A2Yb3PDG7AaVTMP1iJGdxT4rIVQ6usn0+5eYayGH+nuvVGYqqykuTxuzVuM3MdvFsUuiinFWLU/WCcfDJO0seWXl5CoTMpDBCltYciMnsMJIdO1OzAo+XPWViCBdOqpQ05eW8QeFwuYHnpqKxOpFBnIwJlguP8CzsojUXXCTWeuqCDpRfma9BBrWi0KgVVmXlqTrYrOr8rcJOaJaaL5YuPnGVR6S3kJi4GLPO5eeJSy9VNdVqpVU1eHafvB3CF5dZQebqwFvQePvNChIWHNB2HCWY0M35E/Ld6+j2B2rFs+8QxdHprXkDqJSYHmenig7cLTvco90fXa2a+PzIcbcXFsogYxy5hSiXbBXiF3uLDcFfId51U48W6CruVYGdq9b8KwWNchyf3vXkF9S43kBxC7c1iR8eEJ4u3cbWrUzqiv3o/T5UdOCA7DJbq5etVrwmWxQ2C2rkUKp8j5OGg3gIkUlNB1SxUX4+uh00sBtxCN3JxbMHl3R0IFwuxy7VRMfF2tpxla62x3SAhf2DcvDpL2vzFM64RyUtlXL8hvfpkoM5Kij0q/Q2PF4phIXWlCaJ1xAxVJqL7JI5+U5g4hskylRSku/ZS1DR23PlFvhUBhpkQAUUaDeL07eXL3LelDtH4bnoqblSuMRdeapUMMO3losYWiidX3BIhSl9oBSUTY5Ci6i/SwuQnUtKCN50nU/gpUVlP6IKjfNGrSRuxokRS2VrO702mycolo9e7Zt17+SsfPIoks+bdPOZ2TW87pMC/XO8XM+xWwATBrM+5X8Lozveill9ZycHD8dbbfY0i4bENFdIHqiDYeHx5hiZXQ6HdkFEeZGI3tLRIUAb2DCLdC0pthftzQGj/rItOViyuUlR6jVMq3ZwjcDADQ/FUct1Jmg3GIeeIs793qmyGluZO7xV0WrEG+emaRKpqyRfv1kJ9Z8lXwvxuKMRZ8Sog9wd0yuIWBR1tSOrH23DdFLLQraLHuoz51av7tRw9mpd1HO78DdpthosW07T2w2EeKnvWXKBnDs75FTeLNasUZ2NvrBzh5m4wshHTNA1X59rbxSjcfVesF32er82Wnmy7VWy7RlHoirQqghik2PibriooW+11tnL1Tsnvyf6+2UM5iHF+lCb1axNJATdplP1I4OzXycDXkDQL7/fr5s3bFAZZtDfMXJQ9rblogtdkjupFq6SiRjnyGJQfU5CPsyKMp8dGgXtaUAsyxDW28X2dAXxVsfZpEAXtys5KQQCaH0PcxzhtmvWhFtni1JLjo129aEP9Y6qx3a0GP49REida24XOQXiAccL7LNdHc4dSqNsDsZ/SEuy+TnIaWkRmRli9CER8FSU7W8WkfzZ/TFlTOhnjrrwz5X+RcAP07Ljz8i/Rv0Umza33Zy70m7Vamu2PakHbxHbjdmhJyfwWubxG51NNjMzUCfHxNnfcVg7CAn61YuldAZlFo5dS8q/k0GFU2yCyZ386zopNJUi+h+YefB6VDm61HjNjkwcUmPMjDea+ypApU2owofYY7bTVmR2w/Jh1BlDBbbypukr9s/Kf+vKlUoLGloE4wWbrrkRn3JB5cT0EKO6uimhv6RciXXrRHW1hkEdZKmZoGKEFSdTq2wUb0AtdKimelSRzoj3sZaok50lV4j4W83vIGoaOEf6fZwVDTItG/YrtjtT+OvEzVtFr0FnJWjUCJaWYVBRV4Aq8hD9K7WWoLoIaCXr5Ja3KNRxheZSlcSwNbqYkblx4bIUOXHdFEX7ureKiQmVd6I76uOyMbEfbiAhe/mI9keRMeImB7WoiNtqPFgp23e7dpRnqKOjVC0tqHK3ydsPCoRiovWN2tDULcdx1HLJ1QpV16VEZzMSJ01QIUBhGrUC5qyojO43kIxNXLVcRM279pKkT7HUsfZm1TcPishyVfli6q/DDN7794tVe8UlWRrH7Lp8xBUDpQVRxO+omlwRd+QnxW9mO2an0Bif/W07EXeklm/97O/R3iburpCzEh0Moscbs+W3auf1AXOPp4q8dLNYWSYuuEdEE4K4hoejysx0DMbfNYN1BdF5334hSdyf0MjQG0VeTPUPPSRfLGbUJkQFtmjcK6waQTzFZ6lJEZivVpoj2dmoqOjsac4mmcwwHTSlxBwPNKJtVZWKxWKiDhVXoMzMc+SXbNueX8qm9bWqKJ6tPoqQalTfqCQikgBnt7/NkRizPbbnMiPsJaFrPW1MBEvOefo71NZGFQjMLC72e3+XcizZT+HMFHDqQ9P/JwRTn4+ich+BDtjdCiz3rgGwF/CRQ4J0drIHlyymGAYOn4FXMdDmqRjotEXi8/l8ORDAlKiKiy56kPft8/NY4S3c39dC6MwUU0rm/8x0OXxALBLBsh2mJhKQAb5qsev9U4R6gI4J2GQzxX6meJWv8ll+kyW+FInh/vjvSf/PfyctBtlkUUAL924Y4v6SIXqB7Q3w2opTnDlzCk6bhx/DIKDP7/gBHH7Q/DwOp5+bc3krUD7z79UZV2NhefW4+LFfFq9+4jCcPA3PBMHqBuBlTvMF4EXgR2nwPQt+/pwL3wjx94gfkcYZtnHqF3Ds+69g2svM8ao9xWfjRzDg8Bm2ts1A5pmUhK4LEXPdOXMJ0SMTdLOVHuDMP4L9fw8DcIoEz/AyU2e+wDMC45ghwAfxNDhqcTr7V3DBZ2j9xRTfXzHF3/1v+M//C2Bzkv34ge0RIesUfmDzPx/l2H+d4qgp1XSRDiN2YBNlnH2MM4U9Cyl+C4V0j/bRGD/BqkSYjQ9vIa9D0AbfBP4NcHAoPTnGP58QtJ3hpzkiseNSQqFssD4JJ214Jp2PA4eB0xzmhB82vR1UfoYz/B4On0HMwPexvL+xw8Ri4CSZBb8HvD2lgFcJnK0z///gh0y85eecOQNPKsHLp21knYGUPjBznCZmJ3j0x9kU/eq/4EM+OLIHOEzcsowHz7PjcMqlyIUNkSPzvv1Cx8sfhhPfj5D3gsPppz6BXjsOpyHOEWzicDrde9Mp+PQYHAvhS5zGxnO1OcshwdS5EgHGMaHMuATsnTk7lfKM0xxOrQpOnjmDJDhjnqFzvepeDKfd4QAQ4ivfOcLPN8z2tzqKedM0wOL7wH8D0GjBqtTRNG03WIFFH/UqXs0nzCNH5lw/ufNV/iJ8ynumOMOXsYECwE0mCmGcthY4JkaOkIjPVOxCrWXRY6k7hfr6m1XYUKjuVrRj4zI9+mijXPc2bSJHWK5sq2+aF30rKLkFvopRNWN7wbzR+o4O3XJLmm6+tl83+3y6YNTQBGxZdau2Vi6X1Y3ItGQ7Prk28ll58tmG+GojyKZF21IgotmgO/v7FYvHRdqIOgYc5ZYip9WQemVY2Wqz21SBrarRUa25uVe3/fcmtV++SZsJaVsGGuhGF2NpG7ZCti3XstXrQ9FrUVo5upEZQw2NKDsfrXUQ81b8fQK/2DQ3bGKHpmPDskpzOWTWdKDsi2b+37H9SdmWpW3nWA3Y21K27UN4aLDlYuMyYRs10fBw0h6SLaM2WWbS0CXI1YIrxRzEvciolGaifdlWp8oG9+gazA4uJz9fq1uN8bY0XqE3d9yjbyzrU1PThFjXqJ1F+XJwtDEFk18Iug6//PQKakT/lw1i6tBG8U5HRRSofkv9NKTTAm3EFhFk32NrNA+5uLph/HqV9JRpnm2D5OrUlp28Nuh9m0ZXTj7q7nEVjQwYvwifPYMFT8mjyqrRcqtqWiVn2w8KuoV9heCtwlMxznqub34+05KMErZ1UBu6LWVmzE2zXhAR22OGPqKIaX+Q5PvAVjk8qmkDrYvow6iIWr18Ijlq3fgN5ZCjnh5HwaCpg7vtHpWTPlNf+chuXbisDRg99PS56KDaPterzJpswbtl4nWgQbq1k30yhHbJtmjyz3wCrT/HbtdiJh72uSWlndZgbAVee1qFUfXOi918vjKtoVgmQyeR8t3myHtAYS6b7h/WCmSlBuIZtpe2c9iW+o1nJNDnqj/oqcssWww+rjAmnvg0/Ust06FM58omew53mCdLOZY8KWzeXKO6NSFlZ6Ki3Kg6OtbItpuUVxn2PliO6cjFaO0y1LzMVaFVpo5SVLLBuNJPTqLc7Cy9vcZVzfJc1RTYGmiMCNoFPnHLpeIrnSInqDAGDcCBgJKwVmPMzRBxvxm4vMa7nyR0LVulF96gNz2DvtEf0GUPP6xLq/5SF/MpFZOhWGGh0lfkaFXNkAozC1TRWqHKNDSy1dJF753Uo76Iqsp26QAo20K5y1F2ZFLVWJ7KKCwSYwoEUbrFAmysOaZT5M2OW13AgMIef9A24lr7ltCswSO9r0CBdYdMPFwfmiTPbC0X+eAzYoxL60FltyCjU60XeclJx2xtc0mFY0aV9D+IvaVJuRjDfE4wqKGiEsGEOHCFmNwjRqIyy+gqA4M7lKVwXrGWex06EEGZ+UYNmNcY1SVr1+hTbzuora1pgm06cGCFLB/K3W8m1W0Y9VtVeaVsJ1+V+JX0AUnLv0/b771JQUJK7E4zKohKhIXyli0TxNTHThVxQEF/WI8efEEF4V6BybulokKFhbaikUqVVSC3M0uBxFqjWshDkKu8hKVosFLrsstV5CvWOgyramUoLshRLt623ueo4eErFM0wPP7Uh8Xua0QoKmPoyxW8ffo7VOINhtkVIs1M+pXJb7cXFTej3nePi/SDYlmnrGJbk8GHFeYhjREStyGeyhfvv0AX112ocnKNYToNmQXFMmMLuAftX9Yhx7IFB6Y5qCjCGINBsQxHl77xbQrQoJyrbpYdM34pd28pVnlWQOxFuGhFBO2/hgXZXhPMhjMu8zVof9+/qDRRoT17WhUMJlFDWcrFZyDWcyaAUN7SbG9nA2gsKBZGzeMZeEMYVVgaqQbuei0VCJMqwUlUnPIe3XSrjxL5mKuCnFQbyEdCswAiqVLOojbXyoqrRGfuWcviy/GpzW6buSdvKVH3zi2v66Tgx+C2A5s3y0pL04OtrXLtOvFIYuahcWQ1oF3taE9rSKvsDl1ISA3eIEIEbQ0OquOCDL0d5Nag9pEMb3ALiEhENB5QJTGtDSF3zMDH5r1cDgsOmGFCaq9tE1m2ml1PT2cHxeiQVqSn66FgXNs3jKmp4KP6klOrnr0tas83ZWtrcxQM+NS7Fu0rRDy6VWWx6HxStj9BrgatCD5iOhgotz31elCGeyndYJ79KHPPHm20rWlyuIXFL7MqC6oddDNJh6AtsrhAcYZl0y5AdcGYDu6JagD0Zmb03CXtn1CVh4u34wkF6jsNUijmGh3p9kxRfaFgvUEC1XudJ1mGeuQcxDiF7SkWt92qzpo67Wlf6+Hy82UMvHM6X3OzLNdVHxGB3+RXflDc2zw7/3aMg2RbrywsbSSggvEL5fe7uutdFyl/hQmz2R1E97e0qLbWUWZmu9a0oMCFZbq4YJduwVIWaAdmNZlFu9awRtUEDQRxVZ++mFan5mCllm83ZIm25ajtzReLYZ+ovVo1m1eoNTgq1wrJ2RMU9i6x+69kVsx+tWMLQqL8fpE/KGhQexLKW4NBcU0GFQxaCva2i2ZbwbQdMrw4sw3GF1sJdQSGZ85tQHvKMZNkO+LBVuHaYs+FZlJontMuspH/HVfItleJ0QcMEy7olsEGlWZEFWSnwFVGY6FWXLM0o+V7gmENXv9x5VTVaPve+xQIJu1NOwQJ8fgB4SZ3CqOCoOJefS8l/zCcc1c8LX7Euxe+thAu/3z7aSOoqgqtbiLl285P2wLytSPmIrWS0syiTLrtFIt5gcBmSwif7meD+X+TrbZDT85Pl6QWx9g5YsGUawEW3LW+rpNCC+hNoM1+v+KWNfMBgrMfugaj5oGoWLlFZOzRNlC4AvFWNLLJr9wDVsrWJkNmUJzJw8Gs/Nt7UElJuuY79MxIGuhCDMXvKtBmupW9Lk91BzyLfvYeMRyQU2wp9ulBBaK7ZdvBBbZWVQrTpPtBldmItwVE7PWJFeGC7D0zK4qOWdd3yaxsZlRiXcE+BSwM8dwC+UWJqombBVmidYdcX53GKdbFzWvVe3FMaXv26QErpBxQMBjU9u33yQ7eKj/GUJZEAF3DJaptbtWEW6lDw53qv/BvxNr3iLfWmwmpYOHn7/TeCTul4VuWCARVdOd7VXO5622LbU3DbtsHVGevVdoOtH0lCrSgPVwrx+rRWDviAxNij6MO0GgzqvObVaSFo3YeUjQY0461W2QHL5Df9WvfUztEL2q0GpW4PipfeatqalYpc5vxMC+jTA3thTpoNShBTBtaDR69A7TWRqE2gzVvYK0KSJdLi6hzRU6HsFyx/jvCVydYrX3UyB29VGuDfi0L7hHsEIEnZdRIvZohXwsohlG/zK2zwLoRvTsY1e7dqGkQXZrVsWDdVqRZunPYP923lo+hkvUdYhhjAE3CSfsuWPD+oIXeONCogoJsEXhAyV22v6VRVjyqnQTMtyuxRZ+7YB7z8nwI+Vtulp1eo8BDG8yiAQQ7BcNqn5iU7XiTQnPg/GjFk/VzPukDC5/f82f20wOYBaLjjMnnq1ANlyrzbDuOOs4Su+Us0rFnCen8CiTRVH5LhBaAIDdgQt1idqv37piBzq/dgkILeFu/rpNCUseYDUpE0ZuuyJMve/4HKiEF95yP8Qj0I67F2w7PlYjMinKxyqkSXCCzbZ9/PQS6H1TTgDIajU9EZjSk3NyEwNueZiGy88S6isWpOTzpBpVkFouVj4t4NAWH/GfIOGaV5/3/5rnX+/JFUdisUkGd7puVne2o5IorxIoVIi9PxQTUy2WCbhVcv1pXbTMqouvLxxW0S1RPVO0Vpaq50FVeT76srCzlrwiI6lxh2zpwIF+7dj2l9199td517VVyrhpTFZ0qKEctTrZWryoW7Y3Cb+q5jznbfz/KykIueYoQ0S52iTsPyNeb3FpnCrYqf3O9KrPTBOvFgbKZ+5etUKFVqlBTSBSuEK3eN7ccsexGsfUCcShf73/nAfG2a1Tpj06rFpaxTGTE1feGnboDjCPeNQ+J1hqVbCnWpcsCIqtCeXkFijQYlVkmmcpdllAbjWogT3vL47IzUW05arKvkNvep3sSdSodrVfFgTRBuchxROwtcmxL93c0qJGooE75B0rENc+IqFHF2NiaYMLsnnYiUnwGAnPrzZOx5nE1BI2vyh1Z6M3uAmEbQf68IpWQLagUoT5V7XlENy17xqwIJ9CNN+YZZ6tlGArq8XFNTvqVpFtxY+iSS/NVFIiIq1sMuywoq6lYbiyFAbXEa5dLgJUnqtG22y4RFRXiodbpScHB0gTLdDf75WNIUKCcFmR7A9NWzk1jv6hMsoh9xlKMvAX15bPFp9m012mCsBkLFqDejmN2vJtBkbw1ipOlK8nT6kUgu7kgKxcRPf94MvnLzjbeeZJjCduomLZgKSvv5lnXc0iioFxBlqcinZFSFkZJvq6Twt+DShhVJ6hhGTpUuUnOWkfOOWBezuh5xnFeUIaEs33R6/YgqomjFTG0dsBWJgUyDnberqXDERnvWxrME5TfgFqvxMzCZedKn4xahoyX9fD88q21xf4FJqNUA6dlqdu1FXTQ0IWoox2NlZaKm26SPbRR+PIFa+W4PpHtyu4bkEWWNtpb5NKhK64o0pvfMazmF9+mq993tezWVm28KUNc2yuf33ic2kljYDQmp2ujBq1BEfTL3rxZkC6bNtkMaIQR+WxXSeNeA6giMaq2VlsZDCqp8sjHUWuycSYSor9PxV+9XitX1wocFYDa2SjsqOLb4uq3+wWFwn+j6ElSHNiCATF5UNx7ry5tsbT2hXdrIi1NXcn6AxGNiOFBbR9Frh9tedNaUVkpHEc+yycfyHYcWc4mgSHXs0A2HbJoEKwUDSj7QrTGWS/6k529WYNzua1c5HxjmVhRKVinzU6erP6HRCDJG2XpfDHx9r2bRFZEozhqb+1WIjGXT8uTgR3CWm8WL7atVWscXVeerCf02KNPy3U3y6zSvXuc5YKUQaOlU+Tky+7rMx7wDrrrLlvl5anPyhcbWudQ3i8saVE02NktyNbW3l4F/GYns2lgQJOxdDlbEXanIEc9/cMKBMyuuI/X2U8BBH4t55GUQFqlgtVaA3MC3kQ0G9NfKygSHXhOkVtlk4wZYriwvgSyLVS60UCTV7cxK45JqjxMKgebI7hVM34vZ5fB0cXoPVKkb6uIbDG/bUs8vnHW9Q0MKkRYEBdWuyETTG1vi+T7uk4KB0E72ayRmhE1B0dUF7hBdo2jiXO83ERi4s9uCCtWxRW40OjP51Z8HmjgbShYkKugXa2K2DbFKJcx0CU7jS2+cKWHrZ4tYeq1nCqlctG7mSiSZAIlpLOzH14po0fFa2DewFGDKM0VIyPqH3lYBbFqgxZwEe31ogpj9GvFBDEvLZXzRJdWXYT2p9XLqq5W9kirqqpWacfne8Q7O+TzDWj8Xe8S9z2hofjTWkG+Prg7TWF/VFlZrvKL4opsKlAwr3m6sa+tRY+Wo470PG3kGtXlBpSTa+tWYqK8XoEuS7vT0pRDvYYxq/400mT19ooi49BWCSokTRZoPzWCBwSuXCaUwOOfaeoQ8WbRdZXoDgt26kJQxImLvbbsNEcxYovXo10g4i1y165WOP8KhewS+cmQ7ZWJtJC4oEWJDQ2ywn6l/a/HRX29rM1v1Psyb9WnIhFdu2OHSiaKtYpuXeZ19GsZUll9tnCbxMp60RATdoXYmKdgaa6qqxE0qLa2Vj5fuerru+XY6IYJlFtmynbXxF3quOcDIu5NJJYj6t93Xm14ezyuqG0rwX6xfI0Iz/fGBhQMYsq0bJno6lXxzjHddaMZxCBNaV1XCTtDcLU3GNWKg45Y7un5Y36Vf/FmxVeWaefddyuclhD763X33htUnjuDeovHM1VevkAgrAUksz6h/cv3iahPD9XWKuZ51cdjrcqwL9XeNORQL0gX98Sn1a4xUjH9r5fYmj3Y+wUhhTlfyosi9fCoClOiCqbNSbPhSnT76oXvvwwUoFTTXsx5jSJniTQXibNdLxfExURcPJiykJynZYlrFvJuzvXRFSi+gJptKceS/RSem4DTvIJt2VgBm/TQxyB2ho/4FrlhHPDBR17+yFIfMeewMOTqEI8I+9nU8ynlyoPQAAQIcnzqFNarNoY3/O+BMZNoCvjMy9NB5ksxqGdYB6zAskZg3xNYNJNHDJ1Ow34N7PjCz0w94mnPAJ8FYGzsKgK928irgAFrK3VWgnp7P7K/jfityUYtMFltfv8r8BMg2gO/OQ2Hvov1QXjmFQtZFml2kGNHo3z9un+E9/6I06d/xGcf+D8EHr6ev+6a5I/8jk9+4hWaW5qIRgv53W8Pc/S3v+V4Tx7Yj8GyXI63ww0WfN96jq/zDWzL4ogd5ZuMwC+qOfG9dj6hV7jyAgsrBmlp8Mr4EFu+8x3u/HU37ITjYTjBKwj4Ir8D3gKcQhRzih6+DJCYAutV0upy4Ft1hPk0zwBHzxyGj7lMvZLJq7yKH5cQISBEHi4DsRjYNky9DIch7epfoJe/z7Epi5NYnp/BPngFIh+CIyTQSYsTz8bwI/SlKe564RluOnqUv/nMZ/jlRw5j8S3+Efgp8D3+mj9afzTf0IqA5fd+W0ACy3oMyMPaE4bgbtKvvgYcCG6pI0Q90A/l+Vz82v8gfPwo7PcalPXEEtrwzGEdPkza1BTD+0TcGSLDylkwnQPELXB/9jNCP/wm1vEXee8HaoDPQ/wVXtn7UfCdAh7DAuLYOF/PJLKpA4DYqxaTn/1bXH7Npz9t8dprwDMTPPux7/H73788Ux7/aYgcXWLhHSLRKD4X/mLPHo4Fg8B+jvZMMRj7KB97ZS9nIifAdxo+fRiOCfbPjFKv+xF/JeWfk8AxXmPBCC7spxzoWODKr/lbruE3/Bp2AuF1vEI1pmMeAuDbfw33/2w6DMus4/3AidRxwfo9WPNjUcw7tgHx/WdJ4OX5sePwwbHpc2mv7JuT7jCzvEBemX31s1aMwyx5eJ99LHWnMDg8qExM/FRq0AdW9Km3056Ghial3VshsJFz6isbaFAOOXJw1MchzfZCDiqpihkcHFQ0OsfDNoUewN6MSKsRtMi47ifTpaiuqisVrluuLpJqheSqY6PAJxxXYaL6HEO6he3a5EORrWcpv0ffsG10dJoLxnG2CTssPPZVo8Jw5mzlbOEYjv3LQMvDfeIWV+SlrArGBmS1WRqlUmFaNcSQ2J6vnoE23fbDRi1ffkg4looxq2ETgyBlS+qMmvqzmMZZj2egdWvN7xgRbeQOQZ4IBMWWHo3l7pbb26Kdowhno7pwVIxjvmEN4pIBWdgaZVQwIvApf6NPXdjGL+WiuKyNbfrCX7ta2WSreQMq2pclVjeLyms1Wn6LurBVSqlWs1qwRlAie2BAxGMySJ5B3fcGdNHazZoN9XNEOKL2rk3K375dPjesG+55Qcsqe2VWjbuMYdyHDE2EuS+BUWHM5NOsgawiQzVSiagfEB2ent0xz3libEzYjlY9ckgrRpaLtY6K8y7VXe++TsE0v3BM++k/r1WpMfA/AnIcR7dxu24cqFwwXTyKBjqMTni1369VV9+sgoIy09YfRf2PH5Ttvl0bMSvjLRi4d3cKY/F1a69WfU59SvtPEkmmz9RTfo5oW1oEtDQKde/6bys7O1t4BuUBHOEOyOmPG/qbDcw2ug5t/3+jPnKYxvYvRRwsLeTLMi9PbO3CUhuWaU/etXwMQ/Lse4o1Hf71fGU9IncJ8WY2bBBBszO1QKM4Xp9Yv8RnDWoh6vulHEueFAoKblcAlEmxwK+S8gLlWpaIVsyaGHLYKpcMkX+BsCrmF9YqFO8IiHV7lUGughyUhaV8apTJIY0MbxGVOTO8O8sxRqe5+eQhvCDV+fkYS3wjGshHBUk9aRtGTQNiVVRXvz+u6/agSATl5JR4nWU2t0kGBja6i4WdP6Yl1+tc5dXCKlZFQ2xWTAJGmbdN3I2hUqjyiLmqQHEnX+RaqmCmribLnpSVa4vJCkXKyjTmdfj8PFRcjKBAllWoK+4JTHe6UGGz8p7oFxualH7//RqdQ2teHkB5megukJ9MFedfoYpwhToDG8R4nsyEmkS0tGsiz9HHkrTBaWViecG8OqhIQSdlTuZpq3Oplj8zqUQ5BjZYcbnIzBKxfJVEjXGuoiKmCrLVCmqoDYmifIOxz3LFdcWqjaL0HJSVjWLT6IlyxZyYduY+rgMUKRz06dHvPSpaemVxiSYZU9mj+2SHFo6hnCoFAUysihgivWC67ZYxLoegOkGW5VN563dF6TaRhUKBSqW3bDLxI0BYtgrKz08tOmbtVFV5VJSjHCtbl966SFl9iBxUWRlTe1euEivytCqMmeAL0E03heTzrVVBxcw9t5IrQyMzITJQ5l9kKpgRNGFHw0YtesUVnn483+RVTFC9XL7gwDFffOLiHFGO9nCLgkRUkGyvBYgnSEEclZp+tQhy7fWQJlBdutfHlpA+wNIotsuYVE6Kk1xuNzqUAjn1Y0AE5eURTauJk9KEQSN5/zucjXBzfl+aK3ZLnsr8qfbYclOvnN2/ISk7rkfxBey9r+ukMJ3x8NtEvMAYbGzE1Z0m0lVwbgGCMnp92/swAe3ORNZAkyCmdAJmhVmIWfXvxMQvsLyGm/RDSC8TqzYs+vLVCXTdrX4RN6tv/zUYHb133WK+FT4rC9XUtGhWPNpwWAFfRC6o+ADqTJ5Px/OIXUQ6NgprnTbsypWvagZ7bOPXLlYJVqmb2U46V+3OVv/wA+LyhHduvbrYIxeDpyfQabwYxzp1afsT2uXbozfsYdrwSgD5/Y0KDcxMQun5tu7e4M7jUEkVCwPJzI2jt9+F3BxSYj+XaMZI3q7a2qC2ZewXhAzxly8gawsaa0XhprC2MjJTHtDBdDS8CU12BkQgJNZvVVk+6t3g6M3s0so0xBDq7MzVeqp0KWjXtoRYW69AAFm5EQXu6VBXmS3eskt764PqyEPGNtKhaBTdvwXdsHu3XF9Y3ZPPiYINHr15p3oeCCgUMjvAEZjHiXRW2b1bbQGzCOg/gFzL0d/uelaN2wwJY/hC5Hv0QZFmBgLLQmN955E/KOKgXe0B0RkwMQ8WTZsmGBLluaK5Ss2+Dk3ay7x+tEv7d6XLcdbNMH/ObeNh1PcMKqpDbPWLEJoErW7aqGg0U3uTkNTzkTFEoysSthh9pwhExe5ODbNdaeSa3ZbtCmxt87co6MGQN5HCBAAGLXW+z/7/UXaDbCyNBcYE6MoO9M4UXqYoxgm0sxPDZRVmxuO5rs5EjPPSujArqNP5yngLeu+s2OCpzmuFOicx3jpEyCxuUzUV/28mheBOFdnpXnQq8+D5E0JSNggK5dKmnexTyDa0va2gMXYphmsqNeDlswASoo3HtFAw8aTYaShw6WYRSVMctMXPLNf0bNAAxjXcoBNqlJlZqap9+1ReXa3lyw+obrJR3H+3dq2+Vz2sUunFGTNGK4tFcdGAWlvNIFEBs8MbslkhMgU++ed8mEjIViCYpoKIrd0ghwa1tRnirSAY0jLL1Md7CSuDkKKhFEPaHjQ41KCrn/nAdJ6JzHzd09itNEq0eOAfS9CicCSkZ+7Yr8m2hA60Jev5OlmMzDTkFVeIystF1UWG4bNtj9hqKeRHlmspSFBkMM0MGdkYUbC1URe1jotQQIx26mobNflRnJDSLNQ0t53kImcA7d6N4lZcW4JbxK1l4tGb5YYCs4yUdiiotEtXa2BXSH7Hr5ua36o8ikyMhgx0f3CXBnBV5NWhteD7LyK9IcXejd7Rg8bfj3Bdtf3t/1TT6tUCdOub29T26IMilDbdJpbtSUW7ZOpcoRjftrpFOwMTgj2yaNQeNi6S1jLt3UH40cqWLu0oTy42Qno8NCYXZ1aci+wYGkgCI2Jo4y5UYiM6R0UgrItaUQNBRbE1yS7Dqnse9dMaQtaq60RaldatD8rnmrbZYe1WX8vlMtTt/YI8dW1H/iCCNgWwZKXGsBgfP6/n/lnSwqIUFQtLuULkGe3DQyYOQZ8frVhMBR7ELIy9nUSxz6dCn8+ASeJnf1YbbecsT6hrjcIPLbbzTfH/OVc+c/5fynH+lojjn+a1qZd4Lfn/MRaPB534X1DicIrf82k+wbEp0Al4Afgkn+JVThlbyQkvn2Pzs3iBR1gomDi2DdnZ5GTBQ2VfIhE4zWvRNH54MnOW/eWPwNe9rF9jH3CMEyeP8Oovf8nRI69y5Mh/88p/vUz47if5x5/czj8lXuS5b6TPGK208OOny/fKBGTa/JxcfpENlt0Bk8uAL3GMF4DTnGQ2MdjRY1OcOP4Kx45O8Stgiud54QXz8sfBcNBlAjH4feUNvHblDnYcSzGkPTtBzlcO84OjLtlhsMbg1O4XeHHHP6H01xauSIAswPciEZ3h94lX+frLYb72f4w1fdh9GCfjCwx7SROHv4D/yOfh1a/APwA/fBY+L46dBO0Kc9x9gAMnS0hykEV+l8Xx34/yJZ+L7YTIKtjOt6duo/vkAIc5xjHBS3PaSd7vYfAb4H4LDusoXzz+P+HzNnxlilON4szyZMocpk7DK//m8N8/i4N1kkD7o9g1Rwxn3wU5vHrwU3wncIpfe3WoxT/Z/OPXx4h+bQ8f2Bmk+F3gnBEVN/yOf/z3KSCdT9zzKs6//RFs7ytahgtwug9wAkNxtvjxQfcl/jXXAf6WjOGXqMiey4oIOWDALNtOwJlKcPp4sb6GX/7uVzg4THAI69jXgK3wwgFTELL542n4etLQ+Cqc+UaCKTfAWKdLOAhfegHszONYvime5lOc4hSVFLOD3iVVzwuxN4DzHbD+wP6uGCG/BcegJfMkxw9/AvZ/G5xvAM/x27+CM8cBnucEIFKQKB//+JKed7bDAfYvbKMnBz+Qbv55kfNsBEc5PXmcDODYe03/+ZuTsO7M3HTDQDbjx8H/feCX5mxNMMjyQMD0h3MwZvrKX4DOs6c59twrvPa+LACsLRaTKydTrk6wsFk95dgBxBcdCc5+nN9OIUezoJ7nkrVrxYUXnjPdzKrOqJps0OYQCgw2y7YXWfX6/dP86vZAv6zVqxVb3qQeFlI1mWDbkUhUA4ODKihAa9eZa+ls1QZslbFJ12Op5RDKu3PL0t+xMC7e3CsYUn8/8vstpZJ3bSGqrvZ+5aTYXbbaW+fk06ZZznnp6aJzg1kFb9skBl0ZSKJ33bZ1p2Xpuqe2aGAHckcQ27I10NOi6DqmvRxLKFGjdZvAr6ysLHXc3iGiKBqJqv/mO2U1bpHVeLEAbbsQWe0zdohmjA1g8Xef7XexaWuabF+XNj+BEomEHnjXu5TLQTU7HWJLyruDIe/zHJwcF217rFp2dK3o3yDutcWl/WqgRaWUGvjnyPtkcOe9snlKuK7q3rhZpRWW54y4SfbDtjF25p/P6nBGHvyApdhTaMvoqDGm3nirqFoh7FZtd7IN+WHA1L2FUY2cT/6+d6HN+23ZbFLHBkv75xDiOSxCDtdwsSjsFLjCfkLDW5HtmD7ix9UQA8okRbUYiYgv3iHqczU4PKRQKKQhbK3v2KBEWmI631w80MhSZHiTuLVD1GTpQfs9Blps2xrY0KdYNCZ4THS4xj6zaZNRE40m28hccsg/UxwWVee+j0wZ2xgiukX0pdrVGnQRpbNUnnPHnwRGvZrc1VvW4jtOk2atkrvyFVXVqlq2MHhg+h7Pzrd5gf4zTyxXFgNef2eeH8KfKksa689vUrhIsDC++rykdr2gRCUMqI24LvTOB4P7tbyyUm+tCmtHW1hjiQs1OZkpY2RZqVqMmiZVX5yXl6eBO8ZUH3a0noBGy6oWJPmqJUN2IkeJi++T34+iXhofGdN6+BWMy75ymVh9lXdfnlggRGCqBJx6LU/pbIbcb8ZbNR1b8Via3BTX/4yJuY5L27x3TP7vS6nncRmvxZR79r9De22fbr72Pq3oQU4nIiOqNJ6QvT1LbPbqJhFQ1Q1FImDJ5/MZbnmQg6O0sl0qry9XR4dBOGRk5Ci1A/eyFEKzmKaDjFTWihFLExm1SvgDendrqyY5IKydIn1G15oBxk5jFYpIkZzycl2dHtJF4YRWNFcpseudKroLRUIRL+aBLdKvkVHR3KrJVdcp5Pj05pH7RUG7UbPVovGOcbkJ90+iWFgFWv8Iqi9BE+9/yiw4/uMnYmOrGBjQde/bOBO2cuJP87txEj512Hv1DtDyNBRuWCxtQLDc1FEhKmSjErxDluNo5b6rte9xM5FOYgasdAxtiWnDtUbvf90O4RYp8cClstOjonZCmysTygzNGC5jzHX2OovsQ+y5QhRXqm33QbnBkGonJnRvdUIDqx1ButiBKMU4MVqWYTD4c8eJhcRCrFz42izvaTt9DnY/ohwCC9rcdpF0RAvJYtm079XkBrRqEW6jN4FCxVGRZtQ4IRoVTDKrLiL79u2T4zianOtHtYCEdqE3h1POzWPVPYdUMZulNWHa01KO81MfxT4IqZzlZ00bAywoAfr9cOW7wO3AYjP7Gh6ANa34iPA7bP4RwymelngGn9/HW35q8+UfvsYnX/5Lnn46B4dNjBPAj9EWpBb6+T8+xz8FP8n/jp/he1h8fVMaFM52nrBsyNr7IpGXI3R/4CgnT8LJI7A70MNpN5vDGI+IAF8k/J31XPDyP3l3OuzFPouXAtgFftz1p1PO/AD4mfnp9/NSVgYbzpwiL90x/OfAix95kUgkgh3MgVAORP4GeJ4deJjo8t0wdATYx+7dH8d1TwFD00/Y+/lP8PGpKe7/YAYTU1fj37QPXrR5ha/h/t0R/P9g0p1ypjjxmefhhDh9+jSvvmpUHBE7yoZdJ1HZL1DQYNVfPNUPfGX6Gd8Efn2W914PFGOTZHfPeDGfzVNb+MimizhqTfEh+zWm+N+gv4KX/AAMABcaDR7sdKHAB1tcTg4e42NTQezXLsR+eSW+p58wKjZOAFPw0qNgvQaRb/H0RQ9jBVwy3pcPFf/J0BhkFsf44tEp2l+F4lOYIBt7zPdjUzZutpN0UZlzGD8YPzGGn4XY7+Bzh98HOg1HnwD7DHx9ig981w+5OwmGQrgf+QimBV5+ltpZ4Dh6GvviL+ISw//KJqqdbJoXTOjVqW3ew+VrHNj331hnzhD46GN89ONw5gw8zX4EvISJTnEEi7344eUp+I+XoFC8zCmjtgx8hKnEKVI1OQF8pI2GILqEsn8cwifiOKd87PnEkwSPHyPwkY9w1O3BF7yMGC/BZzChBV7uAwXhkdl1/LodFuCPYaK2JKMQ7AICvOidSQOYemkWdr+Fo8Q5QRfTCqbp41N+eG03xDwyr6Rn1U++HeK5lxZ2xPqrKJx0j8CkUeNM8TOmin8FIyM0Ax+4+GIuLSkho7ge+ncAV8MXAuzdHOX7t/6C7OgPsKwscFyjNwyZ8AvRUAh86fApP+5ru6efF1tUJWUDEeZ6MWzzQyx14HKY9f3PepzXTmHnecxUow8LJ2C23SHEWwOi0hY48tl+j/u/XmTnaKjBrP537Jgx2jYl8+nrN/cs8pycHPT23jbFrYjyQG9xuoQ1G7blgB7zIXhYviSXiS8s3/UPi2UJWTQb1A/b1NoWVOm1MzjlxZ47LTu2C/8mFfT1aSXrxcpGMZlvImatXSvuuEM93d3Kuy9XrFsvavziABoYGFSi+T7R+k4xNCLYOW1Y7ds5KNuHevHJtwWDzkph0/Q9hvBZ4r1PqY+d8jlhA7NsMlHFapJlK2gXKybnlTkaQ9dvdlTXlq/6Sz2ywUuyxLp1s9L1neW9HWZvrS22y/F1icFBsyp5J/KxRzhNXvnNPW4S7eTFHnAdW0/4ekQkLtq3KI9K1c5CWngSjYihIfX5UNjv06N39otS5AxaImOHtnX7FPSllMmHiCVEx72qsDJn2tMsSYa+3KmhEdQfQDsHMSqKK0dE5UOCVu30ZYlen1YHknGGHcH5eTT7gj6NPrZNPnYIXFn0L0hFEO1FbbPoWFbK57tBtm2rt7fXoF4c0x5c0IbUZyR/r3dEgSW2zbCkOrf3ibJ0JcOSFlCgdqd9aeWPow133ayczBo9hOeH1Ie62rsUjSS0nVTP5VTWV1upfiOvjziaYRBw5j1zMQ/qZDyXRT2sfei9zAaEHKRNN+4sVCeOQnPZfrduEK7P841xVMuoag4gNji6kQLdtvetWv/Od+oNZe8UzqDgl0p/5IDu27hJzcXoLVv8CjY9q0RDp9be2yqaY4qs6tFQx3ox8Vnve3pxxG20473IIDrn9o2EoH/eODX/PfsE/6/QR0uWQoGlAx+9W8FsdIt3fouFst6BgUyRKapC4hOImGH4K5iDby4s6jyro1AwiPKuWCPKwvIl0nSA7QvQXdsqYnK6TID8QUt7bywU+EVBrqhCvgpUVJItZgUQzxQpQWLmycStwnYUKSpSOgUiI0tUR0xMBTdLkFBuLgqGygQFYnmOWDeXXqBPpLjbd2Y/JWuLZdQ3JXjB5meItyaLJmVbjg7c/pQKvcYeCqLcLKNOSPPSRSMRZaYf0lzO93w3S/990du0f7BHl267VIBKL7ta5DbOpOtDd5wjTGJp6v/+DlHwFlH0lGKOozcWFKuwY7kGNmZ75Ud55BnUUsq3K8i31VHaYfxO7kWHMGqANjJVNY2hL1UshnbuRHfcfUBB29aNt9aJvpjgckGBSm4qkR2wZ5fRZckslsU4KqZYdCLHsjSx8moRv0pQLw6kiweZo44oWlK+ZhAukW/fLu1/a1SlGIeowEITH6hyNcq/ChMzYCsyasND8lk+3dpxqyopVTGW7vYGsAJQaUpAejeGiq7cJ8JVegMtiuM3ap3cfOEPiJI2YeerOlyj8Zzepb3DBCLvgAiUqaD4Ztl2WBQdUN6hPPmyfYJK5eau1e7mkD6+3SBecu86oMuwtPy8x41ziaP5oUg9yc/X6ODgbBgsEZ1LBZyUuerSXTnZejocVj6WnHmIvhsFwek+kCChNDfN+CvURFRAhhyyxHTI05WiKO4tWA26ifR0BSIR5ZAroyL2xqci07YymAnbOdlZKqNabF5aPe1gDgrK5LmU47zUR5Z/bMk7EPgNID78pR9yOge+j1H9fFHw/G1++DH42l/BTpxg8yOQ9iqE/elcXHA/rXYrq53VAEy1XXBWO3s4aFGUCEDcx+nEET7s+wK/teYqfKb4NU/j9w/jx4Q6PHlGfOpnfwBOQmk91GXgVEBRSQ5GiZMMevcC8IXFC/CRB2HqDMO+X/PSut/Ci8/Dvx+F556DUxEgQW4RhMKlwG9Z4yao+N0qA1/xytnF31CQoqw5MHgC62vwB8Btw/zgw9PXn259lilrio//90l+EwKNQOg4FD1vtsZpXrro0WNkvfQUc+FhyjrGM8t/x3/8W2g6NGjZh74Cv98Ifm8j+jfwX78mpR7mH2UpvwPxatyyr0LbJzkZiPGDtit5Ydl/8t0TLzH+R5Mmj2KCKaQBwSDk5TmEKme2yV/2w3K28iNG+U8aTR3tKkWvwvFPw09zj3E8OMUDG47Bv8Wx+Am7eJXKh6/DPjEnNuEpC37vAsuA1Yu+B8CvcPgVxfgvGOOMY/GRhmNw+EuABR8Pwed9c6rxbMq11ONbwC/h8Kc49uARlmNCKgb8C3e9gp9aPPePLvzBhp/5aA69SNme5zntO819u+/jlp1vYLkT4tt+P1MYdN1aH/R5CDn3CJT/QwIiAQoYxSFieF0aCiDqhxIH7BxeCD/P/875prnJbwEu/hD4fRAOgy+cT9jXB6sh7V/2sum5P8CJ4/y2Mospn43/1x/mD/+1hm2V90HtNvJy15JxOMibfma0g7//7ocpcMX9S6ylpR+LhSIFfvc7PvvNr/Ky1/19gEUUA7s79/GHg7tgYGbs+FR2DpPhC/kd4gy/mZP6AeA0ZZ4yO5100k4lzBBcfZTf8iJnyMLo5wT8K/z6MCiXab6dl17ixNGj/IHfYyBLZsws+jW00UYmTcSpBNvm2OTtGN3ZwopQMNrpe4FiWACCt9T2yhKnDm+nsPWhyIIqhdUsHsy+Ze9D07/fE22WtcoWXkCYrlWXqDivQaFWtDqAaiK2bh/v1IbVtapeZ4jvnPD7z8q1XkWVrg5dLew6Qb3o7RX5c6lpLUGz3nfggxpb22NWVL6Qdq2/z1wfDoqr5rrCb9PSvD33CGyV+lD5IuH3anpRmoeK8Tcj3z5UNzyscLrZ2geYvd178jMROUPGC/OdF6xV0O9oGlUBontc2JbGnzKUGngGqa00KJa6K8iuEGNXCt/sQC75ibju3T2iPF+lVga6zfm9CWGvE+MXT6e7FGS2/+GF3z0lwMtNVxbpts2b1Rx+jwgHxP4OvXGiQAORHl00HRfiWs0NLuL4bO15oNuonPag3L0tWklYzQRVmVQLhJFFUKHqPeop3CEn7NOaR9dM5xEGjb1zvdyQMyvvCBmqY0hGvXB2XPcaWuWjRXuf6hGuo8In9syEd9x7m9jRluKPYyk1TOmSJI7Ce8w3tetq1fwXi7St/Hxx++2ipUJc3CL/Z5CvJzxdD1vDezTKPWLvXgUwsS3s/Sjo+fhkRdE9DzaIwiztW92hiD8gmtGqZhSpQmurOuTs3qdNm9K1wm7U2h0BRW4oVr19s8bvztHD68v0+AOo7VFH7xkYU2wiJnviYoVWbTNOq/d2iairvSBCIYUDGcL1/B6yEDchgiiWjdYOnIMV4LwlIRN75Sx1v4XpHV0vc8KKnkPG+8Ky5vlKLdL2QUaV41HzFHFuL+51GCRRZqYhPFwknYOjAK0y449PWLbClzwp/BHRdJOSMTLmShJ44IAINQhrflS4JY315zMp1HQt/BLLWVz3fu8baqZ/f+GOHh1YdmAGwVFYqOJYTD3LMGyhq1FZz+0qaFynvBYD0Syc7FM//YtWYJiwSigxNBcbUNpo2hznnBwZT91qVbsNspa1KhtE0BH3HBI0aUv6iDJ910933iXFVgVlMRNmMu0sDbCYGcRUFBSsMbrpxSa7tz+VLcdCN4Dasx6XzyoS2TP1mNWJMmxLF7/9DdPn/KA03qFZbvBpiPXLp/lqkpJNmt7IhWoNxnWph0i6OCukTEqnkRdpLCHmbc2MR/WloGWWpa43dJmGTKXKJye1MyV9InG5XHcO9YnlE9VvUVYaYjuKt9SooBO1EdVygjJ66QnhBEXDTnVF18oJhzTxwXepJhQyKpbrs0RVu8ceOjP4B/F5cYkxNpezUKfXB1do3+4aveHtbxe2o5LV96s03CA2osknJ8Ujh0QoSbdtywTYWfqAw04MKi4LZZSV6f6m0ILpEpGItq1dq2BaULH8mGL5KJiitnrL/nfKdWqUTUA2ZcrEFtkIMhQKVSg9EtHqtFXy+zM19sBtiqSniRpUVr5FTQVd+uKbvq9NT/6ndq4bUol9maq6XAUzgiqnXEES2pS1ytDXgMyCwEPBXT4oluUps+1O2W5ERt2RpnAYhS9DA06aGuLu9MBYBvoy5xtPwS/j0Z1l2pCVPofiJiIzCC+Notq0dQyUeA+aJEezudHm9Ocan2YNuPG4JgsDMirkOYvG8TnjRLbXxs5Slv3VyLEQ8TeLgrNTXYz5b1N4PIVKI6vG2C8qCwUx4dsp9i6+aN2esUxxZ/5C6HWfFLY8ef6RyLZuncH8P7slXRus9YbCAWRmfLOqX4nhHMK6TZRXalO9t/uwLhNOq4k8tdAzspDVZjp81Irqdud2Zc8KruENBpuR4fa5X5tBrutq09BNgnJt6NqgRMJrDGuYF7DCSKlIgZw5oCHv9/l4z9ZzFiigZ5S33/c+WY6jEWtEm4b+h3y+kVlY/+FhdIdlabn1lHfOUg6oxerXrN1NMWaynPOcGKjfbldRUZPWrG6SBbpxM7oNE9ADUDPNungRnpUhkouAzdPntmxGtm3pya1PGA7/gUHlWLZacZSkz2hvQ1kpHScL1ObYYssWDVnItizxZLJO62VR4n07S+RExL392mwhN+xq6A9Pi54ewzVvDQsekUWXZvw9PBpzy/NbGWRxuKpXt5aNttjbhO1o+eNvVNXWGmG1yd6ao43ORgWSJIMgllmz6FTOKdYmwS5Zw+g229ZD12xVXd0C6WIxWd3dKqZYDVaDGhpRUXHKt7PG1WsNaPOWQm3Z8l1tvXuPMq7MUAd3atmyO1VTU6Pma65RbkO9rAdskZ7aPi3ZtiPLspSHpdudAYWHZlbCpaA7Bwc1nFz5Y6hjYsTUa98lyNbG9wzJHwvI2pIlaNeWLejJbVvU2dapi7Jn97vz8ioHmQVNmww02gvUtMBEPjffAIv4eFhJnwDz+1zl2UK6LKtrOt3atWtUcFmejM0vPC/v83u3lOcXbhFNfsGgMrhAHdP2pSGBoy0gi6QPDsJG1uNzx17rrGWwelkwQNjrPilk3XDveVdE1uSMkadrurOanUIRWxXz1AkRPJfsoUZREldGxKvEFW8V1C06C+e5aKO3knLSHKW/N33hbVwmMruGDMEKWZalzEwTrSpRvlq+4EJc/2s0Eyo0KBaJwnQuKSkpUSRi7s3Pz1cikUi5XiMz4UQNFtlGEzXXy97iaGLiSTF+tXADWjEnz31YKuAGr7F6aKnt20U8xY8kwII+Gxlpabr4vaMq39ykvj17tAf0phWoCVuZnhGvmLiii6hcMqmWNWfllNWJLNvS9ZNdwk6IjHeLFZOyLFRTY+p5kNkcUC4ozUU8kSn25wjnRrGsXBR0qhVmjJRZiFCmaL5ZTK6QzxdW+8Yvi2CBGdAzEVytbgLehOsT7DXb9C1LcETMQlVrkPMmxL03yLJs1ax+pyHEI03vyGpQxliV7JBPTK4wbTi0YlpttxSprMyW667XxAqUYW9W+W33TvvKpEqAgIk0V4mJ1hc139HCoMqctBylb88wO46sLNnl2XKDrtKmCdr8YtUakekXB8dELKx7MfdndHQod8sWFYEyQWVWuuzMxYNgJQPWOwlH49e+Q3mRGlUdOiQnFNJkVp5go8JhdOvqa5WZGJLrnpvobckSRFTMP+9i6S3UzDpnsciOZIA5Y0FY0KfMzOAsZ9KkTKxfL2fz5undcmwD8i8Wg7kaYRfqT/LbCuDFnMiQj7yUb2f6SRaGO63aU7NbWJrIPF//mEotpDJdynFehubnj/zVktNGMdThzz+9ffrc9kiSLdz4jge7Po+v5udAkKP4OUYAApvhZCYvHjVv8aY3/JYeThp77wLHc6ccvvaKMb7EXomx8aqN8NsFEr4AuxnBRw9Eoriuy8iIwTm37TxBWs4MEYVD0pzzD5igB2AsN0vjn4/M+T8UCuHzGRP9+kCcFe4lwGaMWTiCcZ0vhRddmBrjI51H0JfEmY/8BWNnPojLCfJSch1nnI8PWrxS9hy7eA0/nwIg/Fd/hXV4xo/EVwiB2tQyhQCLF/UqHzh1ml8EivibmMsXgOBlOfQ6/QyMfxaAjO7DBAoXMvFX08tj+PDPOtu/HbDgoeCkAVcMH+XG6NP0WRCNGAvtV4FUcodT5PLKmT4iH3+B+DOHGTnzNSK7fwHB7/E/gf9IJjwWgcgR2PRVLns6D3SK469+Gs7Y8EXgBYjwGN/C4pc4GOT+x8h44QWGv3iKcxoaByDihLC+PAmh57CAaNUUNLrAYT5zLIPjX5pEx8PwdHSmTK/Nz8om6Y5SDayZPh+Jvogdg49ExzmmL/Pf77idI0fm35+FzYWETSN0gVMQ8agW2latorY0j5f+6kV4Hrqff56uX/yR0uOneMUD5VtYDLd3UpiXzcTRTxKZeo2/umYvGrKIhELEo1HSvXL+l15i6oV5PA7Tx2kcPsoeztgxnh97DRX8nis/9AThY8f43MnnCAa/xmun4A9X/p5XXvsap06Zjje3/c9UAgbDcTbHn9SKXCCQwRksPkckpZ4hEAzRs3MSh8hsM+zXmTMW5AF7cV0bf0rzDWP6+98eO8a2L32J5Cj36rfB/eXCxQtHACtBcqRooIFaapfwYnisKAJe5DTPTX+75CD3PDDJdnIxwAkhPvLCR0y9hQEi567GcNg4aE0fFUDL0sp3PjsF9nXL6NYWZy1NFRfUzb6Z/3fhbXm87amDsnYXqI4OsaxeFLeK24dF5cxWaWLfxrP6CqSn56ix0ZQnj7ju5W4xN7xi8vnr04SzXowhvz+ssbFHzXnfOvUUX6mBiy/W+sZGFWRnq2OpM3KEWQZXMB6Si6V32C+bXpnVbPI9vd8+RJer7o8/JWudJRfU647Kh6sx3judxwADsv2Wdj3uqhdPlZOBhhs8DLkn5TZa66SWaZNZ2VgxERoR7T75L3W0DfT+sR4F1gY1MGDq5Cofqltwe2rLZb4Byx3YYHxP9u0z3rjvdhXoRj7HEesXC11pyWf79PCOmfay6w3MVss4jnjUlAkX7WNMEBZN3zThOLEEG/QgXQqxXqlkgFYM+dal1vMi4iKzE9yp7o2ubNfRhm/eJOpvFjhi1y6NjLgKBhHd5p6SElSxwEo2k2SsBeOTkzzf2dWljfv2CVz1sUaZc6mXPUlE0JZmDNna5ajmBnTNhd0CQ5PgOLYaGlBGBnI7OqZDrSbvj4Lu8q1Wtp2tHTtQOIy6/a7woZ7+fu0aH1c7S7AXgVf+fkULLXV8dUB2Ro4eelenYlFXV30yXd3djSpbiW57a78cx+wcIy564BIW3q2PYXZ2SwgBurjYgvVKI5VqJCjX3akcds3y21iovc32ozCyBUNvkYzR/GjKtbFF8toGcmmVia2AHCplU3GWZy8k1VqMRvvhdlfbAjMr/W4wO9MtCMZMLOmz5T3MHC2BaY9LGuvPa1KgxKvU2xcpzPwg1iUHiuXHBAJJuuanXg9RrGx6Dfqk3HSE2aykpd7HXBgXHgwWK9fDomf50FvyVym4iHWep3yi3Awalj+oor1eXNuRfJWUr1Z5fb2Kc3NFeGFDVhhDrztvQDkL6iANtJ2NMx+/LUNULWIg2ovoR+1v7dWlBUY33kaRFyjkrpk6LS5Rnm3J/9QdesQrVzAdZa+anV8lqJ1xzfVT8KX5dMH2C9SVs1xd9ZliHJVUdcrKt1RSYmgrcjDqvDFSY9Ea2YcZwItTzhV3lMi2LN1BsfA5JpTnXXeaRYCnE89hvnHdBnVQbIziO1BFzpvUVd2ljDYUTcbCKClRjJh2enGJbTusoqKPCGIqGLH1yaw7tfPmYvUF7Nn2Gj8iP1eLIY9cZsAB+zE2rbvuulOW7VPJlX8tGicFgzrAV/UGHlWUkLjTpI/HUSKx9AGg5boWLU+vFJNos52nG4sXZv7NcdGhAsxiIwdlFmUoUnKfcVibaBA0KmeV+d68sUhE56p/Yqodv1sZVRkqLLxBjhPXGj/akoda+vs1OD6upO+ESZ8QXKlhy1bXgQG18nBKfY0JhhR20fCmAwokynRjcavCtis6LxfkKi2O7kt7XL4cvwgi20ZFDYhosfJYHJX4p4ul5EAMyfgi3u8l3L+VxY3fkxgflTsnjcNnd3eWSkoWBgTM7+cJxRdVJTlKqsxnS4bmIxyzBSGVFI2pzEnaMSyVMGkG+bG5eSziRzXPT8HI6z4p7PTNn2WnB5p550YFjlzf42bg3IZ2+saNASV5Txui0DKVVo9xIOtFy7KWq4m1KXnZXkNe6Nl9ml6R5cXU9ObblLHITsH3wVHRY94h7KJHd/lkgYZcS5ftSl3NLtGpZ4kyy/t3nW2MlKlpHEdYlolt0Iduy3hat/UZCOqjvkcVYk7D7EGtdp+y3/us1mNiItTWoRuuHxKz4iCXydhFZpcnEo+oZ0ubSvPz1by23iB4dvaet/GsN+V3z5PIsS29131KZqC5T+P0msFsu0nTvECHdPHpEfcR+ZLeofe/QVzUrP1rUGdFStuKRsXQ27V31zUKR0J69NHfCLp1h4Xu24Fa3sPMCtTn08xudK2wFl6VR5jhvPdjbF7jPC5sV/Z135a98irh9AjrVnXxDvkJaqGV5lKk3bdeoVHDLeWzkNWzcLpIGmrdjKBC0CLHVyeLa819q1aJujr1NPUoPyM/pc9Z033AAr3xquvUUNeg++67T+np6SLtctG2SXZ/r+zxsTn3VGpmguiZUx7T76JYuvLmm5VeU60dWx9SMBCTr9e7f8RW9zOD6l7rKDcLjTgjnoPiRt3F0gbqc8o2FgUJ9PYu3B5ni1+zCCUXEZed8qXuKtvqxHWe8TzALCpuU/eOdnrpK2pRWc3r8K40CLK0hS2z+v1M3JNUWbwtjjBba5CU131SiO7bt2ABAiykMjEz4IP7us1gE0Xdey+XZVla43XIG1ctUyK7S3CpCKAMFw2Hket0KzA9s5pBrRCUv5oFBq48GS73AgXDRVrVsrgxeM9718sXMJ0nHA7p0UfvVRZo5xBKK/Vm7GWcI7D2+UsfKXDV9c1ixWw2xeXd3UorLNSOdSg8gf6iOU/RsAn3d/HuR+V3569WNrFG13VvM8bIMeTUofHrWxVLRUlkuqJs/oo0J4G+uReVrF2r4MR+syrt9up2jZduOQsECz+LXIYsx1L3vstlBpyIDrLGdKT1Js0A85lXbQdtGI9q/MlxObscwxAbDCoQLJXrZsnG7DIDoTWqa83VwWhC4YClz70pUzk5rsJYaoyu0cNRtMLygrqMjonoJQqDVg7iQTbPIY0IH3r/mm5Zrqu6h/+H6v1+0RdSRn5Q5RyUMVQu3AfOJTaoKWra8yYsA5VcSDIQe1BWZofKVlyotp37tJteORYav2yNWLdOW9iiYor1FpJEeDnCi88QA30zdJ0afA2KtLfLCgRE1h4xtFM1/UVaM27aXiJRpMrKpamBQ+Sr9ua3iBpHF3Y+pJAb0z6v3+WvqVPBj7+ikOsqpwzVtUe8hd8+hWFBKo/zlnlqkNXnmYdpj+dKdxtRvTH1XBAzFvgQ9zFLrXkvKEynokk/BT9LhrKvWZOhBrbLLXXVnYVqLEyI2ABmcQxqJ66A9562hR7YOzcfn2D3os94R12dcgOpGoJMQdmSxvrzMjQfcTwi8xAzVp7ySU48DJ8KzUsNwMmPepq/I/CHj70GMh6PR4EvT7VTnpGgh6/BiTW8eKqeL79WwqllP+dEy995+RhG8FPAqQXJwZ8DvgH40OlMTrw4sGj5n31xgNNygExOHoePvfckzwPHf7AZ3288b9gASyeOWsKRBuwgjuV5BkdO/ojA6f+clebEt2ymfmPxmVf8vPbsOGduvZljfQNMAJ/9Bpw6DaTSqe+Hrzgv8/DgGHteBP9noPg3cCL+Aq/GUwyH5bZxd009MuDVV+GWv4Zf+v6T48FvmY9hTcCQQ8YxL6j4CZJ4gCUca8gIrQTEGfspsEOQPsSTk8fMt/c8mm3mG8ecMw7jX9vGxx9yOfPpdHjJhuPHOdF0ilNlZ5iy4WP7QWdOcPyF0zwZcDgh8dAr9Zw+XctriH/yH+OHR8Y5KZcpwPfZT7L3yP9g33VwMjDz/JSnwjwKMWAM3nPFGWzrDHX+B/jnkyfhb45x5ndjnJwm6P/odD2e13Gpj+PZe8ngGF/ZO8Qf67IXTvcK8FUoK/8/rK39Gv/y1W/zn4GfAA79P9lNw/85yRf5Dr/iOZ5Jh9csMC7vXwNMVIenB+FkCRzd0YMiQXj5t/CDT/NvP6nhH761FoAC5w90BH6ypKJPOS8S+NpncX9l85dTT3CM1/ioOwzxH1P7DxbrD3yBY2fOcOK/4MUfHEVePfVhaOv+7GOWQV6cM0pAPdCwD/Odk/d4IJG0NHCcBW97iCPTRmYAjm+Al0sMbuEx4Bczlz4MHOd7HOG/zYmVYaieNwgueBw7to/jvIJOiqNn4ISY8UD2Xu15y8+ZDAPQmBJ84GNzczkNfGLRZ3wgdJyX7KmUM2c4ZwyG5LHknUID4goPF1/FNGc/WGeNcGQNp6pKLHUyw82zbt1a5R88mGJnSAjuEtZqYdWbc1bq/TEtbuSuUjRao+6eswTptg0OeJgRjfhcPbnROLKsv8NSosxLs26NyM9bPI8/QWxuEBi+owZroditqe9o68lPjsrqtmUNo82bt8h1fbPqeMhCNraGrSdlezun3BzUdgciUi2jEkBQLKzGlPdHbEb5+VG97e29KiwuVOPaxukyWJatLSm+Bwwj+jhLZL0ZeXzbZvlsW+/bslkEkbXRkjWyeVaahXDitg+NPGbJokDwdrHZI5qzPCHphxCRxYA2j4zIBQ06+wS95p1GkL3JktViaXPTZlnrXNkrh+SsS4g71sua8HDf2F578lQflj2tztxoIb+NGH1SuI6sJzwnpxZE9hZNOy955aoYSSEeXIoM+2SNDWsEZG3oFBcsrOKkEPFmRDGyGlBTEzpUvEU2aGuVI6ottXCDslmp/kEUWCAqYPN1rcptyBMPbBTpQVGxVdxuyeyovehneXmympfIoxNHnb2dyiJLGx8ckD/mFxfmiPZ2WaAt1ogcHFP2xrN/7z9bHEyckXOmXQRc0N3thVXdJNa1ipyclOv7lBrmci2W2eH7MJ7ay7z3WtBnqkZzvfUXk+FzAR9ADG0UO+YDOpYs/fzJfgpL3yn8ogN+9kHz+6fAvycvaHZYseljOWCjv1fKuSr+DzPAzh//ppnfff7HqBDWZGdTm24DHwb9X9A/m0Rve1vK/a8B/zL7MeEwFBcDP+XMsZ+TsfYyIssLCOCxJwPlmMUDU4cB8fd8gZ+ccfm/PzFxxv7lcXEkSQ3y4/+E3720wPtUszCkK+A9YfFjil9jQiHB/8qB/06bm6IXKIIqYOUUd55ei14V+jGsWRPDcSyqJ5Jps/l7pTNVuokfBx/ljj0Q8sPvj8IPv7gdjr/KDA7vMOg5oANYBqXl8HU/nIxhV36UF0r7+Hlwrfd6VUjii/xoplh/D/wvlrTA+GhnA1MVFfzH1m2Ej8Our4mJ6hWz0ky3BAfyuiAtHmbqTDFf+JjYV3Ucx/4FjP4l0DnTjLGoUg0xbB4jxu9++gVsv5+qByqg5t/gyi1U/WMWe6oq6f9FD/Ud9Xzzp4/znuzLedNTd+CcKGOiKJs94xdR5n8f3RPvpMR6L+17HmHZfVdytf0kXZs3MNAD2gXVsZ8CQr3l0Ndg2vkrP4LKW8GJmaBXNjy3CX61yGJ/oeOun47x0L828QVA3/5X+NDowgmfS8DD20j7Yxq5v8jjH3/XwepXTICMz79QCy808NrF3+D08t/xT1/dzakT81en//6r/8lLR55j7GcbCZ8OwS/T4AmgHYOEBnjuCPrRXD6fhY/cEwHWVq3i+TyX5Z88gnNckPkH+MEPUCb89LE4Uy4GS/nzSswKfRLNyacUQ7n+Zx1iwSB3eR0QXzY34QLHt74Fr7wC/AP89N/g5ZdTLv4dcMT0Q6CZDdyCt1N4F9OM+BOHJ1neAvZ6UgjA/o0UEPVZj79frGwph132DZZ/vdj7z4L0CS80X/LwAftMhMaRebdT0Qju0jYu848l7xRA4YfOxgMyW8Z4l3weisFP0uYwY8iyQImqOjnvyBbVyC2tVE5tiYaG3iB8FTP6udbWsz6nIB7XsBcwO0RYe1e0KW2OLrwRAzuDp5VESI3iU5j1r8PqJSxjHDpbmoAIeyvNGr8oWMRA1DwqOsK6eGu/rHqzSli3YZccn6uHpx2lSsSeG0T9JoVzrzGGZlBBwlZ3TUAN1KuDWs+TM1ukwuQaG0QopBC5auQ5Ob5JxWKT2rkTXf/IU9qaHlZre0LrPnxIXLJ/np50E4sjN9r6Vyjc9mZd/NRDBjq3D2Gj6HhIF11hKXLT9Uo88oii1+UqfTyozxzYoZZVB0V/nWjerVCrWdnEesNeLOpmwTJZWGphj2KxqLY+uFXhafp2s1Ow6lHLJcjsIH1qpVXrsDRImlpaArJCQbObCBlnuAkSqrUntLN5vQoxVOOVra3ag7FzPca4cGy5EwNyi1xBry6J3SP62oXfM15bGOP5Yo5NC8hb16GhQTQ+vke2Zenic6TPJl8VrJB/v18faPGAFGWICrSiqUlpGRnansJ5NN2vLLRt0waVFBZqdF+nwpGAMsdLNGgNqra4WK3LzWq2qChd69cvjS4iHC5Swx3/KPILtOOhdygQi2p83Fxzy9BffCUkv4soK9P2tqsVnBMDOhpFW7f+uf3ME5t5EHAwyLFF7TRJGU/9PyrYajicRhFhFCYqrDrRYoAKdZ1+ZRcv4Nw3bqLWOR0YBlqQATYsFPt6flzqvVxyzvd0Rh2tC6+b/qYXXx9OeVZSFkBG+REOamwyLMRzry9prD+fSWG3/7Elfzy/NyGsn/4f0fXoNMVFGHQf7SqaNFDTBrarJt4nt9VVfqWlyjVLe04eCQ3gqZqIKUmpMKuj4E1KnQeFbYwz4dZedQQ8/PtqRCyZfqWWSrW7ZKm/Rhw8aH6vXSsqZsiwghhUDiA6/aIXTTz6UVmWMRx27OiR4/rk352Sn98vy/br0Uc3ajvtcvHJplY+rpKDTz4c+THew9WuK9ralEig+voWwaDM1jqsdc2FuvDCVfL7UXHhhO7+1mY98Bc/UtOTveKxHUZ1khIg3mVxlUB6+o3atOktmpjolz+MWnch8tG2/s06uDamS++d0LtjMV0dtLTdjzLwy7b8HqrEr53DyNmCbtp9tVqokTGkJVWBflmhsPzXduqxaaOxpz5itfDHhBenAAwP/Q7eLGgV/RuNR/R2ZhAsNl4ktYjgUhm1pfkO1fiF42jlrnu0ilUCV5NfuFvc2zKDbrIQi/CALSbdPjSwAwX8flkw7TU7Lc2IkJmY1oLyKFcV6zRZ26x/KSgzaVZiAsNfs0GsyJP/wbbpyF9JiUbRg6M+Fdm2/Lu2inBIVtZuuav96q/q0Xij8X7PtlHjgoiWhaRI3HxCrFgh/+5uEXDl9ycE9VpZi77znYfk+l1h58nvm6GFX8cMFYx/iUbYP0vWn+P6vDL4NZBy/hLQGhBUCZrU4WtXkb0AFD6Zj2+FsA06qYwRlSwYenQ+HNrP+8/9Ln6fTBRHZFmWJvrH5qTxeW1+zn1tnHWx8rpPChxYiAO+Qql6uLlSfmDGd6Gw824tputLI0PR/DRxBYpVR5TZmjD3wFnjKRAIiizPBuCRqi2W9qY7YnLdneIACpbW6LaSJ+QH5RQw4xvRnSNKlr4jWooM5NWpIGSQBG2gqpRrGaAv9KGiIsxKcBl6cM9TGrnUErei9oI25VqOQsFKFayqU4lTp8LCqHJsS9VPPSWKV4nCG1QYvF5fOLhK1+5rUvbe9+v7T+7U/XkHlHWJo467S/SuICrKK9YEy716GlA0p0rZ1dkabkNNVahoTZ780SqjG14SPDWopGt+4eSlwi4Rtz0lB1RChiCs/DxUusjgEwDl4KiQCVF2s7B8uv0voqIre15aJydDeX95vcrDCL8t/rJLrC0QlxwSBbfOpD2whHJbXl3jCtapkEoZP5JMURiW5XNU+NF3icZGATpwzwHtxosTcOCAhiy0qg6tXgAHTuHCMcWXj6MnD5rfmy10421z0hQhXAPRLSRXTRgHqaos9HgSfdOAaEQb35ilgtqAri9pUXQu6VksJg4+LoJF4tprRTwuf0WhcgpRKwXa5O0cw8Fi5WaeHXrtYPw3cP3KfvcjCtTUaHz8IQWDMXGgXHChYqD7y8rkWh7CJz/bs38dUNGctv76yFniKZSdf37lYLD/YdMei0CTAyvEunXKpFsHPbjuGgw/m9l9J+s8W0lUUzrpSpAw9o4FudNS20j5OctVWmprYsIgmyzQrZv4M1GRlYL213lSWLtW3HDwTyiMb7qBbeqf68/geFGk0HJsNSQy1NeXDDhj+E12sNuk2bZw/gU12eq+wUxKMdCgs8B2z3t+77adchxPdeMLi573KA3UMittq5gXUMPkGQQN/wkfxN+1Rtahy7z/bS3uYesKtmrTs0+Jdkv0o/c81aPWd3Xq0P+4Sd2f/KY2j/9YfX2larFRon+TfJsCom+9yMpS57rVCvehaB+6zkaZliW/7TVgr55ZgWiJi8ER0VoqLu1QHSMqBG1q61AidkBsxGNW9YyzNotMEtmCRgHqG0vIcgbke+opQUg4nxes0/3v2KpncyeU6t2b/B6ZmEmyD+TwuMCvJy5eJta1GO/oaZCBo3AYdXY6gt3C9cm5+X2iuEdWJ9p+6ex8z/f7PLHj/RqhWwGaxKbr5dqOnrj6DrEyueot9tqFSW+Dtpdh+Inm5te/MKOvg0+9bJt+H1//YuWJKrlCBFTLWl29o1Q4yBn1vkfzdSJrpTawYXpHnpQoaPPVXbLqC8QDPSI9qLT+frVYliqtMtXbKwStsrILZDcusY6iaWr/7FeVUVMtfA/JIaYrdhstQMUKdMvdO+U4jiyQvQGzks5i2vv7fOW8vmEpYo3ZXa0DddmOUQel9NslP9fxmXbufZsGbOXM66vNSu4soVk4Sw22NCM7Fv32M/LO9SGlB4xvhWVZGrx4p2iKiuH5mhB6mMcN5wwyC8pbipnYXt9JIVQjBj5yjsaDQSZNn1smmq6UH+MJvI9GbcYMBmaG3SEv1KxgtRx71TRxXFLiTd5WK7bwM9/mOLopbFb2djxN0W3b5qVJYt3pukzYrtfwLNUTU2dTp7Yzqo5pfH+tZquPMpRkAzWMkefXAOKgR8IoPyPp7diiGXRQSj2RJsPCmqnLnjmkmhWWyEaxWmTlhpVW7Yq9cZFVK4NLt0TTA9qNp5prwgzeDWbyWgFqXrZMn219t9YRUNMD3rMCGF+Alg+K1lIFLg1rrDgmMtGbV6xUSWiTGM8SvjtlnJq6DA989dnfs/3JNar1xfXAoacMxfTOQwJXre+4T7m5ywV7lVQHBTHqvDxmdoHjXC4Hn+LN3xehS0VLi0djYcuoimKCUTXxfvl9jnZ3tgj8sm6s0YZ7Z3Z2+8/z+wDq3nBIHdTLxSf2v1+ubeuJ0XeJMtOW+vqaVVp6vwz5WZP3XXO1GEXBQlIL8nuOhRab9K6m+buhhaSUkMrjrlzQO+MmZkhlX4Pi+Rmirm5erIwQ6LbwZhX6yrTqwp1yozN1U1RTo8o1awRhFaVlqbtiabQM+Tj65c2dqqxJKDh2sXYFQso45Hm6B/L0+AfeJL/fp3JQRx0GreM0aUXEI7k8D/GB9pw1ja1ZNjwXETTPCYHCbBXxNO9bzR8Lzib79u2TZVnTCKqK8vVKJIrPck9I7He9Oprvg7PomNB07jQxdsoiT0SQVY32cVBYzcaJc276CDOLPk+2RVEsBbHoYvrdUo6lo4/sdnjpe2dPI2Zj26NnwPoiJzGI2oz0OBY26ezHYJC+Cl9KRvb6CWem/jdHj84mnTsce8n8eBWDL47HIZGYvv6kZfFp27zG1OFXOPK5z80r1hTwMYBNnwTfaS9ytzjDq5w6neAkOzidSGKXj2C8IpLHi8CXpl9vAeBDyrEbmB396zBw7Wv9/G7YEKmF+Tv8pPop7GVrr0150RQG5nCYZ+RwegpIq2HqpXVMHrE49gLw0mFWH36RtzPF5rio4vN8Yg+c9MPEXvD5XN75xCHq6sxn+I+f/Yzr/+cbOcoJTn/Ie9wJIGDBtr+l+mSQDUc7+dVULctVxTPj4/wx24GPb4bTnwV+CXwXfkwK2mzmmEj5ffqlMGemjhD/GESPHeWSrzwB/lN0f0hMvXwY0wKi08D1qFez33Bs2LcPi6eA0zgr74HV36PVslhuWWBPwb6PYrwcEuzlaU65Fl+7Nw4NFnz+DC/+QtPlWArX2tzjhRd9DFy/i8C1uaRnPM0ZBz76tmPQcAxicIpjTMV9YFskA9EfpgdoW/IzLgDSvNYjvsKHTy8ciT2Tmch5AMGBTnYWPsxp4OmT/wLBf6Y31kKemwVn5juSxIDt/d/GKv4N2x1rFqdcGUFWWhHA5tdy+dbUAoxzCxwvOTEOfr2X534NJz7p4+sn4MUnPD7AEwFefi6MBL8oh/xWz4XpzCHOHDXby/M5TgPPAgbBFJt33UHsTR1kTgHHDbz/GPAan4fDr2B63vyx4GzHR3M+ihKCcfN/KPQdLvL9asG0IWBX5Bh8wnzHhmCQVcHFoqLZpPrFHD597rIc2fkZ0sLHvTHVxqId9C+w5giUzKTbD1hH8cbdELALgM8dg1f3YPrbVihZBk1Lba5L3SnUXbhOhW3nqT5qQ+SNqsebpXZs2yafZWnbtAGxWYymrLbiiA40yKDo2yzcjdr0PsdbHQwYWuj+fpGyG9iWnS06k7aOiDgbosgZEfjE6CZDd7G6X5RaouMucaDs/N7NtsXAgNkddRnbx6q5gTimxfPl8KPGPhOAZOaarQ4L5aeqZ3Y8Kcu2dHBbuVZQqyuvuEKrm8wK1cJsDTt7LF2U+YRR9bjIsTcJf0DOE++VdQ57QCQ/pvVfv0stjWt0SeM6WdTJokSdA29SPFFskFIbzl0Hs7xVh7cJ29aO0R1KD6B334woQj0b3qFIJFfE4qKrb1oNuA4vroSNGLKn8xrdXizsNbLqLFkl3tbdQUatMiSbUbluWFtueU4s65HVaWlw7+CCZYozqA5v+99HUC49YtNCxsAdsvePiMdHNbrjCTmOoxvesE2VKy3RiS7ORfXvetDDt2/z2uNNSvqeLEWGSCUwaxd8bMF0E6CNJNsTWr32IpWXvttcr0asQC1dlrIXij1djnKq0Dc7rlZOfr36N/cpGApqkISgXZbVL8sa//+Y++/wzK7q/B/+nPL0qt577xpJo1GXRn26NJouzbh34967DdhgA25gg00SgjEdbHpC7xBISCiBQDA2GBeMbdzt8Yzmfv/Yj6RHZYrzdfJ7z3WtS3pO2Wef3fda97qX6Xe0KlkldkSJIoYuEVTJN3Sb1nkjYt6oWqXx8W/JSdg25vxmSNkqOt54/JUFiWs57cYK7e5NlLGT4rLWds77BLWvQflH4DWzVzMff9zaskXWusMH8EkO0jN+DHnx2B5tmPMZsizZY+8V7JhX4zoYhoDlZZE0BtkLfy3LyDFphY51UojHpxQInLOQacpUdAxOGDdgdPY+UD3lKiy0RHebStNzlEenQpy5cL8HkW4CvJOVI6xsXXLJDTK67eSALy0yKhSzZZxjfIzhaHJpgJ2ElIG4ejph1c8Wma7aUzpVHfKrMG2V6uYCi+Rki9DRXeKxLJGVZbbK6agBFKNCy1VDGMK8oKmczKw5agIjEdCDuagqydFk7ynZcgrRR+K7FM0Z1pk316i1Nc28aw8iG+2zNirvhgfNxOuiffTK8joqu2uzUkjVlrl3OBiiwSCy8kw5ZOfEdOP7v69AyybFN/aIzn2isk8nbk5XVqornIjImDp6GSTr1D+wV7i2uAGdYru6IPM4QYkyTlstJzUgQl6NXVmo7IQRLivx7TiIC5FRoVnaV3qdmeSjGLSPjZgpM+rDu4ZUfuWV8vst3faxCsWqQzor3VZbwQdW7lhkK52599myyFRedvaKwAW/XaSdmbsFPbIsS021WxVObRaj6NrLyhXLfI+wFziU4sypQY9NpixL4fkQjOla4BtaLFmgc0CB8nLFurqUlVWp2yJZcnA0kzCwppIrL0GV7CiRE3ASfWGdCNXJibToTOpUTqrOumSNIjGfsvd6hJWmzs5hrV9vIJKhUEg5y8LWrixx0BYuEVSL27JExNa+uWBGa1PVfXWtbHvJWODZe9RIZIeVVsRNe5c4rhqx5vry/4Jk45FNmvaCKEU5gyh09Qr9GbSLK+VNgoSm9fUppbPzGN+zcpqLJcEGDGYiuDio5NgNFseurkqWYzmOWX303HNBXp2jQABcMkg7hs36P7GLQ4kc5ZFJShpQUURGJE6cOvyJzSIAB1Lg6XGeLH8SznsCPE9y81M5iaf/snCfUwjeKPhhXw6kjJvTzzPLA8s5DbAwjjN8bb/Zn/IkPOXnJ6+K/3o5hxNeGqZpbjsfi5uI8kc7JPjLX0x6T5uN7vNkAlnL703B6AQOQeQvCwwhJL7sR7E+nvLlLnze519A2X6+HvgjZfGv8/3freVPjxSZd/23iz/N4UnfF9mdeydTh1LxsosP+2fxAJe+msLLBPknjLbN44M1GVCSDxunjEvhC8/BF+/5Kq/+/Ame+6pN5Fev4zw0y/3//CJP/W0WZl+Ev35mbhd9+CPZmeZD+7EOwfExP/crzGPPtwJ/4q8fOsTs38CSi/PlNA4lAipEMeVgz8L2dwP7MsCxeH3XP4B9EKo8kOvAIQs+nUlYFpu+8n0yH3oM+5CHiodPIHgol58+Db97NJn2YKHuDrCfpzGN4y8cQjzFY08+yddX+paJP/K55z8GOw/h2BYnX5/Ka7174Ksu178jk/0vfAz06nzyIRfCnpUSWrntfM6eYDzDOPP5eBqbp1a870Xge8CrDz/M8z/9KdE08e2wmHVm+cj2zwDwkjeLg7afgk/m47zqgP0UeL8CL/+W2Rd/wX/jYT82f45uZ9YKcuC+A4zqGUKhg0Sjpp37gj7imfEV87D0eA74nPcbYP8F/EP4J718mH5z8fcxptZswnGXDCUH7jtsDJSjHv8J3HKfQU8vOSwcMth+9DSiLDjqHePx1JkH8Iw9w30AGTD5HWh+a+aK936cryd8Oo3aOf7dHxL70U+BIZZ4mS07+o9y3RyfYlHAjj/aJNN7LBkRlx++jWAtV78d03GsOwUq60TmcihVBsmws6iY9xmYk6GF/7sTs143Zhas3rxkNWEJvGb1OIxZGR93r2wMSmX+vhIMJnkC+WsQFx15drQwFNCd+Ba2W54tYmtQYGvTpV6lL3MMefOkHhTfefi8+fAIbLW3G9qCffffL2tsXA7IDaLuS89UQVqCBKytSTtOrVJgDH3wszsTxIEzYify4uh7vm0aBl0FKilB7e3GyOTYBituVhg5upYbxeoO+c48WTd+01VZmaPx8SuUkmLQFLWg3Dfwjd0MysbWPUN3KBgLasfbbxMUiusQmYbaZIKVt/4+EHd1CY8t/8A2eU6u04xnt7KdbtNediArMKpVp16hTTvOl9fyaE94RLiuxmhWahIwoJudC2mHrUTYw6Pnf7cP7QLh7xYOan1XieqbrxX1roijiYl2+f1ecYfZhu8YRsUrOmTt0ErostUMKIahZB5pspQeWZnMLAhqAWWVlKiivd3EKF7TLXBU4NuuQtDZA2erZluNJpgwjKQZif5CtaBR59aeoabUevX27pDPF1QvEflo1nCto13tvWKOkuIYfS1CoJbBQZGZKf/u2zQRi2iBjr1OvrvOEd6lSJ/uY0i7Wcuoo11MPGuLIxDM+WRUxUcgxrNYQsF/dEkbQaNJz6wFXXLEZ7pEt9nxNdCgWmpl1HKHoe5PyNAx5KULFmJDWJbYe5UoXXXs37PRZ6K7BTF+WInzb+pOgecOwKtvgQwWEca9CvNxgwwfwpLlQc4fF/4fzTbL9icB5xUGfJ+n8LXkm2XSmIWsh8A6BPv0YcSSWfFh4LvAg/DaIySsyIl8rUA9sCk9g2+4Hqw9Z4PrIQfgwFfgz1vw1uTwoxc+ytMHE9G5UgbAX7g8kf+H49kReP17+8yP8Rg0Lxj4wsBGDgCHeOqp7czOhvjq3degr/0Ts6fX4HPb2fPit7CLEiGg/tXlk99wePWr67npl/9FnAAWWfBdEIf4Wu33+WWjywtk8PCTAX7y2xgHgNlD8PrrpoRnY0/z/OT7wYEDB3385KRtOA/N8k8FL/G3k4xB7G8s3tGseFy68O/I3pewnE2w83ZeeRk+ee8PgD+x1QdRy7SRB1mZEWU/wJNm15my6ff4nnuaPW0eKEsAmD8JOvgSTz72Rf74yFc54HH4xqZ2OHiQr/IMG3gROB/w8WRO0s4zTfB0BFhxSb9w7INv7w7xnePOYd+5o1iHLNLv68Dle/C3QUpf78F58Bpef80HtwMC+1+BH6yU2CfNDUuOp62HiWZ/nL3AN54R6w6sTGZ2BtAPVDgP0+3+BF7uJjstjOPOMvGW3/ISzXwn+7M8+fwuHsTHa1iG8O/rYKgWfsEnre/yex7n0S2ZzAYdhnmd13mal389y/M/eSzxAUcvluRj3Te9ZD9l81qmxYMHAC7GmMX/k233x3EPLh1KCkln71G4JZ9hMagDsxv+DPNDwcrH/sRzT5ufOzEbtH0AE0DcPL8fE3CsZ+657EV/5o7MTAvbzuKZFy/gq2Ob4BJz/j9SJrnDX7liDrIAix/Ck6ZfPhJx+VPYwQxur634zNxx1B048De2M0AQ8IDS4Ndvgxf+PXG1AEONc4Tji/tNdLeEJoNyDM3JMRzHPik81Q0vvmQogJJ2yC+RPGC/Bjw2n3KnDdlNDy/cfO01Rh3wEOCBb4/b/CmWuGaxCDpS9zA4h+DDHzb8Dn9YKU8W5LwG/U8kfvsj2HXLWVJfrjqD2UA2wY/+CuvgIRoBD2LjT14k/ykfZ/7uZ/BYooGVvArxY4AHLD2KgJaVLz3+Krxy8H7z49ECeDpt/tqLwGcS9KGPPPIpDh58mVXTzQbp8pXf8XLuT/gwAQ7Md6/98NDroC/z0LVZ1G18FcdTwGQjHMLml/+xm7/8qZk7hqsgNTXBC7X4ePrQAW579U8U8ChrDv2AF+Kf4nfFYOe9D/bfAoQpYT3vTnpmRV7J/4C5JnTdiw3M8hqfoRkO2vCnV7GAL/wzvDDHctnLypExHeCXu+CQw6oLi3n903/hqz/6N9zf/cEUDFsIHwjR+FSQXzzchqtDNFUApWUMrH2ML6bsB34BzPLQqqR0q4A/V3CEAJHm+PAETR86ROM//ooP//KXWLLR/hx+vv8vUPIKG/fWUbp+Ix7/i/BcGqztJ94PvsOpR5b1Koc/2dXU1nu4z3E49Gf46Ny4YdtgWdiJh+4FfmnDww/Bv/4Y7Ed/RHP+V+EQ/Onnv+BZ/oOh7CfJf+xHwKdZxBhaAdTBX9YGeSXf4RF+w0EOcAP7sfgzT5dbPN70MLAaHs2Fbx5T5okDQ/ZXmS16GjwHEyrYh4ByqoHiyNuRdQAoADvBpcUWavjvlSJqJh2PklgS/A+O1zHoOAxc6TUMdSkPYhRe5ij4A7TNgyYbTXNqWJxSba2D11vPxI8/hPXFl6DYYRNQWfQw8djzrHTUsRGHbngoH4Dswf1k9r6OGf+OzOL6gDN11K/7DS9xPcJMAGfAf0zC03MD5OMcpvLmj1HMgnO+mB4CfrwyO+yy45jVRwwLao59+3IjCp2J3NoZ1TIXgWlJsJNgv/AkDG4tzPOVDzaiPM8qFdVuUvxwrKh1iD50WTeaHDHnMjNtXXZZZNm9ESJycNTALtkJZzrXsdRdH1N2tqN/3BFeMBr2B0XhShwmRxEvhw8zGEK4twhQPmuUupRNcS0in/lyunnvxbLOq9ac52bd+uOUXtYgQDn4lUEiRkJjo+iOCzemeBPy4uqu5itEU6ExzKYyH/UsWa3nz/Gp+sZqZVa1qHrdCcpffYHSfKm6sO1C5eXnCWJq4LhFBr1pkiguPIjaYjVRr7ngR42xB2RZe9V4z1mi/TQV7bxTdaA7L69RNMMn/H6xs2q5V6aDMZ7fPSLLW6dbBvoVKkQ35JOkWozJjkQUnZwUzMgbtHTBV7KVnudTpHW9nEia6kmopmaOxkO1ksRl1D4+MXO2sF01rL5VTf41ItykjPQSBaMYlUSLIyJh1cbQqqXfUY9x2lq3NP0Z+Yjq7dhielqWbenmBG8+vb2iuFgTTChKVKFstHqOkbMTdQ3vUmmNCTgVS6TX2Disv0sZF2zTIv4bH8If0dqGSeUNotoTjZ/CuXRqA5UabqrWrt42GdXL4dr4Di2lZnDifuVsPkeu90IRiAosEc4WZSPyg86/6Sa5Ho8gU2yrTvSDPl3IG1NBrihpiLx6Hc0RrQCUssJ5D0sjB1paruI2ktvoqJKoiE0rhlHfFB72nTEZ1VeiHP3FwrcyeGCp3HLL2Ue/rzYqPJaCZKvC2immO8R84LGVorgtlihLVLVliM59b7L6iB+Qze85bLSCQIBF0bA/Di9/FUIDStoALMy6oVCIreNpcMDM9gM/g5rfOEAYyzIByC3bBt5iHogufl3UBuuHcPcP4IGvmXMzGw7x3S8t9yR4MdzPrBPF2vVlcA8yDQhxoP15no3NctwnX1pQen3nFfjTyhjyFY84hqXwdQ67QNjyMhSGzE7BWvMvWBVL2BS/FYQ/u8YuZMP9L9yPOATe+yEQou2lQnIOGAut1VILNaUY5sS9sA7wiA0WHOQg749+hvjsfja/aDDMC4dtFoG7wX42RvS+SUoffozh7/+IU177FOy3sAaiIIfoKc+zZvs/LvK4uB/TuuYPCyweBb6dKIZbsbifvc8/B5aDpQ/xOHDFN/fx0ktx88wrVmKVmXTMAh+F3YAti/vjF/KaNcKnrABg2lOM5wnxIoN6gNiMeF3wib+8Avv3I74MPMPuubs/Ek9KfA/H5rnwHOz8JGTuJ6b7wBa/nP4JP9e/wBD8NfgcjrZhEYDdYXjppeSmvKhMeBr4ytILH2ETL/AlDhH74v1wKMT9VmLV9r3vwSOP8CAPAi+YRe4XMCu7H8EPX/kPOgP94ELheQ00+hrptEJkzniBfyZZVVFbBqtqXuRbLz+Ae7CI/r/vhZfgdiy+hMX+n/+BV7/3K4yPUAxWXMd/ksV6myhxUlgrPwcL3s32phfwIdJmniRkfY3XgCdjX0bMAgfYxqsJtePLfIkwfztSsVusGNZi2T3W0etwiaJh/jiAMdeuwWykFu5efvgt2MkheP6LPA98p7+PP11udtotwGLO3+eBQzAdA6D5tRrq91di1ugrgE2Sjvvvf+9Rv8cXe41T7O3Ak1j6BNz/GwxtMcBHjvr8IBOEiCy4ezwE/OjDR30O4A3sFFoFRSsYCkfM31XTorhXXSz2+p1cRDsxsvB/ADlrHTE6KhdjhIwRVxdDhqQqEdx+dPTeFWkuNmIMlJOpiDZz7vitaN1K+Pohx/D9jN4hHN+8G32TjcqWxoJoalrCsX4McoR4EoD6aVXWpOEIop6k1fucdAmyTfyCABqx7pJl2xopKxSN1bLtLmVZuWZlalULq0RYaGRynQZD/yC3/71yQI7jaGjyQmE3yqF7ZboAB0UIa5R+Fa1pV+9pJ+qKtYbzxem9XkQLdYeLAs4b48OfeN+ELNeWs26d8N8hBg2cbuxt6xXOMru31RyeZdW5607h9Yq7S2Vw9KsExbISbQOCcpxeTa5bJwgK51YBGhpCO3YgJ9FeYDIp3XEdnlJksXiDa7V2o0eT6yZlY+u0+jNVVlsm+ntEVqY2bBiS3+8Tjknf4o2Vj9cxeZ2YQJY1oDnOqPnvx3AdRQlrJNlIax8nZ2uPcJB1pSW7xpbdc4Hc3DoZT/sFzv05LLrJnyWb4UXXiylXTWKVnMlZWsXRIJSOYItiRDTu9AkLOfZagVenOSZ86ULdJZgC5jxrR9J0+BC6c2OBtcwT9+hiaxF45RjFXlRfxTJe0Ys529LYqWGGZEIJY3yRXOvw9d3YLvIMTL8SS2VYMr4faUfOz8jR8zu8rl+7AnPQeEsUThg/lSZEZtK9w6xIQTPQ41EoOGwABV/CaA14kw3Npdf7CeCuMAe+CvTAv38JHvkZvyd57ZLNA7PJ683/XPj3UIjelycpfOUVDmI0ga/kPsdDZ3wjAThrBlx+1foHs5pMck7cB3wRo438+csBjn8kB4D6ZzxEfrdch85vZ002XzLD5Cz78AK1KZAezmBj/kaoKQGK4fXHYPaFYy2WxLcc+bKXR3AeMIr1zj9D5VJd9EwAqlz4MvAqbJ/5E5bEfz5USfwXzZzf9xDPVz/PH7MBPQ4zfwUbXo38nN/Y1zHbdD9FpfuQfYhX674Gh/7CLK9Rwgq2pVmw032Ezq3hmT/8kt9+9wH+/TfppBPh9OEvkBNfz00H4bVZ07qO9Xjw7RE4ZHHV5CS8/gj82hTKrx/7JfsPvAYpKex//wSz2aUrPj/7Vscs697aQ5Cf8O7OfydS+QjCtA04xOzsazzw8xexeZXisb+HNTG+Eczj+6/7mN3zG/DMwqLYWb/gWL/C88pvaPziLA80RbBtke+d5akn6uE734fQU/wq9BIHLMGsSX+u9x3rceAQ/PrX8GAE4NvsXQLImGviL8RjfG1i3BgGu4EtP2KW/8YCiv8Y49BvYhwq+xp7go+zg18RSDLUSkaGgDzEocJfgXuAEh+QB3/Fw+PF1WDbvBD8PH/MPhqUwOTq+RQ/uZuqKRHMbv8N+A/y6vQ+vpe4a9dbHZxENuadrP/TZTOBIwSo+08SnfENHQ5iml+/sYdgHhZvjqcx9ozfLbonkPE9KjZ8g708yB6g4FAGZxw0u6nErAGbgb1QzG7sR/8Dnr0DgCeI8xdiwO+BbNjZZSDz+/bh4DAz5/8/QrLJ47DHr3/9W376uhlJLcTe2M+NDftRjLP2/I2s2BB/89pB9us/jcH3YpZErzvKcaw7hff1GieWBrw61tUXfWeK3DYDOUzIKInVog/R7hW9SQRiEUQn6tnhS4KT7ZAXZM3p0ZdIlRXXuR6z+unuzpZtX7v8vlavCFmi633CNul4QVYZ6slFtFhiXY+gS5w5LFqOTTd4LGKBvAMekW08Dd02V07ZYv2opw7ZqcxD8Ib2+hKzf6lSadDbPJeKjHRjR3GbRLBKPtAHd+zQZNwr75Y16h02tMx33XqrDCfP1brW59PqpXnyoWhWTBuundTq7CIdX98hH3WCbLV0XK9QpHC+7H1H+bYdi9LdLixbw3cOJ54z1NfXbV2tzGhAYKkRr2IsYdq1HbFtWtvoloOtfTt88oBOcVH2/CrSpzB+bWS12DEsF9RZVqYdubmyNrWInSeumD8f24+5rfpBE16viWTmceT77d+LDRsEXu3oKdGaHd+SNxCdLxsH5FjIE0L2UXaKgOEo2jMl2K4RLKUfBi5pEZSXVgO7Xo2oPFFs65IN6nYKhVMkGhq0MyVFPgz/U/LzYcK6mZuVS668a0x990QQzagGR6u7bhNuwOjqa1fIQwCxFGobQ43rEjaNZTDROsFp8mIryBzE2pcod5+ME9bC/Zt543xIK0tMcAQP4qNCWs3/NnP2ThTJQKs2LNxXS43eQtr89WS5BRR0O4U9Zx8sk4/qRH2Yvu4BeQK2vDGv3BNC8jgeefHKDiKPB7k+5GAvq0MfyO1AndG5NmFre88dx1Qu3sRf57qtmsqMLrt+TFqhY50UFiryajHnzbhio0Ydc7+9PmFPawo0kPTBNshHSK1s0aIgFCkhsa5ZnYM7DVbZi2BQ1+Ioc0njmq/ULOQbMv93YMlO2i7PSVPTOoVCKWLNPmEbQ/MExgDVsTTNwUFRXPwmNFojUdDGVWvFRuM9uqt6tbpyy2S2r2Z7eDrGl4GJVhH06rZ7bpNlOcphp6p9fvXcfZJoqjAdsLlHXOvq4ib09ayAAtsw3r93INeytS8wkOiQfv39rtsXN2gHsQMFg9nq7LxRTnG2Ip0tupitygI1rZtUKCVNbF8jXFu3H+XbFnXuezfJWrVKtwd2aaoHeTu6BEXqugkFsxDERd16k9dF6XhE4O75tC4JfFTNlOsdq0mEP7QEO2VhBm4Cu+SC2inRINmyJhH3LxhbO5PiP+zsCByV8gMQncjy++XfOqnbbzcD/o5oRHg8grUKdOaL3UMi6J0P1FIDagqj/nej3EbMALtC8Jf5dupBa/YGBAH5G1H3KSvfFyPBxOvMtf8TZdSLlqjbJhoKVFtbq5x4XJO0LQlokyuLYsXokE16oo2XiA7TX4cZ0C6mdcSJ0kL4UTyO6mtb1IFfHWFkdSSub0X4kv2GXK2hR+fU1uv6eFw+vNrKVhkG3VEtparw82aF6ZybdA5zPYrYuMS/af65BV+WAlD33LVSxFWL769gISbM0u+gyyt2zdF4N2oH18tmVHNsC2tAnedmafD2EdXdc4O6G7q1kY1quwztGzCAgrKsDMGIyEX9lWh1C7q9s9OAORIBpSzQ4EoBdVbojxNzv/03KWBlLbvnTZ0UjquoMAgSirVS4IilBQkYpInXsB42LrnHBZWC5iKhGSkSXKueioX79mX16iYO79JdhFe7Es4iHyWmnYt0yol7itLk87k679rz5PF65QPFOFMQUUWS/cABpTMhE2TjzWi4CclnnnkxK6tTsVhF4ltNo85jjhdnjcCnigfuEZssxTNRgc9V++3vEnX9wioQmcZF/qoiSx+7+iLDvXQm2leZJY/H0vnnl8vFUDBUHuY7snOCuvHGNvn9TUqJbVc9ZjA6h83KIVXG8chWLyidBRTDxsTvldKcaRiXXdyqSpB93flKr5sWlOjCm9KVnu3IdV2lNVeIgEdmwEhwtDiWGqe79Y9My8VRpOhi5cVOVlknIqkd4MRF+mnKYl+iPWWqgrfouE2WsjtRBufKwqe3VSa1p4pjrJ9KFNyJzvajyiSW38xpZDkoqzJLGVwum4iY4xwKskBNHM4ydbyKwyLQrDNQeaXhNtpYuF7d/pXpWDIwwV7wI6IoSqX8ZIkkfXVDwwlKSanQjh2XKxBIRtulyFBo5KmIkPrZLigRFW8RWOoKdmlD5CMawKtC2pTOoLE7pZ0r7v6AyMhQEOPoGQqhc/NK1IpH13uRU5x4x86zhT+oXgo056RVwXUqyC9RMJgmrKjIQJl4ZBiGK2QYblcICDMvtoilL2gHwmG5wWCS/clWjHQzEBv9kRlbtowLLklKx6u0tJQFuwYLjrWdJI1LIGMvKdeisczPfICaDJAVQ/iWD6zJcnEvYmu6iDrKBI2PoZ5s43wGZuW+FBUVBeVmoLIcFIh5BBUKprhqz0FlJaiycnG/tUE3ZA7I2Now5RQ/TDmSnmijFwlq58eCuXve1EmByy8X+YfjDh/XirP26g6RefqKzwQwqqSFc5YMNLBXG0A26wUe2e+/RwMkk4ktljRq1cEFArTOXtgKenG0LrFKXLv2OsViBVq38X1yHJ9aQZ+x3qUAqWLd3ebdpSitHb1z/HQd0VNyTqxhza30j02SiKrSWORN2oGZ9MYYVAC/WH+3sC3ZZ5Uq0N6gwcvbRF6uMXqNISzU7ThKvef9Ih4Qt6wT9jp5vY7ueu9mRZhb3UysmJdQTrYGbny78tYUqOfEVn0TS8UsGCntDWPqdFydCBoksSqClWMqzD1jf0xYA4LN8od2aXjMbHfHBgYVDoUUiUTUt/YSGSPcsOmMNjJqpnGN2wke/ZNPFU3NSatJS7BJhMJyBtdq/cTiMu2xUIxSja6/UK7rKicbrVmzcE8fRl25Hr88jGkzhq47RI2iVGpwrr1sRMNetHlioczGMHn6or1Ol5BQp92d+ObSclFVm7g3ocaoZYWQiYjNaGzUUmQKYSO735Z9/MrtJALqtzCTTANq5Hjl0W3KanOVoFrt7eikdNPvjFrVFhYqZy4QzEL+A6BNmxLnii1RayfqbL3WggJYpoyt5L+ILZnC6lQN6EIWiO4sRgRerWOvYI2qQNVEBNeIzc3C0yRG0DqOV3JciCNLQLQMLgSnqa5WtKREPZBoI36tYkQ5ifZiY5tvtm2BI+Z5lzLV39+p8JzaxXYSecZM2MXJ7wzKkBouLAqPY0GjMQpyWxDZ6zRCAta6aZPot1ScWqzGhMF+/TpkDOphrcORO9/PrcT4tDReixHPEDrfhwpIEVyiUqKqSr7HgwGegCHE27B+oW6yMPxQy9L1CYYSkGhXMJY0Fhh5cyeFIzJCxrXSlrSIiCJctOIzNmb3sEAO1yqolQV6B3XaSYq8WNrbd+6RG1ToBFFidGexPT5NOJWCElm+25Wy02y5WmMzCjuZ2t3zPrmOT17Q8LZ3yRdMVd0cAsGP7DCKb6kVhUnxFPysHExlMiaih2NFXSzFoDDvML9zMeiBaLnmkCH1mIErnigX6nplYWna75cnHtTI7XsVbV0vWGsaQy1iwzrxYLWwV4v46WIvch1XZ/WclfTulcvOl5OiyhuPV0mmV73VaWrP3amcVFR+QYX8uX7tTvFqijO0iSWLgA0spiUpwPhYgG465wOyNzuCVEX3naSr+k0+bqq8VFnedLOyeR+Lo1LNIMM6GlPtHrMqh7PlI38Jp36qImm79d7LXOWfm3x+RlCuPlKUnRIUFkrvj2r79lGNN3s1HkCt5chNrVdKri2LeFI5B+Tgn8f+c5YrWqrVd+49y8oreyZpUTIf8tGvFWPkriSp6DR3m07f3S6m67Qhvl5/l3mYeApxluj0q0TdRcJBGWcHlElAUKxUwoK4OrBUkTkjxs3knazS68BMZKmpc+dqRKhtXi1hpEUmBC2CSrFzjVFbNXjEUEQBEr4Go6budpBYJNSb5wOgthZbpeMFChd5zEq+BlF3tPjn9WbM6KuXZ8ijKjsRL7rKVranVumBgKgYU+pMu3IJCraJvXlyeL/O53QV+C5UxdmXiuxviB3bEruMGWFvUcaeCmVm1mv4kq8pl1xtp1qBITeR53LR7zcR0saLRKRTVFeLwkKtHe9TvLxcdf35qi0ckj1SIqJditdgAhL1popYmXxuimLEVJ0IBGakWXHer/OYVIgykYzsqmBhF1RcLDrGBflmLMgPirFSpbcaWg0bVB+tNzuWFPOMZaHpt1WL1W3zaVaRWADX+YVVbtBFuTWa9+eorDRovuQyb3iT0UcR/wB4VkaOGMxusteoIWLy8CJ25F3GtW4JNPiQBS1hKAZDT7Hz37BTf01ovYVLOocSqIr7ttyeeMIHMW/CTW/hyPN+ms0xY44/9FGLB2c9wMNo/7n87RPGceDVg39jVgcIWR/H4iCvU8RfDpmlum/PyyZvxV4C1alc99o7KHFzFyge7N3gMZkPAFvnzj/wPLxwFNhR4ogBXgytwRoXyg8BvV5IscCCzpDxvH+OMIewiJw7gyy4/7XXcF55haxv/QDvQ48azcQcjOJL/0TkhgE4dACeuxfug4OC99kLGPMIty/PDBB//nm2fe5T6ODrHHrtJZ7sXs3BqnK2fm+GtBcy+dhzp/Pl0K/4C38mKTETViIZNPMo8C3z76fueIFDnxfwLK9+7ON8/m8G7vA5b5zXYw6+F+JwSSaeJx38WOAP43wHgmPfgl0bSf9oBOsQvPP439LmH+cba8AzDyw/wIvWFznbfTf9txsOgrZ0qPJ8BPAQJIL7NwOX2ulYHDoUJORrITRdw6s+OOjU87eTetHua1lHEf1bINRbyez73k37lveRxQUEPgDHH/Sy5e8/Ov95p2Bg3k9+BF5ONOJIosfUUkozVcdU/zwLHzj4Ve7/2EEi93v50nNf5n2vLiduBIjbsGmR+8B+8L2ODczkujiNrwIensUGnufHhPjDUx8h+FV4bbcB2QUC4LrwMvs4RJhnNwBh8PAQPuuX8FmTsvmin8E8mud38Il/MW4KvzwA33iRVzH+s3wVyp6Ep4CNACeYJ16lgVlfPZ7Qo9h/S0CQvBDxJcFdTsV0nPcBt/oIB08CvITWgz3ShtV7J97+EBTkw44BnKgXe9oCbwjnIw1EuJ6tfB7ue4zZLafz28j7abbvwvPNL8KT72TbJ6vx7Z8BDsEh4X7UwXnB4etf+iKPT4tPTXl59YcW/Op0bMvL7jaLSHcupO+ANSfDP+yiZzJGY//JzHq9nBDz4M0KYM24YAd4biccSoPUl2B91xb2n/U6r/AKXrwwDc4U3HSqyOe9fJkHsOecTOYOLwvjn8cD/hDgmnHPtSHkwfEveI14Ha9peH8zvyW4/6r/gp8m/BQi4MHCIh18IQimGMYRNwnp6fNBNAMzaiXG5pXYBFY6jnWnsK3NNrEHVpz1vYJNif8twaTWklAHTCVWmMm61gI00Ix865OMTi6KW2jYQS5b5bLZpDsf37dOHF9tZvikd9dUTemi883/0yxgpxfJiCPilrZNTMh1E2Em194q/KlGHQPCGhShHfJetlp5+VnzOsG5cKJz8j8J99jbgrLSEHhk1/TLymMBnx1CreuMDtPgzgN63w4TT4FBFMSv9fQoF0tdjiOGEDZqx9KJQ0nkb0MIxysm7pLxtOzU1JJ82Bh1UCg7or4bxkxsBhC2V9iWnJHrZcULtTZ8vPrWbVJO8vNbOWLc5kHGZM3vFteZlR1ovG+LOvZsVnX0bDH6HRWToVZ8om2jMotRn2dMjKZqYu2EHMfR7lN/psDqk3WdjUqshfaEhZrbfJpJXyc8yL7WoMcsLA0WXCIqjSezOzSHYbdF6rBYkwhh6TrC9crFMjpn2xY+nxzHJwuPQR+B3Lvumv+m7axNoEMQbBT4tXXKpF+CrcrDxs9YLm7PJm0JbNRW0BoLxbYephzzBuV5q2VWkbXIrOILBbZc7+QSnxivYLPSMavMub7S3Y1ycpDZhQXNznQQlVOupi1NRjXB0hgPR5e59uKChub7pS3WJkK2JgAfVKOT8lhAvh2PCZFZiDxtHm1O2BeGHJRiVwq73fQHyzL1lPQtcySZ82F8XdOOk/2lXNxEP50TZFSnXmW7lurm0orvFG3ItdGEPSm32ydudsWwq5at6OZtroYtS+7goNiR1EeTbBSO48yX33w+XeR17YRa642PD8tkKPn3gk/GOEa9lTGFznIGFBi4UQy2i6ER5Z86pCYf6j2zXmSdK9vbprW3XyVjpxw16dwzcmxaoWOdFDjujX1YHsgaGkrYIbbLoBCqlbMReYtRXnwJCmFOLZL4vZuEDvea4iO+x1eFMhLOHNfOeFTgrBA4PTdXeL2aZjrRgNAF78pVNNUR+VcLLEUZVqp7msj5oVi0LTycuFoWQLygIKHnXHxvVn2W/Cl+04HKc5cF9t7FYiPYFUVXmEnhHShekqbzb/pHEQwJB410GaNZ1gZ0css+mTCXI9p3b4nwWOKKPBnX+5URYvkg10XZzYjqkIJkzDNB5uaeKq83S3nTyHIxxtSMJWkUoRAhbV+CBsvfmz8/aew+6QZ5Z64UBJTXdqYyArWKERS0KlyE0ihQN7bKKBJvQaxCM5chx0Vn3rtV6VSJzjQVVYbNYLPX6NqvSUdN1YshrTaW3hHeq9R44lyS3WuvJ19WFoIq7aZDXlAeeRpmPFF3M4k6QdyB0v2oPj+hPorFVRSvl4WlfaAdO3wKBHaJhEotwgLtxGGl0BFWIj+Flthn2mYWOfJSZeJgFywO95ifmS9Ox1CjpKD09FSF04Oysi0VxYoWGxh9iF3o4qw53fZh+ggsnuCPJn0YSOwR7slP/p2Hqfv8xO8U5A2hzLnrnsS1YLFRP6YiBhEbEUU1CjnbtD3fFlwltt0rBk4TtWlaWGgiEzzrXuGMKz49rVii7sKElZZwFsvZh8YmEfGYDLrPUhDUxEVyCItCnzg+WxCVS5vyMWVf4EXubuTL9ynnlFzRXivn5FTlWxkqKgoKq1AUlsqAQwxtTmphqrBNuNQ8K0tuIfPX/58lP/n3QnsuxIyrAVCDlSMnz5m/N0S+0h2U25CmfcEmWVaG8vIQzGgcW9nki4KCN3lSOAriaCVxe9fKyjlfHlALq1VOlVoZUYRUEUTuxoTRyMWsRBPPJQcj3/6+RIzm+npRswL30oDXNDov6iMo35yFPkk8bW1yw2Ft9+4yk0IB6v/2lPwpC5HaCu08tbhrdFPgFuWtiDtPGLWO9M3dXQkY48I5C9TReI7SUkze1+xxVNGzZOLo7TUTlyfRue7ZZoxnY175T/Nr8K+ny27OEn40+Z4E9a4HeedX7q62v2+nHJ+rXXftOnIe56QJVU1maoAadTudwi7V6q4xhaNxbd3qletgJoSkidoDcvuQg1fGUOeXZy7PexJ53o6siZ3yePoFqVrT06jaICr0hgSrlT2CGqy1whsQ3jHRbovglGBK4Cizf4dqqBZUqp+c+YVDGHQZKK1/n5i6W+6+U3RcICjf6Hqdl5qqcs+kFvH5eB15vRmCDWZicTzyuK7xF3CDiWBLTuIZn8Cjalzt9K4ThERRlXorKxMr0gpt9qxZMLhjdLrXhZG74Qhl3OMT/k4TfMgNas7uNsIanc4WA9nu60xa/c+1e4/w7xZhVw2XusqutuVr9qmvqN94tSavVFsxUMoj1HUUQ8e90jWHo0Qyc8wCwRNEtmXLxVEAR0Gv8UtwQTssn3zDQZXmlmpsqlsTg52ivHR+tb81Y6uct7pijsesHMN3ZWEmIF+P6DhK30qSEhY4ibLJVhVVS/JcJJy9mgN3dNGVGFPiGuMyxWlUgNO1xu0Slllk+UCxWFRrOloF+fL1lKvTqVP/g02a6L9K7+q5W+9ii97FuN562R1q/PEndOOuPu3NaVbX8CrN3HatpmI/kW98k6zt24UnqnZuUQfv0vp1A/KlI8vyKegZVrAiW8E1yOsE5N1bJA/jsrxe+dK88mwPiqDf7D5APp+loCcoH648HseUqZ1oI7iyvAEFYVHbnG9DuLJwFsHS3+RJYc8xV9qcDPjHlOccrxtYpUwG5FIr6v0iZBAQvYFeFVBgtmf9CEKyaNTuJN+FtWvNpJDv8Sh3yYALiKzdxgi206BKtqyQj/WgrpwcdV34BeH6hIMmU/YoaIU0B/Pqr0J7+sIafPe1cgpW4kOvEKx+w2UQBd2KXzmYCu3pale1uzjyUpWvSXEnTdywSqR4xT1B4Vhq37tLIZ9PX0g5R2vdRlU6NSrv36oCssUFaNfcaq68W8HCWrmuqxNOOGEh7cPg5gOgJtDVpGmtW6eSM65UZnmuuKxd5IcVDO7Q3DZ8FQbWl9Ue1ji71EVILRwvuFNwibZsQeEw4qQM0dio9s3tCgT7NFlRo/j6Mu3cvEf+SK84AYMA2Y2m/FPybR0Qu69MKtsFGF5Li3HuSc6z5UeB5ipBqwjer9b+v9ffXXun1gW3KmjbYntwYbB0EdtXadeuHlnWVlGBAqu3abJ7rejsFMO3ih09Mo5Xw2rnPLUyJbd0QJxzp5qbvqe+wLfFuz6uao9HZbxXx231qTqwsPr1YNSdNGP8KSoQFIvwHtXv3qPwnkEx1SYGHNE5JfreI6MKylZb/Zhyh9LVCnK6EUXtaqJVFfnHKTcXwbC4clj+jjXaGuwQlGgjGxUjJk7BqGLA1JG3NUnV8sbExtYptOmMEGpsMO2lFVRNufa071EVO8UGv7bsCOjKrzaqdOYc9bNbtzCtO3e36zYMxr8jeooGt9+h3rJevXfDuNKm94hcd57OIWgFD08W+b8h9Wh1w8qTXYCA8rFVAGIAkbewiExLC2t8vF7ZZKuorciMS1FHQb9fqQSViq1UAorEY7JSU5QS9Mt1HOG3FAzGFbRTNRwIKCsUElMz8vnOUhGpujfs16m7UTR6im7dtFt37nV0p8+nmfabtfsd79MGZ1Ipu3bppJNP0tYP3inuvEiBnlV6R5FXZ9+Wpm9ddJsupUvv3N6ixtMrlDJQJnvPZWrbc6umPvY7fatxWm8ZGlKnB61ehWhvF/ZmsbpHceq0AcwCr+TNnhQyIsrGvwRGupKkCFztwdgGYIPKKVecbgWoFsUbhT9db7GRN4GKcG20uxIZREeJMjBQLgtUXW0mhblzzH1g4v+TyFacUTO44sgiNXHN0iIOkrQ0kTEpcEQl4ounKZwTUSBQL0hRCigfW+WckxgsVvq2XQKvCdf3BmQkhnK9yOegkyuSZ/U6Qb/yOVdhwqK8XHhczfSaBl0NckJxNW67TCWEVW8XqnbPuFJrm8WqFLHaFWtQXx4qjl4g13K1Jz1p8u4t10qwQK+DSlMRRIWTq8mKbLWTos3nlig11yfIErE07fWiNaSpEFuZ1QGlsFZQIOx0kWot1EMIEfCL4rNUvapPNpVKyytQSXuu1jKkCgYVDaGUtgT+Ow0Vx5Dfj1ElOOkGpz5p0quo2CHXXYLs8SDK8jUflCWMCCRQYgFEKD1R5xlJeZp7PqBFwVxSWaQnrgZVYMvJSRMxVFZarkbvkKjqUYFlKZdq9WMcneIgsMXqm+TcP6rUC4fl23yFTtyzTUFKRWBQxYOD8g82i95KDdi2CufVkZnKSkvVj7+CisYqVcka2aC9VKuMi5WXka7ytBUWNhkLSKV0J5F/MpSR5qg0WiF/gclTOqeI9CKzAt9bpG30JRhCZ7QSOtDBVjeVGvKjc0sQ1WYBUEiuhqoHVchakeFVU3pIZc0jYu20Mst6lFHapNzSDJXGSxXNyFYoUS7XlaLqe9GeixF7D4Ou+j+S9hg68S7kbVp+rS+IxhPhb31F44r2GW2Bm36tUjZcrZSaPGVOlylqL3gIA7qQdB2/HpGZruK0NJ1hWbqcDMVTUXoUZQcrtIcJFYMiGWmKZFgqxfS1bKdIOCFTdz5kxSylp6XJrOjjK9RNuSqzXZFngmUFMLvTwrx8RXJzZQ8WqnKoV81dgyotGRSrWlTroqoKtK+62iDI7kpCUcYQOW/2pHB107z+szKRwZUrpF8QNdv+9g4TxxijN18L6usz3pJ3Tq1TYHzBiGvNZbwfbWCjxklArqwV4u8mbdkzQF2WJSxkkS14e+KaRyQmC4MjbtX6dd+U4/iMEe+KMdW3B1RakiKbPlnYsgiqjZEV9a8Wm2TUDbYxuDlDWr9+OU33itLB/ADaTKMKl8XnXdxh7fdb8/r5AGjYXq1sctQJGqdG8BZZPb0iNUUWZnWXb20SDrLXJ9KyLVkbLWGZXZltWWblZNkiahko6RLDsQ1mVbF9SlwzKisLDbNOfia1dyPqxRKcLQIXqm3YVc6GBFFYDUopRf1YohjtavDrNkZ0IqjPcfS1C9appQUNDJj0faPoknaUn49Zrc15Odu2LGyBtcRPYcPyMq1HFG8wA3QJom5cZneTuLeGJLVKkRZBqgcxk8aiNH3z7cUm4VW8HtGDOBGNjiJ/AlbYb/UrWp6iYO06DVqucjZaak2uw+RytUgywBs7xICFUQEk7E9OJmLNsKyE34vVgwqOR02+zWLsGqUff7WuvOYaRa65RjtaWzWydlCwQRtG0FWrUeGZph7WUy7WXSDLdWU5lhzLTpTj8gkhG9RlDWucoNgYV589oH0bN87n+aSTMnXNFWt0TQidR0Q9nVcorfkqbbrqKm28aqOOuypdV3Rfpdb1O1SFgb9ejaVLfMg/jix707J3/l9Ll40yTsPsUDHOlxYGoEC1OZcDaknUV2lKma7sv0pQIqhTa6Kc5tKLs1792IIN2jI2pg0ej05ig7oG0bpWtLN8vYZwdBPoM5tGdfVGr24DfXnA1Y7wV7U++3zZb7VFHtr4Vo+uvmtUq0jVlf3dirag9TWom3ZdR5au8KDV46hlY4rW2n3atKFU21itjW0jys1DHbbpz5Zl6qvYstThN85zto0sxys23LmsTN7cSSHMPNY22IiCK8zAyyQ6JLzGUBJuz1agOkXxuDF03nl2lwLzIfxsQZXZBscRpGsXiVl6b6/RQSbxmNQkN+7skEbXFYlpNN2UKqfixPm4DAsSV13aRo3UfFtYRgVVsW2b3LVB3VNdo6+yWaN8QKtZrQj98i4xGFmU6kbuk6EcmDMudyot7eQV83Q4CYGuyQmLeDIVh0csCeT99vNulGXZMrhyxLZaESkRg8PK9DQotQatt4qVQUC7qFJ6nq33nI08LrrhvAz5yjepbMuE9nKjOGmnut/m1wf27tVdOIo1vlPc3CQcVLM3Jpw85VTOrYBLlUaePPmZKr+iQOSHNbfjSpv3T8gTVCvKWjUT0VQ5GvCgm0lwWvlRRshWGqnyElZ7RaF2daHhzdWqKC8RhFTpVspZ66gmhioctG8aNRETI3dpb+6l8sESP4XDsE4GCsXQe5SaN6ysrCxBviKRXBUVFKgvE6Wm+gWlghpVVblynOQ4FpmiJl1Ypu6cSlSZtHtIA9HjVVHKoEI5IXWmIm9C9x/fkiKn2zVtcs6HxbbVXlWl6nQWFi0hxBTay5mCxQZl3oq4dZfwerXXg5xoms5rrlN6A2IH8q9CETtdpJbI44motKREa0tKVBRs17aiNOWNoOE8R8M5VcobrtFQsTFCDnvRTaeh8fuK9K2da3V6S9VC20zFqGkLUVku2nJeiii3RaWrOHHVpqerP1gle5ut3EqPxgZW65S6Ru2prlFKiaWMECqkUgM4ygUVJdKtBlmFiNybzIILdOPeGxdNhv+nko7WZHi1lXLVrMJwqmG88TdzeKbe0pxBXTW9BDyyBlUUmLGoBr+s4iGl5OVpoCBHzmCewrlRFQ7aIr9apDcLypWPadfdlWZhGwNlkK4aJ02kJJza0lEswwAWiuPIjaDiEDqBqP4er/ZZKJqGStNdfYIZvS09X1cQ1aejqfrQ9QX62HvX6tQwmjkXWVssNe3dq4/Z6FMTqPgaNOmi6J7l/eZYjiNHy0s+6ofhqT/AH/7AK784yr01gA/4j2/Mn3rpJz7g0HzIgQ+9dz+v48dwqgoIG67952A3T/MxQsAs3HcQGlkUECrZVcF+MgXvV1KBP3Kw728Q+viyCH+s7+I/H/kDdetmcP/7AAcPQujTn8YG7iXMq3yeh/k8Lx/mc0QqD7j/CPbX4XXIBap4mW898xEDAX55mftE0mEBKcDz7GeWL/peWhJTwMVPBgf4/Txh5Nf+8lVkCXaGCX0C3vriALeW/JZHC9JJdV7huRB8mSDg8HFC9Gy0+NFPYPYgfO4bEewDAYKf+xL38Rj840/5QQP84PH7YMiGb/wMLvk5+CEccsHy0Rc2Lgc/JMgzWPj+ahH6UgD+/CIexNt4hr97JsQz1suw6yChj80yyCSP8QyfCf0CbKhjN9fzCW54bSfr+Biv8yzfJUZPIMDjT0F6YZingjZgE7JCWGkWYQ8cmIXH7q/n19jwtTO5r3gPvAs+cRVJdLtJzhGF4Cn0MPH9CT5j/4x4QR7+Z9NxX/PBX7y4jk3A7yfV+yzeWYEVhJcChAoseChk6ksQetXLy6FD8+3JCkGoC+gDfgE534Vcbwqv951A+ef+jRYW2Oyf+/zfoDVRtXPuOZbFT0Ih+C3GnwPTLvgMfCv/e/SXjfGd73yQ1NRUOjo6+PLVXwY+DmACxR94kU/rrXgPnQmfDLC3NJ/7Vlcy9S+DFOLlV41fJJgdJ+25NiZ+dQXVadDos/jKoRB/SHdIe9wEREy34Oc/hh//+x+54Gd/5pGuJsozbej2UfVTm3COxb89KQ5mncVrL/0L7H8BDgR5LhDjuGe/w6P+DKxPN/J47FNkTa5nYP9PcDjASxvOoPjdFv/0t1+T9i9/4MTzYf8vNnLPN54jd+c6qn51DZ+b/CxbP7qVZ/gKv7zvAYQO2yv+V44soB74DWzbtYcrbv85ky5kvwi57fClZ+Hzv4dQKAVefpml8T5PeSLAK/e/ignNFqaXH/FIHexpgB98EOqZ5sxgD1mvvZ8nnCfJSB2gyf8MT576KrnxIu5/zMd/nvIDvFeUUvztDC57+V84ZTc88jG4hKf5xIk74elnueILvyJ39An4LHzumt04hZ9j+GezWPeFeW1LB2/73H/wttjjBNbH+cQnX2Jn2ivEn92PZW3lVfcVfO/5JM8//6hxf7gPAh3i91/4OLs9fngwSOjBF3iAzfDRVOCDb7wcj3mn4OzWwApwy6VigfptDs+TbqH8/hmVM6fvXg4hNdbyLTLIoIIjvi+bszTMoKBfnkhErFuBOdF1hWUtM16uKPX1YvtS8r0hUZY2HwDbggXcdIK64PBpRgTvEGQLD6o6iYQxcU7C6mlcr9w0EuXh03tH3mtWWR5kBVFgoleWVSB3A5pcovbo6UH+tcgqSpT5NfWipkMwtqzcjUEyYazvQ1xgrjlVyN6D2kHhQgwbawcyFABN8tMre+C9wnKEd0B+UD/NGmCBF8aHRz2tKB7zaj1oBKPaa+1ABE0UqznDXw/IS40YMLDZWmzVJZAiA7ZH3f7FutxFkmhbHjxKI13vHB1X6qkY46sHGYbYAdE4KdYg3mlWe9yAWdlvR856tDW8QtoOZjecwMJHQGs8rgYHkOPBqJLiiJbVWhZw/ggyODgo1zWqUsuy5v9PFhtHffblBjnDWu2xs4UzJQ9x+QjI43GF1yPL65UHQ8MwAGqsSm5PhYLj1djo6MyaDJ17Vp2+uhPlbUsV60ZkV2yT0zwtmFS+5VO/O4fAcsSQR560bSZuSSI2Ah5XjmvJdSy5gYC8bkA4/QKPvD7kcQ26xYqPydPRoixvqprwyMU6MqLpf0vm2zjyeLyJcjV9tdNBl9jItm1NTV0paFj2/FXRdF3dOi4DSW81yCzL7MBdyuRykgJ4FcCSC/Lgyocr1+PKH3Dk+E0btv22XMeRH0OECKgZVOf1CI8rX6GlQI9RDe86zyPfxlHt9nYolVs04dmqQizdusmjtQM36LI15bLfuU6Xp6bp+mBU/Tf267zPpQunQY29ZVozUKBRb6u23bFJ7Dpd8G1tHyhI9PPliNFjGuuPeVLovleF5WXHVDmF9cwPoCtVXKSwXimshPBZLGmg4L59sliCi04WHyLTFVyhaWJylhDiZV2cpQ3r36+9pJpt5N0ZIv/w9ATpZ25X4MGxxbjrDVki8wiMjIyLUPZ8IAtAOQ7yzMz9HhXkKhBEN70DhcNzpG31ghaROSQC+dq+PV/BkKPCwqs0rwd2ELnGyLnSuwuKkb0saA8aH0fZSf4QOfvQmEOCWsJIaSnq7fWJ1F2izuhXPVE0nY7cvCEFqVIamYIC7S28XZa1WewtlLMHNXsyVL3PBNJpBdWBTjopSwUFPhVXXqzCXX6l+AdV37xHZMT0/ne8Q67rqqbmJjWlpqpvy4n60FkfkOO6mvn45UatMWmghhdiIKgrl3VQi9VJmwXnK4Qhcts3f75NaWm12rwJ7aNK0KF+DJxxK8n0KitJjsAjF9SciVZVoTR7nyg40YRczL5Tb4T36t577z3qPV4s3bVqnzIbe3QGRqV1YWFIxxVeKF/O+3Ta2AcV5516R2xaH5x01AnK34Ey8jt1ZlllgicnqmkalZtpqSU9qJbmdLU6KDLPx1QjQqvFdsS+fdqWVM5ZbJCPVgUJ6gx2qLJgn77EVn2IQt0bP0v3Tti6l3J99sKfanQ0ontvKNb6yb2aiaPj3ctVkJunELU609erwTsWEwu+KZKWJoJBQa5iMVfRaGKxGGJRv9vGNp3N2ZqeRuvWodzcUu3z9erEO5Dvln3KynYUiVyhWCw5fa9gt/IjeTq5+SSjfl69+P3xeIkitZ2yEm3MATX29SlYUzJvL/R4TlROTp7K9y0Q4hXsm0ujSdCsTJbDR3NgUejb5UG45sQR5ImioLAyREGKKIyK7GyRli5SMwT5Cf4tSyylqeFNh6RuW/CAPaokVkL9zOsYse1Fjl1u0v0m8lqC5Ao0hSsCqH4jOmvKzPYDh3nXVCoJ6KU775i2WKYSf21BTK57vbxkyMFdgBNivJwntgR1VssWtWQgZ/OU2DAjUlLEyOWCFm3hOnkWURW7ZvLwuYZsrNGV6yCP16MOUMT2ybFt860e5MHSoM8n1/YulEnUkfNOV1YP8rxto7YEgybPw5bhPvEjupknbgPDujgCKp1Cq3yYFez/Q4dzQS6WKQebedtRpoXqHddMTNtJGFArBE1qAGVsm6tbhJ2iQedqpVkpmrqjT96QRw03fl/nnX++2DqptY/eLtvj6D9+/YD2Hl8j58QTNfzz9wivR+4ddy9uNwmZ99RdJJmC5sT/qWJ4SKRUiC1dwrNgkG4EVbJVDFqL+ZqyWSAjTFpZzotlCX+P8JhBf9Uq1JSGahN5s9JPl7P2LL2RncLY4OBR77HxaoC7FAZ14GgaSzXDXjHUqxQG1eLa8jGgIQ8mzrhlCceRD9dw9LuOdlbb4uYpDWz3qXj7TvnZputad6u60uS9vKpGTS1NorNTnrw8MeWKE94qqNQloDJ7rbANF1fWoMHvBymVYUY2+ezr65PH45eZmFfJtlHUNqRrxYWosz2pbJ25+lyhX06RIPErVxNN6uxEee88R/S/XUyETNtPjlBWXy/OahLrLlHpdFDF43eKAddEIqvZLOhR5plFurHfPeyEH4+jtlZLJYVrVVmGoEeQow0kOKNipWL1VfP3d4JWW6jbQTVbq3Te2ytkjSEyUHogoH+a2KjsdObJ6YpCYV3bseBcuRp0YmL8cRNlcoGLrp1Cm5ibHKbUgbF1zD1njSWNsxYa3ugoJTXZPpOvzfQpPDdmtmFAOq4h3zMLSJ+W0pb/L0wKEWW3tmr4qJ3AFtm7RZ5PrGtIzFqOaDvFkDQl7tvBAqMpNgqvWiVajYNXmD1qtjxyGps00IjsyoTzTQvLEDMD2RExXCvYpV3skrPEwax1vvPWKhLp18SWD+py8tTLVuGbw7avE6QpHA4rwF4Vg/o7Z5Tvb9d6e5OsYFjQoXDyCtV2lLdpp3JaAuKx9yv92go17N6mt57v056r9sjC0XENb1dPY6Op8D3I5/Np2y23aM+qawz6obZWtPRq7fYtyrsGkR5S2LLMgBPksGopG8Pa6AkbFUfTSvVQVSUia82Kp23hfG5OjnI3bhS2pdRRVL0dbVuN9oRLRfW5ohatummVbNc2pFw9W0VbULS2yqw+5py9EGEz+PpWIWoiCo7dLyejRCfc0SxfyFXD27t03obzRPukWu7+tWzXo5Rfb5Pv+GLtWbtWZ7S1ybU9urn/bkFUZtWPWl20utl0jGUBWVIQk1tFeVBk2iLYJuy4CHepjBbFE/A+H8izUjk6LEBV4xiv2uT0s7PFe4fFaQvn9iQ6LwSU6dyj0cAbMKCWoT0pye3xMPfZrmiZAy6MKI0sFSddb9qE3hND7buiqnc2i+JihbrW6utcpGvCb5d94ZhOyapVpKRHuz64VldXj6mXdUrriei4+t2ysOVpOE6+Lp/w+7XHdWWf1K5VH75P4FUQ1F7BshWyUe/mLDnXKWPARw0N6NJ2v66ur1dHFjq50RXNzYZaY3SDDER9p5ZNDAn1nQePfPjk9yM3PW5gxmHL1Fkw6f7SUtGYIVYFzELJm6hbB9NfCMiJe5QZuEJtc978lSg1ikpoEpSrNZwupupUGyzVKvJloMqOQsyxK2QpmeLbD/Lno+gA2ulbpbDnBrHVUkY2+mi3pckTQirORQyivDx0UU5cERIILlxV06RswrIx6EuiaONmVBtm/p0DrWFVWySxnlao8D0xDThmQUI6Cn7wQtmZSYjF1mZN8xZFWSVIOPRmZIiLCuX3Jiagpi2iazk68k2dFMbCqLbFsCk2HmYgcjGW9rzKVAVzs0VhpSjKkTecoV1cZxAdGxFbUhVqQ1P9/eIDV2rr+Fb1f6lftdtq59OqZkZO/lmqzSuWXeaoZs8es61bMinUUSiLYuWnopP37DHcJCDYrg4CC0EnMNQZLgY18QHQB2jX22bepk2bNyntvDSFTkZTuxHvTRMXo6yhUvW27JZlWeLS2sUwRq+jzJ/sUfo6nxgeVjwUUqGLqqrMdYsEqoU5ZI+REMgXzBIlMdMoU4OJa2lmVxKxhT9NEFOqPyyCQfUTUSFFYmuqWvvfpRtvrJVtrdcMF8hlgTMeSGyl46L4PJWH7tBtdch/KqJsrwBlZGQoo79fWJZiXShvFAPvDAZFSYkAdad2L+NxOZchWUkOjP0YVU8lZnJ3KNbuda8rM7Ncu97bI29+phouSdX50QZ1d5fo+NvHZDm2Lv36rxXedryqxsa0/aab5PHYuvtuE4OYuFEZ1jqovvowg2fUK4bCZlLNRUy3iKyIoFoFFCnCCjDhSrTz1qC83m3Gx2TSUXP0ZjXQIMbGRE+PcWrr6hJlZXJwtIdpwRma43AyWP/jNbMkru/RpL8AFUZIDDZh3Ujqyvp2i0WouTgJdtKElINWN6L2pgQlyl7TtqrJlRtMUSwBv929e0aumyEvKGJ5jWoQRApK/WDqokHf9lWr5obG+d8t+BRaphbLlInRkHSui8QO20iz16vKigqtWoV2TruitUuuz1WU2HybjCbaCdtQ+1pUVTUjswg4T8b/x6MrCtDatYuLXMTdAAB4T0lEQVTLZSbxty8/X1fnxZKoyeMaY4su5nr5dwzqdv8OXQey4hVqdXzGP6MYxcIojypBoWqDKWKkTH7/hIJMydj7PLJIIJLS08R602/bQoipfsGVAle9vEsjM7XCRh34dHlbSPYXeuWpr1Q0kqLW4j26vHDObpYmmyzV06Wy8xa+ZQ9na8fwySqa054Mo9U7ExxftcaZcGqwSfljEdkOqq5G2elpiq0/R8m2Ve94miJr6zTHLA2oMiVFa3IWJu/Jy05UtG+toMHwu2X/L0wKJ6xqUtfp+RrArE5X6gCpoD7L0nkbN6omtF5c5YjrThdtbbItS5tAlm3L2rzJ4LcTW2DLsmXVWYqXWurtNg04QFDDjCgjE625DDNYguhEpKGN3hFtGPFqPZtk2+iCDZZqLHOPlSBSM7N/quYcuJKDbzsWcm1bjmPLtgyhl7V+XLbPI+v6TeJsxPZt4rbb1eNYmv4qonHx91p2jaGtnTu3kQQccf38uTBhDTEg1q/XsBe1j6Ki9cfLBA0vFxtqEqudTWJ0VLT7RckmWdaANpW1iYZ62awW1vWy7A5Zli3bthLfZ4vAuBhOqLQc5le+FpYKsHUNaIPVpA3WVRocvEJXXHmlWlpadNnAgI4DGVz/JrF+vaBPpaVRXfi1DXJ8i3dc72dadlIgdgu0Yd5fpEax2KCuunK/UlLLZX9gq5jcpOyrstR1bocmJyf03rvulO04OuesX6u5+XitOuEEnXVTjxyPR5vufp+x9wyZbfWRB9pcQZtoQJSg3oErFY8XH+H+bmE1y7LrxSpLVvN6Y3jG1vqIJXvA0mlWgRr9TWLU0nrQILZ2sl7jWHKwDLfPRWPCF5C14f2at/ccNapbQNY8oZmlGmpUxjlayW9gZTGxC9LSUUfHgCqtFp1LpVzQessY40dBaetRD32CqCwrrNUMqxnU5kWsM++yrrG16Z/vSspztgat1QrO/e5GxSkLcQJWknwSC8JmlH8YvbdleUXTuFKL0tQzF3p1A1rjWiZQlm36vYVtfGbm6GOsNtlWjhkTqBHrz1Z3j6O0lA1mrGixtCl3g1i71uxaz2mRZV8hm0xD5mhZJubDYL8qI2FVjZt35eWtV3OzRw0Noyo8HWH3q3zd1aqhVoYsLkseDDkgbJqPWWCBsCxZlukHdZar821bjoUsq1hWoFFcayurLVu9nR26qMZWVaWVeGazfExojM3atCWpbIjqAmtEdXPl1UxSjIdShWjViDUsK8kPa9/6u9Vvu/NjSiuomWy1W+2mHcUQvd2ClEVccu7QjVoXyjH3WAvj3ps6KUSJyp/pV6qFnMq0ROc0K0sH1JOFMd4UI3yovhINFKJQK8KL2nejajJksUEzmBW7Ma4kjK5h5AZQagrCg/ZgK5d0eUvQiaehfsfoLbfEzfVMO12Z6VaCdsAR3Cxo0gjosr1RUZ6TGGw9ghSRiiJdHm21SkVVm/ZOX6xvfe4k9d6FNlgbRU26dj9wjjz3+rTvrZjCDofFVQGlOijvwsWN38XVHk6VMXwmzmei7kxUlhS4w+QtTWRmqsPyyZu+c8ETOBVxLsI1JFu5lblmtZiOuNsSvXsVeg96r2dAhfvu0dTU+xQOh5XGjDZhCarEno+IXX5T7g5ij1llbsFsf8tBmUSVSbnS0spVXl6uaCyqsrQ0Y7x3MkVFpsjMVDGpKg9m6cqSc+Vai7f7GWTIZmHlBijzorn/w6KoVCmv3ypPeUxXd96kgHucLk+t0nA96g2HddFVo7JdR2d/6PPKHq9UTlWlog1ZwvWI8+9e9C4HJ4FOW2ngKZJBpbULmnUcqzSBqzxQGblaqusvKkpRICcqN6tF5VFbRDONCqoSZbimDgrJUqRqvcgy0bPSKFVOWr4y0itNp/IjRs8U3pAyL7xQZ4B8dYh7PBraWarJon3K7asR7XvnnaKM2Eo2iocpUaBxMEE2VyWz+8gXeRNieHj5t5anK7vPUnoNisfbFCRDTYQ0iaHb2EmCAygDmcWPqbMYyNtQJD7bP6+C2ZiK0nOT2mVBudLeNylnDoWV6HdHmqT8mAVhJIL8qYiCw2gNslAgFlA/hfKlporccVG6TRQ1iBOPE+6tgl6xcYNIr9Hu0D3ybDtD7DtFRk2XLTKKlJKyXh5PnQmBmtGnTF+7SEvTqv5+NWzqEZSpvNyjrkEMq+nepHLIQFjI789UNGopEklXoBBTHxm5Jp/5LHFinONQqhGs1gDoqiv3yR51VfHud+vc2pv0gQ2Weu+p0q7RGXm/slZ5Hy3WKFXq4kalrTlJTJ6lvWf3iIHehAzI6u9XpdcrqFecMqVXrVZuea7IzxbxeOKdQc2BF/YlBeAis8e0wcSYEmNJ7HQ3TaTu0yLeL5B1SpZGU25VAw0aZ0z3kK2uN3tS2MMdgiuEherb89Swo0JrnWblYFQinyhFmZmY1XQQ9bWjmTqUsoy90bCF+kOWeuIBBZ2gCATktSx5w0H5/X6jItjjFbFuEalXwOdTPIhi1m75/SFNUym4XXSk6MSSLLFlUNyBTm5Ad6xdq5zOBvl+UKepE94pMjq1fmxEKecjtvmFvUp0bJBDhVZXJhqGH7nhoDwBZPSriVWyB+G1hT8gKnYt0s0DInCMQVYS0hpAnuTV5RAKJKJipZGqivYK0W08Ev1+RDCYoCmYm1x8gphOOCMqe31y2t1msEzEYJ47v6t0t6bW+DXAVnXu2qVbt2xU9x0xNbwtKkY2qfiCy3WL26m+NtS56xxdwqiuokhVgZVQZrsSjXNhEty9m8RAtF12cbr8L1wtSqO68947lD4TUkHDVo2ft0602bq7+W65lkdrdn9Ru6nRieUn6u/O+Xs5eLSDhUlhNyiERzexJEiLhbEFzMcuRtg5wt+rCddWpQe1UJkYFJDRFwdV34Yilchb0qaWuXq1MeCEOdvCrgz5e3Zo685ewR3auPFCxeoC4vp3iYkx4VwgbkGxKHIJaw1+pQSRB79glTaAKmgReGUTXBSpzhvwJdm5isTghGhK7BQCq2WM5ltWbjNtqCzUoQynRH6aZCUF9SkGdfpYEjAnSVJZHI7UPy7sVLFtm/B4FClCvmRDrp+jQKtN+Nz5KGJRFpElLoglSgOKZEa0hzoFc3NF5TaxyjZ101KxyBH1DcnuY7uvnnqjGgQVFy/E7d6VgawRW0HeLlhtJvCU5GfXyMLo/7dh1F35JxVpLSMLNOBzZeBtEy2O6EA2rZqiT3ntQWE1qTQDrZnxiJmdYmZG1p49ag8EZNgeWpTesVGXtJYrtapUZGYquHGjdp++EKHSeWC3wu9CN/Wiyso1pu3vMsCLCXrk7O5UPHCHrJY7RPV1MouPE02b755UsCYo2CQWhWp1FcT75k4KXkLzA4JThJzKoDyslp2FaEDerkqx6VTRcqoKetepZGRYnNqpvtQMdXTUmJVVdUQtp1yqyKmpGrlpkyafe6c+3nyGGjdepjNDIXWceoJG131SXD4qBlvFZlece742D/bp3VPomlimhtetUwHlgnHhTmivbRlcdchwC4U8HlmuLeIe1Z82oupcV2s6u9SXuk49I37Zp7Zr6tQpNZx4qo7bO6hdt2wQV7ap4v7tOnsrcjxd2jEH5WpCdKQYtY7tXYxUcRwxNXXExgkGkz+vQ97SKfxJ2GEHTTlJSKwOhA+lpaGRUUts366tzBnk82TQBDdo2n+VLI+1qMLnw30mdTif7ZXXRR68cr0+hbweuSFLTtASrR7ZuQGFCMjlOLm+4+TBKx8jmpraIncpKqd3OPGOhA9HLfLmzV33KiWtSKNvvVbE0b273q/dkSHlNaRr6GNXq7irUV9u+LI8eJRb9CvVVk6rq+pEXVf4a9m2o6GeBVuFN5Ged2ko0TBGNVeAOjoTq6W008XIu0Rl6nwM7IXy2GryOmyZnddK9bOtxzC7ehF0yes1qzWP12NUkD6vaVtFAXn70NtApZylMWtIHdvm4o7Xi75JuZhwjg1s18iceiiEujZ1K58mrcinNYnwdIpltCdz0inaA6LY1joWw2jn8PfHMsBGIr1a9UmvQcglonGdf+6ket6SlKdhDl9OS9+ZJIUseDYDBrXVdfMxDd5vWI5xMnFw5idi22a+LXstZHnQ+flbVFKS1HddVN5VrlxyBS3yEpHX5xMdHcrYO63mFVA8b7ScltUJaDLx/7jHoyz/AstBS8Crk4dQMGTyP/ftW0EhXOV5Xb1zY0ihWEg4AZnF2kziW7zasWuHia0ylTxGlGgXq49prLckiWM4Nv/LB9n1/U9w/6VZpJ5xPx/5yAmMPvctWhuP56Gr8/jC1em8mv19NpdH0Nc/xqvuLF9PfZ2SXz3DbHqIx/Y/xewhH7kl6TzDY2Q/UsafCg/S+pu/8lq0Cuevz7D/4F94NnOYrPDD/PmPL2LVxNH+35P34ms8/nQ1efkuf41A9csVZD2eSeotX+QPZYOc9advcOCyizmoEJ9+x1cZc+uQ/SP+e9UZ/MPv/orvm/mc8K8hQhUXk/Hw43yaGP9+KEjuo88wW+Th54+/CJ7HKHoYHrXgkPKAxxZ9//IzOYAH+NNhy6wHKMV4rJpCLkykkvBdDofBtsG7Gl76LbnZs6Qdep2H/7SfUOZLBJ+DP6U7ZL6eSWh2hOfsD5NxEA7N5vHblx4nr2ovj6V8mNQfp5JHHk/yBF6ehuI8HnvtMcrDcGkmfP+HkM0+SqY+zMdygM/eSOpIJg888SH2HXLoTX+RWz5+kN/xK+BS4GPAIwsfEgfye+A/f2Da3n1AJux7CT78SuIejw/q0uG/HqPotSt5lE9zKJALdXmk/Pz7FB3o4Od8klC4Dr//CZ7GgteysV7+JUVF8MjrwBMYd/HHjA94JqU8x0s8W+0hxyNiTz/Bfz9RRgbP8jjPMos3kbmnyHXgiepUZKdDVxvc/wk4eRZeziDvH58nMPU6rU/38YlXH4XvP5zIdLH5ziDgK4S//RkT2u5wRxzjLp9wYbeBF7Lg2nTs6/+TZuL83puFv+o5Dr4UZHb2Tzx/sIaCx5+gApdv8holZBPmt7wE7M+F15+AlNIbKIqs5etNW+Afn51/2y4KeZA/8xqHgElo+hZYz8F/HCGLKxw+34dIa7yMx3/xJOwHSIO2fnjFB7/+GHOtuwpT7j+mD+PjbsppZgae/Sj87BA8B2zphk88CTxkSgTMeQBsF/KvgT89APz7G8vo//qRBbSQPy7cUIhHPvMZc9qGtII0DvzxAC8QBp4BdxZycqhe6/L2Dz/MncD43r1c8dxHuHRQ/OP5u+nkEHvy/pt/3vInPv6Vp0l92mXAX81DL/w3s/v380PAlO1BiDwDVia88IQBbuUB3wP27YMPf5h6wBuBn41C6DMQKoDXHzce/y/PJfPYsg96w8exDPfHPCk0XObjbx9N5cnHi5DzrzizLoc4iOxDuH6L+kuaGXnpJX7xi3Ke/bcsXj7wOtELXuL1z/+MqU2nwFe+wgc3P8VDPARAkCADP76Mn/7Ew8mfepHH/vXn1L7vBzyYehYdBXX80xc+jOeUaiaf+zjPPfIU3/7ZyQyNhvhpCQQeA+uTUMev+MTI1yj5Wjcv8nNe5jUe4iAjmCiRs4AsF8s+iGcWZrGwsDm49RCB/Ru5+Ltf5xOvRihQA0OHoryy6fN8+yur+eOha/jT7PqFQgI+gMOp80QUwIYb4bu/hBc/dtgyK7ccLGuW/z4EFGFibv5L0g0lo+ANQfABeBTe/dwgz/Q+y33feoa8NY+S+xtwW/08/cJqsl//Hr8NQNtzNgf2D/GhP36dUcQ/WbDKPpmh2Rq+zf10NvyMQxvfy93fO4+i7x8knY38lG9gWa9he2xmX5/FHR3l4Ne/gWVbWBzk0Cwm/N9BgHJCQC+/55/yzoH8f4Hn/gVeGYFHvwXWrAkp+HoLeFbD2CPY34nAto9i/XaQ2R+WAX8PzLKT9/Np5yzqrXLW6e+4uedGCsb/mXTA+vdZnpvdSvXrn+W734EXVrvww364tQG+eAc1z7t0dE/w3z9/lJ83T9O/zqLu+gf58DdaeMKJ0GL9jhf4Ag+rhtnZH7PWDz88rYn9vqfgm6U44/vZ/Dp87rsjDP7X40y99jIvX76KR1uf5PYtt5u57zPAb21jHovb8OtZEzbys8m1aLOwwKuBrS9gffYxJkbhgT3Ayabc1rOeb/EEgVgzZ5zwX1T9KYdv2l/mmY6T+cJFnwL+CkwwSTtFXM6fEU8PwAvfh8e3pfNk5h744AdhdJS+z3+J3xw6yF8dkdzkTEu0SJ64WoC/sZWHF2d60THJFA/yGDY/ZZZZ6DgN57WfMMu/wy+B2SHgm8wtXSDRHmZXTg+ADKAaM7DNH1uBL4B9OuizoDdhFHszDi+w3oYHTT2Ojo8TCoV44Ikn4OGH4YknsIHU1FQaW1v55te/DnPDokuiX3iBg7iWy/CQ2P/1A7zsNNI9dojvvODlZy/8jC0vhnkm/US+/9B98Mrf4CrYeu9dfPaP98OG/WB3wBfuYqWFh5V41QHHi3tIHBRUsY5XcKiwX+Tf7/w39n9vjIFXX+WfHYfZLx2AjRG2fuZVPs+DWI6NNbuZVc7XeGpiIzVfeIXvXvxdXvrWCE7oQZxvHuDgrMuslnIArXAcq/qo5cc/VkXXNXrv2GVafeOIbuq9S2NbtqrrqhLdene3Ui4O6NxzL9Xu6W3K+0CK/LfEFczbrECgRFmZmcoKBOXN8oosRDaysixFolmKp2dpujeilLEm+VLaRE1EGRlRFZQ1ic2uoikDqrPL5V+HGA+o0qpVXxoGQ48xPleCxsnWJBeovtzRUARdSIOqCjxKr32X7DFbb6NZfUQ0wYSIFmoqbb2Kd1k6fs9eRTZElJUWVUZkp4JWTMdPn7Noq2dh6Yyl8SRm1oj4kWwKthoadqtxDrFUmdiiz123LDG9RqzyqQxjQIrXb1Wzp0qsWqAdTvOihnqM7eN2RLhFzdTIwuDngzE0dV1A0wlDk28yR94Nxh+kGrSWiKBb2dmlGr5zs4jFtXv3bjmOq5LpaXVvQwQKFJ4eUaVli+Y9skl4unrSRHtYeBoFRarmA+o+p0V87GaVeGIquilNFed26oS2TPWs6dIFVTPqmdwsCnYIvPo+NTp76kLdeuonVLB7l2ojUXmyptVefJPqT+rU+yuj+v4/oJRaRNVp4o4PaVX1x0X6oDju3cp8e7nGdiBuiirSf4puZ0KX0i92f0S9J9yvhnOrtH79eqXRoxBt2trXJy6/XK6FdmX4Fc2Yo8yOKmbFlJWZpbS0hOE3g4STnvEJKGO7GvAtMLbOy5BSyFlQkSSuR70sonCPEJGFpbZmU3bpoAwLHRdGBk44IGMTOlywqjpzPRpVkFE5ZIntDcYxcv6eBrEEHeQHeYgeUVURxSB+9jQn2nBdnabT0406dOdhnps+iprEYbEfAcj4mvjEmu0LRIH//yB+xElrNEc86R1fJf9Uh4FhJyhHVoNqHUet27crmLYADjDl4BG8U6n0aCPv1bs4TwHQVA/iyqgWCC2bBZZhZQ0gzkRRT6JufD4j8/lyEnW5SoBqQe8koqq1t+vMTZcm7okIogoRlhN1ZMdiikSimo5GxY6IOD+mEqLaaFm6fnpa7wq+RfGpu3VlzUe0Zeg+2Rmni5Mu02hsQndNow72HtNYf8yTQmNTv0o9aEdeteJOtkK2o2g0Tyl4ZIzH54uqAtnj9+s93Ktx+jXJpIy+wSvjwGKgUdNUK8S7NIVH0SgaL7XlrasTgQZRaSntnGlVXFqn2zc7uqquW9UjJfIOI/7OrzKnUp0pzFNQdGIQNkNkagNZqilBfWFUQK3y8lylpjaYilqB62SZnL5L+DziLXFjwEsKizeNcaTa1ovodjUx1KY+vKpnrwjHda2LOveRQEAgttiid4+xS4BmWk4Ug0Gxo0NQISYs8YGEMQwUnYnrtBo05skVDVmJBoEyPKi2xngpznn3voMFO0XAE9e2miTdYVaWyMyUGQzdRN0cL3iX2DcqJhtFf5OIoCwXBX3bxI4KheLDKrMKRdslsk8MKOqimRM9outEMXOxoFMVGzZozfb3iNx+FfVPqaAelV5QrfqwV9CuiooN6tjQYSCcIdSdhcqpVa+1Tf7041QVK1CKz1VdaJVKWKcm8rWKfDlZ+XKqc5QXiag15JGVbyk3Ja7sDBJp+UUgJMhTSkqmYpalUG5cvmyEjXxnpyhg22Jznij0iFOnxGmVgpNkILeVYudOMTQsz8arFR5aXO8piTqoTfx2QO9obFRTX5PYYtBcBVgiGNOMF9ls0nRdj+hbJe4cVFF+vvqICSw1NKzQrgowVOUENO/4lyRuHgoPVWn5hNGlpaiSFWUmU2x6n/FzWeH6dKLf0YBMVLnPidgx9AeQcVzzH9O98bkB+NT/jyeBdhKwY0Pxf+82FEgK8lNXgFYtCjc6Nz6l6zx2quAwERYdx1E0ElWDL0WE4iJmJfppSeKeeoElGspkHPzMc9Gk/jpfTjgyPgaL66EYFJlvQwGRkq0NmzYo7f1p2tVm7IszBTPizq2iPyyndlp56yy5GeYdsbk25bq6+Z03q6F3QESiwkXn8WZ7NDdM6JRm1PNNW1U5m7U2HNZbR67TBJmJQr1aTBQLe1Q1pKkeK+EANecEteAMZWMJ3MOTZtnGb8BNdNB5bPVh0RG2FmInYJyaGg937+FleLMt14PYOmGMWhdVidNPF7YleyyRdwthZ8m2uwyfOXHROyQ3HVl2Uh5t5mMZALInioTVmgizaZmVVjJpoD2hCRdtH0YGQTMgQLcNo0DCUDaHNZ4vt3HEhg1qGfUuiwGxhouUyi0yDi73Ky3tQ2q/tkvsHdPklrDWXnihzq69RK2eC8WoT9ydJqwbRMWNCjXUaRRkF+aZmBh2s6AsEVw9YdS2bVnWcbKcVlnVKFaMui2MM5gP8VHE2zPkpU13VtSIa28To9/WWYXpql8VFQ3f0kl5b9UVfEeRslsVvuASXdfXp8zWy+R9a5uu3Lpe534SQ2TXViFq2wXXamLidI17PFpzxQaVno+wLZVNblFDICDWXSPIFeu8InKZTDQ3WzBh2pRlKWsyW11221HbgmNZBjOfHCpz5hKl9zaqgy45VqIefQlsujuumuGATl1KRAhmd9yGqKoXxcuhtlkZGeq6uG2FGA/rdSxhcMdsjEf0Ya4v9LNiGbiludfB0KVATAbBtvBMBqgNR3CpkqPiHUkmwBjmLx86An/P/4HUMI+MKgB1LBk3rApkLUNO2YpjqafrGhXHilW9NM0qFG/eqSvWDileskVDHRvkGfcogwxd2Nem5iA6g7BsejWWZ5kIkw1DIs9EhEz27ZogV/M7vrEjfcsuseU22Y4jXEuONdc2HRPi1UJxy9b1tvER84PG55915DjrZG3ZJ/pHRLpBVL25k0IMsyVKR7imQWX8f1XpK8oCYyd+TH7fYBpZpaWybFsQkkuO9qxdKy74mbA2iewuQVDZbJ+v4FUkfCeOmG5MLCHpIxuj/spmMS+PhRlA/Mx3qqysOWe8JQ3bsnT93+1V8MKgrsl9rzLKiwU7xKozNNOHMrbskbf8FB0/tFHH3Vkpb21cqSeliXi28nCVmVolfNXCqhRZtspLEN1FIrtOZWnIys1VeVZIZXm2KktL5b8LFWy2xN69Cp2yW+/b49E9V/XpnrEp3XMaaircq4xNtvZmZ5uBtBLh98kiRVlhRMgVpCsAimGLWKa8AZRKugi787QHZtUVWyinN6FttLaWK6MDkZutplUdyp2Hrb5BiUblCcSURprqQC1ZiTrbt09YKJqFSucoFkBuyFXntmKFfYgUlFaSpnhefHm6pT4VnZUij4soaxPW5ArvLxJkax5yG0m0FRYHgjm8WILTxe4c4TFe2hYYhzJO1HzEuoT4MDuoI6XpkPBbKSPJKc4W0QkROLaJ5H9DGhtRc3PSOR/G1wG/Csmfx/kPga5Mes6TkaG0445T0ONZzp8UQb5QtlZhVutZmMnWh09VGamKO6gc08azA4iYLeJZi8KQTifKrJyLNO8TkcRbZqJVJr2zfVhUtxqH1PQa7Wa1PANocPMZ+qfOHI1ntyqrrVbdoG5iyiBH2ZQoTLmKSyx5qrOWlc2bOym82ZXn/79rJOuO1sDHLNG5Q5yxRjiO/OQJaoyfQu8HhOVqp/8eEUCVN3cpq7DQQCddTADykSEdn7lW0Kc1nkl15GZp5N3v1r5YUqVcWiTfO99p9N5XXin7Kls73rPDuO17MWoQfIYyO8JRdzoWaJ/jqGfYo2qPV+ndC1teG+TzISeKohFLAa9ftjckXzQgf3CHorGotk69W1dcepv6O/q1lZvUFb1NHH+puHpY7y5CIzU1+kxFijrqHPWtWaNI1xwE8/9AktqGz4csyxV4hBf5oyER8Yq2iKjyaNzn123OSVq1yys8Ptm7LpSXQcE2nZ6C1r9nTJee9lEd/+mtunlVg87ccrpqkzyz/6fix9VyordWGcLAMUGq/Ph1MpcpLUFRUFxcrNzc3GVp2fm2OjdPKWBFROetZtW/TNffIhJ0DYCxZ1QcLn9eQVS+BIWDUf8Ye4bfH5WX6DIaE2+i3bB1q/AOaCWYbAmGXn3Z+zo4qo/DmymGttqSb5kqztbczmp5IHsEUTXToNCKdZcs4UQ6EQWw5Uv0twgpWsMW0xYDmWLodlHVLf+mMQVyLeHxy7fe0jvKptVzmldrdvtVcu6JckZ82r59QQV3R91bRF8i4FPXbq2kUjTfMNeeFp/v3pSqNXtrdHw1qtyGjrPQ8WSrlBpVslrpdKl1dUgpa/cte/Z/bVIoIOFJ+T+VXMTFHNWD8s0Sb6JS/aA2EN3pgmqVgnLo1iqvrTHPkDp6O+Q4jnam3mm2n82IKjMpDO0wBVwV9qjRsdUPRkfbgvB6dZw9I/DIs8YnT5mtUCSmu60dCxUZskU4LJ/HI0IhWd5WDQY2qxNk95ky2dK+RUFv8Ji/yynv1a037lSw4URtmhhWXVudCBi94rohVHIruvUmv3b1TSir4xwN3zqo7Sf7ZMUsjW2NqCwUkcfjkY+wjG7UK3xmlegFBZeoFN5siW3oVv3xq1VQNaxdu7pkNzaqO36i2rfVyXPyGpEd1fiVjarfWa1iGkUf2nnrxeKdAyL6dpHVKd/omCKVb5Pb2SPYrDx/UL14BT4FbeSN+OTYQXl9A2qzPMreZMtu9Kuzs0tdsIga4FjFAm2nWoYmIVkV5YruuIy3taWQL6TN+7aJtCPHIcnJy1H/7aMiYs0PEFn+BMcRFWKRh/ycHKlu+tTNrdpCl+pBOewQjCuXTl089WOt9dyp/CW0yiMY47gxhnoFy/PskERiCTK7jyUxwD3M6/P/t6QB1EVM61gaOyVLsFYUoG2FR2J0HtYc+eJysQRXyTCo3qyd5GsTxkE3BUtjbBB0iOmbxJ6NYk+ZtgS36oS3RsTwbRp60NXnbq7R8bf2yROblBO8RLZ3VIP+W+ff4b/VL05OjAvdBYn8LM6HB7SVuXgXZnygZEBmVzfn7FiiMFValTBWJ4trT2lb533qwnicx0DQ+783KaSAUqcRTjJ//bFKukIxj6LpyDAo+s3WMxvhyTbqqWxkZ9nKtDJFTuK5CMoOG8K0ONlKwWzhTgadlOGoz51R85yqZh/agU+D3K7eiyr1/vVGzbMGVMSQ9pVXazuFKmK3YpTpTCz1U6bS0lLZdpouDY0Y9c4exN7rlG47qsEQymVhUD1HY4u1QGVJ6o+yZfcUqoxalZI0MBWznMr5sGKJgbNV0pEhOytLjc1Zyi3K/R9MtJYWqd7mJAXl+OplWSnKyooqO7tG6enpisdRZY2j1JpM9fmLNZZ5pt7jnKZaD6buqhD3nCjumVHetfs0vNUV0XcphZs1ga19+9BOv1/+nTt1WkOZ8jqLlZJdo9WrS2Xl56ks2K1iO1fOmhKR4RctqxSv9SgNRyb4iU9ZFnKykDHCLiFr27dP26ZQeGkQnV0lyvLaCjfuk5VnqbS0VGX8zyaFBfGIJaFb917vk22dob016YY47nJUULuY+nwl2bo1Q9GoGQDGMYg6Q+GSKYhqgsXEinCY2CZ5iCxUTo6wUHpWu2JUi8TAkE6pFhwdp8QFYbHXIyxTjlm7bFneTOXkIca3atV0VA0gGBfl2do5ZOrOqLLGBaWKge4mQeBnk6DxeCPimO/05Zj2k8KCfWWZCtFKvDsxFgRYEhsB03eLECMjoid3BWr5uA4b4nWZLF5tp61HnszE77648opP090kHAu9VUrrylRBY7kquroEMZETkDXmqptrFcPVJNMinGtUfzF0T8PeI7TBdhmOtPcruzpdpFdqgC71XPUeDQ5OidZt8t0zqNO3FBiwSnBafadOq8R/rXFcW1WqMhflZ8yxDZe/uZOCZSHLNZVuYckzF13Jwui8/JammJQzNCRiRifcCcqemBAYPd/bStFb6VQzMV0McmkWk1nGgDmMiI6qv9tS2ijyDfq01jOwYIipQCNlJhh3ozOm1aBBHKU7qKMfQ5jncWU7yMJJbDFRBlnqZ60xLtU56gKdnSj0VaCLSNXQ2gGlpKCdmzZpk2e17nUeEBhe+QrQZQOWKlMnFlfYOpL04MvFttFkMo3AUg9de64zmN8WHN7wfjgZReAX7jqxFTFum3KY4y1yigRXqxW/Sie2yx0Z06WrI6ppR/b13SIzU+u9HvmvulBpbztf/WuHVLFlteo2tauz/Xo9eOr1ct3VGhr6iEZH71ZXV6caG9HZF/vVdvGA9mXtFf0tImiLqCW6bOF4hOWRkzCi20nGdMdesI+0YnZtvXPfsjki+kfFaQXy0qYNJAaHNd0yu5ig4HxBhgZc5B/CdDo6jlxGA4iTkgefYynbEbGIbfUcLd4RoGV03IdLy2beQJgsyeSMpi575YQTDKXOgBwyTH7bMfxY2KL6UlHTLhjRxMTSNIcEMYU+iMZGEIwZY2QCaWUvzROOUdOtQ46VIrPidzToBOXal2iMIjE6KicclkOKYFhOEYngWa2CQtmecW3eMiM2R9Rjj6itAF1zDfL7VwmKNYSl1WxRXQh1jqEzzka0r1MjAbWlohtuQCkpiTZMv8g8XmPnvU1rZt6m8uGLBFaijSeLLRhWFHQFqCEP1debaxNz95RhYKHLnj1M2eMR85TXyEy4BhXkzpWdhfCgDttWCyaSmoGTFpj3hBFE1EGfGkGXg7yt9eLcXLmWrfc6WwUh2cksu3VoLB9hD2nejrZSfi00egYKNKDxNbbItQT2ou8oANXiE00DiyfSMIsmxTd1UujqQmXXIraghlij7qZJU2BWBesRVofOYrU2RSJKTdBXh0BugvApUI5ytzUqtzJhpPagDbWor79JgHLJUWFgk3ZVVimWhurH65NosI0xrSiOztmMsqfRHvxqZbvKL0JnjCAaG8Td79DwlKNcZjSDWb3UcInCbFedD63y71IIV+cn0uwH9eEoEonIcVBKLKYmy9InZ0ye/RhVSiSMjnOWVNo+DB//YSrSAZ2R9LsxwfM/L5tsMbDg+1BE0gAJxlBbmC6SddA1LHL1TwPlBS1xe9RQQExOiJY+UX+j6TwzXkGOgnTrivjHNBqZUlbQlj+EhnPDynVdxSxk5QTl5GYqHInIFw/KH+tQqDRPGYUZmluZBfGpgkrROKfeKk5qyC2CGmGtE9N3Kxh4t6amvMoFDU0wj+0fHUXZCeNoMCHzEdZitghHRLpHFsF5aB0gMpEvx1AaN4EMlO9oUM0cQYaxzww2ykNQtWxTD70qTcQCOLxEtFh9kqFFxIc2Zhc593vmCGkdh2ZWgKlWpqH2vIXfThTtthNtavNWTZMv/NvFcT4TmwCEL0v4g6I0ongjZkWcj9iEqIyKxjHZPTlqsksUZZMauESr2Kr0YLrWzdkfQh6xtVa3FMyIuxF3o+maacNayrQ4fqfYkyI4UU40qt22rT3slUNcM14ShtOgwCu2RPX/a++9gytNr/PO5ws3JwAXOeecc86pGw00gG6EbnSju2d6cuiJnMQZzpCcwDTkRA45VDZtK4vS2mVblmS7ZGtLtXbZ5f1jXU67S1pWWaZkyeuSd0jqt3+838W9F0CHGbZUa1e/VaeAe+8X33zOec5zElV5KGETUZywT5SUCMsKIfmJNYlwKEHQFpG4mF8QiicItVuEHZNG1CkuwLe0ykmng8oJH101pURCpQRya9L5V9qFHNGlCVpa6glUdRCZNwlwUiieShmfR7M3bmXLtP0xbdIqsyFMf2cdmpQDyOOZek4yaYifW0S/1IxWV/BLDLYLx5lA+rQxl4VEjnJY0xp1MtqeFTZ9Vz4fide/TiIQ4HRz89FnOhVDuc6hZ2w1Cb3CMr6jgLBCEeLhM8hXgdqn6e0zY+Lw9WIyPFWSUFDUN4kxr55u66IQVogriRJisRJsOxfbtoltxLhQesFU4tA2TzQUsnzqXZSXx652cWdc9sqEX362y7bJP93FCS/fwMWLYqNbTHcPIIUpVSlVoU3O9Q+QaBQdJ8dwnDgJ1/Aa1QRFazjBTHGUpJvEL4tRFVFeXkz9egQFRW4gTokiXM5PYkUs4vFFCh8dY+ncuyg3l1yJ0zPi9OgFlibE5ID4wmevsbL6HslHk9y9I57zhZmWy4a2ieqqIRbzqGxDklkIXR0DHzwktk383LmDz19OHFpUYqdI9B6PK5dk1OiqAlSWkcO6LXtRyPeL8lBKnfaheIxgrp3Noqgg0pYJwnEc9Po5zr1xP45zhgO+lCPSiWrtrECusESjmlBXxqLg1qHwYf79ozuebol25SCtslcntoaDBHSWPe1lHHeO6+7kC4W/xAzmbgkT6HWzRaEUqYDoVoz9nTfxhSO0nbnCudJz3PPTfxvlxDMQJgmTWS4gg1qLeZPK4aCwkG6Jf2f7pChMing8B9XEDyHhEkQl8uq8CX1C6H2xPusQ1y45Eu9IFO3VsRUcJnBWXgCVjfQ6953rZLNJqGrPmEgqZPIqN1moawG7q5wuu4u4ztJlddIX/wwqWTH9SUKWD8UepDvxHJJFPB6nRmIlKhJ5xhy7NiFaqsuI6B3iiqOc80TWbJr2TKzMlsReqj+de5371cn782KsVMwGxPb2EHtqINFsczF0HtliNiZOnRaa9jNw1zZN40InRGCyjPh3z3EqNMb0h3s8UiMUDKLcOpb7PkNBnoM6tpEzR7f2aW1tIFDdSXBRJjlN3ZfQsKgcFa214u8rhagSmptHY99i7+s/w/vvf5uxl09y4vQS55/sRcGRm7ZjStyAze5PL6OCYqLawlEBHR3CcQyiSK2m79iOTbQkSkuJn9n7Qmaz8KBwfBb3v9GFggHU0oL28jnYZBSK6FKGJjcjql5P8IDa0ovC4zIoxYiYvCAq3QTqEL39oiVPLK9kI0Hj8szVgSDncgI0NYtxL1vhbV0U+tRH7cZrLC6+Rjx2kVgsxuKJRSosx9gcbQfXEo47hRbiOGEHTYsrVhFd6qKtuY2qjkrcx4dZSMRZdFZwNUdh4SUGekZ4QI08Md/Np59/nt2ncjgxc4p5d4yNonI0JlpbxeDgu3zuc7PcW3AvccX5sn6HjcLXDEVts7jQeprXNE3ptfvxjwU4dWoN634bZ86PZHFeYs0W12yHEVv02KLZ5+I4PizXNLKjYaTLHqFWBqumV+E98na7YzfuSLZtc3opjVl3NrJhhtZLNuuHsNxTuh5q4nipqBEt3Tl06o8pPj+AXlyidS9KU8YxfolpOWkTh8/B8aXe7dbMKc26To7okodMcpqs74/CKdNqruGjdzzTWXaWvFs17Xw8mV54lsJfaDJMt3OrFFgFPPHFYcJFBkpsp545VT9Xhf62PF/WafNcC2J6WviHZfw+o0IxA2k8zpm5MCbyEuJrazuEfIccmvPvMTNic/WK99nuRL7igzqRjNnTciwc2Sb4sVJocgyt5+IsLTBoOyR1Avl8tM48xBWVY1tifl5E5k6z5KywqDLkG0JP2+jRr3u5C0QwLCZP2GjTxXVd1k6vsSHhmxEbV40JZsoWg5bFlHwe3Nph0hGFjqkvRzowD8rx4crG7wi7dBGnQziOjSObecn4gqLCXurFsgqQPY9tr2Llmnqss+roPDOMfCcodRzGJJN6s6EBe2aOiqtJWuR4i+IxeSgsL4WsZ5rMcoTbNrLrcPwz+Hyb2O4ZHMehvrWJhvZbDd4z77vYInQ1h2lrgWSFDhIiOZ7cL9F9Js7CqwtUv1bFwGDvQRpbWzZnnAxnsnONTHPknD1KImWutIW1vXnE3Hcwr4wJq3QTTTrYoTmTItk2eTWOPHtrK05T08HnpaXbjT66dImXVcJ39CE5ehhJLC4u8tc+HOfbExPMSnyoIj7UJa6V+og54v2iOS6rgQ3lkkgkiORGUGshpb4mSlSOpRLaguPk94hmX5zV8SRFhT00N+fTX5LPabuQSHiYisFifD5R46+mbKiC4WFRXGzTOVBMV1RUboqmHqEXhdy06pSvER7a/5AN+xtcu5iH4j7m3q/kw/J93tMWs4rQ/EQBa6srPN7SggYH0M4u+6fuPajIi35hl4uLuogckVvlOW02K1D8JrvVg0xIi2j/uezfCmWcwm4NGrRQoSguEU61jEmuXChQa+gCqoswNk4LqZoav/k9IpGQQ65aCNWGzG4iV9QU+VGFQZfYjkNx1QAfJ6fwYUnI3OuTnb9J1o47pix6CKmCHPk8yHAJqg2ZHXCxCMZEaYVINJvgnGIpg0pcJnp81UL5n8FNiMqsnBd9JDXJB6d+hcI3v0XYCbNdvE1d2Wd58ld2uZRnABMfaJnijNgCBWR2fq7w1exRYTmoVBQXC7tI7HeZZxu/y4AsLAk9qLSJRwFUUI58tVS8dp7qiz5japQZuHulz6ACO61xTOayXxNiU2aHl3tBrNvL7KuY3V0xVyzqwkJFhajSRSWlJGURUCny+ahfPUHfcAfWiEXpbC+NJe1UWRalkU5UVIXqnkPrX8FaXePixYs4ilA0fRb9VC2V53wMf/gmrZOtnPyGxcSHr7L44TBPfyhU8zzbm8t8OLXHh5OPcGb9DPv7+0iX0dgl9idKcD5Y4kKOSCQeYnNji5dDpczneqknJdbWbPLyUtpoEqO1liCVm37Qc/P+E5GyTYk3k3UZE1xCaOMS2v8sBgzgoOA+etWivHmVmry+G1+nOj0ZWxIlcRmTrmSsBDkOKZBBpYz/MeplVKuXGJXYKBDdUXnjttT0+2uiNiomCtP3slXIhQPNdw6pnK0tET5CI2IkLFFcZCGnBL/8lKucUhntoEZmfhrU5hH6k7Ky27woBAIB8ryXjSqMKwff9AI1w6W8/uZpgqEg+9sBHFtsbcnkWf3iPDulQ2htlN6wCRSxF8VW3jgRmWTVv1r2DhP/YJXu/Ah/960ottPLxHgJl1TPvWqmIPcqY1faCYfE2KUw3ff0cfWqTUObS9u+2C4RQ0GxOiusceEP+ph3QgRc4ySuloU/C689QIXEF9a8St/eZtmyuL9RRHrEWmsr2thFfhGwAgZRM+xlaosJDZndkk9jGEhi6407180kOIqu2Gw3VeBvn0YPn0MPBPA/u4RVtW3oEUY70VNbaDaBNMt4VFi9PrJ2TgHv74YY245i9Y+i7W3kizLx5CVq6tIIo5hirGjl2OdplujMwE0baFyqY19vEezCIINS0bd7SGext4VvxUGxM5yVtyt/9FmCDa+xrkm0XY30EpVtJVS1n0Xqpmo8l+FhoTYRLxZd/aJ8WVRbos3vpU08IuMEAmLwCBTSQDwjmiaqKFFF8dlRfD4fEU8z1KzQUxn1pzSEOTJmMT3rp6ZYDEuoQRRsifmAKG91eKpzB1eu6SMHyXViGAfkOOdHA4xnOKEbJX5dKSTI84RCfay9IVQpAnIIplJ/zgoV1hDcGGA9IAqLCpl/c4aX7xavxM8yt+JQvF3FtjvOS/sjXLs6zsmrFvcu7TKnGvOsRWdRZy9qHkG/mp7gAhJjY6L83DyD/gBBy2Tx8/v9RK0wkYCP8UAAWzYBbRBUPlZA+LWM0zxKZHIQ7QSwi2x8M0Gks+iuB9Cbp1HZp4hvTbE5P0BB3RRzB1nnzmDiArY9anSh2DZ6xjLm2bDQmgxy6osbKLJ/MBlvSxj7/hrb24fb96ik2s587sAgHIdM34wLXbVYfmWMMzfjZhoVPkfYZTJj8CBvhY+wfFwK5XN27TUkw5uUmUvcUGf7aWwTld3e+U4birWbyPYBoUsy/9el+ulWxv0rOAL1zZCkxKArzu6IpJNPr9WLtsVUSIytiTaV8dOaz3qmgMe7dFsXhXPnztEo8fdl85Y+S4c6eCiwTLu/jPjlIFbI4kpoF0sez4gVRYmzhBw/CvrxWcYBYgXEbJkIVovxJhEtCDEyEyQWstgIGfPMWa3To1rWJUY0wqq8MPGD6MBapCGGJGqKhL0gtrdFPC5OnZpht/pxNkZEqE7sFhVwUgtZwWuORCLoIWFmQwQkIq7hWg+qibyVF7n0XDsXZp9COyVoSdTni/4vmA5cIjGtVQ6yPLXpGCK1w7LGcYEoQYleidCIw7qihH0X0N4OS8EwSTvlkxhHzcNo/i0Mj5GQFtFwBhxz1/vbJzSSQN0rKBQiNrrLd751mZKxNNbdkkVQQTOZeYMjFjMoDoPa+jKZ9ArGpJVEWqRESieUzxvxJkMfBjq57J0TQgpREhLTQSErlO6goRiW4gQVQCEHKYh8FvKFDtom7A20rLqKyjhUkzI7+cGbTxBSBZae5Z9qnN/Qb/CW3mK45C3mp6f53KkKWhfLzWJwVQxsCtdbGF6U0UriivMV/ynK7RH8rhnMtkTghCgtbOGS7xqO2slMv5opIZ0lcyHtlpiLRDjR1YUUw7L8BONCjuHWvzuVRCcgZJdghS4RtFzslTECD48S79kn3txIYKSNosoknftjtI/5OLcUZ3j/AoX7EbOb3RPJrh5ax64w2KcD/i3JUB30+kWBs4uz9gpDkSRSLkuLz/D7+V+k/8Iko9vrVKqEdZ3ibu2Q2BYn7ZPU7lXwhXicwPkNiuwiZgOzpq3Dl1EigmpjbC7vkHsuju3sEzjgTAod/F1XH2EFUDRkJscyGc04leQnN4iGwwx7k3tIwi+L8+qkIlTPQaL668iLPT0UN4bQWWWZXWqV9jV09JYy0FV1w+tIJhdKue21x8Hc8ySf1iKT1gChjBwImVKrQgYHnkZX2tkdKTBUKO3jqCOO1JNOFOVTBnItk1yzkJtxtZ2WyB8RO807WB3G0qDAABp3sFWO/xDdyu7u7u1fFMYuiUUVc/f6olHPCkW5JcIhUVkvHstogDYZyGH2i8SQQtgSny0VyQaHL03mo6SorRE+n+i4YHaEUxpkVIXkJsRCsBHLEoWFPcidRcm7zUT2Nx5G4TBFfpFsMIk03Mf3qHfzidd0k3hnFZ2rw/fOveQ74r4LbXSrl7Nz4ulvVlE4NUWDRF2DeMISP3tRDJ8TW75S3ugtZryiDF99AWanYd4h3LnL1q6ffRlyrC9/eY8vfOECdrWN7hPSDhoL8qk6sZR678eFXLH/dB/GIWzqISnhRoQvahaFeGMRCUvEUphiSxReNOrglqZJRZj2SbzuDZimhgmG7CFUIMrKnmN+/n2kuOlw1eb+TpPD2NQY8cQxTJoxHcDXQiHRXZEKs69Hsgk0icSa+T1fz7GiJKMKs5Kyf0YbTVCNxBX3Avl5N8g9nCPjEL3pRG4WhrqYMvLXikKdx5JHh1Eu1CMKQ4fPTdeTkQBSFVOFCeoPB4BVLaDKaSSxr6eoU9o/8LhSMQKeBBspyBV2nSgsMju1QokRvYelWlTUYxbYHGXRGhzIvtCZfBR1UCBAXlWVsX17KSOlfbTlogf2jPnIERcvxtnRGMExB51pxJmoYa/kERIlc2xUlxOL3c+1yTqqmxwGukJUT04QmAwYX8i4iEailKuEeq+/KU8U+gqRbVOan09SIi+/jnqnzAAnkt00VBejnDqUbyFVkJ9fT8JJkFCE5JJQcRAV5CD7EsbMkSSiSRo0Rn5uLorHKcypY33tBG1ti+TmijYV0uvVQ9F+JXqwB8VcCoLiVKW4mCPU5qDcfNRQZDSH+lTgXh6h6nKaGoqZKJoiVlSDYSLN9j9dlrx84yZq3F/iN1HWGVDgIhkzlG3b3PfGo0R78722z2ini9454TD3xGKcT33vEzpvrnFZldycIDCO6opQWTEX43EkC3U2oK5iJKNdbMsb575CruSKoqz+GcWY2Y6//n7GcYUKG59TUMgdYbLWTW/aJEwU/LpXB5dv76JgHD0F2KlIyiWZlbi0nG/+w35+MrVTlYWtVXYkloeH0b33olOn0CsvkftKDy9PT3FprpaLD0zxu3/627xysoQXh1zCbZ/i4uN9vGzNsKE1/qZO8mKPj+dLxbi7zNJSFMViaHLKJKJeWkB+PyeSYupTJlgpesLiU+4IXeqm2xpEepxcu5IR29jbHpVwbYuTtsWSbeBmvRLPWhbnbNNI896EK78OUEeaFMpbM407YFHcK8ZeXMSKxbAsG2kcnb7HHGtbWNZV5q0xo90sy+wGPlwzjq+udtZrKpiUiNfaqEn0y6JLJ+nxibYlh2rbmG1WJBZlH6jEtoStNizV4critL5hkBpzSxQVrTM6YhsHWH8cfeYzVL7yWV7pfoFXNMwrhRWMjQlZFrblHKjYy0rnfH1ZxqGccnIVl4hnnxOhkIX0N5EmkF2NgZ9md9REXIxnBQn1Y7LFGdhco+JIs7e0KEgyMMT70p+XvEnb9vpYR6t4sMobxLZM/7QyYaTmf0vi4ROi7bCTslGelmSxYX3zyPukNjKj+gyFpYXM9Zh6OvELSSamJ4ivCkWW0IKDTqwZk0+fjD8k8xpWanKaoV0RGuQwLrOwaMnC8oINLVfIsbEtB9sypGeWLEOgKOG3xaptc8q28dmifP00fctBFHgeaQBpgkbVM3DuaRZOOGhtjSUtEVIfWq3CGrdZTryPzoTQ0ixFEi/OOGyHFlm9sIr14hjVz3fxbN/j+OZ8rOkS09OfoifSQ7fqmJRYUzma70f+J5HuQZqiXj08pwZmBwdRVxcnBp7k1EI/eXn3MTJik9YexUnrbqy5PrqCoi73CjMvv8wrr/Qx+Fsvszi2xH3PnWBoyEUrK6yu5mDN/D0q/9eH+c3nVgkv/zKFH3zIi/O/TSQyjdRo8Pf5Mjv5EwaB85IWiN2ESrzOaqApw+ybGbNgSaxWVxuUkGTMWq7QKZFQDhPHRB9fV3oy+oPVhKx+pGnKJfpS/THvBBMjNvGMerp1aWZZNaafyMLE1/iM1jAi8w6Nj5qxUClWum87zcU+kstpxQ45fvzcl3eF8mQIqQ1bYk955EvkxGKGyjkvF1UmcStdKhJxCoNB8qNRKisqqIzmU5Goxj5VRkFnlIq6BJHwJNGWXHIcC39zGbG7/xrKwPnX1eUwMlJGubKjPAOJBI3r7yGV0uwIt6UUFeaaiVkyO+ONWVRVbiZ6iQv5+VgrJ9GecWqd8a5lnxGtXs4GJerQbDluVZjmjbP4ysR+xRXidg5twT2shlw0+aQ5dmwU1Y2SeLoPpyiD0+RaHtraQvkhHv2qvMUkBcmcRSo3qRJ33yT/QjNft8Q1CWmXKfmolEnUfo/CJBXkfVk05T2KSm2kXHryOoh1zJmdatRFUxUEWmaojGxRqRgnr/iJx0VB5zyf6fppnpJDVO3kZgyKCxIF+eJcUZqYK5njp83eRcozk+/rMo62w7mB2w532CjG5FRNSCKoCFI/ORJlkjEbZCwigUArjY2WcRAuN1O67JJbLuprsxFZF1WFNElY3mJ2Sia4y3c3evWcWUzkYiCu5pz6vGFKS58na4dZJBPYZlm83P9NyraOG3S5xPSIgQZuydRtkQ8l4uTniaJUXEGKpK5EZqebeY0pHeT+mFAfj+lN1tTAG21Cr15gb62Trm2x8YGI39/Nk3qDZxYdXi5+mZHgLNreoljivU2bmgfPU/3AeTbOOviv5RHN3UbWPtKb2EpwVUGij5SRU2ChvDxylIOtclSWNLbrZCOt55dx2lppbx8lV1XkF4u8xjyUqCPghin3+kOe2o1pMMMZnDfejuZdytx5cpRjFtaA4adqbDyu/rKlc6yTvep9Zlrm6HJfJVFRSWVlhGh5GTmWRbFE1LJQbi55eQ51vRWEq11y5cNSP768ShYSc/TbSaR+k+s6R6Zf5pg+W6FLOBnRyu2HnqFeIphfgYpqDr472yTCPmFMOHXZfqtUe+YKY9b5NmoruOm7qlkoIdq+atiTW89Voq4qqiXyVEPEGTtAMB0/fj6OnCCL0NDnzXWhkNk0yrSTIrd9UShEMR/O2nl2E1Xsytj5HQldlpdwo/fgwXZiMdz1t9BeGZt+EfacRNZJi88mzzN1RWy8J1SRQIE69HNChWK5WRTc22tWum1R2iJmn1CWfbDOl2Q4WEV1MEjSl7bZBmVMV5LodISvq5IjNAi3JC62Qgz3CP/XhGW38JVT97LQLl5+bxwNViGdRrF8ekJ+rLYFzve+R1Z0bVubaZB7vAZy9rBkEZ2KogsOUhi/REAJUrkPrN0CYpct8nWerZVTvPrek/R9Mcmk7xtUlE+ht76GJqOoJQ/pJBptQD//JeT30/uAUL0J7mqX0MPKSnTSK5MYfNFfxbK/mi6JvOpeA6/0joloBbsol1iZgSbuqRJHE3TlK02f0WsWz1R+WdcVOzsZk0eDMuz9caSnkGLk5IRYXW1lUGZxU7VQRsR3MNhDW5vneDzTSeUZH/nVorUp24l3rPhENKY08sT73paIhEVBcQGVlafJiqEolelzjhhM9rJzaIfv9wv/JfO7XBn1fEimvjbNglCW0V+kPVQRRgWmbVP3jypk2tYbL71OGCvaynRvDA34qLnQSe55b/wERMhv4jF8PhEssIxvLpa+5oHUvIBmR81iVXj++hTM/ZtocZyV3xSPtBTSvX+Gmc92s//hOlIzKtvxkFPNSJkxJ72GlDFFdhcRWulF2z6q3T0KVUi4PYwKRDAo2q8zqfklAlYMRdZ5eO5hahoa0NUt1F/JiZNFJJOvou0+r3+5SOcxmwk/zY+ZvAdf2vLh93eip0XnWjvDdgDdO4labNT9IsGF9zhrXUBlxehbb3uMCrtIzoHpKiWtEqGiouz4n06hPHFeESwdE1yW2Z+8MWAWkM1Dx9gmbscRZ7uiBCYterfOY1mip6cEqYQGibiqiTqjWClfj6VbQmLdWHxEFcK6CcrwNi8Kb6AzVYy6qyR0GVcmArdLom1dR2yproScgOEBl9KcPo7wy8VxhRMQsgqQupArZjXLqCxyUse6JntV/4pQt4hWG+qMslHR/i2he/rRyM0dRh9fSpFG2bTF/O4stm3xrdolnB7h3ucw97yF47jMrLd7g8nBVQC/bCZT1xjxBtKW6J0WyT0Xv/ysDqyhunykGRol2nUBaRWpHJ/7OdbcEJZclhyH4kALtr8LR1NYC1fQXMDY1K0NpHGTvS2+iCZc5opNx7K9zmtyH2S+k0lyVHeyhfo3H2bCtimy5rIW2wU55Mg4eqckXFnI56DP6EjilEx8fiox+kEHz2LMTLNROo5nBpsS8hlIaL9MQFR4RozavZjAtHRCeWvYBD5l3ntCyg7Qqxenuw6TtRktcn5GKCmmFMLVinFU9wldFbP3mV1cyjTX2moicm2Jh1pEa4qptlLoSa+POzKaZ473W7dQfjlpgro8UmaysMRJjSCV4cqjWM8R1rx4LzWhDAm9IaM1tekAxVRdLfpeDqDAKjpTiDSZ3UctH3JsM64s9yjVRqFQh0uT/QDldiVOQPi8/tDjiAd3Uonrb8QW6klchsqhWqgvgLRKoQqZtCfRxo3PbZRojwidcHHnXPO8s93o7CCO+xpSsaHjOBh3k0idaLYB+Uxd+d0p85w+MbYyRjgaRl/f8HIK+NH6KdzAMrlFSfoWRrx+n36vSSmNekpJSOlYI5/Q2iHa6mOkUuLTkvFpNYsszbOujmh7FyPPLqIC4U6ummA120UaRTURZmrT5s9Tsgl6fbTfEpqtwvjyupn7OBtZDxEp1bKmUXwpVKHtUDczc8i/8JfEklp89hruw4/jy/dR9kgZYYk8VTAih8ZbfZG4MtTsELLyya0UrSqnqKQEfyAfxymkoqKCYEM5+c/Mo3xRHzPIn64xcep5MV4g6q+D5T0sVRn/vyRjo35mUOg1IesU2RpFBdIs87n9DOX/Llapw+v98yRXhpm8r4CJzS9gKXOnaMSWcSDVS8aB602WBRLBF2oJBOZ5aPdhnqhqp7TU4nzBCnMP95pJpryarT0/4Q/PcXGigNOrH/D4xQmMvViofBSVzCKnD+kyWrnXQCmdMlRqUx6Usa+qB13oRPYyVRmaS1XQPFM8LuKto579PZMpM0CKaMyVQcqEwjKYezlZWeiOSJ9Q60UMf0whOifkN/Uz72yir8Sp6hBaFvUTYnRf6JyZ2Au9enTLRLFVgJlUu5AcqqqqKCsWtT6vLvuEWkW5zGISyySjqxSyvHY+az5f7BTWVRGrEB3hc1hbCyhYYybMNlHekv0eeXlpbHhZarJIUVE8WYFaHaOGF5v7uIpxKf8M46FqprSE9EUKlM/KYSfhS9VYtqislHFm2mK86tY2M2M6jkzxFiQklLTJGWqjbTl795jUNKHDi8xNZZmqqmLjc8rPR9F8pEGUuIKqfBRtlPFkZJ/eIpvCnR2in+9A+jxq/zyVQ1/CKvfxwHgrBUtn0xDgEqH4Dso7mpgo+ZxYteX1uzIkm5ckHtqsJG/qJcM95rW3HaygZ6ec9pJqLiwdjtKvpVTvYI/MpmkzJKP5DZj/t3Qo/uWQuDK5DvxKUqRVs9l70PTxkMQjEg8kEviScbq7jeYULBU7B5ujYhR3aYun4N1p8UsUnhbqjGE02XzKbzHTneTV4T3e/+cc5Dc07bIsEmVlxOQj5dtT9e1eFLZNxq0TpweJJ8KEIyUMTv9jVF3M2vi0gRje5AX8MgE8X54R3WczfjstNpY7mVMj6u1FvS0kvtjO61MjqKMM/c1ZFBLz/gSWlqkbr2H43oHrOAcPi4Ull3lbyLEwangQVwZydt3zNoT2xflf+Db24BqTFY3sdn0F3d3DVv/vI02aMP+8PLS8jN+uwed6E7htmdyvB5QILnYwTNgN0+S20TJ3N31Tfi50TlLjcdLYmrrOTsWftQP2y8AKbZ/wW3WcP9fH2S+LnXdKcCezB/qUpszgOy3ezRHqOoEx6Uwg2diyDc5eYksJdEDBG6VDKyQLhFpHOJbv3SNHvNXOO6nrEf6ZZzqjlPaxhcFo+5mammJAHj9SyOv8m2aQXpYo01T6OuNCjtE6XPmMvfseP5rwUZpjeWgWYTQmF78jrJCFz/Ud0ajWtEZCcWPSSZnCfKNozM9WQti9YtLvEPI7DMvkQ3BHgqjnMqofx2Qry7jm1BTBgHjvTQPztSw/33z3vVuqt0GJ6oCQ68PvtBFzRjihLyAVsyY/0b517Frv+CahDjExYTSeVZlF5e7JY2JMnlgwPpWbPkM7KRjo1JS5nq+5GRU3I92DqsKoOkynhmguEnd3+mgfG6NECaR78auVidBlnOEYvSriAXUjx0U5Nuq3CT32qzj1JhudbR3SOlPimYinJLTi4B+ZQC3+g+98EnfJoVg2toxf8GxMJq+7hM/nO3rNkB8NiS2Vk5k681hxTb87PJf5ZeJmOmUWB0cmuU9Ozq2Piy2lxv+NqL5vVfxo+AlUUZHxXYSDjeUHt3tRiAwj1TK8IyKLQvEc9NV98iscLn1pE3/iekns80gltt6VWZFzXWOzPTgmLPyWzwxmmdzBNYUi3CvU0Yl++jEUFDs7UWx7iMZxl8nf8N8gUU+SA2rhWB1O62O82SLUFUV6E2PnvkkFnxPKF9/4+Vac7pdxG1rxf+GbKBZgJv8+1BREXV2oowOFQpyrdTkzFDBmjaIitDiXkShllv7n3uFXH/4ywfEpNPIO+tqiUV89u2Kljl+kItpi3asXV0YTCUu0L7VxT34ukYifcK4YeMHhge5jdhiWqV+zEwqRGfBWrWpGvAGRtVMKWKjba88eHcv30zAhcq+bcrGPW6WtsBViQHbG/bNt55YlBryJuUk3zwZWLjGp06gnit7ZRW8vo/xMLbABRzNsd4qSv1PC88vPo6IC0nl2a9nWKXI99FKzsiNqixVj194lvNuPto3Zs9KpZDwwburJtUlDFv2kFtqgE+DdqS96g/Qp7g4f1hS6OA7q6JdwHxfO3Cl22vOxOgKElIvkEJbFkD9MfWoi9RkJBI2pLiSjjbmqRnoy65lyW8/ReB0W0WzxEZKPTomhQdHnE74tMzZk62C3fXzbpqKbzbhzVMauNgj3TzLYeAHbsnl5ZubA7l9eLq5d6ybQGEQlEQxWfxWdfYp6fyt1StIW6mI70IDmv4O60z5M1Q4Tz9+l1evLxdYAqyHThm9sbjITDGKoqFPPt43kElbKX3OTCOew8ScYGvFBLsr4xnJk/JivKu3P/DiS6vdpsscfQ/qEIgGzWT3u99vvaDYXfnLjbtqGmkkowbrWGW6t5Vuf/TZT/ggNGfQFjuOQl5dHoDFG/GfKPEe0N0ndiFXSq+hiV6hBlDXlMf/BS0Qq4oRzAuh0Le19Yukw+kUilfqyJlDIeMzj/AhVo6r7s/iAbkUsmaQjY3NlrF57lCaJlfOF2KX5TFwrQ+3zKCIuhffIz8njYuZupOAijhz2wnuoxEHreRRKNDXouvkSLr5YgLUg8ncP/XZOaGEaVVYaxE/UPFeNVU3lxfRCHOnwU/H49el3D9AJ+cJREXk3SknpE6oz4faqP/rM+TKTb0w6eCbz20mkAnbDL+Hfut4m4Wg936xtmjwyt3JlsKr+2BIh0JRLrVXr9RvP5FMs8s7lUVxsBlaFzGSQVBJbNiGFmNFMlmZ80XuPpFc3qe9t+chTL1KAYNDm3XcbUbIKrX7GaDJZEdh1HM3HHETaNqbIgwl8D7Pg1mISwXj3tw+Pq4sZ/TGEVqq9zy5SPVGvPm+lrgIywV/NzaLBEc6UDErMUppo7+PIoGh+9VVsy+HCxi9zdeAbnNM30Aufpu63XsD3t36KC9/4KpZdjy7+FuHwOR575zGeGX+divf+Loq3oM5Z9OCDXCweR8FRxn5xjM6vXaXyIFd7E5LFRRnnsmEgvp4T2eZW8lBHJW8BS18nouvwgt2i5OffRWYs1I8ju43C7wipjC3tcL+KODCLVwRRLPaXsygE5t7gN+O/QpOELYvy4XJ+60+fJycRTOP6JcLhMLOzs/SVlnHvQL/ngPSw4/YNgpyyBsQSsgrRF4dpuuzZ6i2jwl6SiX7ObJCoosxqjsqhcvru6qGrq5Oq3kfQpJX1bDeUVHJs1+HEygmkHGznJaqVx2+HPiCycJq7isTQkBkQ8XqL6dExrJ78dOToB6vM2iL+mIWaipH9KmVlovsGCAPLWsFniaXDJjHr6P8nvbpfyfytsBC9MHxd9tZTWjE7uxMievIunrdf85gVrWyzjnfNFEzV5/NxYjmd4apG4kmlnXLHtaUlK51n4zZ09h9LrOv1tSZSGuxhmZufZnu7j4M8uhILWjhI/zglL6lKRl2FfeJryxYXJCY9bczEvdyPdaqHYNDl3XdPYBagKaqU2nXeQAIyqWJPZfaD4+r7mL7iHdfutZn53ZhXLFvGxGlZHsb9+Pu7cjnZ/ARqOBqJf7vaxbJsLMvCks0py0o/l2WhcXEquYoUwrIWsVSElkfQS2KlYcXE2zxYibqGkL10ENORrhMLS2mzdfYzrPBxSRgTUhpIomVuztR7c/n6SgHWJ8lw6AidMM80dUw/cLXIivUi0jXjP3xtFP3y/u1dFEolclrE0/kDXNyvpEReUouWAMPfuQt/5Pidob+jkdj5UxQPDjL2y5/Hdm0uvHo9yuZMiSLdR7Q5SuWTs8hJ76J6WlqIyjiLM1U2Rw55yuV3Cmu42jTO/HyUnRPPoXOWQZ0ce59DYfMpXHnQQu8lSSarOPX+VwkWuCwqiSsLv0Rc9Rzs7JaWUPU4inq2yYkJrkgkk0KFSfTUXSQCojJ2o11x9nPU6EaMqUkMYqkJw+sipDKUO3/dhC+ZO1glHeJWLj6JgLb4mkIGGWML7bUR03k2lRq0FslkGvcdlNkdlZeLWKnYfGyTaPQ6MLj82zSBfFLJyzOBk5/o/GFMhPShhSPcQm61B/s9L1RbgaJRmiw/RcldXOWTo5V08JNiPJjvp8Fv8e7DSQNTrq2lRLmcUjG2ypDiWDKmqqx7tSsdoPUJ6yCS6keWRcuFV/lbkQGW3xWV37iIO3OGc31TqDWbv6tcZtHb1CZD4XbyQ7em9f24kp/FI9aCcizyfQ2mbysPRbtQTx+q8ZMM55sFrTyIonGUpfl2cl5dOFrAIJqOGz+f48eb1PM4lrX1uu+WSW+dHusTLa99rOukpN4S/mQhrsYOZeQTuigsRyTPh1FOiOrTIhwM0LoSvb2Lwp4CDA64jKy+ykKiFL8tQuEQjgK8eTGPnHD2i0VlIHhOtwhcFuf9Af7dT+4TcawjDi7XVRbZlSsPQhYQrUVJ7u/ax68ggRyxc0qcvnuA8JAYGRmhtjYjYUpcaE088ng9V1tn0KB4850LWCfCRHYP8/6nxHNY74qIIhxQPztCkyJW3ULowqdosBt4QtO4Y6K0Ssyoi4h/AjvYRyi0RqeKGPIS70SWh4kFC7hHl8ipC7Lz6TBJmZ3ha8c8w7REU8oZ5Embfhxm0kwJYgjJbnzcSkEBi4tvoUguUh+attPIm+M6Zb3IrVVW8viQzGSyJWMCdByDxLjdk8ctS55MAqiPed4ppfwIQTTbyfmSfQ6c7bEBrBYv17dkEC05OXTrEOxxIN2euTITfp+EHQ4Tam+nUGP8DW0RVh2O8ghL9B1oeSEkx2xQvvDj1UG/5KECQ/giSRYiuThBCwUiKC9MJEuTakAa4JLGGEg8RzAapun+GKUfM8VrIBDAddOQ0IgX/+CokoA1jn+xn5LP/xTLJ0/Ql/TRFylHixvo6+/gfjXI69Ehxh76p5x851303OeJPNDPhXffRD93Defhx9jZCXK/cthZ+CbOO+9zYehd7pr+Nm7vzyG9xY2ymBlT0acxyLtpDpA5tyhLOrTBukUplYdoCwpdTPeNgW8OI+vjL7pdEsM9FUy88m3OWDYNDWJ6wPjjSktLmVmZOdAcmyViijA4dJt9Co/oU5TqMsvjqwxHEgwUT/LXX5lhpugZ/s7f+Qckco42hE+iwipkxGmjv2eHd15aYMG20Nnpo8dmdLy6UtHbIfRkKwUnZhm49m0enGxjePpBvhJ4kO7tB3nGaSbsONj2oQTjPlFdX83o4KihPz5RiuOb5x1f9sToSkw0KD3x+Yzm40vtHlyhDXHPve+y9NUAdtLmjM7gc/xYtrGzbq5tkNj5BstLa2zLwjkrNCHOfqmQlenf4V6doPjMMK8FT2TVyeF3TzmQP8mgn5sTU1OtJNVCj+5jsiaEqiJkO9VuviOyLAvXH0KPW6hWBzEixzvPJjhO9Z6X4ZUvkHhDhm56YuKTvddtEUsfI+d1dnscfHaFz6onrZHdukwoE1HiUFc3yVhFjBc0gMoq8DU+ijRFscSEI7RpNgKDmkbFnejqVRT+5LtZV2bDkSNx/+AL9L30r/jtp18h9FAPWnmJwBef5asnOjEQbDGtCqQWuuTS80iAmZnX2Pz2/WlGgBtIl9IMtn19fdTW9pIKZt3QBo4cygssRgZctv+Rw0z7Rfyuj22rAWfjFTQXRg3VKDRGUD04gS7ccAjtBQhtr7OZSBgCRdfF5zMkeQvuSQpDVficXMZGvkL1My8hhaiWlYXPH1PGgj1ko1OpaHeXj7tLd3ULeb2nb/DbpExipNTn8/l8LPqXDHEcURDM46QGsG1xxlnHJ58Zy2vuoXTBhoH3ti4KvaoiWlGJKkTXFTHgq6SndIlkZITu7nIvdWY6ybUrL5G38pGayVUerb0xrFM2FfrGDV+2KdrEcMEsOv8gDa1JLhT1UFlZgCp7kdVLVH0kb5R4+5V2NLFudopv9GPZJxnLgmkZZMTZXNGcIoU7hLA5KxFVDn5/L93FJSSjIjfXIakywipD+jrKqSQn0ZHODZslpUg+fDLwydJwLYHkBG9LNHr8+ooJJcRuwRwNofIb1sn1pLpaVFY2E1IlRVYPlR35KJ5PSm0OSuwoj+xoVU/2j7lmXOzlC7fUICPy/TY6d/jZKtC0dUDfIGV3dEfGBBFUhsrsq0Ul5pnK9AnyUf9lyqyyIrszpbDQaDs7ChDS7o2vMyjUfBHJoqJCVESEtTWNNI5P8zw0v0H+8DwlK/ejl99G5U+h7d9AqmGzpIy4W4PPJ0pLRFekiF/+4mUuNVbzTFAs3ScvYG6PRTmUSgQUYFe7qGjfaEQZbVBdLWamRMXyIIGBZnpK7sWfP0JFrrAKClA4H8sqpKIil1S+i0pFkUdRE5aQVY7aa1BCLC+bRf56714oEcxCo1Ui3ZX+XCCDZCsSdRUm3ujG7ZIykaY+T5l6kjIy5nkSVAbSz2h5iYzfy5WxOKeosF0dkDnedqk8+l2XUlkDReY8uf9j38+k3E19TurGMRe3dVEYGBBP3uVdvEX4Pn0JOadQpTg7Lr64JmrcfKQlXJ0hLOOUqSwvZmy4m0Y5fOfsFs68zaJmrv+SB2rnafPCxTIpC48cu4V01sPLu9hnHewcGy2L6spiRgZb6W3u4+knH8R1/bz7zjH37JbhhBmQMT2Fw2htJcNhV08s1sZDg4N0V4imrgDtvvF0ur+Ai2UnCLpfwnImUPBt5L6N/HUouIndejfB7vtwF9/C6h7C6RpEw4Oo0dip3UqhOou+hwLkd2TvWOZ1c/jlGQl3N8Twm79GxUA/zhdOsPHsRfT8T+DM+rEKzO7AGbiEVXXr6QcVEhp1MJh+L6m6dDRK2jWaz5a8gZb6zWvDZGoguEL7p9Co4YifWBO+wC0+y8eQEZkF56Q+pult9pjvvGxePT0iL8/UY696qbFqjvHbpE0llrWLz2+x+G4DBmZqNkdjMhm47FTuZ9dPSDanXFNv7sQEVuI0iRyLpWGXktoSWiZ+E82exEoKZ0DItvHZDq5ctqyM7GdyjTNxZscgx8ZFeaUYlmtQTuW7mHiQvPTxpUKjnlaUm4sWFqhtEL2TYui0Q4VlITuAvTDjLeDTSAWsKUBgYBVVmYV9I6seLbI1yAWkHNa1jtPloN8TGjbmrFtFPt1M07N0DL7fazsTHV2U/ZslmmZER8i8f7nE5yVCt6pRHmEKkAmki2bf40gfaZGhfD90vTMy7AY/Xt+30KfOoB7j6zJ1e4KjibW2bu+i0ByspsH1dud+sZsXx1EEuSIaEvkR4TvvYGuLc6okJmOOqXOrWAiOI/UzPdiHHbE4l4EJnpeHKpKMY/DkSQokKn1Rg+ZxlEGh0YtkebTcMWoUJXleSKt0jIzT2d2JImK4qI+rLSJY1UTur34dOY8RnTpUkZ0yO/VMe6lloRMRcjZyqNcmKTuyJXG+QehdpfMWOA56fYectjzeXrhC0eir6L1fQHs/j56YQm/9BB0FK7z3yM+x8ZM/T3VFDaPng+ieffouTWLLUDQ3K8bp0NeQm23bDEvYfUc7QLnSvPBR9bFVZBG/Lx836KL8CNHgMMqbYiG8SJFjFp/zwWYG3eIj17qxTKPcRVQ7fvBd60kvRiV1zHnhs8Xdh1FVW1uG3C81iHYODZrIMQPrNkhQZpKL6EYq/k3w6Cnp8PqIVxeuxLAC+Ap9tC21Ee5Nx1Pk6vxBtr+q/Ht5atniXNR30H/cHBGsF2vla0wXTZtBfO0zWM0DRDaFSsXpBYf4zi4Du6eI2s8bqOdyBJ2xKC42qTbV0cG9neNsaI2OajF6oN2cx0zG95i6jgl3XwS1icHg30urtoioEKX8Zq4IBG3eUI9BBYbDlLaKxikRXBrHrapC7gZdO1MeqZzxc0RlYQWjB5N1NkS4muzkMGEkm2hqcqrNRW21GC3iEJX59eR89ucOZVOc1MlLgHQg7agj6LWd55s5dM1KidqAaWNXJte5tSX6bqVvLOlQ5sBj+nOtDGdU5jF+HRvvE5VDdi6FG4g/s08ektwo3QGzQBrK7whlsg5pZLcZklqmMsOM6JiGekDnOSOHGolxbSGFuJA1GI13/mJVI5pcISLxs69dw7ZsjE3aHDfsNVKKwsAMMlHiCjUK30UPDy/RqBYuyaLVmwAel8h5LP3SeQlxZUP0rNzLztVlkw7zg07k1qIPMtEJVahxErk69MxGYq0xqtxl8s5dMt+dPIFeHSdlV/apjJjmkcpR3o3NPo6TjnBM5lok7TZaPURLMijqww4/G6uk9kjU5R5qLTpyvSJ5tMsSUiuywyjXy9ilDbo1RYc6kJZQfTEaFWVLd5HTejSTk//IoD4kcbFVa1G+a+qu1hah18wOMVdCFRfRnFCLSeRu3Wiid0Q8R7j1MrxQtzIIbiSDSmPkU5QpGYyk15dPkimvFUdpdFCd6gj2BckrF7KMOaNcZjHKdUVtYoUs2pSYUKWPk7UvMFFe7vUFoTobnc3GqLfqK1hqJiCzo945+M3BTP7pYwPe7xd0gTWJvDZ5xGoe6+7BsRfo1xqf1mPYtsjNNd/brk3LuTQSZliNbGiGlP1ZssmbazELpJaQitmWmJWou/g0jhZN4npPXpKYU4Adj2fLoNnSv1d9Kc7UXgXG3HEoTuY6bZfq61GvvzbclYO/zvbaPI4CxYdg2PUcgALiMpaGXB1M2qsyuRqK/MoCSZi6b8WYrJ4lT+EbbCwueM80gV/VP14/Th6HxLx49LugjPmwMXP8Z0tvqr+UCc0Zk16+8lB8iatuMRH9JQWv2RLLVgOWmg4qzZJNhzzeGUtGndJJJAertB/130+HxN+zv4Ftuejk1w+uV6QMJMcxk0qRJYY1j3SGn1NG8hoZ08T9GYlbohLztrD/+d/GvrsPdQir+gNkO+i0Z58cECo0ZG+LbcKqPr6CXYmTHjJjfNJm75dOkXJKFUoMy4f0FHrv8QxCr8PSQDTay9ycUQ9Xl/xsBp5Besj8viSimxE+/eivU9zZeejcaTLpwq8rQaHFlOnJornJosHLE2DqNICuPItGK4+cWy4dYZE0soyBZBbil48T1gljs/ZyA4QkFvqEim1mrVnCCt94QZBQTIzNjJCv5A21hDJl2l5vIFbG31OHvvurkHrx9lMikGEm6JCoyRWamvTabgljWipC6sdqa0f1JtJ+VUIKGny9zA5vWSIWs5maMvE3z0kH6TKN2Bnc+SYexLIszyzlYfutFC272eyY/21mLJufl00otMTCQgYJXgb6yKqqJtQ+yNNapFTC9Ysn3hX1CWE9N8rKfg8hPc2nFKCn8Aojw5/G1jbRrRPMzDlUyqJXC9gdIfIeEOPT4mSfRaQvwjPPPMNdJVfwL8yzGAp59ZOBz++Xl/DJQS1LJhvbQT0Z5FaZhJbn0E7EtLk9hipeQt2Hx44nI0J3m3GWSrdqTU6iePwGE77JS3BS2zcgyLO8Z7KO8J99bFk9ztFtef1mMf3dnIU8hObqdfp5UGIh1abeMTGdYmrMoSrfjKvbviiEw6KyQhQogvwRKmpSttttYgqlB3OGehXr76f0/vsplFj9/BNYtktjwTeIyDhz/U0pp5CX5eykjqhntcrHr2IKGrMHfkzi5zKO88tEXn6m/SnGm8Rwg/iFn3gSy3HQBW9FTgj5zYApiOn4TFmHZK/HovuVJ7O/r91AvvhRVVKiKXzROP06R/B3rVKjq0gi4AT4Wv09NHp0Bm1hMVaSZPDbP4PqsndO1RIlamSswYddUYeiUWSXoQazQ6yWF/PQ0HAQFCiJ6oioyCAJdJ0wl3ofou4QNLSiQkR6hZx6NO7SlBNG1VPkBQIUqMAbtAHq5OBTA8ECUaVqDqgYEmagJZXE0fUWxcOSw82QUAEd40g8RgZ1DK7fkzO6nZHP2VJYKE54nDoF8rTMzKjeMaGVXG9QF3gD3I+UyNKG1STi4TDPbaVz8xZIuK0B8pKGcmMnGKR6+xpxPYy0TmdnDl/qeh9Hz1JbO8D4/c+jvdf4fNPn2Vi7xst5OzTHzvK/P7rJQEkV37i2wP0zX0VXF9DKgzQpl0K1kZrUbHuXhoZ7UTKJVldpCoWYzM1hsW6TgKrZsGvpHPPReUmcbsyhoKyXc/oNWrXAgO9xruTMM6mnmK0q4JUB8YE+Q1zrDMds2gZE7ovrzIw/ysADndQ1LVGeLMftL2d072Ua5ZIVyev1J8lC0VYUPi7KN0K2BiSvP3qZAMPKRvYcJ3l5TLouS/JhosKPOy7EUXv8IQk3oK0Z9Ak1hXp5vpDrRoRbpLVNi5bQBQaiMsimTx9/ji3ROVlKrPqdA4e8o+y85rd9UYjHDb2wJOIh8anutJd/QOK35ZkQMpAAYz1JrlxpoFri9Mwuju3w1bu+mn4Zz/YWUiXXS0HXIy8AZ1BHdoNfk4yaui1CitOjVS4Mh/FfFaoVM9/ZxbbstEp7IOv0KUyzbZOTE8Q+ltzNh3SBYLuFfYi+Wd26LvfScDw9+MNxMeLtZAPuBmdGJ5FrdotupygdCPJPFs9RWWkGgU8+XLl06AT1TY+zdd+bTLcMUZGXi+wmugdEX94OXSdsvqZd1P8GctL27Q2ZjG0KztFoFzHntxidCGXverZFT4co36xmI/Ywkxd97JXGUOd5SsP9VHoOUjlhev1n8WuK6l3xlPUpMtNdOvLsu93KSFx/WBwMz8zHHziZEpVYu8VjT8slmpUI/SaoocNySrSPiY4OoZkZY4a80TNl2o+HbnztA2TIjHg0ZPGuZ08Oyltghh5CloFybkq0DddRUFNgdsYJoe0pZpxeSnQK9TUjXz9DQ0OcVBdtqqdRT3Ku2aWuTuw2CL/6sIcWCeopilXsLexef3TEl6aEnZcmj/MHLEbGQ2bCsrupGAweuxse1hIHpriQaOnO1uIlGZ/grDAO3z6UJ5wGhwENMHTDNrjeXJDD9akqZMxFn/Lq6XrH2KJ0R1QqSJoA8jptdEPp5+NGRGdKnwxIY9frLzfjPnJ1PJz9sDSoneS5X/c+d5JJQy/9JZmPUmJlPeQIrvxcmvAoDvxpn8GuPZlmPtyaR7aF/0LA7Aq8CglIvFkrM7Ecdq5Opv8fV7b9v0nGJyDZyD9Oalc2fmmbS+NCDeKd3/Bj28I/kY6ILpBokR9HojCZ5Le+tEBVVsaspKnM2i5U3sG8jgasDOoWkr/ImL9ePnBm+2nvdymp9cjW2kTXWIjl5wYp96ipe9VLg+pR3zDK6UBOB648COeQcIIiYQXo8wm/Avg1w7Bc8mTMF93VoqNSaNZHXaHFSDDI4OlnqM5EYcyJ6W7xS/fZ+E+7uONKM23KSXf2im006kf1wqpJxXCk1d0yr03k6LqR1Kn3/qSDJ1OOcOLf8Dj/J7+/TybfhyPD0HldqgzhVzuazMNoBmMex04vUsxoDYdQLW/LLKYTWxNc2Qix519DEiuDIhYSy+P3MmgPpd/DFZPOpAFEWEI54/gGbCwVkjlB+g7Ght9EQueJYQ0TUBdJVbHgaWgByZuQJ3FcMbspKi3xvE9IE2hujpHNF+hWk+ebMsFn/bqKitYMmunQuEyP1Uk0Ihr8KchpH1KUsaCwPVLDYY0T+IS4fMlcZ/xG2n2qnrK+H8nuA8c4fFNiKc1c+vGkGkVa0NV+Y/v3CV1uMuSYxx0/Yp4j1acd3ZgltUG3aFZtGSHv/AuGQqXaQZXZC9etFFu3WHIlhb3/yySRkH6wkfr1P+iH+pGYlSwLXfzou9rbK5XrWvrOhe8q/kPvvF8clf0Xtnb+2rb0o1KpydL+i9JHkt76L5L+q5lynrsYkZSjyclJjUc/lPLN+d+TK1Tk3dPW91Wif1Em874ffU97e+flOD9S0T/6j/L97oRy/kTK+38+ErL10Xd3JJVKslQoqd3/kX50TvpP3/++Lj0d0MIf50uOpGJJ+nNJ09J/+bfSn/1L/f0C6T/7MyqjTPoDST+8hXr747irb51KPfNH+sP/bUCb/65eKirS/+Hv0b9XryKa0/dULkn6Z/pn+tf6N7L+4/+ti3/+h9KP/oN+KOkvJOkPpB/9UPpz/l/94Q+kj1StH+ma/kA+/bmkP5L0z/80rn/5ZzEV/PYP9L3/hH5Pjn6/pFr/Z1gqkuRK0r+V/H8h/eI/LtFHv/9D/fCf5Kjk3+WqSAWq1o8kSUkVK/gXvyD9+4+U82dS+PvSknKVb64gSbIk/a6kvh9JrT+6US18dAs1VepdUZJsSSWf6CrSvj6SK+nsoTPDkraue9ZlSZdSH35g6jkaTWjj1Cntw3XP+0hdkvOkNPUXkr6n70qS/tDc83vyGi5d/sj7O/OL39VP/eqf69sf/bokKfAHktUhJR79HZ22fyTtl+mj3aDk7ug/FTrKnzUu3Sr3vyo5si703yR9X5LkL5KaTpgx2qKPZP2RFPrv0n/3j+mHX/szfb/5T/Sb+oEk6UcyfVf6rv7ih9K//RXpD0nqZ35wWtKM9G/+QL/3J/9V/6rmj/VHm38kTUkfffEj/aH9L6T/9q8VXJR2gpK+uy85jrq+dEHd3amXmpHGt/Un/pA2JZ1eG9Lk5LCKunpFq6Ry6T/re9rW/3Xd+rxZ4Q+k791g4BX9wAMIZ5X/4L25JNlSwcXrnl9gSb92Udnd8daeTO4PPlLRv/iP0n+Xgn8h7fzLFum/ZfZjV0rNX94jpfr0j1JPOCftl+/L9H/n4Mx/Lemf3+QJSiVZ3/89Jf/4K/oj5WvqT3+ksT+74cC8zqvcYmmTKN3cxLYd5tbXD1Y3Zchmhjp1Rou4cijbrqHTg6m952zgyDYRju6sl5nNOJPOqwPFG9CwmFf5wS5oPn/eOIfXxXo8hr2Q0kL8qH8KXU3f3/EiFH9tc552iRZbXP2WSYRu8NSzmF2wcdqpSyZOIfUOeTI5iDPfa0PGPJCzkf5u/uPsIIqRPpve6TiehjUygmIDRAuHef1Lz1BiGXW5SwZmZ+kQBtzLI3Da+96S8Z90a5VsO30dUg39Mma3Pvnpv+shqkZLGZUxeaw7Ds6gw/y5DwzqI9TCvNXOmAa8QLwQPRqnYF5oUjQFRMWGmHOHyFXca3c/85aVzqlwQ03hVmTWtInkvc/0j3m9v0Ips9BQEGkt4/t6jPqefeyGjNb3rBx6Dv3myOW0tc64M00q4b3fL/KtPIacIfx+P2ccP5N+B59tGUZMxyZXPp6QQ79l8YjfJSA/RbLocRyTic8Sfr+D7AZke8/kpJzN6THrSigknLX0d7ayzRau4+US8BlGTssRkov8flyfz2hGfgfXSp1vG8RhCpJpZ/aVT2J+WSYFwHCkI87gVB+/7vmW0Nz17zvkWMStDZxUgNstP1cdUdUwmvXd4ftEOHCuO9c/zlcm7KFJjs1jcgOZXjXggK8vdyA9Tn2bqDlk1r0lq9CtLgpSFYp7nPPxOPGAOJ0RjFEhUas9zITbzT3axSeXvQf/IfLyA8fPTyHbIt4dZ+f+XHyff4nEnlGLchTgiJpfXY2qcg19c0wU2jm0RldJyoOxhpSRD1jsahdHDlPVMqkDh8SX39zDsS0mu4UCAZM7WVVIE8Yn4I+QYsP0B/y0j7Rn5UvtjgurSSgyddNGOU66ZR/kTXUj4p7PiZdTvxf1UNgzzdvfH8BtNYO0obycsoIC1NxMPJyRWyBu/saUdsT6JYIpJ9thaRC+mDFxhe4SvoyI3fjuG2jpBFppRupAQ7WofoEWtVCtkBeJXoeUMJ2309y/76SIJ8VrihDU1+hZq8Ce9myh5/VXi/75/5O4lSg0ibLaws9x+RFSyYau6XwW4aFPPt7QG4zk5NC2uoq0RzAo3nxT1NaKjY0N3n//fV6feB3n7SU+PVrCm7MitDWE9BnWdIr3W3N5/wv3cNZ9H6mMzTObTIXDjOWLd945SXK8FPV5z7S3hy2XLu0QlrFpn1cPoUiIM5fTlDDdMnxdqQj0i1vi/YB4/0nxzrJInBOK34feeZ+9p59GewH0/hZ7Xn7wVrXSE+tGbwu9LwNh3hbGiXripnWbr8PU1DmkoLmLEk9IGN2g4xbbyzbnB2TSnx76vfmkCCfj7KgL3y0DKDKlAeOkDpKG9h4jZ+SBXAoxKLUiUiwEz7ti4hYAMEckJmSJtb116rVKScCD3mYcc5sXhQoy0QJ2QMSbhN+fS7jUoiySw6NFHpXy+XQDFTZ8k8iJShQSe3d9Acu2jT0y4CMy3E9SviN5RI1YqLIDVeQcwNOCMtjtXBVRnkrG0pFxTo6plMlHcgwKISwm787BscUbHUIBP2o+7KgKk2LC9Pl8tLS0kPPFnIPfOyRW6mM8Hj7eKXUzWclJp+BzfBato6VcSC1+BcLfHqD5D5sPaLdLS9dJJsc41dDAtVDIYLDPiOd0gRkJY6822PK9vUayOY4M1027ZDSgSB1ha4x7Hi81voGD494nupFH2akwkUQ/sqqRpmlUI42BIDUhoWg18tUjJ3IweHplFqU2b5Lo7CjEVoz2W4HO/k8kq8qONq+6kKZUvn68hkVOSQkdgSCWRI6GMNrR3WY8ORbj59p5O5lkIR7HLfKbCHsJKZd4XEQioixooMQpDp5Exj1yUmPg0L3z5RCPxdK704iQT+QpwaRswnJoUBypAyssEmeFLoiE1plTnIlU+9aJnJFtLAWRcsxGpUdmPK971w4oDZ3UaWrHHyY2Ky5aIqILlAYs7PtyDPPrLZAVJnUo7e3ZdXRf/NBxLimn9+m4SFwnI6DriljMqye/jgVH9GqFmPIxDtpbXxS65Y071XJAKRMeReG6jMBNGymOX8aZHZbw62HvtwKkYqKzwlfuQ4nIoU1WM7q//4b+kIgl7k6IaX2VTkWp1giVh4g2b/OikP0AMRlMbHn5On0v+tHwSU5e8363hQlxd3iof4WB+4U6xcmGkwZLfVooJAaXBik9ltpWmJV2mWUJg17wKnpIKO9RDpADGWRdi6vGPPPr5b9OZ2cnbd3if3nw69iyOZGJ+V2WoWVIoYdGR1EiTei3XrKOeoXRIKoZ05QJAvkEE8jaqvClBuOyn/bNF6hSNePjItYlwj1i6sV+VFJwMHlIFhOjo/QmErR49XmXbJ6SCGXg1O2TllfPPpZl1Ok1ZTrjLeLxHL76D/8BqsqMU1hn7Ikn+VzbEn0n+g4w3JJoaPAQZiNCxQ8hDZgQ/colXpAOLeAPYBK9fFJ66v8xxZYx3R3kJLfTdX48ik0EXZe/+9xPU1N/BlvjfF3rBBVmxku07jhidVnc83O/xu8sv0r+o5VouIeOx0RZ2d3Mz48wcG6Rz62Kzw2Ionzh9/lZmZtHXpufltA7CyjgUCx55qlWrqiHmZlpE8QlGe26VKxoiR2FMbtv4/zNCQb54vwsssUJ2exJrOs0tkaRlWRlwSbgF0mt8+SCiMbF4pkI9txUeix6deBO2pzed9CaGHNFnxxeCocJvf21rOM+jkzaNuEbnGfPy+yYU9+V6iAKOJkU05M3RrG9IJvqT0BlbemYKPpeC/WZvBDmuyjSAuXLBn3U3S6qK+7GxATVIDUyYolu9dG9fO8huLyF1qwbmrSCQbFyQhSpi1E9SqvaaDyE1vpLWBRCpKhmfUpQpY2sGxZnReI9geTjweAzFOcYxM/PXxzHvgGSQwEdwRkXS2yqgLgcWiWq85S9WmaQdBXVmV1aTUcNOYkcGiR6xs09n6ovzjrHXyjOjYiCCbFyKYl8PmpdYVd7z5ErjDkgQn65aMmAn9Zf7/mPkYJEgsc2TD1deUS8HRkhrEbye4VbJEKFSQZOfx5FAnxKIqFBpGYu5/dS73vwIJq7WgZtZez5HllYsTBqp0WxUh2/h9xHOswurFjEfRH++pM/T8wLmkpJ2W4HnTWz1KgUR7Woo95Lki6jZWTuUuIFFIRf5VJFFb5gALMb+iSq9f8E4plFIm0i1nvr5wV94mfPx6hUEWvqZUpislEMpXxaloWK63j21Bco3rjP3Ge8hsRdk9y32MrG4r3kRD9HIvogX8/7Jt98vZT5ycu8VfQsjU9dxP7mBm88+ihfeeIJXJ+P5v19vr3lZ2bmPpon7sdaMVnIsp7LkqFkyPjOyYlS+O2HUNT4tt5WDx/mfsg3P/hlvvnhi7z9ncvM/cSHtI5/lqavb+DmTPFk2RzuhV+idquU+Yl9dkeuUPj5p/nmPR9w7ck8pPNozqWq/CWmrCUK1h4jcV0Ic0oCpNhbs8aTbozSOSJBHYGo9utoVHAq7iUp4VMLOrTDvq2SmrPiQiEflUoSaIugXmN+7FDQsEcUZD97KrbresmhXJk8LGHlUVrVTs+gB6vOOOYvYVFIYBJ5G8jZ4dwAl3V0tXzqlVdompnhvMSnL40a4i5dOr6yIjKYdwnt7aX5czz52VwxuHHonMsZ/w/L7D4+/BzSJHUSz46OGpPVyKF77uhIlrJ37r5AaPRocJX1ghitT38ePe7ZryMhpaOG3XNiMOQ9c4/QcAeF4+O8cfFZlFvBgNIQtTXrJfIv1WRdy7fl463YBdqSMtqWmpHeJdMXU7khyleEsdeWEI+LP/2qIWTLvFbbchsrZZcZUCt+DaLl0TSvyrAOOcJqkEpMTupoFEP38ckx2v9Di+eb6egQfW/plp2RQZ+Pd9+6gNoiGC33MjkT4isHlB820jD7H+zjHETID3I7sntdT3yOuHCIoyfsD7Nz4QOUX8PrrkvRxWMoFyTTH/STSNeyvw/K4ysqQusrKNnBYb6p2mFR0nKz54sidd/2d7ZscfaSx77wVywJmcDKw993K5vA8WB+qREqOe5aRylrJDN3DEjklnfQ+txjxwbm3kqxvAn/TrlT7pQ75U65U3TLcQp3yp1yp9wpd8r//OXOonCn3Cl3yp1ypxyUO4vCnXKn3Cl3yp1yUO4sCnfKnXKn3Cl3ykG5syjcKXfKnXKn3CkH5c6icKfcKXfKnXKnHJQ7i8KdcqfcKXfKnXJQ7iwKd8qdcqfcKXfKQbmzKNwpd8qdcqfcKQfl/wNF4wgtas+DtgAAAABJRU5ErkJggg=="/>
          <p:cNvSpPr>
            <a:spLocks noChangeAspect="1" noChangeArrowheads="1"/>
          </p:cNvSpPr>
          <p:nvPr/>
        </p:nvSpPr>
        <p:spPr bwMode="auto">
          <a:xfrm>
            <a:off x="318241" y="8290"/>
            <a:ext cx="314960" cy="318348"/>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4915" tIns="47457" rIns="94915" bIns="47457" numCol="1" anchor="t" anchorCtr="0" compatLnSpc="1">
            <a:prstTxWarp prst="textNoShape">
              <a:avLst/>
            </a:prstTxWarp>
          </a:bodyPr>
          <a:lstStyle/>
          <a:p>
            <a:endParaRPr lang="en-US"/>
          </a:p>
        </p:txBody>
      </p:sp>
      <p:sp>
        <p:nvSpPr>
          <p:cNvPr id="7" name="AutoShape 6" descr="data:image/png;base64,iVBORw0KGgoAAAANSUhEUgAAAYUAAAGFCAYAAAASI+9IAAAAOXRFWHRTb2Z0d2FyZQBNYXRwbG90bGliIHZlcnNpb24zLjkuMCwgaHR0cHM6Ly9tYXRwbG90bGliLm9yZy80BEi2AAAACXBIWXMAAA9hAAAPYQGoP6dpAAEAAElEQVR4nOz9d5Bn15XfCX6f+Xn/S++99957n1lV6bNMlkehgEKh4A0LliBBECABECAAggQpsh2ldlIbdbNlupszmhlptJJ2Z2K1OzG7ERu7OxETM6uIllbTMxu7PZrP/nHfL/OXWVmFKrZht5Av4kTm75n77rvvvnvuPed7vscC0PF2vB1vx9vxdrxJsn/eFTjejrfj7Xg73v76bMdK4Xg73o634+1429uOlcLxdrwdb8fb8ba3HSuF4+14O96Ot+NtbztWCsfb8Xa8HW/H2952rBSOt+PteDvejre97VgpHG/H2/F2vB1ve9uxUjjejrfj7Xg73vY37nOTdCx/g2RRorD2TTQyYvYlRU+bCJeV8bfbzvDD79mMvXSJ8axruiyLweEdfnCjkjM/mEVlZTgSgxLSCJJFc7N4ckw4fUKX/iLq6iBd2Ps9cumS+b/2Iiocv+9yAoPiBUdUSDiuGNo9+ryndYlLvTah0FmksiPPWV8XkxfEe+98B8f23V8d+oX89//chSqkRjV37L+gYWxZ6NLIndeViaJy8Vb2vlqhq0IdQmpFsR60lVWnQA2KFXvHD0lQ6GPx9NM5/OD7p8jPF2cl/BKXJCQbaQgNC1lHXO846ELm3bVySSmiAR8fnh2k4M16lm/fplViJD9G79tbVErMys+gzlGjfP7uyRNEczPlNSHlHCi/QyJ2RNtVSAymHuWrn13l+7d7+YfPTBL0DSCJPq0zqyRSAmnjwHXLKuA1LZNuFTd6zvMDdVA6Us+wGpmUGPlZ+7Dfj77zHe93m3fvn6GcISG7GSltfg+Ii43C+hnKcr/Ry/n10B3772usP1YK/3FJl0SbRI5Ek0ShxC8pwfwjX6a8XPifSFGd7sOShUIhlEwjrXFBn1GuFfw1Pex9nEXC3hZV4TjSeU7oJLm6QLUr7Mq/nPqPzhaxc1JMn8qjvjeOdIq9j+QeUlotqmzzv3Nmk+FfLUb9EXP8giiwC7AaLB4NljD09A/w5fxXSBN3L7NZuH015FmWty+Ahs6geiFb6LyIxcTmpnf+QD4KOPf9nHH1k6eTKLWKgk1Zx0Ywg/EokkhIhDLH0iKcFi8pTXF1gMCoOJMnNCJU6j27XPLVgIIB1CXk5qJAgtxSUa4IKogjS7yiV5i2voOqo3v3Dnv326+LhVSNarSnFIIKclqnUaHIk3D3zi1GqiFqh/mw4CUUqkelt4lIpNMpKp65gSqEPeGnSmcJys+Q8ujSBaZUwMPrxSTbI6RSmfIKKZUIHmo3VxZPqJAC+SnXMLHaEPlVDnKqKNJFrsuhSecpzL4uIHRGtPpFaU52eUWopoAmFfITiRVd8J75/vtr0cPCum5T2DXMeQk7pwT57xyM70teFTO7RZR+Jby3rzBPaOXBy9p4v4/43w2h0lJyLuZz7bN5tLV8rBS+yPKCLf6vW2u0rog2fytXdRVJNEq8KbFk26zdvInaepCmsSRcW6w12Fhta0h+yhdK6fe9jk50Iz1M5oM5cUK4rjCz/L+Y+p6ScCQ++51PUfsyUvD+r68RMy/ZuD6xtrWFI5vZpgZUVYnkQ46YDkzjPumiojuvd+QgO+tZXKGPxWPa5S0tevuPqlPC7C9x0QvfRMHUAz63gzo6UGEhcoROCWkR2TbamkcSl3v6GHqyAp9sXpRD7ykxZveyP6u2KZDLm3K5VLdGuCXMuJ5GhXl7q4N0WrwyO8WPVzvRTKN5vsxz3pZZbUiUSTRnt4lXvuJCs/Lev2XquiBG50Q05pVlC2mBaNTP+98+gawU0gBVEl3RMAvL4+ZaXwCdOIHSVUzP/DFXlIf0AZ2dIdraRFdXpm3mkaa4Y0Lg+NGpj3BWhewxHCuPgH2KE24Yy7aYc21ijpiTsEeE8vevza17mK+9PE2u6+JzLBwJx7FwZONzLFy5++/lPt/hd/PWcHqWmNU6krD7xUbOGtZRK6vPkZMSTs/BOn9HwpL94N/U1JtorQBtbNA/Pk5aV9Fi67FS+CLLxoJofTOJEtpf+jc2EQicpFgFxGdnSTY30yIz28uXWDxpM/zMU1ycfAO7aZ4rqiJiFaHEwU6Z2Cvz/P3XqT2rHmpBex+gV6bMMvnVZJJyxZEsIhK1EsrTkYP5ngTaUeFpZPlIPv4OTc4U/ktCTaVI/xjt5h1xXSFSPpLY1S7a3kaBgHesESWDPKsJhpX09g0h+Q+V8QnSw8j3Moqc4EFnmdIOkp+YRLVk3pXOoQUbvWnOCYdn8ec3sap1GnSDYCJzbYp2ldNZOsil9G9RrFOkA1XGJCQhdSA1I/lwCkXsdIxE8ojBrlBmJn1gfwXn9ThmcDxLMNJOQ5+FVIOCQ2jbOy8mowziQqtCascXtBj5Wy2oziitfInqhBi45NXJuogSCVToENu5To6ewShX03ZNzcLvN2VJMSQHn/aVlWwbjY1xLiEcRdmtcbGmnmbpW+9QPVJI7NNb2DeCtLUJK6Z9BShRXN/PQ//sZd7+ytf49Okutt0qvnl+jLOhC3z61T6+0v47WJaD2ndRq/dsB9olRJ3qCSuHVpXgSCRjZTRVnyUgszp4TLWc3lhhaOjBv9nEod8lKqFdjdRp6YHLamoaIBAI37H/WCkcC/HgNiNbU4w8N8LcE0+i4CpKlKBoIeddl9YtCzcUR/kO+iSGpp6i3V+E3WyuPyszW2m4n/stygzgElIYKcse36E9pWBZrcTj7pFlpKpExYj5P/K0qFuUmTkVxe9x744Dv5tt4W8XUgip4cCxREJmpvv2EmqdYV2iRHneuZnzmggoyaOao21vltZ64HkCEsF4O1OyKbn5M9iQ/SJeIMbHx2ivrKRGLsHgIwTCIhqLcmn3K0iDd77PVIKP1mcpWv46nSPP0lUWQjlZz5+00eoqKrmJdOPgO8hIWKhKuJMuZ3TmiPpV4rqVRCLm97Nvfo+ffnudAvfQebbQWSFl3s0E0WCQf37tH1LnDKKoaG0RjT+2ad6OISWRKs17yJSRn0+kNsjGlQnO6zu88sok6fTBd+qTaMmc77OJf33sUH1d7/2I9dV+bpRH6BhLYB0a1BP1N9HtbtOfioVUTafKkdOO2mwe+8Y3sGzL9NU2oSmhsuwyrlGvJiLKpS1UirMpFI/zUs1J8mQmFLWqo2PzuwxOCW0NI1WbFWBBAOUH0OoMSjRxZ5sHOJMM4sb395WMl1DRlku999uSOCGzojMK0/TNqMwqWxJjEpUSLw20kxd6gurbSXZ/+WOafvtT1qf/9rFSOBZxQg4hx8Z2bcadKdr1LDUfdaHnv8rSUwXImUfaRFYu8k0iOcxI9EnkzZvO5pOYl8ygPne3e80ix8paDfQjld553pwIBMTK3eyklvZmaKk80b834zqDMSf8jG0RELol1h/zfvtsZFlMSeTraaRuzMBSjCRWalZYe+T/jmwfc0Uyg0RWefWqpOVUHXafsB779MHrMyFO/h0RDNpYloXksNq8wVK/GJ8bp9ApQllmg1GJiITOr+I74UOb7kGTlyzzDs5F0KllZNkHrpeEKoQahAaESkw7O3KISwwNiLKk8UNJovCZ64w83Y9mZnGvJhn542fJaTjCt+MIaRXJQXPr+P1R1lc/Il1nMfjbFi8kZmnZiqDAwoHr1iSGhi3avvocjW+146zbOPIx5diE79pu8zjys+p8+67t6vi+irt20ShGJ9M+PqQp1usb0e0XjrhuCSnE95YWvXfh7bd1yMF+aKXlePc8VJ5lOdi2kGOzZ25rakTNzWbf+sYRdajHOddy0H/QpT3TniTCCrKicc/xvIjUheIVTA6LnKtCTaJTokjCWXBQdINLm2J53kfluz7e7j17rBSOJSN5hBSlc62AVFULsZZSlPspxdW3MWaUzOBxE6mQIolciWDxfhnFQVE6UEKgKsBZncUnH1I1UjmSi3KK0feEfkUogygJyThAs5FAxfdfb79fdOUaP4hiLvpOwZ5D9W5yUcLyicpzQo2ipNSgWAZtocl8lBc19dUuOi8W7UUKVchpiaCSSDVIy4zGbjDW0IAsUdwilNq/hy3xmqJIcWaeFKUdxWxL9xjMzCyvcu+3RV/R13i8dhd7u4qSRTE7u0FMcaJZ1wQdh8d3+4h+5Sb5ynbqCkVlZry5QjfNvipPoWXa4Y56ROSZqESZLvJ9iUdklH5enoj4RUIOUgXh6gD9udfxFTXi9/u43dVMRSCAUc538fcUC8cOUVnxU/zXeshtEfLt16n60Pmv5Z2k1dd3wGxy0xXJc3eWPT4+TlXVCPL50SvfOfr+ElIBUjlVVdqz61cohKOnaX55guIMuu0OGaD4s2lkW6iq6i/2+1sTSrYjvcuD+eFy2F+Fybu2wPxfKVQXR76o6Qd15t0+ItEv8VSZyPHdWeaxUjgWQhLvq4UuddK2PGVmvBVHn+tXN5Z62dxsxw0J2WZJHHAj5KQcXvzV14hVZH8wY5gVQdYgsa392U1KxjabOTatA060+5FeLfKUkrTv7Qvc9VyfhB0QQb94zxJaFJ09Ii9gBuXJxkbK8/JY0dFQxz3xOwSCu/u/Rw8etyyLke1tJIvxFj/F6XuU5ZM3IxfDErLEsn+OjqJcLtRO4DaO7JvcXCEngDSNdAv5fNQPXqQgMxAogAIWmvQbH02DzGBQaJ5vRDIrIu+ee3XYsZB10IwUskvw+WbY94PMIuVi/CYDtKiIX9ASIW0TCYueHmF8IPd+Xz5XDA3VIlXilx8rYiNXjPvE6bM6ANvttiyi2zN3lnOHj8NIQAFk+9HIt+5Rh2WkON8a2cLnraQGZGC2v1T6GZ2z9/D7jO6Y1cW3774S+auVGpSl6A/IkPc9Hdp/VaLHtumb8hEK33n8WCkcCyGJyxrAUa2BKVqlZPD5Qxo6cO6SRItcGkI+NNnE0NYv41OY53v+iJL6egL9r6H458+i/BK9EkoKNWUdCwjZQ/dd93hctLcPcXpwjprM/hwPFnrE+aMSZd8WPesOyRmDW7ckTp827bAjMzgHdQj7nS8Du/R+26877Dx5iZBEV7P3HHKR+sw5ltBUiAFFCekk9t2eISD0lFCZ6OvpZryhAbUUcXIxQMEh005vdy+TA5OoeQfj34jsHUtItFguGngf7cRR+MQdTlBLYrBY6FnROCNSxTlI9eZ4KAeD5jGzSFfirfY8vve9VwkEM/cJsLdirK/HyS1gUFsE1cu+GfD+oJY1EnX6ES/YL5L6cgp1CP+jwu4TPWvCvzdYWRSFTmetoGQU49bR5Z7RGWzZDGgSDeoIR7AwExSL0BF1nf7oSpYj/ijxrgn9jJDSn7f0Cb8jcptbaPqDxwwQ4NA5x0rhWA6II/EN5fCZctiSGFM9ZjA4Y2aXKbHY0s+NX/4tLF8Vb765iBSiJvb3KQ41cuLxKnK7X/7c+8QlviQZc8Ud5p76e15bkPX/IyFRUV7JdF0rlY6MqSQqtovuYap5U9QE8il5rQHli/NKUycfsbw8ZFlHm1XiQgXe36BYqxGJq0a5VZbKOGblINWYdkrnoDqX2nzdE3poF0fYrtlitOwiDz9URVNxMUrtw1YrVMknJ09T2XiR6qpqmn3NSCKVEj6fOJ0ngmMjhGtqKLUsVFd3z7arSwk151NiWUQURXoC4/B/DsmiSU3888gKoS2LaDTKB6PFpI8wMaioCMViPCuRqxz2YaFtaA+iexfZEXVr4vWODspVvr+/RChSQLWyzGC2RfKtC+T13X8fthwfdbuvmxXSUW1/TfvmS08CAXHmjGj56nOk7/G+8j002t9YqRGyRaShgZLLl48851gpHMsdYml/lrwk4V+zWdpyOPWc0G1RY1Xzh0v/mIATQM4JZFk0N1tUVKxhWw4nl7+LrAeFXt6/LO39b2HJKLKnJBrCwprMHPMha/noMmwR1BTftkNoUYxYw3QqRcvcHPIdHZ18KvN/u4wSyxo4LA1Tqny6M+ekbDQ0hpRAC54TUaf2y0sLvSF0UYTmxXQGsWMJxxJW6iLjkzP0SDynOfxdPlRsHPlRWazqPMPPzZLzgkxsQMbcMqP9md/hgc22cSyHZ545SfMrC2jxkN06tYwmDKR0YesV3BMrSEVobgiF74GBd4ROiH2fUymBQDvLS/d+h23nOygfO7yiHET67TvPt6wHith1ZBA4+/vKkTrN/7lCfzyDimOckLJWcH6kJVLr32XIttDJQ+X6hJbF0qlP/1L79l+N9FJQUMrQ0NHv9VgpHMvniu+J8ww/e5n0oNDfEuoRN7tS+GQRf+WblI17tvWWJ5Bs0k0jqLf3L7leHUjmvqckVmV8AOsS0jBSOepLGZv64WsvCMdnM3K2+b7vl87+PRtB82ZAi6uZNSXwy2eQPxLSIxhbbwsmTsNGSuM0NNLk8xnc/6O6w3fiqoF3e3w0t+URT5whqrysMlu5onqSGuCWpnHiCbNyybreSogWJ1NHHXDY559/liVrieLiNMloM/XJgwNCiyvUXYtCaZQTRakkkp+GoWv4uh++d/ukREDnqPMUg89yeS7ZuG/OOyyNjSYOoeehQ8di7DlJD8lX1ETwPgO0LFukmkVLSxDLqmNU3VQ0RZh1RNIn6sr6CDhhUgeus5BS6LNFZC+isR6alaU0LFGUEuPptPdu/4aajySkKD5fFbGY8dW0yEwCkxIlur/h/pgQ7wu8xSRtfvQb+t9+8T/oT/5dqVb8P1Tqv83VJ/+HRf2ZEnJ++cdKRVxZlqTAtyWF9Cf/zT+T/tW/kqLRz7/B7s9aMyT9umJPnRML0p+qWf+TOvVbkmK716RoUvqX/07Of+sorIgaJfVkbvnLMfFnUf3Pfyd494c+tP1J9mG/Lf1vPrVJqjyTq992/if9//Rn+p8lSUHp0V+X5Cqm/6ekfy1NSbslS5Lfp4As6X+QIt+VnH8nXc3d0ekfx6XxKv2vE3N67l9Z+j//H/+N/v2f/ar+NPlvZF2VFJB25deP5Ne/03+lj/TH+g///v8t/Y/7dTpXKKlP8v8Hr/5/KOm/3z/+//k7H+ifhP5T/Y///Z/IffglBeauHHi+wP8qacon5f1/pT/5U+nP2iUVKPJnP9D1878kyX/3V/FvJVd/WynNSCoQSH/67/y66Ej5Ycnea8+wJEeb584pBEaNayGroP9JBx5KUkRLspWjv6eA/kzWgWN5knYOVSXmoQP+bUDy+8slbSpcUyPfR20KT0tOmXRpdFY58bj+rc5IcrwrkfRvlf+7/4sW1nekP52VX52SpPJd6VtsaOZ/mdB3d1+RbQWkQ3X5m7X9B1H83yk48Ueytf9mHUnu/RZxvFL44sqmRCgiJn56CVWP4yyeRMlNpCTqvI3y81k55RAKeddYs2h6C4XD6EtfQvmfY4M9HOz0INLUyMa1CnyOMLNxM5PcLHEZ+9LbBEIpqpTmSx5Fhy3RLlE8s4kmltBS5OhyN+99301rBjmmPNtd4yCEsBs9UoXVb7E+bWgN5AjX8gLxGkTisrg9IFI9wh1ycb8xhMpKszDzMqiR6+LUhvD5D0FNPZmZ2f/ftbSHidda5v9CzGpFfOd0LvNTt0kqxrntK0wE1+98NkfG7BQW+pKDzlq4EltuG5/n54lLzKufjG/BlijNFz+dEUUfZc4bQyrAdV0siZnkIuo9GKCYL8PLtfeMcrJm9O3M5OUz2iNCkyKlaRZlYZzcjeY5N435aErCkN35UUkJ6mxFTjOyilheHiORiKJp9w5H9GyecGYdJJuQbEYkLFf4NUVzZzf/4KV/gG0NcRAG+jdLWjXAbFsXf/obXZwJi+loFHtoiBnv+H2N9cdK4Ystti2K21MoGkGyiKvUfKi5uVQGG5H8KH12L3irqbSUrXJh5eVw8dGvYeCTdym/JIRmjzYZfK6kUjzfEWG5RAxf0F6nVkgUFT2J83gcf1wUqIi4/KRlSABDpWKrRETvArs9UmZlmEDXhN4vRZaDKg5ReNhi6PQJ6n+pB10RiRZ55G0FVCjMeQknKfyNoqBAyG8GsO480RxupkqFfFvl+3QN2XLxzn2lpTJImdNCF4uQvOAvn4zTVmEyg3RP6UWWVYjkI//RCn502rpnzIRyhOofRcqnV+LvyU/p3aCPe5KHFOBLZ0Tj7AiqqaHQEq4HJLigAjoqV3hWH3FVIUrLe9BLDyP/vnM85L0jSQaZ5VGXuJEE3dtfoyEUYuCmqJ8XyvkyOlmKQWEZ5/yohCWLkmwHdiTiOe/T3rk3TF1f1P6kxCPEK33tVTIQXFcmyMuUU0xSOTTqLU6qiNw76Ez+sqWYOylUfjbJkSgNprna1kqtK0rzfejRQkpVy2UNHyuFY7k/6akXtU8YnH9ZQwNVbT1IYqL0PL6hIVQrrF2DiJHE6KgIusL2ZzqyH/OxHXTkWlYurq/7Aetjk7HpbieEukxYf7WEz3MUn5QI1XahklqkHkoUMxxJEtvaRj6Xw7TJe+IX8gknIJzNhLExT2ybY23GJ2Db4rWZZlq8mbi2zTUaqUcqZkni7TJRVSUMIieHIRnqC8mc6w/4CUhcaxG/lrvJoDoIesyne88ZctDmEEdSeG/v/x8sFO6czGw/JkOJXS4TmSyZOIdZH9oKELKW+Nu+b9Ghks9p5xwy1BDnFeNld+hoJ6sj5Iopnxio3Ob5vlUms2NFmoVaRLs6aJpYp8kn/K7YDQq90o9KDwIC/D4/O+s7KG6hbvM+05Fr/P7GB+RLjDhiblQYH8RB39Wc/Diy2dCMCcJbFC9IvKkAAX0NqRKffIYBWJtIDtuZd74mdn/wMfJnP+MY2yo2/UldSLVoWUZp/lV+gwu9KBm95zn+ByivrbiNX51+jpA2zMo4s2I6fbxSOJb7Ehe/eigOG2ZJ+XzIdx7JRY7DVwIBkhK5uWJh0VzT6w9wfaeLjptnzXnaxszUDhJ3FTcXM3XjwagpcnMq2a75Jj4FCffv74/Gopw6ZVA+ITlUaZgC3cmfFFEYfbULLaYwgXUHB7r5s6JhXbRfEy3hjAKKoFgQfW0DxePYbU3MvevzoraFIqK7u3tPKUUlPsuU2SAvjkFIFUxHa2h/oY0zN/c5hfZm7eXyZsctSN0o3Id2A0gOtmz6MnEQEnkRUe3rQT0+nr4sZp6TCQTM0G042g/ycoSCJ1DtDdRssfDCOuXJ8jva5m5iS4TmF+jPzT10zEbtfWhEBFdEwA0z5E/gqmfvnBKfWPf10SKb+f5+xja6eXeinodezccK6YAJp1/CrzCXwh9hlJJZ/Vg5+cx/85zH6eO1U+Gd9byhszTKIawdZIVQqJ2ExIwsfEoiuZzQCRJKoL4wsrPaPix+9fYUrfPZZQaJyCEkYcmP+l20oSz+rp9deuTD1eEJUZDDPF2STOT/kTEXRiyJMw9w77K2NpaeeppShSkOG+qSuNePj5XCsdyHOEh1mEQ3NoeZT2slktEosVCI6pMW00+d5/dcl5ov13Kz5XPKjpSgstkHqEuCRNzPRrEYl6hr9PbnCjNz9Gb/gTAFv/URKY9muUkh+jLBXnnCGq8l920frhr2bNZh5fCRLLYviDLLlFlYl0v6U6FCcbryMYKvhlA4jFVRTkODcBIivb5FVVUlV67U4bpGCZ1SmiEVIolEmTEZqaoI2c/QFSqmsrLyjmdLS9j5MpBVVZIbDBmqCu+4JYsGNZBMitVV0VNby+bHP0FtEXSiHP3+zh5FxVFy8tQpStbSRBZlSNwee4m72cbj2p95RnpEyCM/bJQIh8Nsb3srJ1lIDRQWipq0eKhWvPJhlEjwlb2yciVG1ECFLD5sfItG1dGsUpSXJG2JwtwQj+hZdrTDmIT8LjozfLBOrvaj4DeFqr12SuqAXyqiPMpcoXNi1wlgp6uRRJ2Eoxh5FwIovYacJGrIvQO6+xtdP+Clm8te5HjmXQhpCynM+bGfLaHNHRIUdTEHR4fjSvwYapjsfT60x8T7YBJRhPARSKmqdJqHWycolEOORLn2leOxUjiWB5DMjLoWqclz3lrMzfno7f1FuiqneNkWu5a99+FYn0MVnZ8vBgbu7/7mfoNYVh5zykquYsks6bPr6POh5xcN/4uEVIWtFhNIdsJiaXaWV/sjTPWIVycy5yzgykdBkXj9dYed7WVOL3/CtDfQW/MLJuJbFtacqD9jorKnrEGMPd3MqHMkRq0vo5VHkUR/vyh4RejFWRQMc+IuwVEz8pLYJMTEhFip0AEKkGlpD6JqWULl5ajrDaQ1c//ZkSMjVPfbz6JG4hkJRxayHmFO3QSPMAn1SHtJaJoknkiJ8VdE2vNt2JYhNpx3p9lZjnD69AqvTNsUyMKxLbqsbm54Jq967TPo3pBFtzVPhwLcXDnBlD3N2ZVXiaqJWVmsSEjLWNba3juXhLUk5ArbsrHsLBLAEZFKnciq+1WkQWSJkyUr2G9kgwC6WLEq0LSNYmJZS9iHYK65P3UY/Qc2VvykCayczrSdOc9aEZpQ1srv/sSRxQk7iwyyTKg9gKUFDHWIieKPRsUrszZdpaV0dXUhiZycHMbGRg+UZ508+H3ZGueEkmhpCcvrr7OWRY+aqL5DyYj8/Hz+aPA2BToEtjh1rBSO5WeQHIUYV5hZidu6QDrdgG3XoNwgWrY4uJK4cM+yfD5DVXE/931K4o9UTnFVBI0aJ2DyAep9RmJu4jzl5e/wjc18KlfOExsQXUmDz25QA/9a5fS9FueZa6LWySGoXGoqKmkK96L6eg8hdIHVK6KoXjysfQbMgMQHMrz+CSVRjoPfL2p7RNxv7iGJ3PMyg0PT0fV0XZFMmv9b3AYa68yAlNIhts1gEEX/DtLvINWiq2to9N4U3TnKYV0r2NpCEmm/H/vMUdTYMgpmWsgnci+LZLVwPZPNuERliUjPpijIdQgES6iZqeXD8AV+PXia3J1cSjy/Qtire61ESZXIHU3zkGxKlYtl99G4u4jtnSMJv5PmTINNnuQpCfHlHBG0xK+8/Ltcn/odfDL29a6qKuKhfX9Lk3xkVj9POi04qWfNsXpRPL5N4syvoSfnUVLkNCprpeAgNaAfXcBOOpzXk/vtEBcvlb9EoiGBmpqoShp/2f1/MyX4fQv8s39+jrap/f2xBotXxtOoxkeNEgQk0oUJnv4Xn1BaVUVD1Dzjakklt8/c2LuuXOKj3Cb88hta81CIEzNdNARdIjk5bFkWam4mdfGrONnO6Xrt+5hKRGrWwtE4RimZ/c0TzcdKQQH9+WCRXyA5KzNzq/WJNb+wg0JOBOkr3G15m4i8QPBeKS3lcL8Z1IKyaFcXmfy2lTLpHu91Ta5sFhUi4ouwnRK+tVqkFL0JceGGyPWleV0f8srZXOrUzZYayHFyjCNxtIOnP2rhlReb6IvNoK4e5O4Puj5PDvenSFZ/ClwUHT3GNFSrMAf8F1nUDecc4QbFTkREvGA3yWHo4b/FxEePHPlsZtUwjPQBUjVaF6lf3Hf2R464plCFrGnNmyEnyJAH2jpLSBa+SJbDMim0LfwB85wLWmBYufRlledIvBsRy0VF3P6l2+TGRJUsAkpz46zpE4MR8YPT4p84WWgej5TPUSfv6VOvXbyEL47w9/jxRXzGsX3tLD3evfrOLdOhbgKRHXRGPP1sM21V+w7Y7Lqdseuwwy+ZtukaoCnaRO3mM+w8HyaVsFCvspSCi9RNZNKs9s5EvBn05CRqq2Dk9sdMP52iZXeSFi+504N8O45fTPydiHG6nxByhX9GPO8TdY5DfzBISOLhy2dZ74qRowxjbD9nNMFTno/GtsRgWPyyPtjvB9FKtPOsWdloGwV8PNzbhm59jIkSb8Tyvt+9OjkOiobRuzuoq9Kg2Bwx/cMfHSsF9cjYJ3/e9fgbID6JIYk/ahDVbTLMoEXbHJmkRaJV4s3tACNHOHv3pRCDX7+POoRjaCDbUd3AXRkiPbGUxqc5tuq28HXKIIQkht4V8f9GpBsslhXC77MIyM9w8wiTXxH694PoZhR/yN4bZDUaQL5Thtm106wIWg7fs0dsZfenA7xBJ7hbJKyvWGhS+NbFFZVzo+ePSSRymU/8Muuvfnokc+zWZOb/IJKN7RN/q0t8s8UMbFuf156T/yVyr6ExkSMfs5ao2zR8+5lzRiWelzEBuXJxZB1crTiib0O0WRY+n0uRxDUFuKY3+cj3PI4ttjdEyGf6zh7cNOu7M876KIa91Ozb0Q5f3voylmOh782hMZnJm68YuSNo3Yd8RgFuT03u1yctk2NgXPgSW2gxQ+LncPHiJd57b5Wvjf42xdGiI9vk408msR2Huc2PzD7XRXY5X/f9F8w5aertj1GvfU8z3WFJT4o+x8/vzv4uFVaF6ROVIvBVsdEpijrymZycRKrE7xvHpzf2rm2QQ8vkTQasaTRhzEu/vyyendz/5q7K4kbvELF4zHyL18W5kxaaGMNAcBNIfQcnMC2F6NYYVb2tVLQ2mWRBO+J7P/rhsVI4lgeTYoluHW22KZMfqYAmeQl4tO+8SupoKupaiXOfd98Nh7K288aZ/Hj2sTTyzAixljI6E/smmowEJDpViF9+VJpAO2+iH4coqxaVr/Tg97dwrUt8/2Hxsa5TnfslyrtFcU8JuVU+cnyi6Iq4WCj03GUUvmRmVVkUE/P5JpfEwXoXYegQ7r9tfa7FuXOlRBXlk8JXKKvLpyHczM3H/inhcMud15Tv/19XZgK/EhLva5deOXcktD8oeai8GwVz0Qv9ZIK/JLPC+GRSVFQYSul6mRn+IyrkZT3MWd0Jf+yp9vFGcRHPXKzl6xqm3CunqEjk+MpISBRonuCeEs96dxK5rkvHhWcJjdbjnxA3B1K0zHvPXF6OqoRKvYxi/m30YiYzmYXm/1M06GWgqw1iXcijdFjGbm/JOKiHxWpOPR2RBm6+eYW84jAG5uut3Ep2kBOifHMUnbQof2lk//nCoqS9BGfY4ULjK1hFp5D/MArr7pIuNxTg31ttp6xtf6UZlM3pnBJvhi80lkATuWRPdE5IDJeLQsdGL19g1xXFxeLrWe/+mkR3URF+D/6d+5ho6L6IVIJZAfm9/rh/TTAk8gpE8lQXifZ2s79CjB8rhWP5c0u5iyaFusRUzVUMxNMcc+RQZtmMO2bwLz/i+hyZmakt3ZVeesl2WZ084pgt8myLb1o+dh6e4rMaY+u2JILe6iRx5jFuWi8T1xU0E0RdN9CZPIKuywdfe41Yfz39N+XlqXZxAw6bxc8yPPEWrZNRWiNicFT4DuQasDCZxLwPvEtZKBUZzLsziHSKNa3hyMGyLAKBz0ue4iBNE1OS4ZlhrG0HyaHVaaXAuneA3+anottzMIYlHpMo8Gs/ylnCkstpCeOY7iHblnxYxqZE/4B46WsuZyNrxLTBgPqZ9p45KBEstAhMOmy/Kk78swi3Rgf3/AKZCOyhEZvWK3M86x7OPtZIZvCrkGi7FOLGazfIrfDq1NtD+pEhZqwFA8UMC42IaRUj5z3c6VMmF7PEpqZN/mef2HRzsO1OJidFYs1iYTFrlTp4CVUts/DlJ4gXR5EmyUTB+0fFKb/QwidYjsvGRx8ZhRIQKhQrt1YIBUMczht+P5LrildlEjlVKsFekKH8yB3DRGTPoap1o/wcURkU446fHp2iyosjsDdE4JzQ+Cjayh7kN8k2S15vc3k2L/MN2uTKziKRFJJrvjtbaLIFqZFJmUncD394rBSQRE+0BzX+/OvxN1Kqz6FPZQZF375t198lHnfGGC9tY3GillIdpLzelwRSHR0y5qbMfp9ER6VQjojoJLYOOlBdic5+UVSbz649T/CsWRXUySQReb99g7AvjK7/AFlRlB+l61nheOYcy+cQ/QdX0HyZcfhui1DjW2y8P0+05hsolMse8+ecOFdwbu/eMRXSoB+QiaK9Q14RLU+awTnqzYbLO8t5/3duEg5/XlRqF1ITC+FFmvufoFz9xky32XPv62qF5k6i7gQmbajNuffT9Fyuom9VKLcHWys8rBRmhm6R6tnPdBZRJs1mPpFIGa/+Y1H0mAjliqgVJaIoWxLbPeJiv/jvtqv5v+S1Mh+a4lqODijFmHx8tbLD+GUcB107Q/SMDigoScaElPn/IVF3SiRe6kXqQKPT9LfOENaG+TZ7ZGifky6urrHTNYGazGohqjwUXUWWQzQrI5ttFxGJ3N67T9VUEzkNhYQHTmJHDvYnSya2RO9FsSwxEY0aE9EHQm1php9rJxC2UM/ZB2ZJLT4nVttEb0CEuiNsWheJKWZWnJtCegHDout9PzOi7mPxybBFpyKcjBqU0YVoN1+PGnh1Ipo9wcgOaosQ1PqeUu5SF+NqMgF6EsZ8uWEmQXXCrCL8hNSA0xPjh8c+BfMxdFdNoceXSO+KA1j3Y8mSQUpUx2mJlqDoOiJjk6v9ZOu+RlGfiCF/PVI5BcqyJx+QKFIFYRmKA0lcUA6uREOJjLNzVYSSxjR0RXGUU4izLRpDIidHJJM2Hc4u3zx7lhrXZVAySAufePLyBlZyBaVFY+H+asTnD3Dzq/8K5YyhahGcDxIpnUfpz58JJqW9LG+OI5KpOH75yAkGOX3jBgqLniqLPOVQWpHG2rSoiPsZb5/by1R3b8lBEqmz6xRNLyFZaKUFrSe5I6eyZOg3auQhmtpxnLMkkxY51dU0V5TQOi3cVDNxJTGrERNQGG8xq7e01/bVEk2qo1eFlJXFyB30k/alefeHi5xvb+Z3zorlSTHfKubnSxlOJMiVuOBRaSzE4xT6fMTk8mpJD0oGcHQP82Dz/v+xpM1TVzepzFnA+Ip8jO1FDQeRwqgshmJ+pA16NEGzPJbbwCB66JsmvkElSIb986YTYD1Zi8ZqkYYoWSghOZZktU8kIyJDAVJVJb73m+e5/Nxlcj57EssRzXvpYddQYoDBp18jMDmF/l4jK/bd+vLdxa4TTX4RaAowZ80SUQTbskiVpSgvFltKofQsyuvw0roWI0Wpi4qZQCGWkjRrm7P6JtVaIKpSzIB+hlyJT2XQedoVsXzxUNl7aGrKrLBKhHYTqMXdRx+lK1HbBupMo7YU0pOoOfLFXimUlIjOTnG+rY2x8nIsy8rCj98fRe8XSyxyZMwzqtUenNKyzKx+XiK1LMazMfh9feja796z3MsyKSifbmigrrbWlKnHkNr37itH1C+ZmIBZDaGTD2FZFu1t4ic300xNDZNIGHy8ZYkVFSEvUnQ151exXp44ENRVIDHoupw4sUxCSV7Sbb5/4/vs9v6/0JfCJgmLI6zFBqRbSM7e7LBDojNHDA9OIEWJRsXMzBClyqPb78f60jK6ISYnp+g58ys8t7KM63eQirEX/hiF7rK6OCAnzHNXieCrG8wsLRkfxtgMWjyCxM8SUi62BllUPdFoAzMz4uTJk3vnpCVGNYmUICKL6f4+ruVfYWBGLAVbkCrNPXXCiw3oo6igmNuDS/Sd3OH1pMWXp0w5waCYnTXlzsohphXz3kaeoyy3gXYJS11kqDnuK9grEsF6+WVO/vbVvX2XToqXLJFUNYZuow9LRV5+BYu977SqkmDnHzGTQS9lsPslwv6KvNwIFroqlt8W018VsWIhrZAhM7TXLJwNm5O/sYZGHWRlAA1DSN0s2C8RskIs2xb258TeZJ55P1Ynn9mpAbYj4rRivDw0QWeOGAsEeO/2Ank3xbg9x+KJs+iMheaFlr+Gz3+DF35pnoq1K2hkDFsWjuXsPZ/lPaslMyFzJKyo6JsXpVrDsiyjeGuExsdQOr2PtsovRINjyFox5rlhC10U61/klUIgYPDxsViMYCa1Xloo73ilcF/iZbW6ePEmlooNNDQvF3kDhFyhcaHqfGpqavboHw7LQP0Fzl4WT0VGUdhzFipIrWI4EoV6gXktGFqB1nrKaiy6JS5ohydiIcqDPiylGJJ4MiYWNkS3AkgJCiTqGopZSacOwI79ipJQKT1apCPQwROV0wxXtPFkap7dbheVXcCpEedKIpjBchFd+BpSIXGJoE9UJdP0yaVDQmVlhnRNtRRedElsvYlyclGRsZnPzIjSpja2n3yScLjhgdrZLrDJzTN2dkfi3Hwu2ixG1n6CmkKJuMrR2mnyEmF0OCBJBez5P9KiqbqOM1dTDPtLSeSKfDvKQH2IKktMDoqSSfHQw5O8UvcKOQmz+ksHRWVlBQ0KYUfFxg0dTJEpISUJynfv3NYZGfT6UPa+lg300XVUfBZJvJ53gW+tGKZW1xXjNcV8u6GXhk1xKdqD9HUkm2RDJ0UjZ8mtsSiRmPXKS+YGWL1a5T17IUVLW9S2dPPmQ2sU5yaplxlY4xKzDWK3SajkOexLy5xP5+GTqJ6ZQc1lbD/5KFORGON6E2PqOdofkyOT3+NNNfBBeAD/trioKgpztvgVRyzI4WYyzXKTWJ5xyN0ZQ4ojR+TtCpMjxEH5DxM6fZ3HW8pR+yPYL1fw2flxfvHWAu7tUtp6e/jXxeJmvpgbELcs8cmgePK5OiqbbH4rKhZKqnlSPlKqp6KigqKiEAUFTRSrniK9SamuoDmhdaHXhOpF44++wEphX/qozhvi5NycSVZfY3G/uPkvlvSRQdO4ErvfFK5fqCWNprND9Q08MuwXq2eE0qKrq4tA4GiziZ20ibQG2NkRCdmsKMgZid4N4QaEY4ucLfHmXCtt/9lDNPXZLMqsUEIJP0/UvsKHCx/w7ukUJ7PK9YVCPNdrUfh0DlpcOHTfFFKDIY0bFFZ7K2cUQ/5e1G1m9Sc7J4kFha4IhUXYX4H81YQGharCdMozISSfQq//S5RoQerhzBk/wx8NYGy3NmZWt4hy2vHV9bClyZ+p/cPPCk2KsMrQfB36oGMPAdUkUSLbJK0/fO26ULAaKR8tL6OWFP3l/dgyTuwdxfhd3xbPj4gXLfHkmmg4L7q9GIpVrRJVlEjEpuO5Xj4ojO1nett734dnzkGOnlhNsY+C8XOH0/bRecLjXXspRaMSrV5/8vvFme56lgeX6XZ9pLYveSlQzcqv6qEQ+sbB+yVVy4pexkSbV1M7eJW8lmE6T4hQQvTv7GA7DrmV4vTTwjcsdOZhr/4hQrIYnlhEa0OEHp2ldyhA57sfI+v+LAkhWQT8IZLxMAEZ+GzAZ5FUEFtxpCjyn0ZO3sFrA+JsjdCQQXm5sRhqbaVWxZQHK1BXFzkrS5yvEyOVIvqQaFtcZG1tmIr6R6jvdvjltlJ0/SnKFaBIA7S1tvFKbYyqqlnq9Da1TjNNgRuGl6tEqFsoJWaOlYKQmnjcamXJ128cWu1R9ma7x3KgneSxajaWid5MRrPn89B4U9Z580hpNGIShH9euUVqYcK+iX9aWKMJfNYifgl/VAwNGxqMbyyJojMOTtihXYYy4dGJIU5/c5jgS28Q8Ufw+S2ckNBDrWaZfOoU/ngYufZdU2xquxrNm4Tzgaz9a7Lpkc8sz3eFZsX26i0Cu/WsukL2dWy7g61RocQNtPZd8lVMo4TbLJxqYYj/HkPBNtS/hmQjdxP/8O59tXeXPIIyT3aCaRz3IZ5ViHJLBsbomQL6JQaUz1RG4YRF+0NiNaUDA7jl83HOsqgKhlB/P1I3fl0j0u3HqTNmwMOmHv9eRGwK+ebx1+mgg1grGD/c4Wcw1/UpO1e2j30F0ss+ZLcUqQq50+zYXV5fO9SfZOJCciVcBdlo/Bg9vd8Gml5HkYPveTzybQJ94f19LSPoqRrk70NWGM34jenE1t5KcjzwWxh00LeJKspK1xpadjn16DfoPvcIz/5wHqu3G8WOeuaDsq4kE0Nv8S+e22F8sJ+Tz4S42pTgTzqWqD/1LaRddEFm1ZS5Liz0y+34W1P4XPGEjIk1E3cSVJR+rTCuPAZ1lUBtgPgj4uHBQa4rxSU5uBKBPBt1ulRXi3NNwuoRARVhOMz8qMg2+SQyuUOmhPLFp8eQVCHlMlRWyqVLXUjvoDtYC48l006Zj791pJXuWa+dXrqBjkpm3vIcOn0/TtUQsgqJV4p4pdlXqzBjkRTlLxgzX36uOB0b5dH4ODfn58grLqanvJxcx6Fa4sS6uPDkAnInUe9jKBymRKJMSS5c+BqWdTjto5HEfBXR4RIz474mkxho52OaVUWhu0P8+79GemSXArWhWC7KfZ6RkUvU1ATRRiFaEcY0sU5EXnR1rlCtOLW0SlrTyE2hMlFaGcK/8ChnfyuMGvMwfoO7t0uxROAAtXUIqZeUfPsBc7VCwzZSC9UKkyexpGImfAkee3md5pqLB8q0Jf6BxKx7CZVVIUUoUgeOHI9SIh+VZA2sJSUU6jCUVJjI4+1D+3wclUqzVHdGfdsycQ8l8nNKraRLqjBmOiFF0HYHinjoGkvogmmHfIlw2UW0EEAv/z1Usp9ONTz0LNv5QcMm6u2rDNdh9RTu/T55NUX7cJhHC94kz1dseLE8pVJUY2M/X8Tmxc9YlkuJXkWKo4JNNFFJ0aMXyM9p4ObNPqzSLhS4N421EQepnCoJlZeSqvOR7xN9XSLUFEXK5WSeaM8iPZRPqLcQhXKwd1KUh0RlVj9IyziUX1eEZ4O9xP/IIXDxGd4sfoT/WgGeldjRJK/Ul/P9UnH7F8TaZCFtJQ8zpJtcVY5R/MEgvtxcXugS6kmhgoeRAlR/kR3N2bJTW8fQCy+j+vUDBGTHcqfYslhXVtauOWEGhFOklWZa01iqxdYfc195bAuFRkVNSwvPNDRgS1gqxu8243dtrjfeoP/pcR6uruZ6bQ2OIypcl3G/wwsnxS1tINnYmsGfEPISxs/I4URfI6prRbMvoYeyHLyWkC02OjaYbZhlakjkpO6sW01tLW1VTzM8/hTqy8HtN2aDvDwxNiM004zUiuPoyGxt9RIvrxqE0qwKcNWOa9vI9t0Jz1QRcoa8/9cxpqcMe6wZIB2ZXNQzyp7Rx+l1/oAXVEy/bGY0swdHrNIWb/hthk86PLtx8H5+OVgS45ohkBngrZfQbCVm0F9Gs7OMaR8VdkDuqH8UQ7lx57kHlUoZkZU+fhrs5g/0Jpb1JJppw1UtjkS54zCkKTImXMuxWHcX9u5pWd4KtFGsV+63Q2hqivXHA1h9llHWMZmMa1/9MhkzVcvVyxQPr/Lm8E+9iOa1vbadmPURWJhk8fpn2F93WLiybhhqF4VVIL7ZLqbUQM36FXSvzGvrXv/y+pj6xelKH+uLNufHxPrsGgtftsn32qW1V5TXHC7HwUT6t3q/Z00f84678uOTjd+1caZsbNk4En7LmFv9trA8gkjbttm0EzylQdpsiydsm5BEYe4jTHT3Mi+hqIXGBpCVZutYKRipdop4IrKF/OP7/PPHcqQ0SRTc8UFYSHHicuhRhEb56VUed9qajxBXqK8FJRLEEwHqm8VzEr93QXzn/BBdbq/J+LZUiDqK0Eui/t1d5qxNYrEQJxSnoamJ5lCId84JNyWS6qLBv8HOx2GTWyAaRaksnH+p0KQIbgfxzw8QWWzEyct2zsY5EI0cFgrVsH1xkEDAOD3DZ0VhopfT6mdtRqhROG2ifY/Wogm/QuTHRK1qSExXcmZ9nSs33kJnvoNWrEOJWnLReqtHlb3fvu2+EE7r5t7veJEORFMraBHaipGWWLeaWe8M8lJAtDeLy7pMvjVNOLZNZXGU+vpVpBAxxfh9rdEsw97Zvmf+iWAGJAszyCe4k8ZZKORDm6137j9CbBnOnU55A3jKh3UuRL4/xLpy99hTvx4Qiy3iqd1dntUGvgySaMUifuucgWm+Jkpbu/jwIRHtLiF+bn+FGgmLH5y/QIWvC50XSopgSYTmN/tRlzHZVVwNkR4OcU5TpBXB0Ksc9A/szvxt7IJGzqbiZlCPivKUWK4ySr4k3nXvfp0hd6yX8VmFxJuXX+BHyWnKvy3K++P8MGrg1dsSgZDYvTyOMhTagThqXr2j3BMnRDolYoEYay0f8oca5v/mjHG1vY+FSAPfbxA/aRTf6Ongo/Fa2n49ySmJwe5ues41sWo1EDk9z8PXzvKW00ZfvIlkzTRvF4lQYZKmuZOoQEz96PEvtlIISOxIRPLzqV1cQXr7516nv87iSkydFNHU0TQXYZnI5cZk8gAx2edJvKEF23+Zc0HxeL34qYzZIRwJ83pBB9uXPubtnS06yudRg/C3i1JZLCnBRYna+noU9FYlp06RmLxM+Xj2PWzv3WZI4Lz926No/iLmgwxzWqfxa5YKtbGqqrvUdxjpdSRjzpjXeUqVxicR7triH+6GqJMwOY2DxCR+T5U0fa+MzZUVwp0rqC0HY4vPySo3zr4JZV/aXFHeJPwpF0dRzhZ0ovpW5k/tU1tHJJ64JVbcPm6/NcjJQAcNDUJqIxgQ13dEJBKh5qnvotTzSCbA7y0JZ1O0hGWU8yE+nzLFmTqiTmbm3XSX9vEkEzvh/W5VDpYSKHmLxG9ew16c4cdv1FEv8VZLCxcGu7AbRfutFIPaJLAHLz2L1GjMKk0TKH7Co0PfRm3ze+WHIlG2fuENVFmJWQHEKQwW0tDw/F7SodKrIjVcSnz16ziJCGYmfmiAH19CyXp08aa3L4o66kic/0U2FGVE76DYSeTk3Pv5D4iPuKI4CpKrIImYDqDhkhpiT/kGZJy/e9cOouycC36hRjEmseiIihbRHRYf14p5NfKSLmOrmvg3EizKOKpDbWLZqiW8VYZ79UWanE7aGoV1zaG18izBblH/y0KFYvJHF7/YSiGDr1c6jYZHMHkC7p2g/IssdRL/0DYQxZPhOZyJrKjKJqFyYdkWi99ZfaBEJHMSUW8JbEu4JaUsP9XKy4Pd9D/xJOMLPty4vYcPL5X4qvxsafnAfebmhDM+gopvHEqeYmHy8vYgLbCY2b+9jd6b3zvX9tBChTJEcEfX1yJjclCtiNYm+LLmyJfh3O+0PTqPUXmzxjCuJgxNwYFyPh/BUi4xIvFvJfrWCpCGaVQDNarFscXDpeLJJ/1c9z/F6EYJ0hyWkyCmGM9qnFyZic/JTMYu296ruyXPrGN7ppqUDF3JoTo8aEKZEolWzSDLv2dCqZkXtZFzaHwRaZPl998nmEqx4XgYe8tiIWrhTAhtrLGoACHPdGYNz7KQ+DKGFqOHAnXQPdmNwm0sqA5LQ0gpgskkM++/i1EIpm1PLcSw7UmkRSTR1itKuvOZHfxPiN9BpDiNFGBhdRXN2ehsxkQ6hIq6eaf7jxlrSlNZbqNX7Kw8HZ8veSrgJQ0TVRPnVc/cmAw1imeqXr3n9RaHFVdPj7iYt2icwyHzjsZGRCppEQnZTE0JOYvmfYaEtIAli8UKEWizmZZYXJIX7GibFc2i+b3xwxNfbKVg2aKgWlTG67je+RImDd7nowq+cOLxsZTli/OezV4XC1Dxfmftj4vGtNBjJyhsvX+ysGxJpcTq6iK1oS+zWZ+gyBaqDbG59jiPJyfYVedB+/SQzDJdIllzmZaCeZN8RmbAOyvReEHIEk06T59M3oBaiaLNTXTqFPrffxs55jnO6MHy3CoqfFE/FRpGKuD1qmK+MbpLYX09yl1Fbj++mEPlZhbksF/ohPmQLxxRZq7EhwMtnFwt59ULJsfAuEReWOw8Lt6Jj9OuIb67IL5bVUtT/Rg9dj0hhVjXFkk9jiuXBuXhlzirAC26S74ECQMSOKSgIkJbh8/LQTp5YF9YotgSqjErx08XRHWhSCufKtno3THWSj+jtOAmHY6wPD6eL73/PrFEgtnaII+WP8atwDhvXexmqdgofG1Xo0gJF2SuKbxajJlJJwkoSSovhRxRWFODVnJRng/b9pOfP3Cwzl+7jDYLUO0Y+vYwiRkRaq5m7aHvkEzuo5Jqq6vR6CaSTWGt0KpNTfN5gzDa3ESNfQz8+DXy2odoLz6BLstLmXq0lEm01jYgmfqkdJDCRddK0DshE1C5IaMgvGM+GS4o87z7iXVOyTiZM99JRU4h270ifN7sy7kq2n+hicHBPvJ3Jrk4uo3OTCNHXFAh9rJ4oVLYj4h8vyh8I4xVXEpNzhaqbjfcURJf+6L7FPyu2OgX7XVJXr7dzyUN/dzr9NdS+sSITzScNr+DjW2oY99G75eXhD1moRcCB8nhfhYJimAyiN5ZN+H5Osp+nRVLEgxSMrJDhSr29m2eXmUqYj78BYl8leGqHr9f5Nkez48rNHYJvxU8mIEreMQ97iKheJpnVy5SqFfp62umKdJPQTRz7Qh5UfHTkwZNtHfd8N3Lq5TYmZ4jaHXRWRvkb/Xu8qr85KaEmk9QrpgZOD3xBUX/uo+gHAKBFSwrblYo7wkVGpNff+b8gLxVUZTDA/yDicXwcIClcvGYLRPrIYuAP0B1xGFWPr4uoSuj6HmzYhiUt1I6Ld56f4x4ws/i8MO0d7VTEhFVlkU8EMBX6eCbn0Sb+1xTClajYNXeis6VRws+tMKJ4Br5to2BwD6PzlRxQiLtBjnnCtsvgn4HXYqjWAg5KTYCj5O0Iyho+u7HOr33vu1hsxKekPApiF9+fNEiZnyvEGhI8GHd/OdGND8XmOP86P7EKCUDp5XEzo6wO1pRwjNj1gk9sX9tWCbCXxXVaHD8yLaXAigneMjM9GBy5sYN7PY2pn5x0IAzPF/qJ190pSCZ5fUTdWucvD3Hxb8G9fnrKhdVy3iwEEtiu6IV1e4rhbCvn482/CiWg/pfQKVRs7p4oHtUIJXSJpE4LdY3RCDXUzBHIML6tYZPIUYktLiIksms46MEdgJYYfPx+iUa1cBj6mJiRJSWeuetC01fZE4L5GZHqJ4WxsyydY/6WkjDaGQbX8jBziiQ3lr00iYmTiGJZYlo4O4MsNniyOQcKNsZ4dfsLn48fo0/cM8S9zD/tkIMa+TOawMDnFYVry37KYp7KR+jujPR+6I8Xh1vYPkZ+sGIhBTC51vF55i2ragQA6cT/PrsEulbVfjUb+I+7AK0NrXvfJXQjBh/f41AIkQ8PkN7ezcqiRB9IspPfusEy91lDE+OoEAz8igttLOD3tUBuGlAQlGLlRdeJn+1msHxQdzhGRSsIiCH9rYtupvDaLqb04OD6P1/RN3E75Nf1cb6qz8lWVSEtsRkh6hMBjFKZYO8+Ajvtpv30B48z43eF1l+fpB3hqcId+8Q/IP/mi7bNuR5R0g0GmXghQGs3IOKw5bNkM4SCJTe2aZZtOtxednmnGrkOyrPSBQDZ/4oa98RfeJzJBicwZHYisrAqD0LQPDKlS+2UgiExJmnxMsVTVy8nmPgkX8N6vXXSooMDHV06DqF9b1mX7IwCzkTxM7vocouIS+Qx0rpoygRMB3tvu/j0KUnaFOKhySD6w7KDM4hoeLsc+eQiqmUcBKL1FR17nXofakhf/tx7HAMXSjcm2HWPfc0hWUBJA+/nyN8t3xcOnGZ/I4OHg6/yu9c/8+pCjVh5edT6GY+4EUMRDD7Hi4qfB1VJ5CVBdFVHiYT2sFB4eIhPnvzYR80s/llKJYDqmFYZRTUBMmXiSpuVhOWfGzpNdoy1xzqr+XKmL9M7IQk8+wFh9vn/qRMxgS3KtGsC8jL8WwXi4JCoUAJG9dmqaoSBb1iyDLwVbtIFBQJFRWh+fmD5dYU8eLtHWK1Ib7z+ia/X/ET0t8rQrdE8YiIZHILxFdQxJhfIk0i/ju6Exn4qlBPKW82dXC27ix2TWa1l4dR6n5yVI5fMaQi8jVg2Emf7EX5ZhU5VyyKw/L6xFUUHDXoNAn5fBRVVBCuENsTfsL6FVSzy2uZPnqEVAZ6KCv7CQdidwLCSltUq4+jmHVr7uNd2BLnJUp2RYFr+nh2f3/Qd3tRY6ZvLAm3TVxY3OWFF17lctHlL7ZSUFTofdGkNLftYQ9zfywHZEH4/FFunXrfmC1sB+kTIhIL9hAl6qR/shc7OINPwp6VNxvVnTPVe0mzhRqyB9LPd8TaLR2otPzIY5OaJKgg0jxyRM2amNyZ5e33XLRRzMKprxM+c4a44gxbI2h+nqCWmep4HhUVYo9NMhu+jXFwmrocmO3bMv0lJvSGDmRGW9OdDtr1ku8af0LWPsc5Or9CSinmNE21TEKjDnVQpELMQPcyWm0w95+/j3b1aS/5fEYiMia1A+c5wjhbr+zvs8S0bezZkvHBbToWOyct5l+WsYX3ClkOjiU0NoYGcvG/JKYWlNVm2c7SBZy1ZbQcZGFhAcuyqJO4fSqC42TRkXjABUlU1NTR8vIrJguaJRZsL9Xod4RGhJM81C80Tia1Z788W3wggF5dRuViTqPEDtBNO+zFgqwtMWfbvLn6PAOn+llwFiiR6JcPtb/M2jPVjFj2HhvwgLJMg7bF/Lp5pr26OINYuaWHosDvLolTNnNHfjee89w5y5SXoc4nk4RnD/hwWO71/RVcRG8Oo5ebifY1MDrbj5Rmc/H+hvv/aJWC44rWEfFGZI6X6xdpb//51+mvpQQt9HACaRidqEOpBHZMxNcj+OQj3CL6fCV8WpHLyisi1xHFERkn2n3foxMFWqmRx2uvbbJNHAU6mI8hoAA7eh8D17PYZ1U9KEPhMPVP1RGoEWNBPyNDzaitmvjaLiWp1MEczz55dM4d3r4gQVXSoO+hjhGDK5dQe9a9bBmnYxbEMCFh6J/3g/eSvuQeV49kUFq77xxNeZEvh7OK0SYxeeCYi/S0WYn9Od6nrYMUGpIMnYcVIxsmG28Zo+palVE+jaL+hHhht56Hd/oJpGQUghwKO8/ydGs7djSGrru4YZOmNKoOnpFIqC2rTcVWPEEoa+AMSBQmbPbjMxykVsISdfUWualneabwEXyyUJmIT3nKJtGOZLHrlVMhkYyJtWrzfIatVaQ70iz6l3FnO+nwlxPTCs4Bf9F5jKkwxO7EI/RZ9dQmC0iPRRhw4vgkIrJQqJDxfD8ZOHGrTNY4n0yQWNulS2hoH6rbGu5ncvMKlXdJVyu1eO80Sma2fz5xltSRg/wJpDQ6M2Gi5L1nM31tl4zSbfXer8q0jyZrN+3Unl1ej4uKYijSh8KBPThyUl90peCItjbxyCMG1z3eIXTm4Af+RZSDA4aPra0QodAAu7uXkeoJKEBevIhvT69SWvKiYVhMluCEc4nWG7qHw2kxP086ZTp0rTJKIU62CabAK9MwcFahrZE9G3NcFhfUgZlNZaHH+sRwd5iGhh4a1cojF35Ee2cXCZkPqiko8vxCi6I+T/T7hB4VquzEDExvE1Qfvesf465skYgnSFgJ1LmIMWPd65kayVYKPl8FyYIP2LHC6LFdZFskxh+sjY6Wg+0kmUHh85hKpyRKKoT/A/FuWHtBZP6En6B1GcV85HReofWpW8YXkWeCt4pl4iO2wmPsrlWiaUNZUZzoICYL/5VdHgoZzp4OdVLreG164P4BpB12H8vHDMaHVoWWg+JthLVLfYNFXniWMpUQk0EnTXrnOeqgMCrSjok3qtcYyXiliY+IG5pzSyLdWcWvustcbq3mm7sfIf0/2KPkmNVBJNF8hMblOkLnhL/9DM22S8V5Meb303d6h9+VOKEVcpRDm/ZXj0nHpnM0e2KSR5v6ce42i5cwAApPKdi16Ow93llUqC2OutrvbC/lIi2hhA7UaU86jELuyN43Ia+crDp7OSS+0ErBJx9TmuKcM8ewxCcScma463LsCyC2LVZnhYluHUUqw3F6kWwcxzhX69VD66m38PlPYVkuclwaNc3zEtM/432z+eeNrHDYGRqTF1eiBeSYD2NOhirZJD2JsJ/qUMgWSVs8PfQyyXgVlrOJ5OPT+XlciVOtMugPewBLSWyJ9k5RtOfD8CHZjE8Okpefw+aJTTYCGfbPe5u3rGGL2dgs4XCYsbExekoKuf7lZ2kJBSnbWsSyxdraX8Q7u1c7ZUsKqd/g6+vMwGFZQj7haxLzzwgNi+m1GnbCXWhJdHR28sStW8xIxOObPP30MFeeESebRLDfximzcGwxWyfiPxFzrqiodujv9sr33sGdFCCTSGGcrRTSq6gyYRSHI6RCNNuOtkX2dxieFkuuKXNvIJZ4c1Jcy8lQadho3uTfyEAsjazjyJzjOi4HiPkcGZ9VW9b5dqYuXkyH46WLdQzZnK0RsoMg8yX+IDhO7oeZSYCF9H/CBN49wLusF6qdPbpvvWah8rVD8TdZYtkouz/ly6zkZu5y/rqQPUbto2GuXxfWgFDePPqim49s2RSqkF/UJkVa5sUqsath3C9Ckp2k0JoZQDImFJOa0UJFVUgumss3H4zdwFDled4sKMBeusR5+cxxlaOL5pqEirxI3p9NZmTw+IuLovBuDn+fD/WXoUdv7+37ko4IsKqYRhMT5vhL/Xzpf3eFhqJcjGnkNMXFs1iyqMxE6y53ovw4iom1t8TbORdRqZjZFeOqwjguAziKUjHygiGiy7rfnMwMuqJCOE4eBcrne/mP0+p7h5Tj8FhBAY0Ksq4mEnKIaNTQFQeMbXzLK8eSn0q9TI5yOHkAMprPnTkSPHEcVFFx9DEJu0JUOEK6xinlkY7KQwMVEmkL881+Ec/pp7hlGeWZ+iQUQdqiM6eTJztvcfKceM9XQWtLPv7WuMkVUSGqVcJpfcrvT8Rpy4praFSQc/oIEwx6sD4Xq829zcDnR8o1s+C+GHr8JgrnoEITh6A8oRPetUVCtmjU4UxuJRxQisUXcZ0ddt+9QVWPH6u0FHWJy2eCXLp1mlA0RFFZEfJ1oN1Oc5/Ql1HqI8zKzrz7Kr+QTxSWm++jyBa9lbkkFMekTI3iypisgqqm2SrALfKUWMkKChxUHHdITFTkVTOu6n1Hc0wo9jwHKMVzcwnejFGcX4p8n5fKNUvqhXZkEgw15yB91/SjsDyFG0JWJ/EGl/p6r63fKUY/+aI7miUkP7OBWeSIwIcBDOf7f6wrhQB++bEC+/bUgoBNnVykfj7aeRHzsXoQN5/PRMG6A2jIv5eQ5KIcDC/+Vw6WHxLzJ8Rg2lA/m3LuhOAdFkfiRRml5J9eNFmh9o5byLPJBgrD6O/3opRB2fTpTuTGuESxxggoYBzNsVECXeJafQldXdVmMLDLCSvAM3qPV1LCWuhEihsKgQEZR3mr+eDL9AtIJwlcNCvLQQ1iFQjf1BpScu++FXY1T777Lv54G1I7i+q4gwrklE+E3hSqG0VdFkqKQGT/eMB1eO/cUaRyjRQpj4mj2s/nQ4NeciJbB4POdsTWoJ8pv0Ei+SWa5PAVObhqIXc9zeXLholWO6N7s9CwjHO5s7OTW7duIXVgBRrwL4vavCJ6rtSidw3VggJ+XJ+FE/HMQDsmJmGPGfWk0EP7ddoZM9+ctM7O4WdpuYHSWTEpVgD5LVS/vRfglSOHZkVRZ5RUw1kW1IWUYn3dxR/22kB+JIuRcBirp8egr+qEWy/SBUnaentR2CIgy5wbMH6NDH261S1GIiKa2ORL/dO8pmJaXfHRUzVMNxYjDaD6OOe6vMj3nd/CjBseR9VzQtV3vqt9evZpVJDPYN04PnmwU7+yVgGT7KHd6lqJFxby4uLLJHNLkWPa1s1uY+1w0ITo9+4VQAoaJ7uEGdcixndmp9g3Xx0c777gSsFgkz/88AyOZXM6dBrj4Pz8PL1/o8Qvzyl4hpODa8Q+echwuNst6MNOpH4kP6FQlj1+METzE8+SbGojM+PLG1rgA7XxtJowsyWjXHrkQSFvisCqqLANJYYa/Ayl70/BbpeJ06ViObCC7Gz4ZgEGFSO2F4SzY/avuyLe55kNLJnnGTAMkbbETs82F/yvIxWyJLHqmiQnGh1FO8+zKfGwQsQsfQ4JYhgpyJkr+4GNBbaYDmySrRSc3hrC1xc8zqczBNSJdWh2H5So7hCFpcYJGm0QH77Xz+iQ10Y+EbpoYJkdHQfrYetzoq0TQ1gtYiALy6+wGbj91UHiBeIFiTw1Ec84fXNEb3Mv/n4/0elB2r1ByfLqWtHZydytW0i1pL5VzuKacAuEP+xHoV60LPRrJ2mfjdH8RsgMyBX5qCYDkUygYMsBB/s+42rwCFOjnwOmk5zTxhzkhsxApgaMDfxD5PsQy+2iTyKmWoLBXpMQqVuYwLysvpwvfGfE467o1BDnrRVCWy1sX2yhrecFkreWOH/R5fdGzrCmNdQpdFFMPrvImDtKyKvT0LkqmqcLUccLKFlBMEN+GIpiBmDPfBTQHcgfx+vjKpF37iFrxIpQQoRCA5zvCrE0VIB6W5DPKJpgMIjdYqGBIBPduwwq5cWMiINsxGGkVc5oCKOkLqPTp710srVIX0fDfg/ZZVOmhykJN6PzLShuHP1faKWw43XSz+ovYDlCz/786/QXKSuW+J0LYtDV3sxlY2Cb+OwNA6N0y1B92KwG8vK4WCTWPnVIJHdRXR6lZc8QDscws5YhM2NTOQqLWDSf78jiJZkZvqFrLiCtNHlyjUmqWLwZvb+69ueIsrQwPoHDMQEiv13on8obHGSW/dmUw3VC3TG0tYEaKsh9egLbzSc//00sWYzKmAtzE7kH7cf3LfucWBUylBiRSIRIxIM2xoRTmFm55GO4lrJt/RVIE5w4189v/qiRSksEFWaqeIHhmoOKMxp06a5IH1mPfInzcrGV4+VT8I6FW7HKUtRJ5LvidJ2onChgYlR8WjBER+KrhpMpLIqi+eRtbqHOGqqfrsbtcAnW11GpDPWGjZRLXWcTG7cuIOXhq88jx0qbKNrp62j7NTQock8Kx2fs+6sSejyOCjJ5FR7FrBTbyaCPCjIxItLdzY2WhfIMNYglcSE/36PeMMnszXlRXIXpSmtvcB4vSlAVOxSFnhb5zwhnRNQ4Iqx6xiwRGMxBEzmUVpcSjnXhTDiMNAzTpz7jdxkXzbnN1KgGMzF5DOXXoFtJVFlBfrr8AIGgmyvOfV5SqWbtR/tfOPocv7+OsaoFNhaXGf3Jb6BYiLaCb7J05TdQfr5ZGVaNIUWwpIPoubv0VyNpdAcKyiJHtaT9IjVWhi8URir4YiuFjMPqM3vVYItX/gb7ErJmeZl9jkx0pOED6kUqMY6nDS/q1baQbbO0Fsf/yrtm9mAJyURszkqcUil7iYdyhMZkFEzDApYcVCzsvsw9lxjRKAkl9jnl76PujsQtNVOrBsZk+H+0pL2sYa5sFrWKFq0jePz3JSIx59qo1GJmwE9weZmlpSXsyWkW028Q0jeY7n7vzxmk2EWOynhZonullrqT+zmXl3Qwg5vlNGBZLyI5FBeL3j5hnetgZabGw7JX8dniH7LiejM9V2hFJBRnNIv3RrKwJRy/WDghpBiyJ41z0VqiR8M8/tAnuCPPcaJBLEyeZehPF8h7bolZGXNQXp7Flyccej4+ycvrC8z2DaKifAKOOCWLVQl7732FkKYp6Cyk99YgliwSSmTVyTNV5InJPi9m4A7pQcqKITkhZIsl2zZopnutzlwXzXnoLssyEeuyPUI/4c7NsRK+SFxzjI4IXfIcwepCKjKIIs8sNzpscTHnHve6Q04hzWBgqpl9y96+fk6pClsWi5WLZpDvEyo6hb6uA7EqB6RIaHQeLUS4n/ib/W/aEAYuLy1jjU+geA/Svs/BlfFn3VdZzhi2ncr6Jk8dOD4sywNrrHyxlcK2vJXC2+PYjk3L7v2lSvxrKRNC5WJLDazKx0ZLCydrRH1YDJwW8keR/DSqkS51oWQPWr2Fzj9HKmVhxZLeIGwjncORmf2l5ccoFNcMWvGD9231m1D5cHZdmoSGRfkjIl5+f/Uv0Dp5WmFLHilaSnsdeLXOIRH4jGys+0GpRQri5IrkP54mfruUMstCKS96NJlAl8oxg9SdEaUPJhGkNIm6Kpx60VzxNarlo00mkMguKUZjKWTbtLz1Lbq6jJ/G7xfRqFg7N8Xw6VNo+Qkkkfr6k1gdWbDAA8l+0pho6ke5UFKJPpHxebQl0XOrqOY8XUNFPKyH6KqeZr79OdIhoWguKkuSnBIVs41ccV0mr4jriZNEi2sJh4UqROuPW9l9uoFfD49wKq+R5eXMfX1IDagzB91qYaVwhfGcG9xXfgwJM5v/BlKWY3RUxqTyzgUDcriPCUNfSNTUCI0LFT6EJs6aiUsyScqOopagKSctrrjiXEMZUsIQzdlCSRE7NY97xMrz7pI2ZehQ3uQGofJa0ulis0L1zHTlURH3p42jdvcuZT5Zgto2vW/rPT6Xdlwyz1Bq/DP7K6ogai55sKBQFdIyXo/16Xc4/0weTafN5ELa51UakVjVPFIhbW1fcPNRRron3sN2HCauP/Jzr8u+5LMPrzyaudWyxLlHzLGQhFsq7NkuXnvnIs/sdpnBOWpw/5ZCSJd4Ve3MaxCTF8A49S7IhNCfUyH72b6M7EpE1Y51x9LzGiG59JeXE/vWMvFwHCeZJJIfJZb8Cgr0UD0tkm7m/vd+3uKOYopaCwkrAy/cwiB+HMItZ1DwLkgOR6yEm0krxOlLp3E7Y6Tk8pwyiipmVh0PNFv8PImhlnpUJbqe6aLBsYn76lByBj27zblfHDIZwprFpbfHcF1vdrghNjqDjJakMDNph8jgDdZHPR4pV+i0yLPT7ERWUN0nqP9/QPoGae95YsUi1i7UYkxVj8jMGEtjdazWP0Ys0MYjL7ezsSFuPfwyde/cYNQXIxnLJxIvpPmjG7w9JtznRPdmN1ZNO3lRPzkSy4qQs4cKaqM0N5fJtjZKtkvIP7NLeOUETs65LMLAI8QnFHQ5HExojz9CxN5A3SIWjRG34jixrHd0qJyAxEzkHE1NlllZeNQTZdK+w73r4H1H26uocFJmgLa1Z96pqTnH5KTYuoP59W6ygpQy16/JDPbvirGBOlpLSog0RXDCDmfiCZ6JxfaCwrpkiBYXlW3WCRGLu6jORKa36jpHEzwekrQO0XObOsU6Y5yNruEejqWyhM6J/QRJKcyKr4Tub76G5a2yvr03gcukHY7xjbMmY5tkaLmPlYLEzHdcbJ/D+ne/+3Ovy75k8fZnpQ082BEs3J0NFoNBbo+OUmIJOcL2u9heKsDSzRleVYAZPYdUhSNRWyMqK42DOCUzqBix7riPKzMDDsqsHG4pExi1xYhciiyLtcgZzkx+l/Qf/AGzP32JjWt+FLZp/2o7+SX5LOtuJoYssUXUFl9SD3lKkVki56uRcT3P0bPUJmZOl+BOG6Xjui6dGiFXRbgyAVml2kDDlpl5/SW8pyl3yjCs9legK4OozcatMKaPelt0LnyIHM+34Iqmrk7Ku7vRrdsonkbhXZzl6f0yXZFKisVZB9l+5ARok8tXZ8WrI8P8IBzmo/VpXNs6gNkvSOUw29PPepON78s2bkCUWX4G7CA/0dP8F995m+nFt7EfvU7AEZ2uMdP5fOL1U+JrCTHcP0P2Ssoq7sAZvkFdpyhvFFOuQ87zLuqa4K5gjEodSekQW1vnpb4pnsw5z2vf+EN2El8jd6OF23Y/sen1O84/LTF5xD328kAcIY6EVSj0NaGomF431By27eI4unMgvatkfQOOeSdaFeeunOZrk5O8rBkqlSL/l87yjQ/2c4fYqiOpCkaUPQkaYFNl3nH7IBvvA0kmI57FUyMOT58/4hxX7KVSPXsLdRgk27T7PQY0SEIJNt6XQWntlZlRMD1k8m4fKwWJ0c8uYvlcKr77XTM7OCLf7s9LKo7anxYVbYbL3v91UT7kUFKUlTQklTJIgnwRqSklVw7FKiYUClFQcIP4ZJz4iJnNBI4ov0MdvJvJXVCZ2T9EQPW0F58i158mv8JHqWXgpnbYpfyjISpqmlFB5145TVO55JQ/iiUv8cznSERipbCdYDDBGXkImMrrSHl0yEQ9Z861ZfPY0DSr04XYZaVceOghpHJyZRO8ZM5JpkVLTAaS6P/LeT8lKsGSZRA2aaHUCRT5u5gPuBWV/JpJOKMIKu0m6ThEr02jjldMndwAKu0/UKZfWXw64bNs7Ph55+WLlBYVsea6tGiEfSXpIJVRFUhyKa8NdSR4+TeSXHVNdOtNnaVPtTTWChVZxFVBuXb5DbnUhcN7Dt2SkgD//Op1SrJJ+hpy0NlmEtJBVtCzJQYqekR7XKw4tM8SOiXU2UFe3u/wXnCKdHEbckzcSKGVj69U7O4Kt0R7ZpkFiV6ZCUludnlhUVpYilvuGmdtxgxVXm58DiUyPgV5ZshFoRdqOaNhgke9w3l5hIsBpDOmryzZSBeyznsN6RMWkxusR3splDHpOBWiqETo4kX8EreV4BXl8EZRjwcDNe9GEj5ZvJTtY/lzSJ7Er5QefcxxHMrKyozvcMdM+pYvVFNwogt/vt+0j9dmO9rgMcUxE4HrZFCGX2ilkMH5fvaZH5/P4bt/jVYK2xLuksW3H/Pom90wslxOyiVUK8bPmY8mKWM6mnAnKQ/2I42i6mpUWorkItsi5KxxctBHujNNu8fbs6VNM2vJRG/2a18BOA5+j6ytfEJ8TacIahSpmoWvBmh/ZpuW7+8ysHEb+Ytx3TCjo6OM78SRvxu7UTi9osV1ybWDOLpXJjNPWg0b5m8+/TSN9QY5MeyIq59mzmnGcMVk3p2P7+sRRq1i9FYfKo9i6KpPmWdyhZrFeMlf/rua0ASFe3bri+T6N5nWjPm9sYnPCSHloaGHUCBAjk4yO3fbZPwLBtCrz6Jyk46xWw4LsnnJK9sv4ZcP+f3Yjo+LG6I8OYFOZmCNIaRhGqwGnnSfpLl5mRt/uEKXT6RlE5DLWq8MVPNLi5QlT1GVsfXn5aHmZgy8uJsedWfRYwyjnA7UendTx50Q2Sk0kX9wn2ujD/dzTAdUwa5meW/gG7z4wYssnVzlsfAN09/ahHL8SD66urqprTWDlK3gPl1EjhjsHCQ6kyasEIvyotlHRoyDWkJroi0umhIJphaXGHhhm9G+DDrqcZa+9S7x/HdJ5LWy+vEE558sZNUvptccmuXiUxjHH8A5KxR22fFm9yHHT9AW1pwYT4t1hfF5QYaOT4z6RVRReruvm0mZP4H8X0cSEZ+fD/XBn7+/RYVWPBPaSWXRifvwy+VaIMoHz85QXFvDpDvKc+3t7Na/jaV+1OygrzrGxOc3fcCRcC3hC/uwwxaO8wVXChvdBs722Wff8pTC1Z9znfZnjBEJRSzC1ybp7cvFnv4pKhkipNH9pWlrGw2RCG9rguWxXSpf8COFKdeGN0jNo7pcrL4woYAOIHfCmRy41TLOS7+Q692/tZWdtjaPGqCfpEJYCiC5hN5Yxm4sRdEICgfRWQdD0xw2kZKLoqFV9AyJuoeukrr+GfeT4rS02nDxnAgGKfbsnxOD1dTvZXHzkQ2pG1KAS9rErYnR9p+fIZwTxsyeQ6hcdE114d96gAjQP4cE1YmjDIR0jKGzVzyGVhFNn+BUp2cecRzU24utaYJ9fShuo0gA/aOL6MaTSGJAXXSokZBEf774sDLErtbR2bNIp1A4htJFaOslTHYuQy9tF6QJznTh8/uZLfLRdUYoUYk0RNgvoyRDIQ/Bs0PG/OM4orennjuDDAOk5FB/j+c+e+B32Ou/h8wjHUK5Xl9rbOSDRA4XdIXisVskTiSIfH+Lh39zgZ2vXMO1bQw1xDp+fxLXdZEsGvRletRDnUzWMe26dF14i4/0ZTZlYeeLoa0e+jKss6eFPyF8tk0wFCKQCBPwe7b0eIzQlTTWoymSj/g4/StBrjU4pCR2w/08q2Hm7W/TdOYGnbeENieJqAS/fLy9ucXrY8IKCdkirD6kGAP9i2in3rC2Zj/7xQA6bQJBX3u1k8r8o2HGDySW9hVBqAtZfqISbVrkjIbJ1zi7gfdwbn+T4Hg7YZ8fuSXIOkv/x4/Sk+wzFoCzhoKjXWIkKU58MEv1RwUMDHzBlYLqxJAr/pPPGrFt0dggdC73r5QQ78DSWI0GqudlOLNtcf58Aw0NPizLCwiyctDOHOrqQtWV6OEgUj2K21yo9aOpPPL1HdI62AHjihNQNdtK8D2JNkcoleQgdvlrSCKcG95XGmo0S+EPTptYgGeEPs5FEZHQDP7MYNIv45S7mEJt00h9lJSUEOsrJkelB0i67khD6Yj5XxBTU8ZsYBLSh5G+ytFUAQHqFDOxEeVhqium6GkJMD9/Dssb7GpVi/tXFoRYhp6JYAbbEI0ls+jsTSQX3Roh8S/n8NeUIjuI6l/H1QrJW696zlMf2n0f/e6P98o7r1xOyGL84wvUr+7b0NfTIu50klQvq+pG8mGFRM6OkK8GJV9AEZe3U7k0TFkoYsxQZ6U9XHxIIiIHef3DtkV9fQFSCksGcGDbETartmipFaVTn/PsafP+VFiI0k8fOp5nJh0BmUxjTzxBYyQT0DdIvr7KkmRAAJ81kGiw8PsryCBjzueKtNJUh4qIFkQo2doiFpVh//TJIIJOCd0SzeP1NNg2eRKOXM7pHIY91FNSllDOIoVaYkE75A4JnbzI3EO7fOnCl8hTgLzoaVRRgJY+RaE0iogZJaiRnyoJ+6TQkEjJwtV57NwGciyHxrf6kF2Fzj2MmsPIEhcu5PGE7ackZ5DqEvHCv6ghVejnuu4v4dLniXFk1yK5hJRLpVYIhUS0QF5Ue5RNPUmhooQURJqicWyeeokpxXnNm+RJXoa7pMiLBVF19RdcKVjC6hDfv2Xtz76tJf7iaS6M/dWS9nIIS2LBtvnF5eW936dOlSB1HYDr2Y7J5vTS7AyvFRfRM/gl9FwfqqrElsWJzLk9wioqQOoz90vIY0I09+1WN8V6BUsD5lkTQlNDSDloQcgvrubbjIyJuqdOUP/MqYMxAR7VseXYPPXRCk2bFv0y7KV2Vn2tiQm0az5Gy7J4+GQht2cHCIe9mAndBYlkeW2TKSuYQAvv79U/+9wyldClTto7xM2bl5BGsWyxtGyWv3/1fWkQ60Te3nvW5Rys0VeQEkSiW9x+eYmCAssMZIsWKaV42XmNpJ005/f3odLr+22oZeOncCyscAhrfh7pIazpARTxMPnW80jPE5CYt2SQZs9OU3+ih8ZTT2EoRvKYk/HNZNq1RqJRYTJR4tliybCb9oXE7IvWkXmIK6T9JD8SMzOWSYxzVmj6cD4MY46tr6+noaEBWTYnTh38LixZSCtYUfHESxYdBSXI6kWWOPlrYmJinFeqdmlp8fpgYSHq6zPXrwg54sRJGUTUgpe1TCY9qFYsA4XNEQunhP/VK+i138IZfZanPq2n58evMzP3GpbVzcp8F6eudaBvVCBnCj2RQM8sMTA8RNe1Al6cM+1SKTE2LlJJi/RSiHd8c1nfawtSNRobw8q5wNpakJXlOQosMfS2aCi8R8DefYsZn1ZOnNjbl0qZOlXNiJYdmRgYy7TBppqZUw1jlkX65k2CL7Zz29dDqVXifdPeOxsRK53l6JVXvuBK4RVRVCR+4/0L3kw8iBp1XxjqB5GAdqmRza1a8enQPhKnT7WU5+w7iJ9+OkAGnheWqHSqafnPgvSunKdyK5+qGj/JWIwGidwmsaIVxpTjUSscElcGD66shPT9fcYhJxmY3ZJMINeQkE989tYFnv+u0NYQujp013ZYDLUw+tg5tGBTERUfbYlw2Kx6lmVmdwU9rzCxc5bBKj/xjivIjnnBMXeRPBHIFTULXp3OnEXFxRTqMONnOdcUISnRc7GI0okmZCfQbg5+fz610zJ217/SvhTn68rFxEE0oKfzOVmzSDoogqEk/f3XUNMFb7YqlFtO9z/6N/T/kjchODVJ0z8sNxz4mTIt0XS+nqvnhtgtTCMVYyvBeL54MlfcWEhSU/gCZgJTj5qK0HPzhE+GCa+Gkdr4/DSNS2Tj1SXRkRY1mUxtsRgNZWUHlEBQB5FkqfV1nHjc9KcMft4JMnLlQ2prBqhRHanwEOFwGOkauU/faUpsacmhu1usz1ymurQDbcXQVCE5k2mUrMbAJz1F4Pfv0TFkJHfMe+ePHHq+HO8b8ImhoQZ86SSqqkKJBOGyMLGyclJWEilGUzpGSzyKSoNIKZTjopwc4gkLf7FQWtTYZuVlJcV5VzRftMltSROTmJXNbP4EOXVpdD5JyudjeViccUVDg7j6rMjvEbk/UzR9toyYd1495lFmiJgrus7LrDwjPUxoh/ILZhW4NF5FbUkt3dUzuME09gsRKgLjBC5UovV1FI/TOSRq10RSFyhS8xdcKXSJSp/47T5xQm2kFEY9O8j+izE7hMNhLMsiJDO7GpCh5zYO7rO0q53QAd6SKGFLWKkAsYvFNFnPoJNhVBphUmIoIiZ8ontbJpLy0KAdkZC7inY8KoBF4d6OEMhA0C4tYj3aScrfh8/XdaAd5Bozws3vfYBqE8TeOE14/dCKKU9oXjQ1ic73J9HZdZQ0M5PInllAlKqUup46s9JoE7r2+W3VtxNhZC57FprxEWR+m/KDasBRgkggwB/9xnMMrxYyvxpCdiGBQCkd29pThvctIaG42MoN4984/2DXevIt9xYKNLCH/24VCotAUDzZIZ7v228fR1Em2i4z/b392fr3nxB6WMa34zNmnjEZdFhQ+8nqf69UFBeLppOzxIoLsOQSVhcFcTHbKIOkKRGGJ+hhTLBU7tH1Ptd3x76CAtHUdJn39REvfn2Zgd97mH8yJt5448yBjGL7soF0zeQh8ZRC0A2x2XUBRw79JwYJJca8COMG7skcqnrORUrM/4EK5MvHzL6TWPJ7+PpSFF6iy7JozFyX+RbCdytXdHV1eT4KIdm06vQBZdcnMdAvVJvPsuZJSWR8L+fOGWDDc73bFAwLLS4h5dCTEs4bBuxxZtXmTNMazcWFfJgjWnr6+O1/+iHnd/20JRyeaghSqixU2c8qV3qQz+HhdN8eW29UubRokaQi+L34F8nEHqytNdJX084ft+3wxFkzLgQ0QuJcBTp1CsVGGX+3hfYlkfu0qFL/F1wpePLZ5CR+ZcwUd8uS9OCyvLxMNLqf9m9aYkOjBA45TaUwHRokrS1O+kXwqz2ooQZZLrpQji7/Lq7jx9n2OIZ8R99vO1P/zHGfRc3uFt2r5prN3EK6e8b4hVPrLC5+g8PYf8uycEdCKGxx2Z/khG/w4D0sIdfMQJygkHrYmcrl5myI05+8R1wGETVdWsdWbeeBa+7ZVn6Hjo82aPVMP0UqpFEvss8dZGMGnzBP6BGalWZUIhH04Th5uCvTqF1HMlN+vkygF3vRiwl8a/MosrOfseoBxNfvQ5ez9w0gnUDhEO7gIwT06N6xHIl3NE/a9wQmc5w492kuctvMc9QbKvEBmXScgzJBWz5lED/LaG6UyQKLgAyjaVo6YsVoYwbhtUP7Q0iPIF/OHc8xIaE1PyFfiNKgyyMzU6RiCwSDRzvtbQUYr5o9QCc+qlkiOkt+qoGJvqdMH9gII2fgc9ux5JNtWiTUJeK1JpZGqiOsTk60tqK8fLSyihOJHLTNh2TQOIff7YE+3ohUyIBErNKHXRk27ynzvh0h28KVe2As8HnfU7Pjo8SVh3KyCIyL4ZBZIbd551gpEXrHwnrsJWZCI4R9oliFTGXYUP+88sk4Cjicy+6jk1NYlp/b55+i87FaNNbKZO5j6LGbaP5VLP0RIQ1S5dulXvUMNjs8c2Ha8ChZDvLFDcjEox75wiuFIYmro1k8M6X62cxHHhb++VIRzCyji4pQrktZi1jSIp/oBQzKw6ZMwioVJ66Id5XL5fnHqclKUF8QKGPputBE3KTTOzRLKzuiDnv7eoRa7jze8NQr5M+LqdppfvLpl7ykOYfOKxN6SijhQ/PFhn30iHvtvtiO63uTpfImniqbwqksw58nCldEbECkHspuxy10ICfuQXEssVtmBr0iiUjt2+QM3zlgua5LZ1EXIQUprd7BuRWiLGpw4IoLJUu5HyqGconpLdET7aW57Dq6VoTKAqh0CNkuF78vLJ8o/dIDvP9INcodQxpCqkf2G+ilUeTzMfPc85T+Uv2B+8uy0GM7KGWgqA3l3+L01hyKuviVcbb3YEw8h+/3ZaQyyi+KoCKc1rMEA0UU5i9TpiNWOukhFM0227gYGGrWKrWkhJMP/TY9ysV1HHaLn+THZV/nn12oIel+D7+/iMLC15D8KFyKbtgobOzWZcky019UhCIRStu/juNEUNvrqM0jwNutQs7n06g3L4qtTQupFL/8PKwCcpuajB8hLw+Fw2bS87681Kn3kqy4gKDQ6RykCMUSvoRQuYvWi/dyQX+enJOZ2BXK+GacMlFiGVNvgby4CMn4Op4z36MtUVtbwrlzs3TpoD/mZ5KyMmRZhL/+Fjk5OQbgsVBuvrXWGOpJobI8KkLdqLuLZHUeMfUgFVOkFmqVJjdPhJuyc3D4kPbN2F9spXBSKCI++3SBBWuZpAbRZOs9Sdf2ZWv/f58MNXVCfHtchF2xeUYsDQ8RbQ0zdcVEVdo+C0c7DA1t8aUKMTUopjJ8+uMBygcs+t/yOnBq2kBF73L/KQnJolYbe2n2lmThyKGzs4vGxsas80NIJyjMOc/YE7Oo3eKjv/9R1nL6kFQJNzPrnj76/uuTSzjO/uzH8T4AR2bFtTqxhs99gFVXi4g2iUF3Em2dOfKccNhlaEjY/kqcySHULaZLp5nXPEklWdPE56Q/FENyKVExrvsOsqJo6nu41jzSTfTeewyEw5QtnMXeOsXkj4bYUOMDokW6kapZCLzB1Y/NgK+OCbZ+swI5PqRVPtn0nIFlF1FdM5LIf/YM3cP/GCmXy6kUg3NzmAQyDVllO6hl3fi99vb5kcbQ/5+8/w6y7DzTO8HnmOt9mnvTe++9995WZlZWmqqsSnhTsAXvDQkCIAkQJEAQJIj2ls3uFqUetVEbtUYarWJWsbGzEZqNlTZmY6WVNBs7M909UrdW6lX3b//4zs28mZVlCILsjkBFvFE37z3mO9/57Ps+7/OkhN0nprbOKFOTUEnOu3aTuDoGOKjLRm/eiwYGCNQHiAxGGB29iqy0gdFqklgsxguDf4f87WeRJozGb5FYX18mFotyVyLC8uIQVlUpWw+1Efb3s7NdidMjtiSkKRzZN6f/lriQLkNtX0ZaQlYCOcPUS3Rqg7N28TPy8hQ2lEOg6P1/Yodqnv8oIzrb9h03Z/Fic7NFRYNsymQzKOPKuySx6X12XDG52cFZ8Ov8gmK6eqd+iDZ0E/OeKZ1+hra2e5G6sTSAY816muibJ+qpTseJo6UyWf5tOql3fto+35PCqNC4+G7314hqD1slGM3b9luf23u88u29V7S0iah6uUvGDxx9wPj4bZUypmLa9Qg179UxFYxxcDlKME+EGmR2EyXNKPQ+blMxwXMyjTQttGBWJaXqRrJJpUTtlk64j3yKHmUl/8FcG/fW3cvOzg4LCy/kNHALKYKjCgY2vkswFj/h1jrL9keE05H7XSW5JGETgQBO+3E99XkNblmmk+b5o3R23KIOc81vrHG+m1jdMf9STDrGyvfsI9vhwnv1PHTwJL7BOlRXSFhhbI/Z9eb3iRDUFq5cNjfvpSkap1n3s6IY0lW6olGiEu57D6BLl1BZmmiP/4fcOQaRfIRXL5Ko+DnvuxUq7vhjasZrkaJMTZl3nJYo19tIIcpeLuPR9k8IKE6m36Y1EqZQZ2SC+6NHg1+BDBrG/BZDduMR4uw6i15CTRYqErFfvsiGP8e3HziP8pZps1r546F36Q14XExlOnG9sMI40XoUqkDv1aDKPC5dGiKRDDNti2hE1LwywNzQPgdVzczkr2HrmKtotkE8Hb95/UXnh1DDLOquRwUtaGkJn0TgBjvNsDyIZ1THBIpqJ6YA+/vG1WmONVxaRRJzto32901fnz2HivPoVDU+DXCWWpwxhwrdR1oNWDIw37hMpvdRu4sGyB2QfTK6yInmduofOA3X/ZS2J29icL22FqCgN8iSFfYAFqfqqUzGi/FD3OPzPSkM7RDxh+i5Nu6xLbYiDZH1897M/N2iIi7sPNESFDW1IqwWzGojRYfEBW3Rqzp+X9doUi1qiXjsn1H0YICNKpEoLERpb7AN5JOKihGJlvx8KiVaJDJqRrKJx0XZrIi4yknZb8YoNW0zNJFPxVgrKyWrfNzwogf3M/7mLKzz2S1RkO2YWaTPWc84Keafm+M5fwmK5jGkMurVxLq9RN6BaM73k3juQXxenkJEIqjLZCcin09G5i/nmnk3qEtH4t4uEW4Xz8Y7afJ9++i3iHIGvo+E/GIiKRpLGxkb2mWsfpCl23jXwWYRPh9BH37zCIGVUZj8g3tZtizKS0VvxMZWCq360C/eQddkEe2/HSJecLz6vLH5T3VIC2keKYxmRPz1jyhbNXXV0pKtj2aKdI2YXIpjoqHCDCSlLeJxmVjCZvZ6pbpOb3c0IO70dpo+RYhbVQaaelb5wkLVCZOlPJUDe075kf0ExcVpXrn0Kr0t5dgSKU2iM2kZUuypGL8uGRW7O+pR3M+bSuLqHGrNoPkG7i5tZOTRGVyJL2XPvVdGJvJm/Wr4y0Tr29HvPIsaj3NtItpnO2fADUtE5Ria9uuuU88JhtZbWoJGld7iHdsUqYk8iQNZFOkyBZEIedtetvZ502cOWgwstlBm0m+SiLbnUflEO2HligzdrmXHI4v8UP7ZwfTJfOOyOuv8jG5KBtml611an+9JYXGBK8EAX/7kHFOOxf5aLbemtbXo7RVdSyu89LgIe3TDlgyGu09JZvVVPpaYl0VMwpHNsLxt7pKQvxtZ5bgyK2vJBBULy9ZZ7DEDfv76Ol+wbX55edmc4whZJfisIX6u7UlmqqpOlEkyGO7ZlweJRGzW1s5he3GIZR1TeliWaFQjdapDlvGDdmqe0+LvkrAcC7tMqGfJy2j28N/egDJoWUfbUMOzY+5XJdFimTpZlXCcBRYXz/ORpwtwXZ06omVZNCTijP39FyloTF93TL1Ew7qwXPGd1VUvr8HCsm5wzVNWa4m2NQsFHVRsoedmUbgPWXXYlqh6VHR0BJEWWM1k0MQI1koTVqqB0ZnTSYZnWY7uhPLRxBjqfgI1tZr6ulqK+nvOOG+VAfl44HTde/V41GFXdd2OpaJcdA8Ka0EUrK7yogxTZ+ONXCATr6LuipPup4VZFAyTOrjM1NQUkgjLYv4mbhTba3PpjMXAqFfemNCkjSpGCXQf8qu6kxFr+OhZpOvLf1bfKim26eu1UId1iiXUOpGv0iLRqwSTmrzuOnMS297no36XY5MS0XqhBq/f3Ub7keUiLSCJKZkEtk8UYsOaO34262QezpYMRDvTnmHgiWGa9GnyFCzyJMYmbNZ61o4n/ZXcY84ZbZQf4ro3Yy3+fE8KKmBh2OaRf/Ql8i2bYnVxlkB6V0MDVVXVKLiP9B6JhI9APH0EfWxQkFVNUqkQCdkUqIB0RNSU1TKoNr5ycED+io0vZ1VeJJO9m22QSZmBpzggA++TqJYoLyw0UFBLxH7rA0ovPsT+7ON0d18985nu39kn0XM/TbrMeqWFQmaVm6tlHFGEVCBMdbWZgB50ypmv2yceFqoQHQ2iMyGzMi+pQScEX7Lmp0w1RGLyCMWyz1JJqDlItF9M6YDpN1spcwooHFmlUL/JDUVGCkWgLEL1h71noquGlc+oCpi/u5yu0VeNKHlIpNNiefkcOpXBnWu2xBvNov69i5RXV9HyOz9g5r4dZDvkS6znHj8h0lU9SGV0L4j2dt18R5W16i40uUOmLkODvsJy3gF5a60Ubr+L5CPWHqDkYg6+vqoKdXYSUYQLufEp9RJQC1UyQfe67PfpKyfvVy4aiwcIlhSxtyE0/DT5Mi6N+/UQzolrepaXR0PcNRBkS1yIiYsl+WRUQrLwDWRZNDeIfl3kZii8uCteGBepvlLa7vQGRUcsdi1SFF7CVowritGmIJsSCe+8cpUTOaN/HdnsLJodQ+uTqDaDapPII9g73YYl03arTr07VZl+VOR9l9L1HE15Ek64A0WMjvat4hyqFPrQQuGT0N7CehvLPgWICOhoMotKXJW4t72B5BN3fepxyteYJpW3fBLFlyvoU/Alk6j3Q1zz8Ca/fb4nha0txuYnufMf32egWc3fMVwtp46bGxykvaMTRecIycQMnHCMjY1LRKMfMLj3DpZ1GSlGyNpmNOSnMim6mnoJnrGSUZaL5tT3BQpTFxT+yyFcGV6SXPGa7qt93HXXg/T1VfPlho0zZ3s3IHbe8f5uE5dTIurPQvuOrSQsXuwUzr6I+MReryiMm3M0rzMH5qJCm/X5AM0SnQrSpG5SeTL0FxLh/DRafAW19qKhHvz+Bgr28mj8htC0MDDNGzfe+pIS3vnii8YPnKM1HJThdunUCue7H6YhrwmFtpAVZF9mNZa6yXtelsWK9hmwRE9nA3krK0hxurTHiPL4upYpkAh53EklJatMvfcKisUwQXoL6ezg95GFK7B8dbRO1JBWG9IiJUt7VGxbSEvkP1tPfX3O8R1daPYTjK/bZ0SNQiGT82GLjqAJBrZa4lJCJ8EPiRBzz66xUfeA0UP2i4v+OqJXVrlSEibhuRici7kDXhhLNoPaM4gVW6ymRX2bqPJfoMidMKvdm4Abstfx+0P07G+SrBNNR7uOPUO4Fp/BCorQeQ/Z5Dhodw+FwjTPNFNSnMip02zdyfBm5faJqio0VISeNn/7ZeC5uWWJeH3kdBmDyq6E99CsTU3G7AjM7/s4MlK89yrHPXfa3OM+4Ej4Q8I3J9wWc31bMvkRp0Epzwi9YD6HvHKU57ez1HXtU4xRXj2d+U4uk3WR5WudRW0a2o+e27x2WEf1cPq3z/ekMOln6L5W6v/lE2ZScA5MsGbg1HHjxlUxfnGc861ialCU7T6B3z+LFEFzIdTbzfhanK2Qn/C5k/wmY0vCyr1mLiNpjk2kv4+vq5PHXt6k9gyKAduuxHUncF1xh33jLaDfX4PGLyLLoqXWCGecPiaqMUZkUe0/hW+3hV7VEaR1R6JpWMgv0lYBS75Zjygv93pDSAF+LlFA7+AKanZQn8PIiCir0E2TinLtmmXxzxZ9dKRFw6aOcNNrEufkkJLD1yd9vFVk0bThR8EG/OPF+HTz7bBPwhoPMB8OsrU+SIFEq9ZxlIcri4gGsBRnSyF8OodtF+OG56iyLA7G7sCyB8lMzN2EHK4D7T6Af0ps7sl0ZPlRqx91LyFtoyf3z/D3+wnKz5BEqfL5ytrzJgkwFUULJtgbCk1z4e2xE7DJsYn3CQRWsVVkFhjfbsS/8RbL31xi6p4LvLa9QLczRJdfDGoYkwD2+HG5JKQ2JsrzcCdcRt6fMK4fy7T1m7+nnZPXsW00NobGZz2yvR3i/iBfeWDjOMDp96NvbKOww64lpA3kEQaq30J3jp9NbW7phjk5ubYn0TriaZHLuCxjXv3KZ2hYjuMFptx+mcXdDXcJTTI5IzLQ0uFt0fO+qGs0GfZ5MoplHRKN+fm0tnoMvsHjMm9512+/2s61R679UGNTOj3BXU1fxq/42cdM1GLgz8KKFeDrXjET1O3SvOzqqB5O//b5nhSeKWb44U1+9o7fPArKytVJugEJjYm0LRrerTLbtnKZRm09gEqiZoAvLaGq6bRf3kU6oKpBqLwQKYAt4xYozfKhdwq9a17ma8sP4Zw/z/6haJgwVL+ng7N7OwfUh++9xbPlca2hk412mVWkhD9vAoWqkeugrx3gb6+iTKKsQackIEVTLEZTUzuWVUS7aiismEOOWSln7AwXn6/yILHixQfnUd6XkTK8eV8VZaWrNylXMSp88Yi297T5v/wopQ+eJxY49uEfSpyXCYj55NKmNgoU9FxVBajqbFW6o2uWivS9YuBVce8lF9tXQbhUFMlHiS5xLf95Plkv42nloyOggDk3JdHV7cPaKuPh18ZOxRUy5v0mDtBWKVIIDdrIX4z8pZwrzL67SiRDTqf0DlKYF2QmsebmZob7+738EiOaroRQ1I+BowrpJU7AHOOTVLUfYMmggVIHV9FoOWUFUay0aCoVcdVTpHsIaQATLM5gUDXLDEejTDfHyZ/P0PxSPXbIpfLdYRT3tAuqZMp6E5WysMxioVQy+RZVVSSrqrjPShNQDdFoiGe+uuehYUw9PTv6LO5ZTAEPbaCi3FhLJdIkGhxAJ2DVN7YOiUylqPCQRudl3GiuREZLqPSHkeO8gZUUo/Is3NlCukKtrjCnCirCYTKZzBnnCNmivaeda23Xfoj7FRDpaKL3fMWNIdbVx59LA+LuklO/51DGl551/uGN7//5nhRWZ+jrCfFA6U9haYEbpuB/S7w6L+oKfYRls6IhpDeQ0+W5RY4tKOPO0HmdmrX7sNw8o30gMTcnI/DhIYEcifK5u+l3+lGLcJ8wKki56lryGvq0OpFbm9NAz/DTx4Qe0zHlQ7uO/OKtEm/fIZaWxPwdQh0ujkyWpi2H+2pquP/+Jwj5J7ArxfkZEV3v4bzqed0a4fXZLeplVhkLvZfRfddw1IVUzoxyXDlDoqSshJHwV9H2JZSKo3/4OKq7PjFNEtp20Ws6mqSyuxHbsdnUJgkV8Zjz23Sfz6ffL5Nncv7m7ziRFIMjosKuo9HuMDuhBeEEXKY3NjCC7CZZStGraPXUwOUIyaXaXqE/bBsBegkjZ3qMNiqX6J/0ofAc5++eO7HbNB27mizN9dyp9+nYDsXWNm8oQKR+i2SlzaxEjU4KCy1KRGvrUHUNcvyUbJfSohakPubynsDuF/fNiqdkKLGfeOJuJgb7vZhJAdIUC1ULbD2wRZ8j0loi5Pg450mwOnLMjuuc0Qc4u04tQoqwqhXmJVbkEFUnm5tvM2C/QkrfM6vlc44XWB5FivDRwjfx2afiFI51y7ySs/rAjWxAOQlkMj79EcmI7gSEXu9Dlf3o02QXz0yg5ZOLvqCCPOKMk862E9skYh4dM2XyF14vaOOJnsdOtGlZltHIcP34HBs5No7fMrut8X6sTFHOMzvX1ZNlHcNtE3Jy3GOezZ0/+jyrreNF75Gdv+Gzfr4nhdgFpqxpLus9mhUjdKMgaFy8FrN46coXsdRHVCGkswc2S97WNS6TUBMXXSHRuCFmH8xnLxfmFzUNKS6zK/ClfIR+fgDFXQ6ufhdLFi06OTAYq0eX9pDVhEndP9ZbPrauGz53QKIoJWI99cxVRtl56gr7gcsoR6N5Ih3kwxdaGGkQv/ixuDMdJK47icp00JjEb9eKlnzhD51n16PajkjeBCET5K526f/oQ/xP1piOc4dQ0aVTZWpFCtCV9xWsi47X4UxSkCRazol0Is5XEj34NuL44iLkk8kzuQXuXQURtNyIJvz4N4K0Tci4YrZEaUkTaeUgnS73oqkuuruFZFOsTjIXk8g+R1Ptq0wPDx3p/kommFnsffZJhAIBtLNDPC4kC2W6KCgRL2sa6WWOM4gjmCSjLe7ub2Tv0fO45a2kNU156STF6WYiEiUqoF6rVMkhFRfR2uzgWEz9w39EtCeDK9F+qj3GvLbX3+djfi5GTB0YPpwIfgUYVIA5iVIdcOE1P0XJXSSxohXylU8kZlbbZ9dpA5YGiSlGicSGtrH1KPF4BimKuuPICqLFCydoR+7/cvy6iWbxIM3ikQ75ja1J18fEzrKQjlF2WauXl0dgCaVDyBdCCpsFUrEwO6jj3WZUut5N2H3q7yYZl2hEx4uSLaEJcan52JWZkHhdYjTu8kSd6R8Xvf6jgVo6/v5HXLn8Ed84WMJ56WEu/swV1HGIwvNUu28z6lSiDpHWAdesNUJdKTO5tYqKCjF+5Oq7zxsHcssZv8FnY903ckvpczQp2DIZiKe/HxoaYru+noa4CN7EH1cfE2HHMI76PMuyRR7oJj7tri7a5t+mbtVh+sH32dGOaUzX+VDnULIE/dQwivtRZg4tLZE887olFBTcwd63XsHJL0DyM6nmk4lOyXFisnCV9L4bR6pCMgPuUw+Lb/9+LXv9ERbKzAomKSFng45L4xykB7Cea8T4YCMMzQxR33acv5GUqK4yA5BlWSSTxUgBLMvm7nd+ntBE+OjYwfubCT7nDb6WDKNmTlnjeh5bFbRd+jksewW/ik4E2Bu9Mn/n5e9wz+P3mA6ZFBoROkurNmv9Qo33IfsJ9Ho+vhKbZiWQytH5TYqjrRSoAFki+UiARMUI1mvttHcIySajNrMKlEjWJc2ucOf4+mmdzAwNSGZyTPmRLJKF7YSKbAYVR0kDkzTCLL+A9BGB5AGhr5SgblFeXs709DQ1xaKswFyvNlBCafg8FcojGXPRk1dQPM4lNVNf8wyRiHCDomXnjGePbiLfFIHAJLu7rSd+a7MPsBNmEgm8kuCB5MlVZFI21k2J65LcCDBw+auXze/z1skYyluXiPqcHN/+EBNn5ANd9tVhRZZPtPuAbo3vD+l4EaFNHS0WanSWPriD0pe8mEc1uTu+iETtulDKDOCuhNqFf9vPt8N7JrBdv0oqfIPdbo5VSLwmkZfno739VFJZnmgpE9WKUJiqJdZYh4LtOMlx4rLxZ6opibdj99soIBqtOMXtDnbIJjGYMIioCXOtgoP7WLFulVsVI1cSoP2yVw+6m6P4jmefm0lBOrkFLZHxRba3W9xfYWHN6Obi7tOmoWSvUSyTXHTyuhZas+h81lByS6K+0aL2HzjIFUu2a7ZxPTqDb8XrZPYy2ZwB27Y5d5PnmXXnSelXr3s2Seijc0zaNvnaOHl9GYx3iyN8Y+Le58TjbX78muHbEpKNZdssycaxhVHTuhurpx2r2uNYWTAwzuxW2BcOs/qNf4hRArOob3yG9s52IwSUybB4ziV86WmvA44cxSckUahCXtQAUbWi5eeQ7VIhg7c//bzJwySLby0abqdhGey+feP6abZEpWVjWS6LW0sYv/0SaVn0zKyj8B6LcWGPWWxcu8rqs0/hC/hQoZETnc+51oa1YZ7dFmZVPnDmPW11sbhRhS1DVBfRJgtaRpvH+H7JxbIcvrqxwR32nBGoz2Sw+/poa2qkrqoKS+Lb1dWocwjDf5RB9hiyhK1zKFdA6Kw6GB1H6SJmZBGyjevp6LdIHC28iJTGt7TOufV1kkkxPGJ+X1Merr58474QWEXT/UjF1z+/baPZFTTiP4KTSmLBdhiXjiZZqZ2NxeuT4+zSPnz9D7LWfNxHanV7nEFHfeAmbeLYzvYKLOacf6JP2eKybGYkxiybOxZl3FI3IHtc1CLbMjlCbZk2Hh957Abl6KFw47EjudrY+jrzjkPZI5u80rtMsCuIqlJYepFz1QkiPREWFhZQcRHq6fLKZt+Ge22SE7Dtozpq4zQ1x+dqUsi1YEwkM9UcLjnseTDUNl0Pe7u5bWNWGQGkqzTWfZeh1z8k+UeTBAvNlrQyKsrrhCzR0HNIeksYP2vtiWvN6zStbk66/Z21lNRZRFSHWe3n+r1zgmg5waPWKvF2RRn/TEG+u7/PZS+4WyVRnC/e7/ezelDByJRoSNjYShtXSKWQX7yQuIvarRoUS6PHGlEozpH7o0iYlcejSBHjH21rM+palk3yo0cpWClAySSHwSDa96GXHkDJCLIK0ZWfPSpnQAFSStGd3037evv1CU41NVR+4bfw+5PUfkmU1YlwnfF/12iIs7bGWYtLPHjF7GSK9MxRADXw8iGpfSFHFPmECoTCRSieQbJQwLBd3pgfxs+ZeRG2UI0oqsv9vgyVjKLBziNFPSMKb1ErkVKGtCwUCOCmUzz2QDVJjz7aYO1rkKb54lQVmhf53SLlcfLX1YmRkZu30eLqVkaKP6TR0yBozbbx2cdReSf2pEXNcxl8JSL/DqHhJLqUQc9cn0BoEvSC5jnTSU6vMEslQnUilHHYs6uRxKY2SSpJRgecFK9aoq6o84x7NBHUBi/FdduotZNWZ1w6J9yKh4bB9o7c7zowA6WRSt2V2W1k8xvUKtQT8/q4ebdzNabuCrXO3UUFKOMiq+rMchSpiAOZWFN7OMW1krbbIsQ7SAjnOv4qH1K+ab9Z92VTEG0krx8rfkg7q0yf20mhslAM1/dzf7+PyVoZyckz+eJvbZZVwFqgi4IRIb8f3+WP8BX04l8TW7EOVndfR7bNULE4aM6+5JsH2Ao1w9eWRapQKDZEc69NSiNI/cgXQI6NmYwaCAaPtRFcuVzousD8V8WdPR1sKYZliVhMvHIgnt10ePkHO+y8HiZodWMHgwSDYmvLNPzA0CpWOM6hQvSrxzBT1t9oa9qMlMIvsb1zCS0afYDi9Smq//6BB83bR+45gk9PoZJWJAsFv8VxclQxCkyhSrF7uIttnVzB2ak8hu7tIRwW7307SNeQSI6IqK4wqHsI6gzUxylbtETerjeA+UTQ9ia3LqGuoJmI9uqQ+m7jfQeR9pCMSysoCylAcM9Brs8EmEeEWd2n0JUg6riC6tcMjvwG1y2VmPCJqi9VUdKYZaysQ8GnkFw++MDsrtaUs+oP3qqs++z2j/Bwx51kSjOmTE0pLxenGVuFhMZ8DAbFnm1hBQL01tQw21TNbt/Ja6UkltSBFDM5JBsBzGrbb6CbLWZRlZjdM8f4Bk4ALQ6vBAk7Oatvn4+Rg+M+YEkEJoRKzA70usDpbduI8bvnLi4cHQ+mweCnum7QEaEx71qWCO4JhQNow2sz52QWF7nnZOuuPUXLtZZP+Tw3sPJyNDpids0vj5o4zlnH3bKNmKB1IHD89+d2UrBlgkp/t1lMlAotLaFk8lNdK5Xa5dziMd3CXY0+1gocJgOip8qlo85kcTpPn8d3UI9BoVQfnR9SiF71nnxR8V1i/cJq0RFeelSjaMBFw0OoPp8uLRBVOe9eaiA0mtMY3QCLUdHXKT6IjRIKia98RbzeIPwBEWwLoGrD2X/+gw/wS0wExGhGrEz7icsipdsL7hlUSxMB9xK6NGNWkd91GPpf9nBDPpQXxG0PsH3XLipdQJYoenye2to973wbrfmojIk7vhHAOrUdz2QamZ5+DKmCwPRvIg/Bsqk9ggqdmXyTtRqJYo0yaNnEZ00wVaNir+yb5rMrRj58H8uxDf3FLbQ0fL4Yg4O/SUIVdPb3sjMX5sLIFo79BfaClZh8jezxfkpVTtXli8i9AYBBJUftwJYZRIajMvGSbiE56Pwe8vuZmw1iS1xRJa0qM6v9PRlO/MEb6RQEyZf4al8d8Z4G7uzop9GxqHKDqKWP8rxyrr05QiApCvPz6Vlc4g92f50ZNbObVTrLtkflYNoDITS+gXEfTRoXSva97c2i8a+gj6Ne0lUvUpiPvn2BBZ9zvBLv70etHq22SomqijWfGLVNe7rROxi9nTa5phOAAFULvS1P/3zPtNFTO6wBnQpSl8pIjHpuln2Jb/UI1Zt39X5QDFuiLeDRaJwB4/3qkGFMTpWmaJ1vvXW5fxizbfPufUKRKqRnj9tTkwzfkSu0fetrJRJiefn478/tpKCQUFIcHoqJSYOLd3O3Z7dpMZmA0ndWDkmny5DCPJD5kPFotcGpV01w+YOPWHFsirq7Ufr6bblPPipOk48FTcNsjUToiRlXVK3GsBpsrlypZkiiW2t0q5a9wwLsBlFdbWgf3nuvlwdbWvidMjESrMXOiIwlSmtrmdvdoztPfDVlVmS1X6jFkaHUqM1xi/h0BkOnZCg3jvI4ZskKlwyogKYn29F6ASoVNb+TwQ5ZKBJApfnErt5B3d/9u8ixiX9zisL1k7z/+RJ9tWbVUpTzvV9J8tROZ2ce7/zRN1j+qRVKSp5Hu7soFDpVPgdDNR1AO6IgLBL6AhV3Wdw3lnvc8Xa79vVa5FjoypXrnzWnbEmJvFqH6hcHCSlGaWUlavZTVjtN2u5Dxc0ElGQ/57xktIz8WBbyeta1E2RV0YLVoiht8fKlehSNHGWm2jJ++PFPhF/FfE9PkFHKvJtDmYzh6uoblt0O2VRfGyMYGmG4tIJM62Xye3youBJFRE1VgFL3CYISlZb4+MoDmGzZqpPXunLleCft2Kjq+na8JFFU/AmZD+uwXzcB9E31kVSYV2uEe9o1WFSLrXNcVg1Z9NR4UwHWZtMNXXenqS4+lVlCtSe/q9aphMykTqgb2vLzwMBFepvMBDkmURNxaL2QJj8glDKLqBbPNSiJumpRbIsvlbZzOHfttsrmShxonhL1etfJ4Pf7yc/PJxIRsVjRGe0pgHHtee2pSJ7S3U3sjOTYrH1+J4USoU5xeGgzMWnxqi3Kq3VLFsfTti2DO7dnRlF+PsFomBe/tExnhei1hZrq0dUG7ICosip5ffUVAoEA16th3aCR1FVjNzVgtuorhH3iH7wkOmrEsGxcR0T2xNK6ePaKeKj7uHFPT9ncU2iRnBFfdYXuK0C9vTe4Vy9GeOV6icYTNqaj1YdtO0il2PYAnbaodx9GetGwef70rMdZ/wDSAA2a4/6FBSzLxrLex9q6bFY5mQwaGTGCKY0bSPYJTeY83UO/+mmxRIfPwfFZ+FwLWz6kbhynCtmzSAnWFcbRr2P8xeKIH39YHohgHclFZc5J8SBbyN66oftwwLZp1xZtM8L226RlMbnk47nLG7wSm2dmdRB9598h3eXVvfduq2tQwzOctQOxZPNsg0PHi2sMui7dV0RPt4PaHka9VTgjwnE2SUp8VeI7i1ssa5oLuoziwp47fT1h5wZPJ2QSLYM+NPso0j3Xk6aVCfcLLrOhWTYd4bcsPt58HEPst2SOcYXW27x2kZUPDaAjwahs/dlMTExw3x2/yddWUiS23kUS8xojriiWbJxpm/K+C7z66ibB4DZaEHYu4m9YfKerD7frAWZ/pP7tIJ0787dNFSKNmdV08zluFHCul3hBx5nQyzIurUqZ/rUooXCQrtVJMmldD1uVQU1NSRSrgHHdqN+dtIiMDKu06LWbWVKpFIODg1RXi4aGOSQHd6sUOwt2uN0s5lxbvPFvn9tJIVktKkbF9OEFWieHiK0JJ/XDXyfovfyl3WWaD0Ypf3WI1b8bp2rKq/iLYiD5ZR7/0KViwc9j8TlClo/TgunXNY6IYQV98x5xuD+C7W4jXcayREufKFgOY9nXeOMgn4GUiCeET4bg68liUVgoYrEl8u8oxJIJut5cuzjM7dANW/JQW7EY921t0aI+trfDFEyJu//wa1iNcbNN/6a81W7y+HxPQa5hZJOB37tsjnNdFIlQVC3SDeOo8dTA1WHOH5gXP/uDi2z/vsMrb1Qzqm8g5XHwpB8tGbhdQkKKkJRLpYQZyHJFahJIFrrrMs0RG78WkQrRstDoAL6BQVqyx1oyCX8SWlhARU24reI+d4RGdRJNPElmqpLnU+Klnxfaf5KAwp47KwvnbEXtU8ieQSpDjihdFAUFwrLWePLuxwgVJYhYOa6LoMgLmNjBweMJrDIRrxTJZJKCZpevBB4kaYtzp3a0RSpiXvNklGE+nsE6kBnQL+iYR2pNJ7LXk32i8ueFAqLzIMwTdgMPTyQwg/4QnRLNEv5E0GsfWTy/z6tbP5Yj2i8KXbpEtDdBwSOzlFlv8MX4EFKKWJNwAiIRv8jGzy7ir3uL4uIkltVOdaSCR56oOy5TRCQL6lDlWWpzN7EzdTvOhtQm5SJFzU48eGPYbUAnd6wFEu/JwKNXZcR9/Pmi5R0hdR4lRaqiAzVYmIVJG5LDOcU4p5pPPVadZd+v8jFe6cG+D/Tp1CJvYJ/bSSEl0WSJT/oOqS8+g7TuU1jBnGgtTxAJR/AV+HAdh/39iwxqghZZJrAZbEMXXHKTy7LJa+Zvs2V84IEyGr77ISpN0a0ukkpQ5yvgXNHDfG87ytjDYbJQsr14HL8lHk5MIsUoKbEpLJRJjruNVcSO1wlu9LtliXhGpO8yLoJOiQ7Z1ClGQgNY8TBzSfH+RifWNXPOXv9T+EYfOLpGT3CEoYE7kWXhnyogdLmF3G3w1nIXq2uPoKaNk/dfE7FN4RS1o8YOowUcM267G+WGJHWKPXNFx5zyy2FU6/KybNa1xXevlmE7UfRQHj4ZdI4kk1Q4HsdxbLYPD2kvqybWlqHNtdDBg8h6CnUmCMpAfBNd15BCZgD2EptaWkX37yWRP86LL4pvfHObzgth2oucM0WOYjHRFxbNZUL7orBAhMrE+AOiakDc2SLWc9gxm2t9zAyddKFlEvMsahnraAAPYAToT95rWqK7s443vr3IXQFxv+6jyW5m8P2P6QvOILXSJdEZE4fXQTz9SMMkZNxbWVK6aJe446Uu3HgH91td1CgPNYtAMEBQAaQIlz3k3JR2GIjMUV9fT4tyIMhJYVWJeL9McuLy6XvnWF4eWls9IrEMy5tcYzoBSz3w/g+FhK+wEWn+1kmPuVYpNG6RRbpZXh/I94t3WmX6si16lkRzZae3sOkkrnYsOXSpCZNg9sOMJwksWcRz0XWJBLLjKCb6C0XY0+VwlCP0sxdBPi9b+byOGIwlmckjrpO5Ql3iYlsWAFCL9NHnd1KQRMAvXv7eIeXjuZPCLGb7ufDDX3NerGmN0XtHKXvLbK0dx8H4aHNS6x3Di9N3dG4E54ie2o+lV3GdGkadKToU52lFWNUiZaWPMvzml/Cth7ByVgbO+jpyXXbOb2G2/R498ZRuKrBxdP7Nfi9ewN8r1l4VVp0hF9N91eipZ9DUK2Qy3fT942fZ+PkgOxKWPYSUILLzM0z+4e4RKZrd3sn5+oexZFFTW07X07+HfGGMT72HtgaL5lqbLCrLr2mm5ENpsTAlYrLQhnU0ya1qiqC6OXJh3MxsEx9p0ioaeQmVleBIdKqNFy/UY9nT6MJJPim/4/DNjQ1KS+/gjf/0T3i3qZ8rehUpYPz4tmNw6t7xW3oX6S7jRugTmhSWLSzfJaRVXFf4fA6dEm/l5TEzPY0kZmY82cjLaZZe6Sb6oucaek18o9xkyNpDnVjlRazPTnHw0+eIygRcR60R7rQPj8pgO2JuIzt4HbffFjncpXlG5GXbh4U9LsqtckbWhnFCIl8Ow7I4v/AC9m7XcV0sTeBETsdukkhf8fJajm1iQhQ9tIDWlrEDW0eTdpOaaFYz0hiOl0HeK5sab1FgSVhhHZHx+STWbfPebrmocY7dP1mai7FFEY5e3757e0XFtfMmSLtxm326R8YNZ/sw7keTn5SQmYTWJLNDyD5Hzrlr8oLzBYWo5xZu2axFZFy02sIvP2taM99bFtrcRJFzaNGhtDTDwIBxk+YpK89bwYzThJtFNgZkUFE5447WZNy2zrx33VxqDgvJ9/meFOSIulcPqZ6cpOTcObPy0AjGz1hyG9ewkKqoVjWWJaq/632f0gnq56R8bJZ0HcHhCgtFQfSY9K1aLpbXWV6R+JnhAj5p+GV+sHkntY/7aMw2tocOUZEYKB6gSU1kibk+yzpxtc0ryU9QqgtJHIZKUEoUFhQQiw2hjRLalqJMjTeyXdRGKJRPXmuRIQsLCL3xKiqtJt5WzG/+7AwVwUrcCnHJFc9d+w0e3thEinCxeBu/fQkT2G6je1K0TwndZzqFPVJEUaFNTUzceaqMhgu+yDs3fItnKkRrq4wViI5IEzs7J5OIAgpQVlqGguKiXsDv5WL4LItnqqtxfe+SnnuDovIQ9YUn332quPqI5yn6gzTp7cZT906igzwPmXOILbODqZbQmoVq36a4rR9rZgpNN2Kl8+gdySPhS2KlxTe+8QiLixVo4ldQdQt66DHU9jZuUqQ3RUfdKKsjdx7d77FN0Zk8XU9m51Sv50nLW0k7QhlRVSUmPblNv0ShZVF99QpuIkJFVo+hKoPqHa+d2TSqmtEqm0q7iBdUSpYW5dheoElDXCqcQtFaNrXJpJJ0KYHmt45XrgUFBNMxSq4K5SWQU4ky26g1gnZvDTOWdMMAe5+8DGi/jBylzMTQXyg608Iq9t5B1qI6qU9Q5p2rKpRvHcE6B/IHaIo3kZZxI8l1jYpf9pl6hVq8QPMVExSvllB7Lbp2C+r17FjgCit96+MMNDplPhcG0GopUoRiJW7KGHxsNx7fPteTQsAnfuewmXuLSnlBS6YTb4/cBEJ42hykEd7XGI4sxnIRLoFTx3Z0EEgYH2ZDg8jk6KaO6hi/PSThD9Qh7Rg0R+61Hha+JsNLky8v4/b0fX5Ys8WmKwJy2VUxtqYZrRCqNANIXSDAuxLth80UTTyAlrqMr71K+GYfp6qyh8nti5wPXzbQv+89jwoqsfIjRN7ZNsHPAaGgKLzyiwxZm0g2Sn2AdsMUl6aYnPMSe8IW6jVxjaB/i83GfJIZ+8YJP319Rk/gRr+7IlAUYPEDP1fzLLMy9fmpDduMK0wgcImoovR09aL4LtoaRn4vMdBvE/j6KJnMo7zz/Ot0NCaorzeBx2xmcoVG6ZChSE5fmqSx8TR7bRlSlVmZVdqcH/Exqx7G9BKSZQaTHH4gx3E5GHmeUlWa78LFyK1jeFhUVAtFNpB1LNZi1w3hjhyYz8ow7J8mfNq3vGGoME7sBqPKIfbz+oL3XB8rTEDucZ7AsHBnIjipi2jRRhrDPywGPQiqo2OVM0nsHh4yvD+Fr8N3c23gi/XEf66Izq6cepJQQR9qepCAq1vvEsbGzAo6rBOZxW/LSzwMywzUMm35sGGAC41V2O2noK1peSAHD+vfIw+9k10gmuPcWuGUGHfq2K5MbtPA2Zntkgkyz0gUp4qZbLs9F/WoLmDfBkmg7KeRb8R8tu5BPsM0G9Yp0ahPYZ/rSSHqij/d32c3M8qaAkjWiRX+7dqZvCz713+3fxvX8gVEv0eyNSxxj3QsQOKVLSvyEbCUkyV7lrWTS/Z1lg0PDRO8JKQhwqpDdsBD5gzysGzW9vdZkrBG+xm+87JZNXkDz+Tjj1Oxvk5gbo6QFUa26AgOEN2LE46GePe15ynLKztKRrr6SJqVrleQCtE3L6Ov+LG7RGBR9KqCzplW1LNiynY+STDwVXLzOXLNlUu/b9S4cm70fBfE3oU9grvL2HY+GoigyQ0Onikl4s5y4cIVIjL+YakaJfZRn5kUHNtmZ2qQb9z9a+SPvEGR6qlVLYM6ucpMKMQF9aD3v4F0clIoKSmh4nAHPW2jinKC/lEs+W7xToZRtAl1ieGXM6ivhrY2kekW+noEzc8cHVszWszAnUY+tiGRx6PP9lxP1TIu+v2noJwhGX99znd7MrKxH+t3CaiHXok8DdMkly69SZPdfbxi9hsakLPaf+iTu9BHX0b3Rw18Wd1kd3Mt0jGnkV85fv0SNFhhsohT1fg1zXavjsSbbmkvy7jsvL93dKz2JhlIr3l+kzRq65ii5thundTWq2M5zaHbGCdCMiI++al8upq7butZBgdDR+ynN7XuKLrLA4bkz5xwYQVv4z43s8/3pOCIP13aZLeo/0grWWl96kh+KNRILOYlEpWawPNpf32hDOTsC1euPz+TMSvRYcVIK8RVnQwAn5bQW9OttIMrkELY2eNyOdS9LWpDvBMVxYlrlPu7mtlcSpGsF1I97cojVVlOYaIQWzZjY15mc0TGXfR/fYOmzk6uFogPFgYY72ni99Yq+EZBEMmHmp9ETzYQsMSraeEGAuRVmlVwuC7MTukOivmRknSrgPbxPPSEqMuIkWAQ7e3SKSNqoohOYK+dwEVq99s9ltNlpGpqFc1ZtfpR+qIJXEq8pWpWR17Gyg8QCARIeqiogOQhlRLo8hxq3jf1bFmovp76njGW/nkXXcWV1CuDFCejKnRvAcp3zH1Uzf1/VEd8/CRvfyqVR8HHw6jxWMt6YEA0vXnlevhrxsQGpiT6A8KqFG+kE0hpmh5Yp/D8PAW/sYAzUIfx6W8SjH+DZGaLQolwOExZ2XF85Yg2pa4MFZ9ipfXJ7OqqAmjS7F59EvmWGPvpDZLf7ed3vytaKxooKxRpR+Tnp1lfN+fXxm3s5wvMwJ4UZuBvN2204ZBITy2PfN8xg/69VWjWjzqNvz+X6DBz5Yrx7eelUF2ByX/JF1biDN1kW17GcDnH0NhcK/TqJYiJUx0vFuI6SVliOaI+l5SxWp4f/+YWGxChJmHL4ou6giIRdMG42baVE+zN6eu2RKS9kdJrd5p4U/vN71H/uq5L4DzTogFUbN5did7g8BS0NiDdgEzTs8Mbu+g+35OCLP7oUFROyGDrEzIw0k+D+5Whs21tPf57SiKWnfW9iWZuJcCQf4lHzwh0rS6bzjlvtXmNP/f3k4PI7fDLa9KiKs8E4GZlmSCxHGytoV+Mo+VZNje/gnRIh0T5SgGuM4wjg6MfGBmi+8VDnu2cJaAAq8teORaEdTmMnn+W4kyGp2dEuM9CVRYzM5Ncyk+a+199ELu32+xyFkznHJPQpghqhSX5kQrRXL9xaRzYjC1aFFyVQWpJx5N1nbyVo1cPS0JBsaws1vwhFtV4hCtfk+fW2FxHlo1lv8f7C/9vQgMhMkWZ6zLIqyW6bJusuyDL4W//vSX05WcZ1QKH6kK9d7Fc8SU0OYmiUQz31Rzl679Lp78Xa7mTfFV6WPNjW875nLKMpsaJd+WhbJpaRU1tznfBEN0/eJ6SgRJm3l4ikjPAP2yLActi7kaU7xLyvYvmk9d9b8mi1CrmFaebkMwAMmaJ5WWbsCWWLbGxIZwFsbAnDIAh2wYDSLNmJ9B/8rob50QgsMzcgreKnRRWrBHruizlTpZPJ8hJqEj4uq0TZISSzO5mJvv3WbvDeQxJYTFzmrq5FvRRHzqr3k5+l+ufb5FZQFgS52QTVoiFG1J/W8zbFj6JTHuG4Wujt+6vEva6ASjc+thiZBl6m1TKYXzy5PiQ0c0ZCWx954a//YQnhRKOgiN/05boxq7b596XxeCo0Iv61JPBjcznNPCli36TYfi00EYKnSsj0pKkOO/64y9LKOyg15vPuJ6Hdc859qyAki3RoiKUl48uLRNwCwkrjvQyV9qitKiKO5Witz5C4x19PP54MQbT3cyc5vjOsw/znZkAnbqKYtv4fSLqOKi5mctKIy3RGhTdYVE5I2JlMqu45gGkRuKvxXFe8TrtWpQrm7mJW61mcnxMWEqRlEVUoiqrQVz/MPE7tnDv0fGuoDX3+VowqJoSs0K1hJSHJTGlAiq6K2hoMsHelBrJlw99N89ABO+7l5TKsCqsM+GIJXl5vPyzL+HvNj76CxIPShxsBbDvuEBAGTPQLCygllweGxspyVeu/AIBK8JeKoKrgMkLuYG50onfK7J/2zJukCO+mgYUHab8vSRl3eKJvQLilx8zv9eLu18Xw8NBpF0zqVafcT9nGDX7CYdFjRe/iPljbDVs0VApDj4Q9hHxnIV0mZiM2zIvT0az+9rp8rs0XjfIG16riQmh4Ajaqcas3OvpUJLOQOhEYmiJIqR0WqlQGOW1G+XwVHj3+Sa5dNdZK5dItLUx0CBCp6npXfc6JbdLunSGyM9xpn1MJl6kuMwuplgems8iT5exZR/tOE/Wg3l3zXuDOH7hq6oitrl5W2PG1VQL2zfRMc9avFKUe9TZFZ0v8mjicSSzqGzMHmfLJIWecf4VTWBJx3k5OWW/nX+2PoN/UUmWXEnOZ3G5H/2f86/l/6v/Qdv/8l0VhUe0+JuL0l99BtcNSTqQ5Eqb8iuPuPTXkn5X0v/Lln7H0V+4f6b/+U+uP/WXDqTAXwa184ODMy78DyX9W+9zn37J62GSpEhE2toy95UUk6P8P3GlX/ld+WuSYqpdXz//W/qf/Lbm5OpX9acq+l+uavtPzivx3/7PGvraX0gBn/5Ef6Knf/cf6bloUP9r6Od0ceb39FePS39uWZLfr19K/3+kxd/T//ifpf/zf5IWCKmCWml7VkpVSfqX+g/f/w/6q5+3pVBI+kfSX/+b/1/OM3jsOR9I6E/1ZyHk5MXk/u+S/kqy/6dvKfgbP5B+Wir8C2lHkgrNme1q14f39ct1/kDSv1f8z6T5gPRa0JWiy+q9eE0zDxdpN7KjA0l/Ib9mZUnfScha29alf/Az+lP9W+EinWjRtqSIFHL0/T/8z/pL/bok6Tfk6ju6T/qPBYr+5Sf6a1+X/irYruH/+F9V85//SqZF24rH/1obG3+mX4v8F/0X/kK/9qd/of+q/6L/cJMm8l8l83uTpF7J9UrhStr7r5L+c/bIfyX9+T+T+z+0yWfVKe/v+3TpV/5XyTJVaf1vd4r/m6QL35fjK1I4salTDycVWNIVybYln8989R+tP9cP/L+v//LvK/VvnlvWX/8nS1JMEorp7wnt6qfl05/8ibSrqK59lMjWknRJshRVQPdJJZJmct6tpD//c+nCJVuBf2T6ekR+/Qv/f9b/Jfj/1axPKvaOdoN/Icf3X86onX8t6R8f/WVJ+qKa1KteSa5c/TuF9IKkv7juTFeS7ffrP/mlv7bOuLQ/cOLPX9Gv6K+u6/S/dPTpP0r6gWSGrMh59V0Kq8GWpCX9iX5Xf62/1p/pz07fxPv/X8n/a/+99JdS8V//pSb/639Qp6S2M4p14u5/GtBv3uIYSXL+teR61fS/OT+jP/jff1/SUdO4vjin/v2i/vz6YxU4++Cz/n0WO4U1/egBkM/aAhKv2H4q7Ovl7jT7aa8bMFz25cLVBK57yagynbUlHBtB6znbXFdMSEROUGOfZTYJWQzI4si/6rrIFWNyONA0H83EsK1Bti0j9Rdw27CVOYpxRKNVjI+/gf+CyTiVDN75d3wjPPSHfWwNDTK3ukTGb1Yfk80yUL2c3ZTjPIxldRrdZ6/M1pCYeXMGDT9Ix8rblMjEVaZO1W0gIMafFrq2ba45LRKJKG8uDNMp8Zw8cZRtoRFhR2z2dmwcRxTNzvLqhNgfFsv9FnrBj536Y+zDdpxJT8hlXLgBMTu7jeUusWhld6gdKFdtTSmkOSZqyrjY/bB5jnyhRxwU3qGyrIzX3niLqqpyenvbaLcHKbWq0cii0SWQl2ew98kt3tks4zqVJHikz3Bsbr2OdATukFEdU2cnKu5hY+lNtqPJo2Mv/IsJ7MMryBXpdD4TE69gchQi9OgRdrWL1tZQ9HQQNYK0jNVrMfUL5wgEQkjfwpLLeX2LDblHGdZBneOCDkjKkxF1RUBJxvU1U/5se4iK3mGRmp3FvbiOLphdwKJEfFVoL0z/IyMUZPNmenT2zuYM88s6cvWUFBbybOfLdGjtbG6uz8CG5OVz5Lw7yaG5VVSUiUHLYWtGZsd2G7GI9naLa0+YAPet3L6b0/J0TG5lszmff4mTZIzCxFjOoia/3qIyoJbs37c11n8Wk4Js5RCp/e2wgC0eKjdbqLuz33v0AJVln+aah4TlsONhgB2Vc6A7ScmgECQhx6bg0W6iXVG2Hh2k82v3Y1ARhkM/O4hmrxmXSFWKtGUoB8z3g9yrJi8Nv4wKR9hl4lDlPHphmaros8TKfJSUFNEYqCSsCr5fWEhbJIxxEVSQDrdwtbefN6IP8UlZGZ9885u01tXRYRdRsOpSmDR0zoeqwdY4JSkRiGQo0jJm4ElhAnr5XgP0GmLmO5T5q5DyyVcxIRk3V6lkBtuPV1BPGscRJVl8tyVPaNyHVEREOTrPCqKiIuQTdZU++qxe8pfq6RyoY+zggBnJQB99ZSbP5JHHOZQ4KBb3OqJs7AollkVtVvAlnY/Cp5OxRFRRUnrT3C8o1G4ht5LSt97mjYEB6hRhRCnWN0fp6Kpls08kw6Iy8RLWeR8/dzh2XRzhpJVRfPRuA5wlUCNLhrLBS7xaqjT19mFTE9WFI1il/5xSt8e4zjZFdO0q+RspVC6qqptx7niay51C795JodNNfWU9Kt9DzsnndeVpGYdF8RcPcOL3UnnkmixDusSNGGMrJRzHT0n5IKWlnta4hHyisEgEysrZ1z7BHDRPIt5JMr+PtqeLSNXcrI6EcRF6ORIBXU/cFgpRXFBIfqrUyI4WFxtoaE4f/FHHhYxOy3qaullMDtAXNWR9NWXCdUTZTYjlVCFki2B7HQVPPIdOL/ZOjImPmP4zotsSCQqrLCcY38z18rshsmSLtzKfTlJ6/FgnhZi8AJstFAqg0c0f+YV9luaP+tn81pdIZeoYmNkiN94x+Rndw5GDo5xOGffT9L/cT9F0CT5nmG9v34WBKA5wFvdQeaOofki02+KC/Ljyoe4vkl9Xz/y8uJAnxgLCHRaybdx4mC982eLdoRQvPv8O6/FfRRqjpcUlnRbGBz5OsnSfc2+8zk5REVZjI2GfUZObskXlnaKl1gSoVSFDgeyIhC26faLRKqdd1YxrnGJ1YjqyuKB8LM3hl988i2+K0mulR/kbltcAbcnUydBb7Hzwggkgnr9RHTYiPU5rq8NTV+/kQftBUrspRppHvPvkHpvG5ymGrctHSOJgXvT5RWzKO/Z+cfDW5TPuU4shgsv+beqpdH+ZN14bpFqiX2KkaYSaoho0uoyiccY1jiOHT178lkcV7ZlPN0GxxU/dy5jriNfHHBq9VfH8vPl+qONuKrrvZuUf/R1iZR+b6/rEe9rh3isBNt5/k8lkN+rqpEVi2Aqw4vOhSaEvCyd+coUaUlavoBL5TKb9hC54z3yF04HcHn8fzRpCWmCiVmjYj4aHj/uR9x580+LKw36kfTRwCVWZ56iRqJNJKsu7ZZ8Z4gjaG9cRW6wx33EfqZHZufb0oHgOFYTfz60o0K+zCuEfzFm4aZEsZ9eJyaHbQXXHgehgWEycyve4IIP8ypcM7NcVVkErbs8vIp1ajPiUQ+E9gBQxWd23MSkUqpKWI5aEaqTnDBCjy/y+czvP7Zzd736sk4LlNUBVyTBV3jL79CdrvqgY/2dJChtLmA9+TK74+Y9uSaQmOtVJq77IEarBEjWPDFHw4T6ObfHKwXnKyrIEYBePz4/JBIl83uc9UbF4kTGJyoYuSsrKCIZE2JbXUbpRWRn65nskn4ySF7AJhfLQQB3Dw1X09+tEok1pqcUbb4QISwSD4p3zpuMOSoTadAydc2RWbANCdaJ9RSRSJgM2oMAJt1tYNpbC7GsfRe5Em1dw4o4R8KioIK9og2VZ1Ev0K4ACs4Qf/lmTZDRp4Iodp+sxbqPmID5fOz7fEJJlJqszLBqMc67LZI6GtIWlMN/dF9ayhfK9jNKAuHf+LFePaxLnjtxjXUhBFqMD7A5auDLPfHfN3YwWjKC1IZQ4dv3d+7NhFHBRFtW0ohPkc7drSXXjUxOWJR7fF1U+EXi/FXehj9D4MtZ+2OwUVkVCYYJJP+GJOeIJl+ZmM4gF4vcRWt809TTWw4DfR13ufQJCXSI/r5rdZ57BH/YzoOwu8qucmLDcIQZ3vk27AkhBgyTLCeI6coybSmI+2MJvxX6G3t4IbmQWuYYErk2ljKn0NpOqHscQyZ3+Poxhn7148/MvXsQwpN48P+eEeW38GC4bQrKJSkdyuI5Er78XuZ505YAIW2IzZD7bXaLPu0afREJpsgl5LS0OV6+eDqoP4POJnh4Rj4vm/Q5DBd+v25QTrebIhRS1UdvJdxO+wXm93rMoKcMUe4a63Y91UjiyGpE/dpswyp+g+VyLJ5/Mp35GRlDjM7z2FX8EJTqR3BO5BPkSpXeLut9swvG5vPA7v0Vl5RxSgit6GO16ylYhoe6UiRU0Cn2oowSdzKV1UrPDHB6KZ54RF3WITy2USSTzCyiIr6AXxtHmt7nyGw203F1EY6NQR5PBej8uigLiiRpRF2xjJHYMq6tRjpjKkeWTndSqlSJwtA1OcCNmVVuiOj6Fv67CMHXupdHCSM4xLlIdT/p/His1R0GjcZXUSOjJnHeUFIkOEQ4PU1m5gSWLJq8eR3ScTCTJSER++T5vW30BKUyTCtCVNVRUgAoKkGXx1CfjWD5RkPvOGxvQb68yEbJ4VVe4N6+WlOOnMTCEVbNJUG3EtEjjTgOZngzSk0jVFCTuw9pyeG38CmNy0Bli9Ldn5Wh7BkXNlt+yxBe/dIWi0TATk39Idf84ef80Hyd1iQOvfnVFhobilUbCSR+VHdVUyiHsUUq8VSJUP4Tck+/I8cXIqz1PrE9MPliHK9fELs6wvLwGbPvUIJ1vI+v6BVRSlXTol6l/pQwnkkvrUIGjyhO7hKhuFGMswLhDPn3fy1PWTXfAjaixFZZxTW0e98vj8Sll2qcjlHfcnhsk3OICUnl5qCnH/dck7AHR4KHGqiRCSpKVys1rFG13mRhZdrAOqoliR7x8pwh3iIrpGuTvRwOd163e07riQa/PkIBVFJWHzMJbzRxT3/uR4kQkQq5QKonkoyH7nBE/bnmCS2fUzU9mUrDEgnVzJs6/CYv6/XzjuSU0L/T8Z3PNoMz20UoLvTSLolFWVoXtGJjZwqIYfKCbB//HV5FvkvU/+CPWm5qRhrDUQ8Dq4QXLS6h6bRKVx7GWV7xgrnef9nZUXc3UhChIiTXZ+NTPPSpmeHaRpd5tVCcs28axH2FZ7WYbnBYacdCKyRq2JFRegToH0Q3x1kILX0MBj2bYmiTLFjmoATI3kMMMSTzXa1HULfSqZzUmTyG1ZnDyksUnHRs4j1ssS6xkG+xaFpLXRVNBOU8Ni7WGdf7NH/0bfD7jGpjX9YNKJJJmdvZtViWymHpL30YTLkquGXU912V9fQ1XYsmSyU3x+H/kbCGt4shi9k0RyYh1reLIpbyinI6uTu607mJEI1iykRpYVSOOJaz126VGuXEf8Vkuy56OgSXxsWUTkljo6yPd082LLw0SiVhHUOQ1SwYiG/CjggLsoRd4XFEaJGSZ4yxrkaNsXc+dFZaYkW1oNnrnOZ3Nmwt1npt1CIdPUlkvLSbx+b/q1ZnMrkjiaVk0n1tH9iLGDVTO9LRFLFZPTA3M5LjTOnQDEafiB1Bv323y95wNy56RB1K4GbSzXgYi65VpXrnjk9fGw8rJjVhACpL83vcYe/UP0eWvIbWivj7Wil9Fs/0oLBKJVSYnJ1irSrHZLlZ7e0m/WsrQ2ByNKzFeWV1l1rYpl0WnFrEUQFrD0gzypHNPux0tOUj2CRLMY2tDq9XeOXbOM2ew1E+zRE1CaGKM40nFwoAtBs+sv5/MpFAtdsZuQAfxN2jRQJj373nVuGdO0wN8SrNlVirRUlGxs4WcOE11RVgbT5pj8kRjfInMbz6GqpKEm+4ifO3XkONQrWrmNcYPhkRHvTlW7eJSU/4J1aqBc3U0DZdwrUb8P4Li93QvAT2AWR3YSI00l4rVx8XHKmNFEfPym7MrsHwCAVFbK1RXh4ZH0Wgbqh3OeRaPcK85gfLeQLZxldSui+68Zvx+8cxMBV1tJZROVJCrW9DcnNO5/BWmbj3USULCHWnktcFpQrrAEx8/YaiPm3LrMUvyF6VZAZ6WGJqt4Nn/+wG2z0bNMoPRKUEk22+TqvPiQvX1yOdyWeNY1RYK5ntl9M63ZXZgrlDSBLaLXvsCCpVyRTKuH0e8rjrOawO1JtFCCY1aJKNWNrRBQkkuyVuVvv2jEROWX4kxY5eTf6TjbDHSfJnhsMh7RfhLo8TjJ9X5zs5mL0AqNHTPEbGzc5FQqMsMcI+ZNtWkGJbOUxmPMzHdgVw7552J13U84Z6vs4j6Tu4KRuI27os5q9bsu7Ue4O5PatGrrSgygBQglXqKbifDhF9sXtVJKuezzN+LPzZxW5QwkolZXpf9nGOVOl6dl6iEEiWY0a0WqDVcT3vxLlIK5RehZDUqiiFfBPXGKPBXk10ouW6+0b4IuhRGRH4sRml1DXOJiyj/Cpn8fFJHRJalSPsUqYAFpZAcLl0Szol8qSGu6IvY9jkODk7uFGyJRg0c91W9iRr7kS0WNcC0ZkjLx6iCqHrWE9gKI+3ctE5/fJOCz1hWhOZv2y7hPrlErSjvh8dJSyfUvn50G6VZlTwZ28e6mKAvL4T13XaUMUlnvy0x8N/to2dmUekikdJf5yi4FxbjlpjU4yxY76O+lHEbeX7GcFhYFyq5+AsZ2tvFfiRycsW1YaNoL31hYT2lYzHxWaHf+fpRYlQolKS9fS2nzNU4Wid0FAzrQ7JRf6XXSYRsm/ZIlKtf+10GB7vo3GkgL1lDnRrp0wM0RBrQiuhfMtcM6sa03D2hEM7WFpd+XWaQ7s39/dhX3yDxsIR/fZ35f/Uets9B/fcRvktYYxHPh+ydF4ijTu/vri7k9xO5+B5qs7xkuF4kh8gn9yE7jHqzq6ot0nqCyrd7UMi8h33pSC/ADCoFSNU0B4YocmsIrQl7xofeSSFHRLKZvWf4aG/PkshuQL3m2S2Je7NykB3CyU96VOG5q98ajN63yKiIb2iWMZXQrlIz4SWEcdP1oJhYaTaT35RMUpablyZwoRX5xVROZvKXIzm7sE5dR7rYEwjjjF5Gl0pwNM3e0W9N6JM4eutbKJpNQPsSUgnxjFh/+XbqoQbDvHpW/HGc6zP9zTOGlGRLX0NZMkHPmnQML61WNTUqYFcnF6hVMq5ISVyUMDGN0/fvQvJjP3AvobD3DlIyPGGOg5lEIqbPhEKmv37qtnB75khGqzvXeoUc0a8FpB3KFWBdYayWPeTRtUuj19XTcd0P/RgnhRWhNfGYOllS3g2Dg39TdkkVRP3jvL+xgaVj2b3PxhwsWbz1xS0yZWsoGUVbA8ZF4DXI/Ce/R9dcP5LD+/oYXxYxsS4Gg6JBAdzBEFqrRKGaI/nItTURignfTwnLtjiC78msHNt9OeVwZQaVgNCzQhO+I876LHe6NHV0fFppJnWazfH4+irYQS/OYD8Y9HQiOtB0M1IrjhzsD236AiI2bY4fkQdFlSEkK8+9riXk8+H7O1OGE2bi7Htm383K+jo/c+H/iSMf0iW292eYn9814uVH56WRhz4aGTG5EBd8vuMt8ripk299cgk5q2g8O/m8iNRsFjISmhIbGiKmEInICosDxxjw/v42qqpKWHJFvKMF9b6C5LCjKRPku12e/jPNRdo6eu7vSia2tG7Efx4ZWkGhnEzeIhvd6yCfcceF5FKrU+R3o6MeIsfUoyWh0AS+IYdylTHk4dsvTOnIPTGzKdxsXQwPH1G+H1kyhL58HvktlJPT0C2x9YnQ9CXkz+Lo1zF4+SqTz+Ed2yiPm+k6q8AdWWA88LUz+9XZLqFapF58Cp74fVJnu5dOm0HDmc++s45JC7WOIAXIf+RB5l64ilpi6Pfn0SsPMdU1h7oeReNbrOmQgWdfpuSeAxq+2Y6ujTDVvI26u9HEnUQmW3jQfpDmqYd4SPcyLR9bKdHTNcikWgkvVzH4UCd6KA81+5DGzOTeM4i0ZvqJt5NwpVvAoG88PmnqrHo0eiY/vkkhYezy5cvU3oze+G/QwnaAZ0r3zaB5M5rfH9ImZLh03n5yh8w7y/jkp3jpBVRcdXRMsxp5urgL+Xy8UPYCrnUSw9yXESv3CtXFcd0UJaXebztCYfHSx56+7ZUWDBmZ8T+nzyqTcxGVHQcbE8qlWXjlBs/hQwt3opIs73oeh/oyKhYxvxhpKeM738lQ9vv56FsPobIw/lbRJQt/xRXTcLOuggsiGRXd8lOcKUL+cu7RRS5rHnVdMUinCplVzkPeOftiNGhiEIsS64l1Nh7+75FjJoGnww00P/OcV7ZsEC4PyegllJaW4DgOhzkDQ1l5GbZt8ckrMpOShxFfWSkinc6Kn9uoQhSrBFc+fL46iktKj+vl3Abq7PL+jnMs+9jMrvLNCvRT5OOUS8y4QpeOv6vIdmA9SkhtpEuEXFFebsofiYq3OrMINCFtklDyBEOoyt5DToKMxLItdEW4bjklpRYKV6F8bxFQcbIs2Tq7UFpG1K06Wd5YGD15vZpbRqJhrBwNOSZvRAbmmVQCQ1GxdXRsnjwCuWIhn3AVo0TbSC/jlroMO8M3rCvJoGhaTn2X7Xcn6++0HecxJGR2TDW6+eDaWBAmv6kTySGgOEXFK6gggAbqKRg6x2KoAGW6UIXLkurpLS4h1tBKXlUa9ZRRmd+EMkWoogNfRQHdVjcFFT30qJNK2TRWi6K7Sqi4XICvNkFJT5qa91v48OFJQqFdnrlvnJUHfpu2vD9m6oUetv1CepXg5U/4zXs/4ZMrTZzbEG8/IaZVxre0y5h+mcUL4r2o6FIxL+p+mrfKKbhPlF4Q+rWzdlzGfnyTQta6hZWXnYlvlan7k7ULUXHwvouVEs7gZ3z97W3eth0yU/NGKWvqWaySJiQfQQVpydj83j8ZJ1EcJTafz5K9fuL8GQm5FtILhNx2s729kP3dZfpbQraFW38HG8OP41vdPrscde4RaqlIYtw1naBKxnd5dvDKh+LF6K2voIyF5GdQz1KtEqNidl7cMzWF4wSwZJl32yDiZeIFzZFWyripRh38lsO5QICIXuVOvcXLfUO4ienjttB6GT06ZT7/ontdhmjatZiUy3pzLRstL2IGyYtMuz4CuRw5ro0VtXGP5BvHkAL4tsWcZdwmX9ckIbnMXDzZFhccUWAJ6WsYt8EFhl0DOUwl7mJs8TjQ2n93P5VjVcgRdtsK9pELrohsvsZxcNLQsy+f8V4M6WBuWcvMzm6nB6kBWcLd3sckuj1okrTeclBULEwbBbxiiftlVrcZWczIwZZN4ATi5quc1isujIovrQirqAKn8zRRWx1yjzNhXUWRvnHqmBAGHnrymaamROH+DOdWzhHYHuO0i8KRR/a2u44uBpG1bXI7omb3PCIha4ZgMMTkxns/nn5vmXyQH+acK+k0bW1tDEn0KUG/XqBOKb4SDPK7z4zy70sv8KYmGdZlnnFtXpRDvm0RC4R421njhR0Lx43QYb1Kq5pwNEWDrtJ3TgwFzM4uKNHZ0kJr68vIcfBZ8t79Oe89GJLKKz6HrWw9uiLgmAxo1xWybHxaJOj0YAX2kVwcxyJpx3ncGqTtcI6++4NMd7tYmYUzeJ+M/fgnBWV9dgFOuCL+FthiNMC3398hXSMWHv+Mrx+N8lU5LOtJpGIe6T5H3cMlBHWZr+lD6ktrmPrSOpFIAnv/F4k47+ScX4lUiFaFUnloz28GjKgwweQdFO3FssTFIRENRlHkrIQsC7VeOnIZORIDWyJ4IMbWenhyoZnV1dN4bhtpn6CdpK3gp5BTTKSzj6/5po2utXSUcStNUaFSxhwZF5BERP1cTk/jPyc6GiZ4rn2E1W9MYUXzsZVHRPJgcDvUyE+eU4FCq+Z69+0bqcSc8qQu1dOth+mtaqev6gPMYP4AX9wW8ZDM7sIWuthCzBpkI9J+4vyvTfUSlXERRGUG4r4HREfHJoGAccVsXRNF1UJdUeRYJBSlfkMoLq72r7ARHcLEFKpoujtI0baL5kR7r5+Ocb/Z6fSerntj1p6IXEeFHGFZzSbBScIgW6pR0EUfXiELGLg09V0kH6rpRPWl6IFpFDLxDlsnWTBL40WsN8zRrnbeUgdOgzziv4hpBzmssFZIRIZFV0UNd4wZWcZeZScpH9odQj4zYGxri3EVnSp/EjOBnnyuUMgsNKJvjWEVxchNIhvpEU9YorhKaDGC5ixUl+MKCwRQezu9XeL810U473rCu1tZjW4jOa5IrM+d1Fu4lV2SgWm/L9EmIYXxyaZQojAkrrlRCiRCmsB/sZmwtYhdX8juOxa7MxF+pa2EmY33GYhV0SM/8wrxrJIEIv1MW308GRMfNoi3/X6qhuZpmGvipeI49fLRVTlGtFo81dRKSn3E9+7mCdemtSKFf6yG750XX1qKsPx0M1po4gF9hX8y4aP8eSFt0t0dpbk5zKJaKFQ9d+gd9jVDSe8I05o+83l/IpPC31brjYpvvS9UnUYPLX2m174i4zftnE2j9kI6qxMkK+4+cUz/mxuE25MknF42K+Zz/OP1uKo4Kdo9I668kHuPFjMYvmXgd9sSyj+JEllRgifzc3dnPuq3U/jPXaJ7ooUGu4aWlgja1algYh7+hEP9ZhJVi4v3vE23+zXqlfEU6kzw7nz2eNuPmvZNUPujWtTQS2DaZrAqRXm8/ETjS0hkNE1YF3hiPE5NVTVyZj23yQFGG+F4EGpWkqfVwWBFB8OVxyvYl3dSxEI2elseHC+I9JCpl3w/uu8uFA0z3jJOUmaltZ8nfJZoyRfPN4i8rN+8WiZo2LuHHD9RZTUWRF5zP7IGCChFRGXsNqYYKvMRT1TTkXdIZ2ECPbOJWp7jiLnT1S2E4UNkg/d5trAqYsjvx2e7PNycEzjfakGDLiprQGNi66Mt4v7jNvG2xK7MKrMoIhaqknTIofOSUK1QVKQeSGFFLI52MTLuv/P1olD1NMtMyG/peOeyryZ83m6jSCnePI31DyfRha9x7UbPNzKGfAaq7CQ3OHAm6GrupCF3VxqJGOrxRAWlpZ3cmxzCrX+QlngZmhUDPtHYKFZXRX6zTojopHQ658ksiMrkuUXv1hF6TMm4915uTaV9S4sIBUVCa7gqQAU2U3lbVFypIJ1y+XjqIt9cyKNKCXoDUWYiEaQYxfJTqSSObDL5pm0ZWok2otFW5htEssp8l25uocqupkxRKuXQVNJEuFRUV9d6bbyZSlnEFEcXyiiqFWOlFdi1j/Jmi4HWvqhJylXBxzI7SV0OYlm1vKEGBjXIuERVSxW57rxc+/FPCoNChSuf6YD7WdmqX5xf9f4+LXryI5olb3B4qhE9Vsfo2BiFdx1LKa5IfHFpmpJfjKOiYob/4i8obG3FJ7HQ3kl+Vw/jI+PHjXFWWPYKrk8sLOTcy8q53/q6cV14qAfLmsBe92BsPUIlaWQNITnsrewyMzbNg4eiw7ZysNEO0qrpSNaLqKwQu8foDBRolQlZmAGt6VQQz6s/ZxwpSUgh5jWPrGxOglAiwQvjL3JN/0ek57GsYc6p1Pxui2VZ2N6x8/J0g9XEmPUU6w0NbDQew15te8l0Eq/cNaqjSa8iLaD1ErTUj0LinHWOqTGLZFJYK+adrK6LOc0Q9hAmoxKpKqGO4zYwo2kiivCt5T1ce5byctHVEaCr+znm57t48plXsFY9PVzbZkWPkM0EzrsiRsbPbhenbSUk3Jf6UXExrivWFk+1w+x7yQhrZBZl4cUSVtkKVof3OV/YQzM0KEbjio7QaovLiwQ8bqAJHceSLFmUqIR+L9kp913mfp7XPNHTSJxgEM0vsZFt40tCy3FkT6KVMubfewV/zLg9NGNhxUxOiiVRapXyYuAlXvqF79O1+V3GJl7hiWtJWlssJBvZ1pGWhXK1BY7qYZX5vtMZu9ZJN+j8NIpG0N4ymh333kuX+W1lBdlTaCmK0YiwkVYMMOZFsfKgMHkKpzWVZ9F+H5quYlKWEbDZDmGtLCJLzC+JwVcs5n5/jT+wJ+mteplXOgZY1nP8U5Xy53qTCWX4F2sx/tKe5I/LzP3u/A3x794WL02Jnqh4SWJOFioVq13iRYmX81YYGxO1j4iXXgyzMD9tclBs0domuqtWeUEO+VZWB8TUoZOtR68OHVlYyua5ZJBeQooY3Y6cLOof+6QwnxTT/vSZv/1N22QgzOH+jQKtP6KVCndOXNqKoDu7UZ7NlXu+e/R7WiKvfgjnuXdRvsvO0w9S5a/CkiioF+mKNMspz5edFLpfqL0W61IJBa3ed2fcd3tARINCykdX1w1e3etgJhfAQbpEyxPF3H2Qz8y+eGRmD2c3aFxA5Zsc+6CTdDVvsLMyRpGKeFT1XoMKc6OV1yM6pExF1Gcb5PvCLfVcRq5LKq8Wn44Dt2/m5DcUqoHs5FKQPb+oGS0+w3r+MBsFx/7vF3d3iYWOuWTCeeL+wnpcPUCsUTxeK8Ku+NKXrmD1rqNYAbpYj3w2T0vkK/+IeTMl4VMS1WeOkB1vK5+MHAoLx5AsEkFRlBKxuhhxf5BUykJqoEGmI6b15lFZfOlcQr/bs0MJXbBRtcmItiSuNAqF40zsvEB1aSk1cy/gU4gveh1ewUKTYyNR7BcfJQ2iJ1KYc+06IUeE1Ei31+4KNYT0HKoUOxO1hE/E+lLUK328Eq/RMSora3Y9KrBRpBQ9Podqu1FhN1IeKgxSUGCSsMISFTVieErUjozy31hP0/5akNYPX+Tl1nbiwUpSlsgbFlPTYqpult5XyjiYEPek014WrlCD2Q1fkJD/aeyEl8neYFbdXRLf3RcHR/Qbg0idqDBtAujFMpomEkqnkZWH0g4GreYlcqVNXRVWen3nOmH7fBRNGLip12amXB9TtbXEGkV9nZguERWFoteqRI2VZGSTVgHlErXKJyGHOrnUKY/SoLlfvE7UhUQyT0Qc8V4iwYNbH3EYLOGRuGiX+I6vkF9LGYLE3TqHvYJ8XpTYaRaZhwaIh/4x9dY5Pr5cwGi9i23Xcuj1n3qJjqConrRQ14fUD2Zydln5ZjwoPPl+f+yTgmRWYn/b8hQk8VEwyiOX30d2IQrMn3FMiJtmRd7ESiSmJXzlIv7kAJZts68FTtBC9PTgu3OKgERQy2SZUlUjCtPKUZ/aQXJROg+11Rt3R5HNmbqyr8skE+0VoI4tM2iEQuiUyEeyxGzNFTYIn69LdCzYBFpOcrQUtLxP3bA4HDhkotYEdg3GO0Y2CJZr7bKIhPf5qkRwTGYya7xxPc3kSiuGBo7qO6iseyqO1ELpehtlG+0EZoRdLN7bCpEIeu/GEnpCqMLUU96QqO8JIb/F4KCOmUfDX0UKcvGes/hzMqivGrlmMBteXycci3FX8RT2qkVhg6idEaHeEGZStJHuYUDtXi7D+6bsAyHjutEKP6yglBty2IlMHj1T+Lvy2ksPKi+na+kFggoyEMqu5h0U8iNLXoA5++5yiNfe3KI/HqRbg7R67bJCk0jjBl/vH0bysy9hKYhUQr8qjyCaoW5hBeQ98wImttJn7p3UqaRDsxPxK4QUIK776Xh9jV/7xwnKtidptntJuCKUzAE4WGJ2q5nv/L0xvj90jmV5nGmXqtCM50YclNcuDFeXLUNOqEHRZolUWCTCITS/iSpFaL2XrtgErQkZKHad6VNDEtW6xoY+4D7d57WtdQyf0hb9CvJyYSH6+tdpTqXotnYIBl1DmDe9x9fefozWBjOBTjaK94YP+LhnkM73RV+3uBwQ70m8sPgk+79U7Wk0j3JRlawHRZ6/l6qCLn5udY4nax4nbzLIO++fp21RhFZDdFg27SELKYkbjh3RzWTFfKIKEJaBWMcdkZwNYwUiZDOTNyV2+v04jtmxOjKkljMRGZdibIM+VRv4fUkJmlpGsk7kbIT1E5oUKjXBmI4TRP622F3RKN99/31UkDRp6tnf2uRxnpzjOmbD2zRbBhXSripena3AsYW/6Dl0Z//RysuWeMAvnpVY05McqzbVY6k4BzPtTSTlMkHjUaHxLa+TjjM6mpMFmV0t+Te9Bi+DVQ+HmdjMQ+3tVElU7ghfUCae4DWGx5Vm1p4yrKZhoQEx8ZEfnyuedA+ptydwLPH+eLaTnsF7ZAt94DcN2tV15F7dOqk6tjtxDG0cu3BSivAEB9N6Ddqo5dFe0ZwvdvwbhHInRX85R1nVE0J6CymVk5chRs/7cXxi/pN5M9AET5V9xJR5V2J1zEcsbHHwwQXskI1qiwgMd7ChDaRsmR005tJhi1+emEcKIHfTe2YfP+yCwtmaYObwo6O/dy7n/F7ajmavmc8XsvV6B/qqkTJNK83UUc7JNkfJkJN+XP+xD75MolpRpDVU3oOevAcFsnW9wEl+nXzW1OpRRuyY5zvjmaokmiOi/17x9WSGb+lZfBpHehX5/QS8ybtDYqM/zcZ/00RwRmb32i2ccgdfU4xejZOnQnxD7WyNj3iLiR7MAiSMtM5uzn3Ho8LqE7U74kuXhG/fj2yx6hNJSzgem2z2eFfCVhC/It4Ems3VMay+rkTIslAkgmNZJKN+s3CyhXxRxsI/oMkxk7bjCNcx59g58bighM/nwx80bhq/XAKy8a2KjpEu3mtt5zs+H5V2kE1X5E372X9JrGwsk9fejvNUO3K+ylO7j/EdubRqhA4V8K7e4Ysa4ulgB+6A+HK5+HtvbxMKHRCT6FEP4+NZ0EgLWxON3O90MDc6yvjKOD19FnGZMdiVyLNt2t1NpBgXdNw+9vUTmhRe12tMy8zUL3yKAfbHYYcSbjTK8PvvY1bcOQRXGX1m2YiT3SlGv/+IWZWNTqHXRpAtnlOAjzP30eUmqZKwVIQUwpYoVoHXEbJUxoawq6lUTAaFfiC0XOU16moqX05gVT1q7lkk5CRMZypsJ9KeIrnXSZ5t85WWetyiIh7RSVHvLP/9c4cBlqwCqqq8zlQmqj8RroIs6xEiHvNkVZVpWEVnPnMGVVV7n/NQWQhtF6Gog5RPidaPdo15EvU5ENRRZVfAx1jyKokDibGKSSYqpikqKiBUF0DF15B9jFApLR1FB3NmIqoWO6ogIpcXqkqPfOQvPC0CgTxeq26hpKKE85UVfPlaPtbGOj2NYmnPBH5DMs8uXw+q+jlMADtKMFjA3l6KUoXN+7x8mcudonRbtFS/9iO3FUuVVKru+LsrwrYdiouLUVke+varKB7nOV3GkY0Oq0xSo0/GRbJ4PPgdCdW/V4wSDpKftDIU6AopHWBQXBFUnj4pQxuNcimRwCdxqLB5nyfKGaFE7VgqpVSlOM5jPPK1nyXdO0FZ/yaxUIxNp4CuEtGgUh588AKzW5/Q9WufcLjzCfPRBpQpNG6dJqESUdpSykEqj7L8a4SDreipPQbiu7x1pQnLKsVMRg5SEToU+9vlPBA9pMqfj0rXz6jLIj5r+Ls/KC5+fwU1D2LcTj4adIk9+ShVOUbsapYr+hBHGQ6v+Gl0bJ4oLiaoY0qS0tKTMPCU1w8KJZRMopTZXbZL9Momo4qjjOyERMoVulNExkR68gANfkKgqYkyPcCrVXMoMo0u/Aat1VsMWHeyv/0iq+df4b5Sm/JGMfyhcCtFqk607Qsl4pQ25WGyuPNQWeonMym4jlk1T8lkad4u2dWP2y74fCzPTXFeBeRm9n6W1mCLWlvIEeef+A5qsb0GnodGeo+1iCWk82xJLHmNZNY5xhF32yM8sGAmLtsWBX7x1pzFPW9v4Y4GcabGjRtlXChUj9xuNPA4VfnnaNZFuoZFccXcDWknJKHdfAyvuxf0k9CSiAbEH3zRoSxHKSss43a6/jpDSOc5pzDjQy9QekcaaRxboevee7vE5W97f9utLJ5vxD61s8grtOibdqh52qa2/rwp31w+G5OzBL0AquWI+Q+FveEcDXCOVpCGmdPDx4PeN86hUB/SVaacaVZnNo7Of0wWTbJplzfZLS6hkSH00pvIN3Yc/OzrZKnyEa9+NtnczO7Szt+gXs/Ggt/UtszAsSWRDAT4ysQEsgpwHLOb/VBGXa7ySYfePxaKmuOXlx3iceN/n/D6mTPzHj2BBNVK8or6j7PKHTN5hJxjeugZiVRFBcoJ6Jt3I1K2eNed5v6tXd4L/jzhL8wyXzaHNIbsMFZA+B3hrxZrH67xxDcDHGqO0VER7xL+euE4Dj6rwrSR/h4Kqp9i2llg9kMvx6ZbqMCU2+/abDt7WLOWoZPuCKIj/YBxbrqDXx01CXafZV92hfOUjeptTMwizobEOcc5cvP67Hosq9LrQ0nW9gMszs3QpiIek4mHfbjo4NoOOm92T/dJrCsXXrzp0WbIQNKDwtk5WRZnYgQVG0/COQnlOSdyY46Oy/3b6wNzAeGbEIXtRfRdG0W1tcze245tPc55vYoWWn4yk8LBgeFd71AHVz/LF/Uj2l0REf6SiKuPzwSydspsiTuWi2l7OoMWRfwL3UjTnMzXKOJ4lxInJmGpnGIVcH5tzawcAkKPhImXmtXP1paY/LbIxEQqE+fuO8TenIx7yZbhq7l0Ccuxeecd04DHFtqorBMbOi01eGyxZ4uor5/DZEh3INXR/W6MaDDA+w/vEE1FaWhoIJPJUU3LsYjEhpqoUphmWURC0SNqgx7lKsflWBa62Rnk4oj/Onr1mFNEfWSeotEFijuOibze0wUSRwODRUu8i66YSdiRxHnFCCtMd9edaKUZ5YfpjMVwauTBFH1Ie+b8JREvbPA6s3fvwSiaDqMvFqINk2A0rCAKXeDAl4WFxonFdPT57HZwXKasdd+g/lvlxd68OomrG8t7X/GSOE/NPEVcMeK6iOTgyz8gmBayRFGR2HrpHHbYgARmZZLbLly4i1QojE9RImrEVpeJM22Kg26xfV4UhY/f3/FAUk23kqjVpnS7k9bz4tdXozTG7yVuBbEyIuETDe3tLD+wxV3/hwz/cEt81CTe++UYwXSWpVY8uyB+bjHOw7MbfNjqo7LxCjpM4fgLiCiK4jaBgGhtNff2+8U7u/30X/oGilqG6uO0q+9mdlk3BGJ8WvNLPHVpi8LZMQwBXZivRUaYOW/apCvxlZ5jMsiCQvHFH4R4K7yNK5ewHUbLYuKJiwY5F88QlPh2pWjKyxkLJhqNfG+3zHuyyjm4WkCLZXawBTHx8qWwodSXccWOxS/R1Hvs1quR8QS8ojby5SecF6ZptQmpgF2V45dornC5f/3kxJmFwP9EJoXqR8WkHFrUQlbR6G/W5pBKSLgJrBELMwh+9vexHNH2RAbNppEVM4ND0kJWboZpGilDVOKunstoxkK7rbiZdmJLpsHFHrHZejU76GxTUhImky9iWiUruTcpUZFOo/wk+paB0y1bYvYr7UTDce65kEVZbSLFuaRcrHcQaYe6ZvHg0zKB2U4h1dDefhXHEi0JkaiO0PVILUtTvWyveNoIPqGIabADB0k+tHqpV+wk/85pazgwoj3ScXsICt2dPI5BeLTW0TJRc15UqpIqVR69u/d2dkiEjicFs3pMkvV5b2+LcKSf9o+HkNWLFKM1KewqoW7fSW1syciwao+jOMnzd6DCFGq7hKxjnP6IxDd0GYPQuj267OiM8OXIu7afPiZi6rFJd+HPmVySaickg7ppUjtP6dqJSbP2ci3DyqGDaFTO4BlFSZcdXSCkEJcvR5DqTrb19uNrOQUOpZdKafvZCO9OPMqcnmdND6Mmm+LKNhoKheKivSDAbHGYtQ/GWRqt4qE/epGfmb7IaluafktEAn7yw2F2NEJZ0TfYnhezaZHJeApsNaLZowFxlTpaoPjzL9L0gns8mIdCKHA3txOXCUiEZaFIwoshmKx3XRKyF/CriKgVJLGyg2q99jYh1JlEipFUIZZEIiySfpe4YjgqImkXHy9akhYlj/SRP1OK0cwI8c5+K9O+4zbQI/GmzESYPxyg+pUww9mdq0/c/dOi/1o2blbLrr5OYC+A+opwNM9DyXXUtoWsOGoXiYCFtduKlEfDugjlifTFJM+5G1RrCmkCKcRob4CeV7NtWFQqQlw+mtSEX37eUYgvqB6DNipHShDziero2fX5E5kUdD7XZbRxWx3px2umoS0vLxM47wUrx8ZQ/IdQa7pNa7BFzYKQPY5UgFYCyH993saoRPFWGbL7kL1KgQqYsKfM70ubOP4VpGI0/TQtwSDPa4/po+20qd/l3/otNDZkmFJlVn1LtkhZQd6157zOYKOwsLXAyUHN5qBZDD0tMzAfuXEcE7xeNXGNCVssWQ1sW57wSmkR6u+iQ+LJvA2ckRlqlbp+4Ms1y87Ji9g0/28IfXDuOKM5IIOfbs5HTw/SWLdKU/360btbm7cJHg2AE5gEpnWy7hp7Vihoo61NRkZfJpGoYm5NuG43KukyrqHcMtnCBFp9FEr0TS+hSAyTTGej0lLU1kZnh3i81EYTcyia216WbkjJPGydjL8kdVIoXQPyeKKWye5YLYlvSygYwJ6exipsZ6nvmuELklHIy7eP8zokGddhVN41XkCb6SPY7Wm3XLbM066P4GNzXH09xR/MfoG8xj7czi5sORRlShjs7eVRNfFPd6uYeFnU3F3NyGonq2Eb27KwXQenQSw+u82zz06ysF7B04fdBGWR1jYTp2hUBjeP9dDrtcHzYzYLMa8t2joSvVHHPqqZPaPMubaIZPGgRKeCqH/JxIK89mxcJjaVshgOipU1G1kbx/exziFNsKkH8MvkBWxW5zOrKRJ6mvXI8zgLnivnnA+9+SKqrTm6f9Q2rl5JOFNTPBYKHSvcVVZzoa+Tr08fl7etqZ5HG2rNxF5Wht3bjeaELAvHttg618xCdBBnwiAhl+UnaD+LlsqRYybVp+x1JjVBsUoMDc5cB1fvquGlWdOG5+dEv/sgGXUf3ff3JL7ofQ4Eg0xPL5m46cjZ9foTmBTmkUqoVjWOxpAaPpPB9tNaIiHOb4nDGlH9G7s4Hd5q8+4ClP7suZmiEp1F18dRDn+5zmRe5n5fE0TjZhdRpwzSMkklyc+0IsvicO5+tNNAfNim5vvlyD4pzP3cc8+d+HtFFh36Iq+8ZlPZkmZKYeYKS7zOkkNdEBTaE5X+IvLTC9T+HXHw3QTOd7+NSp7HCQSo2d9H6QxaXmZQuRrWQWx/kpqLMqu0V4RKb69uiiS6D83n/KhI1dYiWSekI4v8zSwUPoN+LYo2opTIxDOef1QszA/zpYYGzG7JpbZJlNZ4AitpIcdIjHZ35xOL+Ri5KBxfM4rkXy8IXyekYSSXgESqUMgVyddG2XQss3ItTdDwZZEJ1aHCylOKZkWkdWN1wdxn8kk5FBcy4ICI0HYVipqsdkvipyUG/TYaTFMaqOHee5/FF/chXSZPNn6JF+QQkRfYLzBllhzmVUiJapDGUFrUjYqKUREYFW9UP8rVj56j7KWPeNiaJl6foSEselROXzLIWLHL6HAV3d33871fvcp9U99je2mAnh4RGkvQMFbM3bV30KoxHtHvMBnNZ7epjHuaruBPFpHJE3ZNhqwkZl5eB3l520gWwcNjiom4RFeBKHJP02gIDV7iStPMUb9xa0SVXYQUwXVd3nvvPVre/jlk2RQpQY1biO3FvM7rPPHuOI9+9TLnVx3qvnfI7N8Te3eI0KG45m7y9de2UO3D3GlVU3f4MKoeZthx2P5iHaPWowRUjGprkWUR/QVR9GA1A//cpWkop4wRF+1UI5VTXfjrXMkk6U+ad/dIWAw/GubRCc/l6Vahl/IoeiFiJqWOEHurXyZ4vgbVxXAkLiuPtjv6eaLITPS7u7uEZorQT4WQJQZTYrJazG4bFJksoYyYVpACj1L8mxlRcpAkuBFE8qHFS1wYzeduD4kYtR0eTlejcCkqmTt6llId04n/BCYFY/0awHdDv+tP3vb3xbgviD+rurUcQKnPNqs5a8NeJ69uEZOTd3N48Q6c5R3sF2fYudclIdfQVDg6gtBl4buVwVLqVGlW69/KuW7OLB+2xEZQSHdyTt6guCvWFtdJF2wyOR/EHREfqAyp+wYyiCKoILYlpoe976ZF8AURuxhkMCSDGlmdu47rJ0/inex1OpXDjXS9BSRsx0E+Iw245632KyTKNIxknYQuX0qgQBut1THaalxaZVba/QrmQFZtut1dHpi/QNuAeyJxbEZ7dHVaRKNiUNs4Y72UdhYy3nyqbIdCfR+QXamvra0Ri8XQ8K+a1aWEfEHqB7ZIaxYDlcwJdu7dvA3kPlO+gif1O5qE8kUgMIZlpZDykLVMcG8P+UWgX8guptf/FCEFSchiRQGqJR6RD19uLCToEpSLf1HEf9Zh9+u7BNsm2Himlj/+E1H2hJiuDDKmPhxHBOObWKEMVfmP8ccLz/Fvi3v5oOld7rw8TGVa+AMiOBzDHqmi/7lv0XNnG/+nO5v5+nA/KYkW9ZLNl5md9ZOpipi2+mg9d1enCciwupaXD3G8Mw0ihYjrDFfakTWSr3oWFi0a8nYZHhR9ThNSPsGgCFlCqXy0tIn0OIP+GtysJkQwSCwUJm6JeDxApCyCekL44nHyHB8d4Tjjs7XERh6jJzlLaaQK9R/gi0RYW5zgMNhNxI5gDQ0Rd2zSEyEaF/rxfRzBnXHNYLwrdCGAYn1IoveciHYJ12ObLaoTbbNi483s8wwSXLuf3YXchcMAhn4kjeQg90nCF+9nxPEmkqDo94tax4t9lYpYq9h5V6jExF4ODsT7+THshQ4k8U5YzD0nyta9e9R1MVzRmLMo9aNAP0rZqCUruJPgca0YxT79uCeFLGFZtjA34Nr4idqIkG3E6jcjm4S+4nVs/xKykp/9/SqFykV7Rzt5VxPEYnfw9f1XqVYtCvgJhFop0gBvqRdVFqKhnJ2UbTG3O8KGROtEC3k1eabx6JTrIywC54R0BwF5u5KgeCmwSp2d5vz75/FP+QnqCfz2JO8Nm9V2r4zbKnudD7SHI7GT/c4vvnm32Pz62wQTcZRJopU+k8eRMylsKDeDt4sjDqAzbF6ioK7OU4ESe7cYTFUp7DkfE/f9AW7bsVbwgDbxe4ORLXGxKYjbcVocXeyOBnM6RAD5xrDtTnyndYDLhJouko0pBEYDWGELzR+ivlykSzvSY/Sq94gmI9uBb/QMLTpJ1GZpF/8ZvvL19fNEoncg2VjysxsMEvJPsDEwgoptNJndRSTwaxlHx/z/qxJ39ovGO1p5OXQ/z71o8/WfqmRqfgpZPmzbIRYTVrnQxSBX2++g7bVzbPxujPDlt7DtTuL+AEtyiSrKQJP4bztHeXjaZXv/DVK+91ny7+LIIqYcEZ4BGQEnCb9/FvuiB41uEW8Vi8dO18f/n7j/irH0OtN0wfc329uIbcJ777333mVGRmRGZkZEGnoy6Y3oPSWKomgkkqKTVNWlqq7q8lVd3aemTXVXNboxON0YgwHmcoCDuTg3c24GmBnMAebmmYv1bxcmSUlUn4sPmbH3/t3611qfe7/3mxEmd3Ps/f+kpDGJ3GEsvY7fb+FYQa/fiVEKly+KeyIyfaL9u0hBNDlJh+vSXiYG/vYy33/sl/x0W/z0Jys8Ofkk+ukREz/9KU1Nk+jiR/Q8OM078f/G6kef8vTTP0RuD2NPPMHtv29BO0PU7EQY0xT/i2x6h67j/N04P3lwioXlNjQo45WVq9A/IzDGwFCQjg6z/mbmxZTPTyRgFLYrlwP3JstOsVLwkWuSJFvooQDx+QQ7ox6SbU+4c2K+pTCHsyHxr5cMdNrvF8fHImgpX5+0KBEaFHbuvgZc1FEUAQmZe54pu4rdt8zU9DLTijKuR7g4k0Bzv2ul4PM2RYUwScAEZ3dU+u8ozUKWqKoSTz7zJNE+s4Ht7ory8jPc2N9WykVZmfjXD9TQ3BTCbOpNJnzhcRj5Emnq95+huTnL3JyBA1ZUiK0ti6RaqJAY0C3C6kBqRPqi5BqRSISDgwMCqqMsVyFcKWrTIugT+rrCJLBvC8v20Tz9Pfwy1nlLviZghpbbp/tetFaJpybfIuJ/yCw+1aLeKLHhmPFuJJ7zi0eOcscMkQsbfBupyv8/xk1FT4VfKisb2Ny8h5aWr0o+b1aWbtkeB46NKk+yxGZR3OFW/y3ul1V0ndzmcqPwtyUqnxDKVJC3Zhu8+fvPulDLnrdwg8y0/zktoSHG9DTNMvQta1qj+qUiWoSsTD6k6BmLuXpu6S6w7KURUj/7ERcv2uh7t5DThhpL34urSjIScy9VMhusoOIzm/Vfircf2qPSn6TS10JDg+XNowrKymySTQ10336Q+zK/IPbP1njiuY+IzAxQWVlBl2zuSNxvpXn4Tj9/0L7Eq9Vf8HHXMlXLuWeoIi2Dwgk3PcPV60YhX27MEO80cfeUNkmqknds0dQ3QyjWcrqRTss5/89LFBPajKPKO2jXQs92caSf4lc9UgRZIlZpQnK3U6LGJ9TTQ8XhIRVhMXipAifbjgaqUDptmgxV2CTsCpolpAyKutTGWuiSRUBRKuwq7OZmZruFlamjdtZPV2UzlyyLSFrYXY2sHW9RvTzCfY+L5VcMC4BvsQzVBzHMxj506xl27EtMtYgmOSypsaTHQ4duks17TGYvqPTmYH9zPx/6BnHqzZypUABbh3nod6RSNJaX8dFzjxKW8FsWRxUVJfPpdYnNSlE/YP4ekejuEdo1f9syVCct4QWsJ9dpHmpmVH6e0BR9myHu/af/TuGjOlUxqlGkF82mIsPJ0fPbbLa/hcxI3NoQSz9ZJZDIFcY4yPn6jN/3k29H+RuLzbzEqE62z1ujZAO1JpH9QOmxjnmJP9QstapkUmvIY7Y8KRWyGN3xocNekl+8y/LMuyiZ4sLFHXybHiWF7UerPys5LiBD0Gc2uAJkdUYi+/U+S6v7BALFMNominNDixLBfAHUFCf5+0tkQV61uJGN3Oe9l1Dn15xC9GRTaHkOa/erko3U51/iyZ1AIba6mVtkud8sosMgWtpjyrZKqJKrZAopc39bEl82Cb3+U+TzjBbbRbLQ2tfINtWvAb/F9rM2qrZ4Vw735M5hC23epR5hSgXunW+Q3quitYjw0CSITW2Lsxnk5cQ+P7j0z3ndfo+/2rhBQMssy49jGbSb6xNlcfHOOzYjjzzFPy29wPRwgP66Q16YmyQVFzFHbMyKpx8Xr9mL/HMFWbpfTC29RqKhET0u5IoqWUx57+PapXXetCzKJKLLK7zrc72ahzlyht64TDjoeb/YWDrnGfeK/z5jzGrldRnsQuv1hlDREbYcL0G8jxzRvmoYQKcmRSol46ltCd0Ri/80R2Q2jJrX0PgkKi9Hy356/UvcJyHNopYoe63yeLAMJU1AYr1M6PUVmq4mGFyNMO9soDtCr4jDiWOWGlc80jrx2gXh+h5B+0O4crmoi1xSboNu4sKFQXy5imov0X9Dpoak2bGYksUbEo/KwSdxxRV7rgGIbO+JJVsEbId1y8zx5k3RoTDSPI72DCx1xSTj13U2bXhvby+tj7XmgR0BXWBRPlQp7HkHx34NJTvQurB8Zr79d1EKPom4XHpUIDQzfD+/6Sb720m/RFlS9LxzgBsJId00m8DxWUohxJl0Dr+WHBP1rNpQyecJ07Ept2E0daCZ9fw9qkvoARFSmgm9R6t8ebTDWVKnOhYTn6GyDE6ymljbAookmPmsD/f9MgYkZFuor3TTtnpE3KsniEnYFUIV5h4WFxbo+UEad3q2cExGpYnakNAPhFGg3zAWUeULaRokFjyLRpNBdH9FESrJSLS2kpbLW6x1vMNGRQUt3j3mIKuSgfj1PyNU9V7+XXV3C19c9I8lTBFQqnQ+Rk7cV8IvVDlDg+WSrK5GKz9Dakf9nyJrH6kFKzhF/Ooh0igx6xJ2bhwfEer4kB45uOo9/cwe5PTbzJXgTDWBoQwG9ljPD65dJuS/jqpfQgdfU3njRSqSKWJWNelc/UO9+Oqi2H3B4qdf9fHhkKirWqUmPcADCtNSJ5ZS4qVd8X9eFPceiuS+ePYtEZkzczKQForFSGcqadyoptsWPtUR8Yo6nYSh/8jIoIf+pTxSui6d6uF8V0kW/53z1jKor8psnK0yCr5GJkRjic4bYjRyHV3xmapfCVPbk0EycXVZMvDRtNirEvEz0VbfUmIxr4DMRoqbe06L1p/MU9PRz4g3DlUJYVkRlPRhySKhZBFTgJ9EIlSoXt4z95eUURr332whoimqJF7VTbYc8dWPxPz7Zn3cTMrkLJauobZ+ZFssHq/yphq4qC5eVQMNakCqYSVcz39tayvxSAZy8ykYzLPkGkhqD5KFXHFw0+WR+WfRQAAdiJavxNTU71Qp5AqgRFOTWJhxGFdfKZ/N/0bSrwhlZS4/eeeAZDjkbS4W0jEqgnJ9l7KvQr9iSVR+r5K1tS9QxfyZVuTgDbHbbfPEA8ekleU1r/ewkTFUxC5akNxmP4zUxWb7MJlIgs+++ozweJhBySi//kfyx7R0icmnryI3gKFzkIGrVZqCrbmFQabXfPh/PINhjryClobQjsHH+yRuJWOEByYwseIYZ1qAQRV4mTzplri6UAjjxAd0SinccStpTWxS+f7bVDZW8ohMnwoFZFqTeovseEkM7RSUwps9ompVjN8SUW3jKMVD8TjJBYNkOUljckNC8T4aLYeMRGRPpvvcV+0eosd7hp8couYxYpawcwqtRSi2QK9c3HNrXm6c87kMZj7fDrOZ4ycH2PnyWZ55poE+bec7ZFkSFQryg0SYP47ew5fuS/zklgi8Ns3cpWZ2W+MkNURYCfYV5a8ff4f/WTP01ImVlOiyxOSAUfa2IqQX3HxYy7khopaonc8w+WEN424YX50PLQpTmFfOmR5qt349pXDjRr5Vr5QwiuB4Cc3soCtFv2sTqjHovZBfpIKmyU2hxWY1OaVwWnIUMd/tGq4JBskE/HRKPJRIcD1Zha/yCk83iXs/8/EH1Q/z+045h9EYz7TfILR2jU8sP/+iW6x8Jda/irPWK6oi67juDFevfUkwewtXxnvN5eUiERF2fUS8ZHxKg0RlUaF19u1GbsV6aFCSRjUi1TIYaaCjvb0kRDno/ZsrGt2UmGlPM75Yi66I6gax/JcOSh5hyxhaLQnjQf8OlYLF6oqFbYtqSwwExNBSaQ/V/61kVrNkleUnP3FIJGQqCL17/k1ZUc+TVhl88ZLGyKoc/5JY9ImUKyZsX8lvqyT6fEJLMu0eJVzHUPw6xUqhsxvVlbY6HJS4uf6VscJXzHPYWkRKsffZHr6w2SxtOawUUTLUNoq+0VXMZvqL08+wL3Y+8hMsv4BJAi7TaG3SZl1Bw8PcdyPD1NYWCkUwrKCvev8uY9g0Pdr0Xm+hS6byusuEG57aLyiQzyUvoVgQJ5NCi7Pota9Q14kknVNo3mNZwrYK53IkBoZEc+say3Iok9i/uMtcwGeqsadOXGdNhqDNZ3iDXna8PMBXe8gt2mB8NrIs1mdELCLjBTwjlDoBorBkMOj5z7x76xRrdQlKwAK2+f28REi9OG47jt/JV4P39/dzu7cS/7DNf9RTfHBpnItL7+HLVOEPC63arCmF9CqdijOuS2xpgZarNUwXbY62bB7SmrHwNc27j97moaeEgqLcEa9qkhErweuXxKw7QbVV7YXRdoue4Sw24W8vVY5D36fyCq28MXMstGojv1ivWGfhKTF4byd9i3W8KjHWIvr7jQHy7ShyNrgb2OE3lc7DAeqXDEzV2dvHub6L3gvydI2YDbkM717mw+R9bK6s4loO2nXw+cT1R4R/0uE13yV+FBc/fGWSTCZNqMzH4r91uFG9xvua5w+1h1bEM/NiM1vHjEa50C1erL3Gy9MTrMYayUTa+Dcb4oYq0MJzKLiN1sSkZUJ3g8tiwRXSOktyeEErPKw1fLLY3PDCkY7I9GUY+4cRFHWIy4SNrX2zvn4nSqFOYlQD/EnVIK4lQs23KbOFKs2CO92ztq+wefyOJSFjtUejor//Go5TjCxpKvntVZ1s5vHrS4M3HvfrJk0DDdj9otI24bOU6pB8qKkJbViEZkXZegA9e4j0MLameVM/9MbmfRNukVDiGEUKlNOuxLMSy7PVZjPyQjvb2yKbFUfPGUIvSfjl40u9nj82LJFsqCRj2wzcfrnk3tclftksAk83cBgtbLjR3kniw7so9TDVLUH88nOkI27Jh5W33qqQDtDtMzyaiFBSzGueJm/MV2QYGqtVTVBZClZgAKmKsrKvKCsrPo9LKQorQQnDZ309Kdclrmp0QSYUoWMWVUd9OHLCO7PQ0hNoslD38ahEuYZoauwzSkxCQZG5LgbeFqpw0MhN0xGsR2dby2dQgSghqiM+SqzcRaF68bhMeOG9tzppsB/hh8ry6ZGovL5H63A3DZl6hkYaSA43IauGVgX5pd3APZU2I2rka/0tST2BZBLDPR5kdjctZmOiRhbtiWriI0KWCIaqKeuq90Ilz5HR/fhUaqjIEmosfoZCQr1GJrZ+1zXQKHRf7v3sE5Yoq5QXYzdU3UokiF0o58t18UVbNZVdory9hbLqakMU92vK5cuXice/W/i7LfFwyzaj1RNcVC1pBXhPJifRHxZ2pckZZmUKC4Nx0Trq0Gw3EA6K6iHR5BNN7cKqSNOsAI4jqrpETbgaSxVUqx5VmxxHvggyKQLhJh6sTNN7f5QnbjzK912XP2wM8cX1HiJOLXo5Q2Z3h5m0+Osq8a+Xxewvq7l32eI9XaTda3a19HITy84Rnzf4GS5robf3ZCMhI9+tUrgurGyWqaUls5kemIWkBbO43cjHOE4Lkh85rmHO9PvQtb9A6jRuuiNyFL6BsIz19h2+3LgMfC+bdejo9xWFKyykGQzt8HdXxNYgoxReXBY9jwlfW46mOIvsF9BB2FBb2zZdEnO5YzMPYa08yKw2iaqWC/o+dXV1TE9Po/EW1F2dj1MHAmHGdRF9XgTJLBOrn4l0Vqb/rfe5I5vlQFGzdltoTrT7xEERO2lO5uaEYl+gy/fmP+uUwd1fOPm8KaGP/Kj8m133fQn/lLhWnxunPur0Fv0aJKEOTExdZGWxpAD1XQ/T0Fwcr4/i16eFd9f5LBprxGd53sTEBC2RAE3ONfKUz5eFwl0med0t7/Pc+arQfmshxHV5B8VjfHKfcIuYXPvk58acjBIICinOoj6kMlCJ33uuwny6ev4YWMqHv3Ib7IqMJbw9u8mUNYKjMD4rw9riJT6dFG99OsYP/0OIvqMZtqxBpIcxif2o927Fgfeu+xb7uFqZQvLR1Sq6q8WAX6h2AN3oZ96RhwyaKBoHP6c8ZUfnVr4W5pRHU+2NXVBB9nKV6qNCYWEFAgR8Phy7iYh/nimJGcVZ2RxAfbXoZqPJTeWUa0uL4fz/NdaaK2HbVezsLxCLOSjgGTLemLh+Q4fh347SG4/Sq4hpgWv3IL/JmVkhi92oj6QVRpZXcxGwceVj/vgYZ3kZ6WWkBqbDAfouir2UcLpNCLJTJucyXCW+97d+ZsITlAVE/9gOM6EYMzMJVle2uJL17tt1UVMU+0MfB3FhHcSJOjscSQQU4Iej+7zSeo0t/yaVShZVzF/Pw88DgVzeM0zQcgn4fYS94ka5IuSKqD9AKDCP/Baa8NPTLx5/5uxx/G6VQkhU2DbLuU0oJBMKqUyjQC+H79/HdIuDtIW6ptGnA+jyAlr26IJHZEIMVgDt2xw0BfAFR36tiXGeDMlYxZYmCMomnTni6C+m8J3spTsROtUD4LeROm/B7wTEjH2JBbV4G4dtFmPIG6ch04pvwTsublfQH+hjUmIy+CWR4SUcx8Hv99M02UTlXGWeKlkHFvIFUahI81ti9Pt9JFpj6MoVA8ubmsJxbK5enSj8rllFPET3nbh/w1U19eHnzFwsNNRxZZRXzosakYnzV9pCcxsoXszJX46Ge1BgvOTcQQn1ilBFjrvHhwlNWAYy5/3OVgUBZxV9fxb1ufl78ivA5eI4vRtCx8Z1zsMgr4rr8yEGtElU5SgoOuZEeZ0wiv+g9HmDol2G5nj4apBQwiK0L+NpeJvdvvY5nJLBpz8kJIuh7gQX/tAo2mCzTE7GEpr8hl4cocL/bYn3NUxaAeok/kQW36/4P3Hv0F/w6Qdx+v3iMGEqZS2JEfWS0D5SjFa9ZyxqxyV07SfmnEPisLwBaYoxNdOSqUBrFia34cOvE9XXk8KEXcrvfs8nxJZ4SHV0J2pMS0uZVp8hBUkkxO0eiyVNsPbxx+yuP0tDZS8f7F9nNRikWyIYEDW26IiK4V2hQ+/cTU2o8hsg4qtCt+R1nxtjWt3UV2UJbgawrH50zetjfniIgmLysnhFFewEPyVlfYqrH6ClNVT5OdpfMJ7gkxku/nQDq+wXKPrP0UUXHdYhzTAyOUl7VxfGw5lm3DrACZ7wrCJCA0ZR+nK1K4fyjrHQpEUgGCjQjkxMoNc/RYllQpaIhyw+VtCDzoq4L0isKkRoLcChLK4qF2INseetwevXH8eytpDe5J7wMAeXZnletTwrEbgkHj0Qn760zhNvpFFzCGkPu074N84e1+9WKeRPnKLU2o4hVVIhlUAD89J+8rOLaPxZlHGRmgmolP//N5FGeRb6jTbkbBCLLZY2p8lJq04lO38bSclAxTYkKvUZp/nphfwJ1LhPkwp01I3Pv0GD6pmVaA39GdbY6zSokQWtkdXTJIuJBTNNyDphlfpE/dAdgqEGnrJFMC3U3m7i4zdmqHaztKfEA60qsgT9lHYLq0W3w8zNvc7CwmDJ+VufEbbnqTT7RfWR947qdaKQK4qaapGv9fRzdwplimlP2pBMM5BcP4AXVcm2NrnheQ5GcbUZi/JQp88pITWg9AK6NIG+6KTeMkooI6OgowGVomAsb3NRhipZxHSbprTwu+Lmn/0A+6CUFts/J8qURnLQDVHbIAY33kUSU22iLReaaiuERAPnzf0iGdc4QQWpkfhQ28wndshWZ43ilqhyxTvPGuTUQ3qIX2mTuO2jMrNBXEEcuTwSeZtIRAbamU+mV3AmTPi2MN5M2DPGUqjCZ+osrEVU8bPTx2Rl0GfWPJJpH9uqNK7KaZPwzwh7VuxlRF+L+OwBl6/0Dm1tbdhWHbmK8SmJX1SIr78SLeUmn1acb4xls4TySCMhWyTSInBbJqLwsdBhCs1f9OZbq5mvZ9XIhFQgtvvWYlhFJRklf+r7NlqVLeWeksy8bLjLedv0G+4vu3wrhW3LhEoDoikpfGmhMm9dVnrvL3efrUJOFDcboa1c+DxP7ztWCg7G/Vzgt0n0WBLPSPR6/6/Ye4QxTfDbIQqKWjfOitoH6xjeHM5vYJYMr/lvfv67SRxp+fQE8q5rFf0/Z73t/GIb27LZti8SyW6z9p6bv/++ftE0Ki8sJ/TpOgrlLBYXaccsglkbyeKTkIiseNd2/OjCz7h6vMkrizapBoutYQe/htndHUKawLJNg+8ZiaxsPtva4eDCidafG8pDS/MWZ5mwFhaQyozV6BY/aw/SieK4h4XteSldEp3F7zcgtCkyyjCrReyuF1FnpzcHrMICOGfMN5ZFKNiPrKfzn61LuGMWVYNiYuSM47bXTDghK1ZfEdGI0NYWchx2n3iCraEh/BL3b4mJE3N8d8cjnusd8EAAFnI28xtApUops89KmC5ZK6ZK+qJYWJjngfJyQkHxxpYXXnIcXtm8QIvMxvtIWvTF/eij58i1cm1rFW1t549LiVgWtu1iDVjomUvInqd5M0HvuhhzxZ2vL+DKhFulBJpfNAniNeH4TcjIkY0tm5hMB8HU14YaY3XVJDUdWeyqE0XHmF5ZIXtiDJatJRJ2AkWEtW7l51KPBmhQC0vLFrdvN6NQL8PLRcSCtrhoGa/k3LWek1qhvl8HQGIhbRbW5Jb5zFEfJXnHnV8g95IpDFtXCaJtV02cD9HOrUUDpy54bCf2N1s4uToVj6n3PG6tvIRkeitUqIR14JRkhF5cRZFhYl+8yYuza6Tu20V7e9+1Uvianu+IBTVHfLYgUf90JZeVJqofEAyK1tbf5JyXzMROCN0S/o5hIn2mOnJcJlxxVvHHdyMOzUpwRzLWcZF30p/JMJA1FuWQTLJVEjd/IWxH3LhRjj3yAcnJPmOBzNu0LnZRPaqC9VOmE7mRnLW/Rbmy9Lwdwgod5Cd5d2cZPV45vrpHKVv9SyylKC/3Yzni6HiVAa1xWaKh9xbJzsew3NGSZ+oumqAH3rtKu2I7HkdyTtyTMAVOJxTLlrh12fw/JPGA3jNFShKyOlHSwe3posx5meMHXvCaphvqbIVl+lFLtMoiqB6TJ/AUxaREQBHUs2YsolyopnsBX7o+zzaak/JyUd3j3fPQFInRRux65Zual1dVURaJYJ2YJ4FAgPX1deq/eJSAxHVFkALmPt6T4cWXMIaBIS1Lq1AsKPlQ/RqqjaNnX0HRclQuhuNx/sx1iUZcnn2ow8tDFd7tRlxUut79JovffTcBKc9jc1eJN/D6zz9jbW+RjqVdpG1GJMLyEVUHlfM/xlIOKunQMjRMOB4mLPHZnPi6UXytq9zRncI5y8vo6mzAcTu5edOsuzJVIjtKzOvolvttT49I2AmcG6YwbfnyMq/U1nrfL6L0KomjbTLZIKeYEEZEebdZtyfBIO3aL6EgN8bITEZFaAABAABJREFU1Innz9CtpXOUSkGWJV5RA357nj/tCjMTDtDa4tUbzVQhd8oUYyZL13W5AqfvOS/rqKWS4Nfi2m1x0xtfA4kvmls3xU/vFW26iS7uovJyjnQaoSfJwKJzc7xeaLoXA1v3GSCEN2+r1UUeCWeVU9HdR11ZhjYrSU95OSpPfddKwfQKzd1oXGJXK+SbyAT1rYt4TouNNEi4VnS9VfoC7i5TSG8gOfRNP0z/e3Hk7KLy4Tyq4veUZUQbRQvL49r3i+i13/R+T05Ur+hqwCLoRvHlJkBVFaqtRZEI5THRZAlFxfEvYsiyicWOeOj3L+OOvI1Uj7REt2ZLUBkPKJe8dsmTtNkifEvU14v2jwsTxpYYrB5gqLLXKAXfOEo+aPISqsTSKkOqMu/M69N8708eIpxYJ6tCBfKgCkrh8mU/4fA1HImwtjDhQ3PNWlcs7AlFh9BJviGtEft42MTn4+LoaAjbtgwPvgbM8wxXI6eLvsP36Fc/4bDp5CdHXs8H0W1bhI6GDHW0Ny/e1mWSc2F0ewF1bRtmVAk1CzctQqHCQtmWqM6I9noR0izu8H/AGXyew1djeZSST2YjyChInbr51cUv+Gr2C8bHx9nf3ye+FCegAm9URML2GvAsSbyoMqQmr17DQVaEzvdjjMyUoeY/RI1J9PYbKJ5COqJTUeblmEV9lsUZPmsNWOQID/NsAVcCKHSVmKowrV0TxGIx9paEekXf31zGVxamwhEHFRbDN4+R5UfRPrS4iGSMlR9IdHV2MhSJMO6d25XIKkpINlXKGTQpBgZacd1vKGQMiuGJs+lQLvuPCF97kibv3Rzf5TydOl2I2HtJBGJ3ubaEVMWQds5QCudQtDiibkBkIqKrU4QV49p7ZfiCb1F74yVWtcB1CZUfo5/ZtM0cM57L1VXHcD+9xEOrcTR8hMKb+IJvEywXU7+YYrD9Q5MXedhPLOY379b1YcWyrGbjDGcdItkwdlIolkDK4rpBsqFQod95l1DYjxQweYOVCQyqM5A3TDIS9RpAcqiWWLZtqgcHafLmS45t4TtXCifFyYeUhIaFmn7LDdYSWhNKrWDCVN+EFLKR/EzZDrErV7H9FkZTFrjaq2SxmNOeSxHkbOU3gl33t7xfCWmZEdn0VIuurgCjukhD8X3HYmhzA30pg3bYFe71y1i2zeXLG3zxxS8JBNaRKvFpnBe1W2irKPEzBQlpFgMX9JrfJMVL/yTWN8TQ2DryOJFsiSW1kQ/lNFpoZM8rXrMwm5CH/58TKxXiJ3vXSQSvm/aOKmx0uf+bvIxLk8TLxYVrk8KqyX1fFPbJyzRXNp9D7gxSOI/LLw07mVaNLa6fNtnMzQ1TUdGDCUfl5oSF1pfR3hJyncK8GxFqu3xqjlRXi+kiRI0jU0syJDEhmzr5kEydQFRiamSEN6728JC6eEejNOl5dp0AGSeA7fV/WJGhIc5ZcWuWSF4unN9XIdy+ORYHA6ilHGkVq/sy9pDIW24/djzPxPXeV6rovk/0FlhQ3ou5m/hccafL5e9qHsXSf0K6H2tvDzdg2D7nLi0RDAdJXRXrP5Khjw/LVIF/dQVplg6FvNqGMeyVJMsbC/iWfVRK/FCbTCrKpIq9n28hw12o6an83yGJmUGhtHDcEFq9whVvPM+0jO8mRcpyZESlUGaPvK9J4kFvPWjF1IgYw+q8tqoGTFGr3Fz+gqgr5uRgbfpwvBapkosCwrLdQjLZ+hL/qp9/9+oyjd1JtDBH49ghIzPCvmJzUHlkADlXu9j7rBtnRaiiHv+V99n78TUO3k+z9sEyyf+yjJ6/iUbfp/b5Md6feIFDBUisXGZck6juh6j9FtILrKzUIGcBLT2NYr3oySdRwmt7qj6s1RtFXfaWS9bmd6oU7ikZxAEMY+Z3same9YJWmDy6QsZvnbIUTklQVI3WMjraymu/aODqNQu9XWvi4i9OoY5+NFppNuRaobWsaTj/nd3v7/OiGhiJiLIyB6mO2yXfmyRZc22EOS+51ZD7rqGWxukL1NlPY7yAFC1boumyqPpXF1A6zbQcHFVT3PBefnHfa9vUdWfRBy+hYDNSA5ZlUVM/Ty6Uoag8DP8MengOVW6STNaQTJrzzEpMPP88/mi0pMakRoW4eK3MxudXhopc1Wu98uEj1zVsjqVjUm8WV61QTRXLvjHmzqkGtiyLvoYG4hLr6qVaNQQC5RwWJ5prazFxdQs13jY045FyijuN1bvCqhUNdSrpabstkVWMXCLvzS4ZhTI+xH19v+SB2/+SxdkeyvJhuUZqHTF6M8ETiSTOV2J+ttbAd0/ceywmvvxqhdr2WazU31JzDn18WCJbdYCc0lzcUX6zqj3zuBKpEQlfgoGGpKFXuG2OHysTnZEeaqoHGPUnyL76DLX3Psjt9lqqrlbjRBz08wCqGUGDGbRUjq6K26/dRlY9K/W3+cKfwhp5EA21U/NBDVazxUzNbVZXn0JK3T25epZc2EYjQ2YO6Bb3SNSlsygYwn9dHJ0Cn5wlDWd+/pRqSHmGQDYjAsU1JF4TnrhMCNTyPqvWN8frkzJGwgWJtGpp7o5Qc/0qqi2sO39KVJ+E0d+uxaq26N6/SLx/Fem/IjXywqGIBMWbb942xsxrN9FLyncz1NA1Uk6ID98061ZdPbipMmoHs6gtxNWXqwjfcXjw1WUqrUoU7ULJFFIVtbNCVjWqGUC+ctTfj/yeITifQnPrRfdYOre+U6UgmeKNxV9ncpySnLV6+jtHTr6TVE66JR5XFab71sljAoz7LvHRw0/w4d+9zBMvbtJ4e67Q3StXPfxAAuv/9TIHXyfR22Jp7Xmaay5wOg7pbXLfYgKVyiFjettLkvkw1ryfLW9yGijgFHZ9FneiE0l8fkNYu0J7fkJf/JSJQIF/qa3VoasryIiXSPqZDMa9mEajLCrWRzdRdcZw87hCWjDPvngbOfXmt582ontNQ3h/8ioaEA0NorHR5HOu+8VPvlgicc+1c59vyicC+yKlFKuexaxZ5S02n1RCb2JCLDO4cy5241X0/W2aVmI813XGuGaFvWwz99TjqKcfqR/Vl6OJu423jXwujtWGbR0j3zrSJLNHgzjzLmt+8/5DEq6/gi1tcKflM0I/uI/35t/j1tN1Bm6aSxz6hILiqk8ExsXVxgUmbXHnSoNHNXDGPdjywmDfTlISvfJRsNhWKPUUTsttv3AuCQVEVlkWxxdpCDdwe74d2zaIq5CERsVjHz3If375Nf6P0b+gZ+6Q2cEJwpkg193rHCuMfhZHYw/TFutiUEVIMce8y4N6Yf3VGrrwp+wdCZ9PLOg60qyR+a6iHNK34Ao7Nue15OMg98zuMLJrTG1S6JzjWuRRb8hb86dzAhOaJXQinn/p0gnlIJmQzY+FxhsMNLToO9sWjmvefW7uOvKVzM/lWYuQG+a2gkgujnOVpOsweiJEXlVVxfyP5z3orJAGUVOSmTHhc10WlhqQvYjmupH/h0guDWM2E3/o0n7N4fD3/honuMPx6y+RGe/nBxNvIGUMajAgDrRWClxwxdUiQsIDHWDJwl/yXn55emx/N+gjs6h/O6K7FMrF9/1+NFTgIhrSEJ3qPHVMWA6lhUgygxZswX85TFkkRlkojGWPYXiDilo+XvEmflmIcJmNklE2Nr/k5fpmTKLodJ3EnFQSvjlTkknsjg7GJCSLVYV4Zrz4N0eEJCzVoGANGujk+nSCKW/ihh8YR1cdtPUTdG85cgeLjh1Beiu/IO4ZHSXW2YmzWYCTmvfwKlIrOhgxcezc8TsyITiJnaEqmubNmB6NL5U8Q7BTOI+Ke39qMVdVushGNZpX0EPDDv7kCHY0TrC3KCHdJlRmEtH3Fx3blBWNByPMrDs0HIdRKERtaz1tDWcUK00JKyLGbg4h30h+0isiNNLE+PhZlfD1aH+WkbBoTwltBM38CPuR5njsqI7+EfEPs2L68JjLdpiYm8BKBikLluG6rgl1ztWhUCv6/X70prh1xVSqhl2ZfEbq5HVlwqPZcUPd8PXYt5rzbW2irGwcDV5CAeMp9ChI1BvfVp3o1CaZfgWPiImwkCXshE2wy2DQ5/VnDHX6eGXdND8K+UWsLEx5MERM5UhxFjuu8yf9/8Tjs18SUQSFc7z/IhYQQ0Ol14vYMol+N0Y4KbQvkhqjQ09gWqEWG3JXzliPZ2xArlDfNuGwN28XF9Hl583mOXbOca8oTzl/vuxyMjcQDqtATpcTy8xP+R0UiJSs9a4uMTArtGu8LcnHiA7yCfxxiav+dZav/We+X/4SksXQ0Ayd050ltOmScByHQFkAWUZJ96sLuXHkH0GTc2jwTdTldUr76BFj0ExfJxCcRuFxxl/ZwFnf4/7E/Vg+i5CepRA+bSCsZ/J7gfxCT4lInRgcHCEQmGVxPIxtWRzKq2NqFUo9iC15+5MnHv39d6wUZjgFO/xtxE2i1pfv+pu4ciXhFlIaOWnzopXAVpW3mG4hWYQ1RFjD+QFMyWyeGfVg+uOePL+N1I7SNznLIslJKiX+9KKoVhCFo6ZSNRLBqq+jQ4Poxo+R7ZDpPIvAK438adRSR2dnH8byEs+pk11ZlHfMovS9Bo2jBqR5FB1HD3XmLbOj9rdYq2+hfuzxwjhIHCcfo8ZtIHX4JpY/xK1cDHpdxkOSmOxNULXhAQE6TyjcepF5VGTbbDrdgtXaI3GUbs9DbFtbbVy3HYViqHG5sEHUqMg6MrIt0Z4UlfPtyF5CnW8iicx6htRSCilJMOijMZbCmrHQjqFO7rhR2npUTgC1PUNnZ9LcU7qnBOSQE9dN09wi3A9CaDGCPl8kWl9Pfbvo6I2QURxZZXRkxCdhsXpV/FxitVWoL4MC1Wip+RSBnpp1iuBPkklMJztNnqPjLNJCkU7LKOYus/nV1IjmWKcpIgwKpcVjEp1BEY2mqL5g0bUiNlfFhxqiTwaJlmnIEK4Vjx0KTY6w92+vk3h8hj7N0lpvoVGRko2tFBV6nq+0zZzEQtrHF/de4kf/YoamNYvDwxS62WlQNK5orRGvTIpbrX60l2BEEbr1KlbS5pYr4wWlRFRR6nJhyBtCdpKgfAZQEROZQD1SzsO8QYEo0WJSjbSlg+w+KwZfFJGYWLksaruE7APU/l31XdmgpPXsueIgtRlIcq4+wlEJzXtUBZbjTolsVQ/pS2MoHeDKlStEYxcwfF+nz+9IfDgk/nD+Bs9fehTdajbXk4PCYu+pcpJJhxsdXnV453sonUK2TaeErYvcVDl6TOjRXhoy5czrEUzouai2yJXZ9OumaH3sv+G7Z4qFmae5Z/ce8rm1aqEWYctHhwqQ7UzQvLfvVCncjazKL5XSPnsb2jcTXN0dMjYsUX0hlzzeQrFttGgsrIDktT0052hTG+1FfQDWvd/saOfu19nJ1Tic/k13t3jmGbGwIMrLG7CsXmQbRNCMtwnmjtvx+qTmpPDsUaRljzbC/PaCchjsbba3rEISVha9vaKxqfg8lncuw7svy2CsZ1+2KW9pYsN6GZ982DveMZ3Kk9NdqHsMDQx450ojexZtb+evtWOJzzZ3uR7YK332LeXDQ4XnSKL5f4eSpRxSZ0pQ6GWh6pNjOkVdXYoX+tfz7q5t+7hw4R/QdgdT9hSZiyP4rRFelMNI+j7m3lzAvrGLLUPAKKsan15lU0GSyR1efdUiWd6ErB5DHS4brfpQ+AW2NYylebTjha6sk3MyRj7xnhvvbyo+uuDNb+934xIVVcrjxndkrmVZ3rlGxU6V0PtCGZHYFq/PG2u9r3cDjfiwa4Rju/Roh2fjwn7d4tG/2mF8fYONgB9duBfLncZyxE40hvPaayiTYU0XCGgXycbJzZMtYbnjWFYFsnz028/TZDWi14UaxWf7FuFNcemRN3AnnmDH6sLSU2jGwirz3t2qMJxcE+Y5HSFNU6eUoX0ftNipSyN7Bm17Y54fIz8aeB49/ji2LZ6yRKcsb7xO/laY2oCeu4+5gvy2ZH2STO+FGY8GJqyS3NORDMAi9/f+p1tszj3JhYfexmdZbOkgfw9n7Wu2JRzLwbJt6i2Ll3SJicE3qaurw7KXkZ3AksWkREYWWt9EgQDlKmdOs9iysGIWWh1HFyqQtjnZzbJw3YeRPYkskZTNwtw8KitSHju5PXM7/9lOnVD/d6wUbt9lsC1vMbRJxtK4YT5fVi6jf/Ll6JxKwjMkfcubTPPkqxBPXr9FdBbFFIurh7vuev5KpDKzsd882d3L0Ny+8kfCLhfqEYdLwn8gVtTFiAqdxRokwrqF1I6qHZQQe8pVuTpIZaQTKmp678Vou0RTrJ8rlwvKrKVSVHuIinKJWvloUxvSj4ylkOuClthCvnrU8c+QE+ZW7r4bB1GdScCmVUOhCMuHlECpnFewhlRN+tNnSI8/gAmnNZLqEdlj5WsCcnUKklDyTeR+C6VgCzWIroAHU83IJLwbhaqFU9dNe/sq0hSOxFOpOpQKE1cCX/oxrGuP0RD6OY/d/6+499mbPPXsL3kkNszPvxC1r7Rj6TYp2XSFhNUsZsvF6kIHHbaN9BqtZRv47F9haDPudq8O0iBJhalqF3LErVvn/LZdZvzT5vl6bhijJS7hT4u2XuF2mN9ekJjrEmNjQjHRnY6hP61DGRPCaUwKNys66oTdJv5GHfybFx7ge+kUdU4SNV4iUCUmlGJVNtWVouHnov/xflacYdTYaKxelSPZqMsUZ55Vi7O0G2FwKkjzsAjFuvi8421CdpA3f2+S+gf3WD8yubvTz+xDipv2lO/LeE8RIQXRzDWvs9ollJpHnYelRtWaUF8aXWymszyIwei75L3hkusEycPEzxWbfMVva6sJPXvfJZOm0+JvrCgkpDaW5DLo7R1BCU2nkJsgnX4ZR2JGERNia87VHpTKkAbpq/w5em6fgFpp0C5dHU1UNAfRc1fQ3/wcPTlI3BK+nUE0+9eoqhlfTZZbjQnmenqYHB5mWXWMaxyz55XmnQ5lkHTV3e9Td8893uc1NCU+YdUNFYr/9KNzn/U7VQolJ/fpt6hJkFEIHllaba2xxM/+bQDJZVc2MV2imMWxWKw+MVqUvDqSTE7h4ERc7cSkD4efJ25XESoP0WEb6Jrm5DWVCZsXM2ojy6CVQlaEL8q/5uj2VfpVyK88KdEWOUIaQk2uh/gplaOUi1oC3v2NIUtExoQVu0I48o4Zj1kTg671lEedRI/8TGqShGel+OX17g2ZTSwyN2eIt3K1EbXKM3je1lERydaR+TdSWIDHEpfHRHBCGKu5i8ouUfuA8kphXzmlkEb63rdYwDmZYUxXCSuMXWuj6jusde7ybLPwtY8zNXRIKnKV8uuiv6yPPv0QLTvo67e4/PkS6yHRFVH+nu1YhPKIRUAFlsmxqLB7xJ9UiL/en+dF54C6WvHWgkhpCNmdbOyJdJXLQdCPP2xc/aDCRPLeYydVitE5rBNw2RMyZOa8Iy/M4I3josRUuXiiQ/iH5W2cufu+F+1dY6wvSfjzNgKTQ1R0dvKZxM+ePuKRNuEMijUlGBroIBYUSSW5oE+QKhgv2gg6JW/si8Y/LGSF0ZjxTnLFkUEJRxFDG98lIhURescOqKi6xujiFrH4AY83PkR7v3eeQ3mW/F3ebadQ/Kjwt/MsKv8EWQk0OmruQw6X8+vCxtI4o0pQSq8iQ6T3rRBI3jtJipl9Y3zt9vcTCxYKJdNp09NlcnKS5tde8z7vRWeh3Y7Ou84go/LTLhM+jUhERu5lzzHhMVuGuqMiIrZ7zzuHHzvkI9yX+ztIU9MV0m0RrCExV+Nn5JLfUHqMjRLQTQKNTST7m0yo0ZvXV9XOg/UPMvvx7OmwpkwOqqWsjBfaXiA6EUXv1dFj/YpbitIelvH03PPzXb8TpWBLLHQrX0mXkw6JaiWQ7vDr0GBYlorCJydlEqnu7ljmfRlrpuizfGWlT6bKeXjM3FNIea59n0/s7fl4oamJV/7DX2GXxzmQwX4v3hSm6Uiuj8C6QUWEQiz98BoNLaUusCthHfgMKueEstySYR31VYyjrnuRTGjLkUEWRf/kMtsfhMyidE1YIVfV3SZTSDataZ7RM0imiUq7hFZGUDrBpY8u4Qv70OJpVNfDqmc0n7z3IdtBly+XjNOaZlgpRi7YQs48uRhxfizjFho5q27E4aT15/eL6WnT3Wpb28QURfLjykfjonhsVrzo6+TDgyf58a4oSzjYCpoNoLMd38I0ExKtBzKIqitXiN7e5+93HbYlvqdpAuplcbEbWSP4a8VKq8WofFTYS/hc777KbNxtYbW24JsZRhcNlcIr2uamoizIEP49WyVe7BRLnSqh3Q5viUemSy3wtExhkK5cyb97RwbN0jYnaj5XKVLH5yNti5ddMe04dNg2IYmQ3+9hybtJpbL8/YC4IxMudBXidMjTxuDsL5tnq1hEL/lRsMAykHtXsxJVupqfiweLn2NvvMMzD7/AwAP7XPgwjO/pX+LMeoZQfs4enHHN4ndbNMeyAfRBqMB0PDCPyiuKqprTGMbRy0h/SEk9SaeKGg99gzwgNCIcn4lIuDo7fOM4DnaeMdjmTNqcuxiynTJNfkYlDx4dZ0UL+e/7Zfa48/eiXnYjXWzdEZVJ0ekTmvFR1nHAyJ9O8FbPGE/eM8bw8CS/X37ML9XHdId48akHySXBQzLV+pZl4QTPaGZVJD75TH5zx8KSjwe0yPAlmaZOdYvnHvc7UQqWijskFaRcIqoA0hC98jF8Q3e3vDw5C+nToTomw0LfpuK4XflQVELF9MZC5VMo1Y6GqgyNtytUIxof7WYhZRZ1TaCWBwe/QP4JFBlj8QsxVy9k1ZCsbSSmFrb1Otn615AcUqohJXHnmoj/UugDFXh6aov+70mzDJz07Y86mdsz7mBbnais3KXeV46aX0e1jfnfT4yL9zoLE/+4aLGXyHYlyvZT++Kn2EF/YZEtJdCswcvPRiKo3HNB64TZaEzyMCtj0dVf/x4NoYIS75UYVt3pRRUQeuMCseo0SdVS2LQK5ywsUOMBhmRaB+YX0qaITIjhOtHgpAgqRVVVlg99AwzeHGTdKeqvXF5OoCtq4vV+4dbWsmZZ1HaKwXQtjrLU16eRKlFM/OAl8ezxImH9HkcSj4wob7hE68SgU8tgjU2n2hlXhnYlqFecSomOiGhIHdKQClL1mNjYFwPJAX41/Et+9ORVHmmWibMfitsSlyTm1cvinUW++uVX1Nb+Er+9wOMPifQVMahK/LFB9PgSi+tXWa+v41CFHhk7Mlz9R2Hhv5YmFAozlPXGyafSdqhnSpbXI6tmY64psOduTYnhZQNhLgnb1tcjDRFTjDLHrAHVvYHlE3V5aG0Fp+GmPqRXzryHQCBItiLrzbsbKOsYKpJDFRWYVaG6NDEluVJ8fJlKQAqRiLh69Zxnra87+3PdLJmjMyqw7/4mUqZxYpqjytrBf0v8KPIqL181wJqDgwMWo1G6H6hDD1l0zN1mcrIWyabu9RqqtIorUe8T1pCIBkXKNvtBMCgqhqpR2kddn4/K29WkWroZDKRx/lhoOIDsSnpv9fKZhmmQuJ2vSSpD6qZSpbBv3b6NdICSURS7xYVtm8+y9YXv62bPfc7fiVL4RrFluO3zn520PgoyJRVi4SWyfPYxCRUopRVA+eSui7FYbdNUxLJMSKXTWwDvbKGWMkzixsWXHUW9dwoeytgYdjyJ7RpMcvXBAQuBeZ7/ZJN6XcJxnsCyEoR0D6/rJ3TLa4lnq0gJNHIeOuHkMyXXrzA2Ia7HXPbdv8LRT4t+N0gO5dXa1sZAPlF8wkpfdlDKYuWSi+tTftHZu83Ym41I4osq5V1TrdR43cwWkUyFb/mhuOi6xt1PK49akk84rktdrcXspFNQ7mOiLi7atMCs41J79YBteVQEnqdj20YpTEgMXjngMeXCT37zDI0uu6O7BBSgTGUMTQ6VhFyWc8/X2Uny5gAjE0soKkKffMKfBAKsHoo3e02IsFzlrLiruNYVdM8xgf0rWPKb+7UcQzTmitpl8WRgnidnXY51ldkLI2zf+gN0+RdoeRllxglcG+HiB0KNwpHLZbdgqQckgm5OUftw3UIi2XVdfD7LjFmvKKsVj6++SnygsdCNTio1kJaFUsL1+VDQ5cpTdWjuPWRHDefV5CKmUY8POZPImkAbC+a7mIveG2K5wvME5s05N9bX2B9IerH+UinXASuaRvniOhf3ph9N56zRy0jjnMm2et4mWlbG0HAOERZDzgWz7uZUQG5ZRXPq1xBbxTUtS7/28d+JuCcYFWyh5BIaz82LeSSX5WUTCcjl3RYlMmqkGALrbIj9YibX+gP842JXZt2ua52kL3l6nQ+2o5bbjFli5LKY1iV25OOparEwI/bkmne37sceP8AeMmvv6tbG2c/k+99EKSwidZpK2vxn54eSgspZkf18I/Y592LycTYLNUYZSQmjHGbNeVZWUG8VA3/8fXy5Dk2H76An6wkoRZ/6OVYzfv8aV6+KkUiE3q4D3tDD7P3ocxS8hhuLErJMBzdJbGyITGaEiOa5VUxrPaCiMJr77Z5BQsdR+uTwtD4iev2PkXu/sZ6aheoDKGvcdJ/PV9SY+ycl5+gKbxB1Mrw3+x5hN2SKCm0xcEX0ehWo0dRIobNW5eNodQjDVVWN1I4eiRO5cgUrFDLWXURoRAQejPHUwSUa3HqO47OErwoTSrtCVhHqNMT6vENTd5SIbGwNGfDAtsmJjI157zYaw7ZthoeHkR5FuoTcYyKByDeSlRlxyPM9RaOEZEI1URmuKVs2ka0wR6kokQdj/LRsmzq9bBqpR3cZKV/E2hYjGaH6QZrlUK4EirSjrn7U1ovCYeQEsWJBImmZzdu+SPSwsEG+JvHxlRyn0jE7O4ZeIRYTly4tcnxcgw77uXxvK3PKmnPaJzytPaFoLVJFntvo6idf0Pn1h9QP3kahJbTditaqvGd2kA7Q1BZq7kYRrxeIfS9KDxZZ4w1IacKRMPbY2UzD8UgvI13PeX9HkPY5dv8BBR803m3Fb8p6bGF6httoZRdd7KWYadRSgXPn15EhfRNA5Axp1OnaknaVIIzMRt3D+WR2woATIuhHKqWJH1LewDI8QyYKUC4xYA8wPWwoaELqZELrpXtBWESLIwhuFCtojKmoRMQOYx/ZmLxeEeloQPmQly8qQooSkUi6IhTyEdV1VB5FB5u0BZsYC4jZWdH76rF5Jydh3Dd/B0ohh8wIlYcI5RarhHFzLJQay0+KWExcznkMft2FH1/IbUdHZ1Q6R1WwOsLyKiHjtMrH1LVrzNy+xO7IGb2Hh8Trb71OzPWKXC62oPIg/iM/I24b0VSKevmZ1CGXQw/T2rzOukao7FTB8r9ShhrGvEmyTV7hnQyr3DDHnO3xFCRVhGp5+uZNWmVRo27K7R+iZIWxAmtlcMgnWj3GJPzqpkwFC2ookSDuRpl++0PcUMiQpFkycNJcKCnZnT/XLUUw3kzGk0YMuqEeKcbNbMDg638o/CqnTXH00gMcpA4IHy4ifYy0TrtCVJaMg43UhSuv50JKyL6OylaR3sCyLEa6uvIY8PPEUYakGvBXR4lFY0W0E2bh2d5CrPKnKG/w6gFyx5fnximG3++F0uwK5lIVWKqnu9pFbZ3UyiauKNpvQK1ZlE6zIfF6oIe66BoxiQdTKW8+m3GKq4xoKkVUNhGVG68qKVQhbNumLFlPKuVH6qBSdZSr3Hi0Z4ZOt3E0V+i90Pkutc6g93cXyr6E0u+Sa4h0TYWkupN0+Mz5MVMaJ9e5TimhVJV3vzbqvlF6vTIzN0PN9bS8/iQ3g0PYDTuUlV+hzv8FS7F6E3pNiURCRCsCRFSH8ShMKCms8Im1XiwWJUSI3QmkGiISAddF8Tjd6kEaOuf430D2dXb/hBqV9tGQDD1HSVFpN8YLD546fkme969mpBCRUXHlRPj6qXKxe8Ewy1bJhOjiEh1WBwNdOY++ke6WMa5NGa+3JKR1rLwyD1y9yvVQjuDSRjdumJDaZXEWSutUgWOJbFHSAtYnFLM5TVL5u6hots1kb99pp0MdTEhkaoQGN5ACp9prlmC+z8N/53DzeUjbDFIZQYmVERVgnJ0iNiIWFmawlMayLCxrGMt6iiXlKCWs/LWsIoicZYmWlhaeGR1hZmmJoYsXeVWmfZ8luyRxNTIiKh8QK/41wts5NMYZVq0jtClkbaET5zhLLj6ifEL85xcslm3xx1viaqSCtdUfUVUlhoeF+lRKLGgZBFWVdviRI9Je+Gx+bo7y8n0+2bxFxEvCORKbnToT2WGnhCYd1LZV+L6mFg2+gjSOpQbzjmwh6zMzKR+rwhq1sCwbbdtY1ok2nR5ev0vGuluQzBwIWmi9gEnvlAdXPuNYx3Z4anOLYR2yoreofXSIyeFJtoo47y/IWFWvSzw0cpGdv/MMju1tc79PCnWLMY1RVVnF8mumyvXLC3ewrf8VNbaYzWEld22HPKf+lGh8rZ5/HBziSYn37ruI/fIGm9E/Ihp9kL9b/Ec+vfhfmVwd549GX+T9wXrs1y22bjzBlcwIG//wOj9/sIIVrRBUECmJFmZLNqhtWRhqiwhJFTrwleRlloQiufzM9/PPnh+rd0VXte2hkDz5TAVjyxJ60jIh09z366InLB4rF/aCxU5zC6G3+ljftlClhTXukGMYmFsQw/c08rxewjc0hQZr0JTo2uz0INF3n9858WmVFxSgoS2FXpr71sd9azm1j2yzJqsQc7dF26Zo3xSyJ0o3S29MT/eRN4nkZhlGg6RlGIP9J66Vqz859962lDcqLcuPVVxb0SbUocKeOWSV7hmWdeL5rJLrftkor83sWWNyYn/Kyuu2VzwHDW/Zd64UKivF+pfKT/ikTNON05q7HZOkaj7xeRrlSNXyD5DFhF6OCUg0qgwlfdgVIl0tIvEItapFSuO41ZSXF9zTg0px9MQtHt4T/ywhBvQYWjtAnaY1Y6czRVYX+bnEy+NhmpYSWKkUkuGwNxC+IBfUQNo7ZyIhAnXiYZ3RTetQpZWuGXHDKzz5psk8Vi+qvHHKZkKkVE9VRjhKktLD9AdixBMnILddXRz9ZIw1n6i//TwZy6Uzc0xK4gmJkEI8+eQHBIMhbnsTPiOhQDtqskow91W+StaTGyicKcTwc++uQgyOd9Agi/aedo4/yuC6dahjBL/8HOrITLRGUTZQRk13lgfaRP3tDoMMii4S+saagADSAh0dYfrevc7x7wfRO7fYt/YZzLYR8Qs1i44OmbzQbKuxuEvOUYsyI6irHWkRZQdoVCPVYZEtE2oRox1RBlpqcHwiqyUstdGR9OFWtzGftqlSB7WyCptFv1mwae991/uE1SoybgbXcWhJtVCrVux0nOZEjPp4CJWJjHbIOPNYLeJ5v+GGsmUzM9DMTuPrnuJ9EylIVq8hXWVETp6o7V3dMt5Eyzy6/QueT62SdkQg4NLU5HkbOSTUi0J/oRPhkSaUni14trZMgVoxJNYvVg4LlOgZybtm8cbjjcO2SGa85ldxMy+ulotHZ9Lk8fLn1XAUiaU0aVUj3yAauoMCRZXfDcrnQHKUEl26G2z820iGtK5jFVn/4YyIZISU5CyupsyZ58kiJSmzhHtTZNSNpTbUUbiOAmWFcOxZkukr2vPaKenEGDbv5vw98+6SDakkLO/KgFBupoT1lUpYdWsUYfUEEV5G3+O7VwrnYnxzknMxLUzD8CDfxm08Kjo+Ui76tyy0eIhumsXanUryqDqRdtD1PWQPmAX3SYgbPeLpjLgQDJLwW4RykLNRMfG1mD4UtiaMCx4WoVw+IjbJXmKPsBXG5Dw8EipFmPVfo85xuKRLRBNlyOeyvh4knT42WryEzMuH9Ht8M8W3uBA2GGPzd4xcFec9T0TwXQ4xWV+OZkotMrdD+IZzf4c9PhMzzr3yejhcGUV+c/2ggvhDFm54nMCAhX0Gztnn85FI+lEySGO0m8XAIldeuMLa7gR9spnVBGUhExt1Zq8R80c50AFPSGy+KCqvVdI+28DwuDCQ4bOe18KvEI5dTfC+bayfTaGej1jVr7g02cboqIEEl+CwQ0KDYnJSyHXx3xzFX2cTCBS7+p2obgu1LWDoTVp5U71MSTT4hYbF1mQZHUMdXpP4CSSLiQrhbxrlUA6tmiy1truLFuikOGwS0gWMx9pnYtJnoIG6ZJBVub/3QmY+TaxGUX+vR+o3RoH+wYgtEVwXE/UilLDQiHmfo6GL3LZihMMWAwNBwhl5m7efwyKun28Kw1lREdwNoKPCdUsa1QRCBpZ9Rs+SClc0BYrmuC00XkdCPXylnXyx5l0lEEBX/hKFN9nu76MsPHHm7ya+zbnOkIu5eX8XCfXKeNynvjuRSwgEjAEiIV83cguUGSFtIP2wyOKuR5EqY0TIJIgLiCAH6RpKfI12TII5GBzl8mWXChXAE9eumUTwK0eGt+o0j9xVcqCZkPxYGsG2O9lLHpKyz6LROfHu8/MjxVks1mF910rhLC6YvPiR9u5+060yru2wDELB+9wvGa6bmX+JrFoTD2v355kybRm4WVejQ1erw6i8xbK4h6uAoXXe2sKainOlx+sDYAuFXLQ4TUbzrDg2+ps5fvK86c2r98X83/kJ5jelHaQ0AVnMPvQ49uAgc66fnncGqe3owDe+ipWsNotlt/i5+tDsu/l2eneT7LX50s3Ik6PjX+KGL5vYbn/pd+2OGFzwFvD8NW/CnOCE9wt1iflMOTvOy0xfidElEyPNnoD5Tdg2n773Hn/w10c4H+9gP3WETz78/gAJiWFrjO8fP8z/8nwTV1xRd+PvmJ6axi8/QXkb+bnuc5QhjZgKX4V4VrvUV9nsfHKFWOWDyAkbOg7ZGGU6VYAc14vZRvOu52VQadOjYmIiw8rKiV4D14QhRTMLfEcm3joj8+5TEj2aoFlBaufEkD1E/PoF1CO6Jo2VOK7xQpx8QIVQjyv8tjAKIYHCDv3TMtajDMpkzrsPp1Y4RWE+/64fK2x5c2kYQ/VdxBU2IRQ08eh1v9B1sb8fwufbRRLjO36SMctcV1tck7xxehq/Xsyf54pUxJVfKrUSfRI7/jnkr/bmyzRXVYztv4ymfahWXqWumIsKa8RbV7Mn5nijsOotLshH5byMQvmmwlV/GF218ensmoLfRnwaxzo3x2Hm0EGuUdOp70/0Op+bQ9XVZpyH980e5X13eUb4nJyX4Rm5c3NeqGauFCIqIfnR/AoKFKIGfr+5H1/R35IhMTzZUa6wjwqpjl1NEZJLqinL9v/zE6yGs9kciiUkg2jSOczSh/pdo48SMkmfos/Oo8KwJKpTMi5OjZloOq5DPi9cYluoYQifur0+rx0o/Cm6ZgZp3BJjvUNkkn15CmlbNtWqoqrqTTY2bhKTCp2KJJO8qW9AFY3oooX+rJGGMm+SRl6lbiDXIKYmf0yguprxykoUDlMnkVWChKKGarmu6Nw18vhhhGb0rZp1R9RU5LbeJutNlurqTSzrmnH7s8JAA4vI6xq88zeZySLdxieRvXcb1W4h/SHK+GmKhMiTg9UIZTLU7G+ggxX0s5+h73+fOstifHCQwUwZVZUZ3lULP1aAB3VI8PZtqvdqGVweZ6+8nBqJN2dnWVOxN1eQcpUTUhlVlVXUO+9yK/UDai8+xkPqwNFkvpbFrRQ33CFKK0xz7QlnqdA9uMkGGnuqsSyLJpmE8umN7wZaqUTtQdRnozozd7LyECDehhCWqFAd5XJJNNZQbVUT6O9EFSJbb3ITtao1xT+S8QJyKJMyESgT2ewoXV1h4inRW6t8gr9eBfoUJeSRM5bKrVudWFY1JllrqBnaJa7WCblGaZl+4Y9yZFdTWfU5YTXxtHLJxMJ81KGDggX8+YByydAT4vejigyJW7n2mvJ6C9jk+hLkxikRETpYpL6ugdVlUyU829yEXVtBTUcHraMTXL/+A27X3OGyXOJlNwpKs/E2qhdlznmbWm5DsvGrgkx267djPsjtBSUeaS3n0e+fJ1X6Zjr88XHTde2CJdK3hNNzTOVXPvSGcNXMse4x9CISOkGpXnlZuHEVff9bSCqFiiq2/bU1ZN95wJA3lvy2iMXglASR0h6EufS7361SOCm2Tm+Ojo1jWbgSS45QqhytGby+o23krOHWy8DuFCGmFSYdC9dv4RzeZOJH+zz9o8vMz4uLHrRsQfNkLme4Ij/rWiCjcuY1SrPOKF4ZHsVpajYJzQ0HQ/vrcv3yKvb7DioTrlYxScAygktLzLmFUFBfXxttbQ0YrHQpD4mTCwusqBDXvWsb0Zw7b7qUvSFTuPfp+jIBpzTuua+ChRXWIdu6hC5XIb2EFCImMTkulKzFURdy/KjKhz5w6Ll5iZdX9rDHJ1h79jrqEbbj4LMv4/g3ONiP85d3xPs/HOGWDnlCIma7+CyzEXeom/9r5DU+2nTQ6lfIW1BW/rktwrL5Ow2w80Qvr770Bjuh5yhuihJUUaeuGXktCIvOE3SZ2JukQQ1MO4tEdMnUC3gwzh2dR9E+RM1Ihon/dxi990+opYUJmVDai7ljnMI4J7XGiixj3dk2ptdF7alnykuPKF+u4K0X3+J//z/N0Haxl3HJyzeZ867eZQ3Y/rMTkRlZjDgnvclanEAXffMONU5RiGnvc2S7ND3XxNiIoSuwrIKVeZZk0mWsjJ2gNlgrnU+TEgOWRbdj4/c7OHYDgcASl96+zJ+8cj+b62/y5b++l8VHn8H1PYu7Vovk0KNLvOyNl7y1cY+MN1d8vVmJCglpAVt+ypVmaup9FEt78+bsez/v8/NkRxtehfxZ41zw5IplQTrDss9JDdIEY7ZoK3p3IcVYKiKUK+xpxWvZyAcSj/yaz3GWRCQ2h0axsmlsWwwMiOGWVaY1iXVOA6cSuShPCaeRho3n11T6m/9+SqFPBm5VlPEOKEDP0hPcuFhjQhzXhZod9LpB9FyPRPBdvsyNe4UdTrBdc4GNxg2s58Txl+1cW/slyYo0qcp4Sex5UGGScYeYCoibc7uzBRe54buBY9scHz2L9DaSj/cXh5iLvYWsJMdDoqszQjjsmFBCHk/cSyDQRMBfgToiDEVKJ8IlXSKuDqRK2mTwxroqL5btSaXy8eiyshs0NAjjwj5GRF3YChE7jCF3r+Tc8UFhvIUZLCWIKobiLoWY6CAdHWK2Mc21jmP8V/4TangNHYtgMk694uy1WzRGV9kf7uDxD7/Hm2NNOLtRHqmzSSbF8JDYbxQ9+6P8w2Mv82HrGt+TTaXupcLOEItZLA/FadUgD2iUjoiwOsSxOrE0SoVEKCXCk1PU7AfZ2BgqYcc9Ffc9Emu22TiC8Vvc+pt38ZVXot1dlCgtmsq927Peqc8nQrVC92aR30+njNVaKa+A78bjmGTfMI66zNxob0fjizTqJmWelTkgo0xOL/paopFfMZf5ffoDY6woR3x4gO4StpBfjH3oJcpPfV/L/v6iV/cS9t5tmmu+Dvy9V7hxowhK6tXWdKY6WQqawq3KSvHZZwYEcda1q26IyxImsXmaH6xKolOdzM9vct999/Ef/+ObTE+/ztLaHrEnH6Im5DAWjRIvSn7e0A1sWUwoRkaivb2d6M/vYDZM4YupqDgvQFjd+cr1CYk2OVzoeoiy0FOkJV5XCyra2CIyeZm79Wg+S25qguQ578HR3TyY88QlpBD/eayWvo5C3L5s4Ihf2eUGZl0sm0JdxyWRg5s6m+Xh1xVbMaLaY3CwjA9vNxEPGmNgu1OkzsgPnpJv7F39u1YKtlDcaOBIdwLdH8WdbyJ244/Q4iz+oU/pVG9pwics1Gqw1yG7nMjuJd668BUrX62w9uYay/XLqD2XqDaNQWpq7mNl5VZ+QrVonci34lDPycdISRR4hmSoE0sWyfl+dGUShQOoT7S1xQiFHFOIllcKnQwPN7DYleb4yS36GjOEFOIgcmC08Z4IxTcJHl+h2T5HMWWVp+BIDt+k7khINdzUIhfVTrlC2Ep6Ya/XuHJlnvCijHJRG9IEtpJUK0rW14EaLqCPhymf/Vc888wOk3WdqGaHSKSPCb+4Ek/ws5EIF7+u5Ovv7VIXWWCnv5b+nTrcbJZoNEZ/f5Cv/6yCF168xM4romnnLboHukholYV4DY7jcOPoiJTrcvPPb3LPfC89GiQZFrHWnBKOcEWfIdWjnk6qdhIsL9+tmluFxZUU145F4FItKjuJTjOS0GmlYOs0GqxMBupqkmumuM7Mk0ZGVFQA1S40YRZuRqJGcWzZpJLi5hdCz8vAaK8mKUtWUkrTvMp5RIzG6zPzMqNcmC2NdrZPIIV85MjmHIWIqY1AIEU4XlOoOM+NkyN241F0s+CxntqYPAkciGteUti2bY6PnyEfQrwplEgwZtmsp8W/336GztkhGg4a6OrqKrov0xCqTRZK3sQ6FImMkMqwtMdNxelLikcHm2mdL7LQo6LsWXErkcQgy87oL9FpxtYvmb1AKQwQJUlYxcCLby9xjWOfoxRu3jz57jw50Pnd3mTyRc+qlc6i0F2mR2zZJ0LSOZkSumwxpwSNRfP6132W82RsLMOvXuomkPNcntlBdSlvvhUZUCGVGqE5qakxRbwlnxsW6O9UKfSptCWkrghtionqau7v//doeIG2pjFeXFtGZRayTiNykpvi+dkZhl98kb7h/8L41mVGL7uMuhbqFhuNuT4De+RwutbtAazxZwvnmbBLmmN8s2SRFlBbKxef+Xc4ToC9vU1kb1Kw/JaQyswgP6f8Rm5ZJsm4atuYIq8eUzVaI2SLLlm025c4k3zrpFg2CvrQ009jP/hQHsYaWbvIuuMgOaZRvCVkJZm2pkk80kDoxRd488UZHhscRW9No4SFZTvMzjqUHT1CQC/y4tg679aI2fV1+mPjdPk6mXZsBizx4kqATf8zZDIrzM4/j7XxFO7lLmyfjWzhU5AVrZBWin986x95sP5B4rbNhizkOFi2ULe4VL/Bsgoxa7sEcdWL1IqmRF3ybCrmXXkhiEsqND0/B5ywJRWxuxqJKNc/w0iXuvh71WPJxMVNEr/wHiydwPl7C6xC4m2tEVWUuMSaKy8kEED2FpcumXzVYzLNcGxZVMvg2E/fawTJ9MPdVJFhcKKaOasqhr24eH1cvDFjmD0HBs5a0GLq7TnK7UJi8dJ5c8o2Y1qmMiY1aeaPhEaMdzH4402sspAhkrNtE0bLbTTZCjQ8guSY2POs0Fc2wUiAzc0l792Y+htrV9gLMlQoKyt56upV2yap3bvMeW89tQvT/rYSo4h2zj/mG+RdrVFxTvjIzKsz4OH23c/pk3ip65DGhiVzzxviqlZZOwdVWNcgunuDWF6tixydqtH6baR2tIa3/+WYV0EvZM8hK4nZr4ooLHpUkhwvSAZZ4yc+M3PjO1UKiXtK4XD+Sj8N1jSPPPIsQ4l2ZlVJr+KkdlXYtKvF3kwDf13/C5Y+eZC+RdGRTuPr7KQ53oYti4flbTSxNJWRt8mVeTtOM1NNNj/9eYCGa2VU5n734ibqPJ/wqUSyQhUzqHYbJSOop9VDD7zkDZJnqdbJaNz7vJcbLD2PVSdu9YbROXG9Wn2LmGKzTEHXm22o2btuUrT0CKtGDN5ooPK1exlvn+G9537FfRf/mqqWBtRZjpamGZyspMpfQ/rTCd5uaeFv7tvllfo/xda9ZFVJZKCV6mmLVd8j7H11jb/490/x3i9a6TyapfLofkyJfwpV5LysNVpVjS2bvksVjIyJzA/S1L5aR0wxruhL8k2/WzKo+rQlGIlEePLjJ4mWeZDJlAj7zrGuisSR4a1/6aU5NjbWT4/T7DXuGqqRiCtOs8LUyyRQvwmmaOLA39QLooJcq8dWFSzZoM6oWSmShlavIC0jr7biAiau24xkk1JBUbpugHS6lOStYDGnUGcZ5ZlcDPyce14TzdW5+HkWn9KkinNeZWIq1UrXgBi3PYVZV0cyMESVxmhcFF1DbdzoOUQ6LvSJqMxtHrk2qBZSC/4WUW8JqRVln6LCvknMg5uXa4nyluXzwRYRoViun8K3WLPfIBn9enmIZhXAAUEZBJkxOHwUJ4zjLcdEqpepl+ipFE5ymuwLZzOVhsMqCbU1qKEAXPgOJDoa5ck7lYVQ2GP3opqq/Hy66x5ji7ACVJ+kK/fkO1UKkrngzsEO8U/ihHtDTOsWUSfJjE/41YKtPvz2T+m89gkDGkBdYvfe0jirZVkcX/+A2Ssf4Pgi+YcM+toKDefl4Pf/lJtjYS4FH2BEfjokaoNiZXSF7KOFjkS2zkgiNcsUybQItU2jPuHWiHiHmRh1deKDaZewDIZ6YyBAeSaOHnLRj4WtQ+69epX7ymLcca6xPWAT/b8E8U2dHuRrMvHpxLd84T4JRy8RCl3gnd/r5D/cGGDtfzfPo69W03HvGFoJEHFDBBREwSN085jZvvt49GIbXU4vjYeHtNTWEAgIX+cN7lvycU2ie2eax27Z1AevU7vSjkaGCMpYy0HJeD/LASQrn8T9zPu3pUXsV8hUXBcXP+WqZZuaUFVV4fOw0CXR/973ePwXXRwEZaCi1hrnNUKSJbQtlDVjMC4he9p4Zyegs3t+Ebx8xjlOSlC8FAjQcEbXPHkegD8gr17Dj6kbOP9cJmSXZUdiWkF6z6BDOCnzEtXTxpoPN+lETcMEkkO5CqGsVHmE39saJHvd5AH8MhuVuecWNNeY32D35SOgkxafjKVu55AnLUgVBBTAksXBgaGi/xc/XqHjfiGNkFIb6wMDLI4kOR5yGZUoLze9imPenIxLDLcGWZ4TH3wgXqw3YxbUx4SnrjFk2wSvrxCUaFM32es1SHHqVE/vdAM7oTN4vwLyut3FCHhwUL8CXPlWvFcnZFrfnm77HIlL3NYWEZVhEDoj2HXCPy2CV5vQfBUTlti8HiQVmODSqFOYSwfnn3dE0wTvyqf068lQeoj7O+4vfDYQQFE7P5/OOqZVYnTC3Gu3qnisiPa7WL5TpTB7v1CfmN7009Vj8czNad6x+/lXDUlTcCSRkc2qYjjBGFGZyac9lZbey6Y/+F8YCsyjrlmUGsBVN88PDFLTcT+SjWbuwWDFha6/grSA1ICu1uFfG8U+LrS+rFCCJfWWPnyzimoh4kj3sqoIf3sg9lxh22nWZ26z6LnBfmsT69pPUXAIBUSNqvns4E0yc32s3n+bkG3z2nvXGJk8PcgBGWx44htedCYjbt0/zvScjxa9yNbWDnV1LlG/D3/Mz0KFw3Sny/3DN/jHe59h095E16rRcQC/T+zvivu7He5vPObf9tbwZxtivaOX2Q9GCXp46KBtMzU9hST6+8TDCaMQ9iRkJ5H/JSTTN8LpFcHkN0zQ4MnPBpGi5vM5MR++h/mQoWxWMEquWCz/+5miYxPeXCh25S/LFIcVx0UzItrhMhWYZFulBWJGZgr//1T4tzawyssxsMWiBTMo1DHN2rrFpccr8ftbGB/3jh/V6RjzvlCgjRllmZZNou4qbv0BvXLOjekHJaa7TWe+gKNT1AI5KVEKlvhvftEaPBkis2noe4Ta7ge9MawgcAa9REhiZHERVRZ5EHGx2b9JmZIEloQcsbr+M5yQw+TkHJYc/BKO047rFgpKAxL/UWJK03wsi8+c60z5RDQmam0z9t9rCFBbazb868Hr7Ev0aYL2iknuvfefCIersOJxAjtnhIQ2hZIiqg0u5Ps5XyLwm2ygPn1jGOjbib9kjtbZYtEnLncI1YmXZNEQvMbHOpHLKZqjlZXGkMr9besCU0UFhr+tOGkbX2ex57FBvvPceceoQFFvyz7Xc/lOlULrQRWKN1Dv/AWVTyaZHmum0aqlNRRGHRX5OKotm5u6iU9iqLyMwN8OoPo9dCTqVUlaNmr5Y4OyqJTXwaqKVEwkIy1IFrf6Z/NVprdzFmqsHEXLUKoWvf9h4QUpxHouQXTDLIhQSDycvOYVKAWR3icZqSLbJjosEVCUlsZJ2l2XKr+M0vJFOHroDuvH69Rrg2z2WRyngpaWTzjpsp2sx3hgUzRVnv/CJMO4OjnTRKrNpaWhCqUtIq2rjNQs8tWXX7K4WUvzdZsZjbPfmiFrpXmxsoV4xff4j8u/4NruL5mpWmU6Nc5iJsmljMG150M1t2/jsy3enD5A6qOmRoWYpDdOX6m6MNGr5aG6zAZ014k67o2RhpBixnJqFD0Bsd0t9tpExBdAJ8IiZ9E4n/V9v4rw99kQdkc3TWrlA53ut1Gl7+OXOFoz1dUZ5YqDjGtdJZMLqqwUqpxFsmgJV+GmWmlsFFILVoOozOPnU5hEaQVSFS2KUy/hrxdqENUSYVWV3EPaW4DljnhuwBtHW6fgfznplLiR+9snHuk0dBolv8vYlI9NU9Zn1kCrYkznwzgF8cnkUJpVVaiZCIr0YBrfUJK3n2zj0E7x/e//GDvo0vTalGndmc5QqVs8GxEbX4jZ+tusyoRXpBbSaa84URVIFmE1U+8e8tprlYzX1WIpm/cWL0vMJBuYuu9/wl/RgaJRVF7ObY/Rd2pKtOf5tyq9d2NhFPfZFuy3l8ucFcad0QwtxcWCd5UeihlELctit7eCzoSZbwGJ148cAr7T4y+Z0FGmiFbCumzRHP91wC93l2C0kWRl8TilMeGuCu7ab96WV+sU4Dwl8p0qBW1sYLnl+NxJHPm47FimarZK6OklUzLuXdi2hM9yGBkZpvLmJtLD2BLXtM6UZaGHHkKdnaU33NmPmrxexXUbqNtiTKJ2w0ustAk1X2Ju3CZdnGjOOCZJVrxxVFn099lYGqbCeY4FraKmMcKP9fC8I6otB4XF0Os2j36/HH1vESUaKC4aW1hZIHS9NK5tyySzLBUnS7+tOMjv5+bODl/92TEL00s03VnnyU7h2D4cu5Z9+y1+2B/i/9ac4B+t17i+/iLBlU6+54pKR8gVzkWHhrh4a1rUy6L7glUoEHJUKKr7tvckH7leD7at0ipUS2wFROhCPyofRYv/geI4bHZAPP/n4vmQaIzLuPgnrnFe0dCpOoFdMW+LipoJtl/9FwSDZ9OQb2gfn8Rul8VG/VdMy2K4pYW+vj40ITaq93Acl9XVi2h93eSQFhbQrb/F5Kv22NoU+1FhlP04DQ3lDA9vMaI9Ay20hb0ndMn7TeO28S7yG5BIWBZu5BKaL3gn3yrWnUhiv7B8Cq3iLPrZjXyBZEJSD51xbKeKKaVzCUcLyWJmZoZ4bIDPNh4j4IzjKIMURs5nlCfbWJ15hXXZrMomYNlU7V9mylU+QTo5afodm7ngIqXxOxP86uUNftryx9ha4umtbYa9d5ft7GT2//O/orl51NrK7Ogo1RWpE/dsefdpGcROzTk8/yc3trv+5qyYuvNrHH9aXNflhfXnaFEzss17vHj9Ku7FVeNln7x+szfXtwrXt7X6a1/3tESQNhipqeGh8e+Tz6vZUxjU0SeczLWVzLmATIdIpSnu51As36lSqNNFjv52ka/+zT6PdvwNLz+7zj3O2e3penrEB0OHuHK5qVH8inNdGxTizf1Fv/coZy9cRQvPI4l+tSONE9bJrmMJohJuuXDrDEqlPvkBLSdRHAtN6OLDTAyu88MbM8QUQ9km/I1NPL4jXu67if8zP/e2XMdf4XBuz4eEcdd3JMLq51pIrFwRjRJ7r4j2TCXZ/uy3qmju101kWYQSCbJJl2HF6O/OcjjUjrv0M27ONPHAXBVtIYvqgKhWDEcOfTKUFfU3Rb/lcjvxHI4yXJPIqB0lxvPX75KxIrO565artBL7lNzM/386K375tPifQ2K7z1tcDSK+IOxEiIF4Bg0vlC5An+mj7NdpdE6DTL/blXOuPS0xEI3S0tqK+vpQoo89WdQ3+Yi/cA+WP1QyT0ZlKoHjWsCSWNMYHZpAlkXN2BitoZDJh/gWMJtRIv/uItV+9Ho18ieYrU4yvC8GbaH+Y2TZ+P0iPmZxxY1TIWFfFsd/II9qZRU99+KJEKjo7u7mg6HF/Pz3S1w/d5zj5BLGtbUOzz03zCkenldcEhlTBxCV8gSNxRLUWUV9E6gozJR4T8jvNZf3h9H1n1GZvs317ThSJxGNckUL+JL9Bi11ovbBJ5MU74yJJ9od/s3XR1w4/grL8rF280PC3rvrcJNEq/4H5FTn7/nZm8bz6Cm5v24kr5HSfTJcU+dVOdflNrW7yR6nPYWrSAETeVi7y7ERnYnW8YfEvX8QIpD2Y22LGymRmE+g8rPgwJuk+jLULCkfzXB6xNHoN933txEDcc5kfHR3P0GNooYifqvdmy+znMwpHKtgXPXKUxJnodo8+U6VQr0usTy7bAa1sgFVNmI0m3sKBzykXMXjEnrmAv6wy7XglyiwYhasf6AQr77puUnV1eiZNWSbJGQoJAN7lUmGlcUnMDj0XW58KtxrZsE3xAbzPY3zsiSsW9NUzCXJ9DRif/5HHHd+H/8rVXSfx8ceEFaFqFSYe19+A/3xlww//CAjTz7JxYsXKdcgoXgSWXETpuoWVYEqKgYqkLVPjp4gJNPnuSRhq0J4ZGJCfPRllo7tzxk47kSqNr91xZWYiBQpmIDE+HXTnzahG3RL+FWNcgSBEsZyuEK1DHNqo3KVpTpbKQSylAUCxFTIg0xognvVxqVOcSkkqheEkmZjeuAozn33WXwQDmO9NYKeLZ2U5p7EgMpR9FfIMSGGRk/MJD7k6ChO3BZORlhlIn4g7ty5Q2v7OBr4EGMcWCYE84i8fgQ5jvoAYwpySSKuQSwdUzH/DJmvbyDbJjM4T40sDHKo4HaH5HBRMSLpBFadCbXNy9Q2DOQWjzfevj6x45r4/82kQ9PjdziK38GRa+gsGkrHMRAIEAx+cyJaErVKsOgphWiDGH2rnVzdgiSqVcPyq8soI5JKclEXS453JSp3hZ3fwFeQqrhfB4RVTo4zp1sBftyfxc1by67ZSFpa0Na28c5HR5nX2W1wc0qhRyLeWU3bYytc+iTLxQc+wbJ9LNz4FTlLtVZR9nYvomQQ21ujkzIovL6STe44v94SCRnus8e97y2ZotffeBP9NSWi0m54OXHE2JboKOrRcb0vgs++fOZ50jrR7nTKQZOH39l9jg60cufWBrUKklYIRd9ATh2GKuZ89FGfvNzC4PkFvd+pUig9eSemgcMsUvYUvUNHbmIM2+g9C3cizNrh/wMtLiNZqHXNI38bQM7fIBl+mIYyoSnRpDomlrtYGBfpSvHGorhx1Iv0KpIP1ycUCqAnnkD3lhYWjWiEPj3HyIf/ljcfX+S5n44h/5pZ3GfQUCTWxKQl9Ki48D+KH248Qr07jnZ92AmXjXKXydkZhnWNwQtXkX+PdEWakeFhpFZMvHQJrWW96/dSn6kuJLojQrNizbuebZvYreX4WPPuZ3haZCqFs62Ccp20aImv0e/9Zr/IQohLTJVMDseEtO4y0Q7XxIRsVjtf5lddXVxQoZ+1LRtbFpY1zUMP9XPnrTacHfGkxLSzjeuEjEX81mvo0UaWlfMQ15l3xOCK8Qy0uG64W7zz7h+n0cg4at3AafuceblknhWBEbHjiC3HweD8y4jIgw7mejqU3H87YfUwp2G0foOwQvzT0D7Pv+IwY9scPPgl6gwjbZHVPkOaRwqxeqUBe+bvWdO/4PLSEj9xXdbW15DmkMJEtcozsilfr2Fp6Tn8vnXW1tf40ZaPx+77CufSZeS4rN+zXlSEuYZl2Tz22OP09PR8q0VuZYU9ZP6fLBOvviH6koVQkLVuYRfRYNgnFn6nyvk3zmgR1Nd8vyuHoIaQmtC0sGLt+PQ/onwow4d0kcT+PpOu69UpWGdTfJyUTAZnfIqfHbzK1s7rSPPsb/17pGHUK7LV4rX5GaIDUWItpoakQWexnzqGYM8V+1/dQr5+AzjIfX9yTc7Po9Bd4MizKmE4MOtqCclf6iVEImj2HOh6o/LKYd2by6sn1o+jEN+6FeiGUPRsVNBvpBSsUe7YdzBG0RhafgOVnd0qNR43OZzizypkQpySTDjZEqYAs+e7VQq3MzO0xFpR3VPoVAKmAcnhtkxl5c2bXlgitcLtYC2W36Lqzj0oMopk0aTcyypHegcdi/j75ZT7stTeV4u+N4xd9SsqU34CITFUIXxuGfJPsjlRx4sftqLPP0dDQ6g1TKPEfd69HCnFB+qhrLILldslE8jnivp60dccoUp1jI7/MV3/+f/AXzu/IP1SmqpaYVV3I9VTr0pcjVLt6yY7lGG8e4CP4/UEX/icQOBHpFIpjFU6zWb1JpUtuURTkmaFMW5u0li8FaK9v59s1ozbw2qiRmI9IYbLRapSRYytQrqFMlaBMPCE+JTjhC8lC6uzLHzDwyiZpLpaTAbNxh7MiK87TEih2lu8DVVVqCdEwLb59KkG3h0R1qUs7ZNldMbjWKpCkTCqEOMTorNT7FY8yLNv/Jw6eV5Acw0zlni2yqP5KJaKCvTEGJcP36Ux1kcyVniWoEyopdrbnJrKyri3Ikt1XR231U/Dtas4oUZ0u3iRioqVFLcn3iFoi+cahW41kXVs+v/6D0mtLiFdJSiRVgWNIxNU3/qYnb99icHsODVVVVRbFtWvVKPLFSju4t6sptvZouf3f8KVK1vY9nNUv/wylU3fo+0Hf02TmtioquaBvxnkym5uzlcjy6G6+qUz303TWQs9qELtjj9FZugiZf6cp5ZFh4/lc0FNZySrA1VdpDbTDDQVJeRXm81m9HdC7aL2QeGvEO0j+zR870P0Tg7T3sjb+pw3T3gf3yiBAFamkqN7/4npf3sLuRUMvDxr5l0yi8JZstmLuEs1aM5g4pu9zfUwd45albIrV7cguxI1HpVcKyJxsCgDOa2oKOKvOkMqVNLVrlrCJLPt0o6FrmsK9M46R1R578XMQZs9NZa0AG08drB93y557KiOG99JnYKLVM+o0twpym9eqMmQDvjMOHmf1csosw6fyGZLz1OjIo6u/JiEkZLfrVKY+6H3QkbfReF6SmNbExgXNoOlNa4WxapL5XFkXWLh1mdErghfWYS20BFzjosee55oRyfDGsaJBIm7Ftd8Aapqn+GlDz7g1nQfGn0Q3T92Kg46qiJ2yFOTO4Ttj3IU9ZGqdhl/X/zZz96nV3/HLfVRPX/NS5J3YtA1XUgdjKuboMQjZWVsvbLB1T+s4pa/FXdCxpL1ycTCu7uN15O4lr+mQYUE0HAQ/URoV2SvXKGjox9pn7hmeUliqlb0N8pUJv5aVdreZHSE6ztCET96rpGxpTVCx3+D6uoY6BcPJozXFugQdkOII/l5MBAgJDHa14d2ywwy5f5F1GIR9Pt5Kyj6o2L+gx6q+8tRlx8FfN6kCiDNEbgsZsIzHG18j/GLIhiRsUL9Aa7pVaQRE6q4/OdIYzQqZMIVfhm8ddolcnMGu6kF6yc2M+88R2x8nJ233kLKMqFe/Jo6/cw+HwrbZlOYEsZTtagPOPRbPgJ+v0kU+sS066KISe4rZHv3XoTciHibQ1Rmowp0EPBFUdjBGh9nZm2dGc1g9w2QLeugoyQPdkLq6tidXiCkywVEUJFcq1HecyyLiY1i6Kr7CFr4OP/3JzPCPZWjmjXz7ZMepF7z/4VZ5F5CUyaE9dquqC0X23/wV0yufoI+/xy/XI40RWNqnxfXLnyrOVWgXxaObXNl/RgttCM7wF8EfkabxLjaabI62I7+FQlrgmIyxBIZNuMcldexzxa7IR+hqbPCMqeb4fzGcgZ1dkTnAwF8cnnXnaLNMUbKVYmPdDYp46rOyveM8U3Flt9OgkhjpO1hXrryAOFc1GDiAorn8rE+JJtZ713N6rTXVyWvmPKMcfhOlYJ+JJQRQ7pCSLOUUiHnxEYKEdK9Zz50VA30229wz7/K8N5omOWPPuLlF9pN8ZkvxGoywuDtW9z6L2+wMNrD0fQedlOUQCJByG+d6nvb2ip2L23iqMfjny+S0Snkv03sD96l98//ieHfW+PduQHcayIcimKy+ZbhqFnfxMC9Ctp+WCamX2FZPDg2RixbwCEnq5J0LXaZYiO30fs85B0/RkJT9Ni76MZDRoEFczkWH9I8U96E8+tkIv1bSIOM6zsgZtvEtedvop/6Uc8T2IEhJoqa8CSUJTh2yL7rUnH453zprFF17dqJc/rR2GX0WoatC2vU3xE+S/gTYtZOMRJ6Ef8Hc5hGRFtID6LgbWbn5mj/23UUdGiwJqgqK0ebm4TUhtRBu2TiobZMcVq70PNi6v9+g+Dfz/LjXzxH0+ttZnwiISzLMjH6tNDRmFEARfc5IeEs3GHqPz2E2y7Gm4QqJ5ElOq538GnZHAc/uGQoSOaFBgfRWyPohT9i75VmbusKk/Kb9zAm6j4SNZ8KfSJUIYIfB9l/5cdM/esmc8+T5pq2RDo9RdvRD5HPS3AOqDRn5DgE/f6S7l8lG62tvMVs10UIvDSQ/659eol0fQ+2bfJNp5rotKrQVSvkIsXR0pAJZ7UFySm6wL5pufrF9/6SqR9+glZW8Mt4h7adIRDYpapKHizX5E5unLHxWcWfOSL0A6Huh5F2CR0alJqvVTh9YuqfpoiMRU7krUaL1pGBoebPWSeCMy6WFoiqOPcQpqRh/UnxqwT99Y3SoxLONb/E+zqDRblI4gdNuPPGMwhJhDSHdLpBUEDfTMP9TZJOqygPukFhL51A6kH1aYIr01iWpyg3LqHynFKYRaplV+fnDfIFvf061cLzu1UKlW0oHqRR59PQZuVDReXVV5IrrPTXsrBrkseDEg1WA21LQaraRTaTpC7Qzhd37rD48MMcBgI0zs3R1l/Jmdh512Uj1cas2rhkJ6m+08LFp/+WdecBdENkHQelUgQlHnr7dUIPbRIaSFA334jqA0WNsb9ZmmU27KjEL+7cob7Bq7aeTxBpTFGjGubmGpmb7Sf1xFe01lfyqRyCaiGs9tJElET7lNCcg9TCrEyNwVnIrWIJS8SezqKAxWjdbZa/uIKaoqZqtkFUhTtoHfqEedtPox7F0lO0Kk5WN6mXTVhx1DLjueMe3LdfZAdz17h91+u3K0qLXYXbKtOK0RKGqHAeqc2wj8omrda8pxYKvUg81krVfILYD79GqU106Ya55zui/WI7qvCa7NT5UVkZkf5pooOmKK1pQPzs5W5Cbqm3+ZaEXzW0/90+9uECrVmhZJs370TGrcJqzlKvCpJKmxhvOIAGLzEWr+DATtKeydBeJzQs0j6zMarM23Q6hNrFL3+RRbbobxMPymDyY639VM68z5QbM72mG3Q2Edk5EmitI3nZbKiqiaInPIx8OErV548RaxQ+n8tbb98oOc62RaZvBsWL8PeOn7VUI7OxILOVRSiclJAr/tmP9pn7yUc8fOuXlK2JzJGo9lVzu/w2yWQBXx+VsTJ9iqLsWcVkfqQkQ3Oib/ImkoMqBpDizFSKrrj48t1Gqm/6872vmxRkVu8j1aBsznIuKsBrEPo8iMJvUCfDLXX+uLlou9woRFcGBipxXp3CbyN+iaPsBZScIq1y7pfLQ+riWK1n/r5DBgn3mzYQisVEZV/G1HZlB5DqDcAi2opUR1ARWvURtsqQfOhCuTGWSs6TpjhaE9JZVC9RigEN0netFKxXzMs+A365aRkNuqV7sTWDWi+aRuqjomJAOKM2juNSbqVY0BJqbOYXb7zEzsYEqngFa/QMhk1LWJbDnlWJ5Zuh64LN92I1zL/6/yU9/P9jbeIh/KvfQ9t1+cTkRiSCvbBAtcSgbZmq1kaZSXtdlGbufegsvnRPXIkd9ZBQC3OaR3Y50jaWJsixZnZ2tDO82Mqr/2AxkjKoq1PnyvWZ2C4Qh23JoGCKOYJqZcJglgqJwKckutfXkd9l27KwLUOYt1t2i8XFZd5aED1/nMOAC60LRQ0527xEWvVsWVNMDm1TN/wgmjEb74a+jbUziVRhwjG2vhH/fTGZxHp7mfqRRXr7biBrCGUfRJMW2vDCNvNCIw7WZJChV1epey2FJiZo7WijrdPbPGprscaGz77epMXuqIUmbPoGBmhqfQ5bFl/aYlO/wG/tcJ99gVEtoc6QWWjT06hsgLXACL6VFXSP0Jh3vrjQqzIb6tYWCvr5evtrLNvC6raweixD0Lhdg5zXkOcJWLK8Rjkn5WTzdSMVFWJsNBe6SrAw/yrl5eVs6wCf44V1fJZpBlV0XDwZ4OOPt0rHolroB9OY6vKCx6G5JRRP8Kt7/5LNjz6h5pd3GLfGWZNobU7y+uszJfdWJYMWkjrRdtMZ6zqDNIY6e9Bz7SYM8XUD0gDDlhiyxL9/d5XqmlEK9T3VGKPhReytE4WMue83R09Vk4ck1sd0giIkjqVzEsW/pVgS1oULTDoOD+8a4+9ly6JZFnOaoUxJdnWalLF4/NZU7OX/BrQdKysmbL3lra2nlIc9V0k8rxWCCiIl0eLsGQ2dllBPKF8AWq+TUGBhDMHSgr7vVCn0TsvcwAvKs4hKJkwxddVgfbMqZ1NCwTKUFA3torZXvHR8i6+//s/0dCwS1xFSkLKyGqyTnDXBEGptRT3l9F9v5b37/pZbA6+zsn+VUMMx1XKIx+sYitZ7ldA6G5vcJEOxEJGx6BLyYmtHFIi5XEooE1RAksRiorlezCjsbQRxdNMl7pbx+tpNlDCLcUiir1bEftBEVJESd65NbQQUMJC7TaHq0gpDy3uJfol1NfCMYpTLz6EOuel9X55K0V1fReMj9Uwf9nC5fonosCjvy5BIJMgGRVdtF07MMdbufaIiaZLQcYnB/z9vfx0eWXqde8O/vXcxSVWlkkrMzMwstbpbrZbU6larcZiZeTweZs/EA54Zx058bMcUx7FjxwHHcRw6YThvku/kPSdw7BjGOMz3+8ezSyqppYFkzlfXtS6pdm149oPrWete96JL8dUHFW0/LF/JkIjmyODG377D+kB1RAVe+Y6ih89E9ffwtvEYifx8cdExcU+b6He1YqIy6CJ3G3wQVVffpsHooMIlaMyHdtUify4bE4XPJ84Pi9MRLe6xPNPnyqNTKh/cK84/rpqjEyr62MdEXa0S5wT14Xhcd9xkqeXEfWaQNW0eJF4a1YCjSItZNDtBAQfVuv6p1qkhtRzzKpFOiL222v7uiNr/x1Hh3SUqh8WjfyaCue79FhTflnCsV1Av5tlEnd1Ms07PMqmuxWIq8ngUD/6SrIN/JKhQ3fKyfOWbNWBrzVI8nSuOZ6GcTjSpojtHkchWx2aOwNHjT39B/g89ohO/+A1x/CJBo25NB3XLkWolG1DaNcN0YEAIgIFYW2bnNE227d0RHWeJsW7D8pv4huCgwkPIX12j3tOuVTgZ0WZ7uiWImziJLCkHRfGJ3MgpC74Nyo1wSsrfPZCVrfD9k+bmZnVOTysKKkggy0bFN/QqMFSveaqVJKiPwynvQAKxDxmATJk26MIPaOd85e9CbMTdCBehFsvJ0Wxp6To8mNi8cLYGBmJANKdQ0by9vK+LwjABk2O3Ga1No7W2NTk46gKNWCgZRZfHo9p9lq2mjxzR6EBUV7c8qoquYlXiaJNWs955UqaCT6Bdc+i+XwppzzVXKPWJJvVSppWqJqUSCwoSMnbcu44I21aXe48AO9jkK9g2unazeBRdDwYJC7rMIvIIyhmuUF31HnVkHM+7d4tUSt6ckNo+8SUVxTtNMu52RG+uZi+/SgUFUUVAFoOCKjUv3KCcnLTybNssYDfdJP/QsB4koJqjXln2vI4fiWsAdIwaJb15igbzFRuJKe9jaM8hRH6+hqtKdF1rlaanckV1ROtaSRgxElX7WLucoLPub9nbjpbvMh2tiy5T7xUepS89qhnHkm9tQL61lNi1X8cKMRQFWxbnPNDNk6isuEyjjJrj49twu5S4g8TCmKjCYXnddhmZnVX5B7oFS/L7Y8pPBpXPkpxogTiIBv3oTNByM8oZ6VFwplfh/cjjRYHAQUFK0S73OQWIYnTO5KQ+eU+nRquaVVo6olRqSHsbm1SRDmm/L6w7Wg+oK+ruMjo279y8tKsNR7Euk4xnAKOhNoOinK/HZ0Y0csQrqBX2nLhuVvzLrPDt0k0VN2hoaFoBfO/oA4o6nBKj0kKezsrYjRMYYsBmxN77lSE5ayG4STNtaGjQxMSECCDH22UYM30+4RtQbW1Ysdj2CJ2xL3xBziOPKPHANQqdc5Eiq+2qcmK6OdStfBpU4ka65nCqjb0IdCiCnE2Lv1/k7BaRRUWPfVFQrkECqipO6Ib9dUrTo2yiwZWVbHqVDOHlYdUwqxyKxdmIMyPuuNtitipBjL99/a6wfbT3f0k8yH/UL1/KJ8JXCadMo7xdhHpKWK0icpsAOfi0xn3v+nkVePQwxxUkaPpLiqyFMqSeeLe+f/Vpyg0Z3yZhdtipd+pIolHWPDvGexzBtQpUIwbe50Whp6lH5YXlwkaeFeSJesQlXTp+uFl3+Jr1+ALynndAzv3ILvDItpFnC+IjB9TX1y9aYtp9bkiXee5Q/vSl8iyg20ZQy63I8TqyKi1NtCPvaL/S9GqEEVMpvs30u6dxalpA4BSs+wCb7W3ToBBefYj9goT6mFIMNAHy+BAHi2Ww7LbAVq8zoBwrbt7F0y0rr1BOp/sMOyrHGZFlGTujH1skLNHnUSPopmhUztxuUeYTbY58dMn2VMrC0dke1DGPfmUMXVHSpaWBr2mta03WKHJ2bZTX05Zp9L0yaUvRwFSfpu8/U3T7Rf+oKDWNP21XayVxpuxBW0VFqPEChA9ZHo8cUKOnUU05zeoadVRgIfbdLwKnYqAdx3DCrGPmDxyQZVlmMcyu532m00bL4uq/eUZVmMm4fWhIrX1l6rx4SPt7e/XZG/p1r71HqRUDGHDYiN2Yb27ROa39ut0ZUlkZ6u0NCfbrwJZEIU63I3/RdXI4R9R3i9Lr5bEGtHIgpkUmFCSwHvD4XmSFw1p+cEH+uF/EzxXdg6q0b1TV4ZtEn09lrdVqu/h2dfkD20JO88lXK62Ceh1IlMia2vy7RZEchgQoGkP9wxgH8u0eN7o3LbaYSiqHh9V3+umiB+WXG3MgjY0G7caotvrcLNAU6OgXLtL4Iw/pMt9vaNQZ1n4PSiYqtWvqhvX+3Eab8mnWuqIWRfQbP1rnfrZEHO8Xn3hQzPu0svsKQaNsemQVdMmZ7JLZYW8QUno2gUFmBbkyu3LHjJ+DU2L/qoy2PbXpHYxyYf6fmto+tamHd/bFvWfxoo79HYY7adoRcUuLvAMIJBdxnzsf2cgz+e6pwS3K1tF1B/Iwu4TczO/DKqVIY5P2xi7gRoyie8q9bHmwTJ15tn/Wel25c+L7uiiQQCQbdHHxBUo9kKucR9ByZ0r1NQnlkXDxwpulANRYgbBt7TmvTMf7ytVZUChf4iyVN6N2GwVL3QKXIU5cLqxFEUbFXcguefvKTbA5/V452zt/0m4D34iJ5KyrQFZJqVodR9ETJ1RgWfJh8L2Z5O9dWPJ0HxD3Nim/uF1Jf0yJEGJ1WU/HmzWTMW34wqJ4XmQjT/yoOIW85ApvrjgDnaw5uQ47PVl+UgeWF/VHlyW0qxy1FZk0o/mlSZGfENGorH2WToyeMPbvJAa9U4JmB+IafzimgpJ8leAzGnpXuwjnyUeBniBHFDeJO1BzGBW1oMO2sVN+5BDKfcB0oFTaaPR+ntAa52+uMw+i66gI1glKlEh4FI36BYWnONDxII4ir8/YzjPHkwfHleipVEdrofK8KcXcjFHZZIKZe5WNt6thtkc9xWnR2qbVI5cquOaIETefAzFBXOQdFcmLRWpFe+YS6uu5SBSdJ3zXq4xrZONfR9e8F6k4ia69qlShkC12+8U1+YqN5yo2cbFIeRRKlCvRsipsYyYpKtqcMzlI0M1nkKtsypQwR3UI76Z4C58XFaQRt2zAOMu3K3NBWNRmmags3Khqr8jKEJYtJaD6hx5R/8MfEveNiBKfOHJE/pJWFZ7TqZg7ZpIkFSShddoZL5tMwmNkxVt0los9g8K2dPKbvyqG9hlzXiSgizlXs1Sog9x3Xdelhx+UU3cqWVuKCYVCu0TxmjiKSrYZ+0FQAY7AOOR3g9KRGpEc2vmZYffd3o7uxUaJsoRi2UynR9mZjgN0xAnJV7S60TbF76HPVVXJPzpq4jlOmudzokVEJ8TKijmnEDPZ+xEdhcK3mQushC2LY3lWzFKwWBTsErSrnItlZflS399F4cFV0bmkvvaOnfOg+vzCH1LT3V3qvOMOtXocXTaO7vZ41Hb6iI4Wj6kHwyeyaWvmsE5qN41B5jC8JDyb7aYWZsLOYIn9GOTJhPv7KDs4UG3kO4H25KCb5lFyHDE4qCa/X1WWJa8Lf1zGLB55oItwlPRNy2Mjb3+3imJnGeQJaK0ZjV2MaGkRM73adeu5KiLXfac+QYX6QCHKZYUr5M0i7POCAuO2PHhFQ71ou03gKHUINQ0iWmrkKykWIeSzbOHNMhOMeFV1X7VKuks2IHq5KPjDJtk9jbJp06gP5YRztLt3t8ap1PrWPh9DUz26pW58Q+JOn0F3eBF+n7Hvn9Mqkil5vdO6tnZNxcVVgpt3aHdkUGf3q65uSH19fRptG9VwukJ/5vWq2FMlZz1Xxhbxoor9aPAounsE2X358px+gWBVPOYOOEoFVfLQpbKulAbPRjXUqPjg5fL1+nU8ekhzHNYqXj0z/t7x7o8dQpNL98vrj4ilS2R37NaR8l8UdR+XITIcFxxUN0FVgXp6cPMtv7Nsp21aWLp+8ml1uVrx41k+sQyyz5fGIKIy1/kRY2iFkBz6dGjb5/n0qfwjuv++B3XoC0+KNqO9Xle5X7deN6ASDO++B2RTLOZH1k1dHnZA0ziVWkmUydlj6dD4MwLkNHjkSXs05F1Q2OpUxplZjq1+12dnbZ20XJnx3q0jWf6YzPs2g/KSSTOmdqjLhI3avO584Vjy4pWVNhQl5pyAIORaFDwCr+n3bYhhM2fMkcVnNIphAB5FNZfUqLim2IwByyzePnee2VoOGxc6nLVoZCsJts/EymRf4/OZdt+gtN7vlveQ5tit3PrcLBitLVg27xJD3q4BWVsQVwNsgROPZf2fQLTZgpMac7MT/t9ZFBLh7bcoeUlRXy0OVorL7hI3/b7afvUT6p2YWO9scZBFhSKRGq21HFF3ekqD5aiTWvVtonjtU8BF32yyN9qIXtOYj2B2ICfcSrHXK6dY65nCtjaig9b+2aQVDAaNttTkoIPd6OJkUntcJtY4JhrzaLxPn2/z6OnPHNKuZnTtNYho2EzEHpRMovYOVOL1qsjv1b6ggff1uwMzO8tULIYWXCZKP8Ymehkp7WLWYPG9ueZcl/+IFbPo2I+gtWS9ONRlOl+8X9QvGkedxwy6vnwUrEQP9taovD5p7NSrJQoHSzTQHhR9Hq07eW12dkrlus/eZ4kLsjlcysTyiEKhkOjL19b0mf24162icDiqtdYx9U9Ma/j4cZ132nla6erT3+y/RWeNdGu2eYc8x/sQkyh3b0CrN7erJ41OHEd4Q+pbt80XCko1wXkqy2+Wv8XsCgsmJ7XXuk7XcpoiPafpqOPT2TzytpP0dhIKo5VQyNj0+7rlcJ3OYFYcnhWOrb5LENXH5SP0nkwX4z1o5RRqlT6BrZzas+RzUVChIxu/H3b79JHt6qkJhZZxs2tt+d2yRN+a8uYv1tADDyk03ChONyapVrtCNweuXj93lFqVkjJUMa6JZhfbk/Axj0JziKClyb4vCao0UDWowbxBTd+0T6TblMHZe6iQ3zWLpNgwD2bLoeWodoeMomKRiX7u0U7JY6BPXgbVyVETEX1Fg+hHweZcXck1KmBGKyvd8jd5xPwVavP8voIP3ii4UTT8isipFn31YqBbob4+BWmXzaQgoPr2Ds3tR/hRua9CBZ60AYUk0emH0CHvNvWM4c66L4h8y+Z7t4NOrm78XnUE9a+wDlt2HHT4sMkWuMFrFRRUiWiFgk1Bkx53fWEpk8kOaXYHu1uuUTKcpVTFcVOcvo20IwIlMoiwRpmFu/J9XhRIqQhUk0AfiZXrI6VVSp1VpRMdeTpxxnU644kbRG6uSTUZrxPlYWGZyduHT2tcrmCwSJMVUwrGO+XNR137i9V+x0VaIUOTUK+MD8IGJcfQDRVoxmKT1hQoTensqKXpaFJPnWM4dI7dd5loT51SOV5Mlql7xsr0VCqsVVD0RLmK7TFFulG02quaeFwfz0Oz4bP1Pw4e0RmRBk10ovi+iOIlQVVWIDqC4kRM5FYqnvSrpRRVdHaorLVVxmzgVUmmk5/YrqFOrP9/ArecweAGigoz2BllE/wsH2Pr9UXuNo4497gFuisXsxCUHBHXtblb5JTS4Rpd0bOoVMN25Xh7aYZ1Rz5XIpKWsJObWULDiIOZvMhumwQimuy8WYOpOs2k02o8cp5SbYd1z/K1ao3tU3JbHhmvSOQoNDqo2MyKEr13Kz8f1Z+BKER3kdFeE4KUpjldJa13i6OooA/FlxrEyQ+I1j3KqzMoElJbKNnJFSc8WrsY+fyx9YEGeUbjdOv6cMlhBdYCYjJXzHUojwt1jMNysNUQYzOFQjxuaBSyn3OQTZQqYHIK2DYmsncyc7xezFvinjpBv2JkQx93yFoHRvsrwKDqtkOBJRDNKd31mUv08C03KTV1ozhqtMsb86p08Xz2Lu+YKG0Rk5ZMNHJQe9kB6ZNCx2ocOUtJffnuL2uOOkULkT+nUImqXXK2jdcYUD612rPN/WzLVl1enVIYQktz3MS7ACLpFbGjSpZklKkG5dpN+vPklCroFfUt4lHk73R0Q/x6lXKnLE5TstARo15VxXfJV79LHGsVlVMiPKyipiP6+Git2hoaZFOle4Lt6kp71XLZNRoerhKx81QwdZ7inVOKk9lJoUQM42+JmUCxTGBhILB5p1jNxo5nLRfd8dEbVbVapZMfPqmHp5p11WpCDaG0LgvlKQ9LVaBoMiViw6K+W4mKuNJu2+eAiv2IWI3WlcuKLhGIuv3DMlH4JSuCCW2gCU1/MqZWvzE7B1PuNeUyi0Ph+7woWPt0dV6eXrxlRJO3XKae7ps1OX2zLFKyrIAsa49MblpbVF9iVnRnI2TewjIDcDxj37LV09OjdFGRLAzbZlX2JIPRXhxMaHkYFJ1Hk/aQSs8/TR1tflntu2SVmnP2WZYiEeOgMuUw90kkTtPwTWOyY5fIoUGOZWlhydJefLqlZbc6b87VLROjOm2fpTC2brEcnZtGM99A3WONqqqq0ugoSiQqtLTcq1u/9Dl19vZqAEsNFurJsTQ9OShIaldmgG83aPdtcM9YzLsJwqvFcmYSK9R2HOhHDwb1rT2zSq9j4JvEfJWb5hDDf+O1xP6ztB6BGY3JmpzOGnSbJQKbHcYZGUfELO0lLIdpw7U/4xWBbXjwM+/oOAbjT464/lZVTCfU1oq6rHNVxD7dPXuTCiIbdnartFTWde3q8HWodN+smLxSdT0L6pk4pum7ptRfgs68ZU4smvSS2c/sBxWcZ4seS62tqPIyxG0fEBdfqkctd9Du20rnMCysuKzdCG+XOzgcwR4z4CfQvn3I2m0JP9pHnmxnWJfPX65GGsWQJfL3axMWfXzcJInarj7WpVIZmHN6H+oFZXIfMG6p/LR9asUgacxvbplA1jBZwUrucydsEds5rmZ8wlLs2F6t7rU053M0v+8r8tKt3aAEVRrn5vUyWfS6/c0RXKn1XOXbiAXaR45sa1Ll1tfVQZvaO1FJF5oashWlXtl5SABjrnFZZTPO4nUTxt5ZsRSQMTe6yDb2iF6PKNxnYoq6LYPbt82OsDeA5maQxZmy6JflIHJzNTI5pTxrUQHL0i4bkcoTgzcLVje1x6wX9e9C5fvcsswhlsPqs25UQWGB6Jo1UfRTlboZw+sVBM10Y2Kdeg15YWZ+Gi9HR1s27r+LDTPT0BDq+vOv6eZrb9YtgVu0q7FUv/nVWR3u+hPtrbtcwwO2bk6dr47ZO0TvH4oL/1RT3KJPVh8RV4XV59yoM889W3R5BbvduhuTUTx3a8MKsVNshOnj03ehcAFaW5vXrbeO6tbO03Vr+/ttPjqJvF6vKuI5ckYwnDhWJuLvsIzp5lRNZ9OWtDAljn1dNM6K+oeF3b7eMcL5KJ40Fd8IqvegyVp0K8as44CcJIqTI7Yhn0qCQg7qjbO5HN5CVXfH1dnZoPNAT01PqePhEiWx1Jpu1kxiWI9egj6xq1HTvRO6mg+r2FemvArU7CKYjhxBzUV1ak31q7Iyqqpkm2bKzlRHZ0qTnSX6lXi10jsMqnUZ3VI3Cxjn1Lp26RObUvpZorFR9n+zlSh0TWyNiNPCIrkNz0reotbD5dPF4so7tilHtcAvhx24onJt4RxTkoDgoDacpmmxQyJwLMtlRk2InE9rIFqkpQiiOKpILKn2e9rlpAvX2+SEv0Cr5XXKsyLy5xm6kfb2AY3tmdDS3dXyV1UqMn2NOOzTxu7KZMqKlaK8+j0qjk1psvqEOh5YFidPE+l7NXQb8gS2tD2G1iEY3Kbc2X00DznHmlTX1qQ8wrLscl0zEtIiD4mDF4jyJ2U4+9+B32Y9Qx0y9mKzC/SRCVTsNv39yIICRXlG0WFzkJQfv+5frVZ1KcIJiDrXmemxxB0jbj85NcNYro2cy9DR4WF5brhBxKpklZUpWV+vwmCVjlXevF6mcaIqiyZF6dTmsRTHxP243z2gy0H1nCmoV03N5zU4WKiiOZSzBy3esKgc/wmtU1RUYnyDEUTA7JKOHzf3msI4R2sTCXls20xulbkaDqDx3KTseyzhy2q7pLlfoBjlzqDaBgMEmXPQ0aOd4th9mtu7V+mRp7Q6NajAo4jqRlmYHWwD7kKU0yjKHDFRr8ZazGLRNSK6CoWd1afDiKAxUXsw8VcNW+o4IwGyKSYalSArhwmI5rx1847Xi3IqcPPPh0zMlNfktzZZ//IEcSWDHlFmCAzJKzLjHxObMF95iZKBEmMt2SGINJvMjwiKH0ROMKWCgnpVVuSqMjKl+cj7vSgMYrD/s/tET47oCQhrK0nYOdsW2DiHh8zg3tOs8O580Y1wapTJIOUrRTel1/RNbO3liLq8yOl4h4l2iwTJSvZyAPWNo5pbjqi1zdL4TI8IoN1JNHozeuhhrxobP6O1gqt0uBeFk4i4JZZCogTZH1pUd5aGm49LDw1yysoUaG9Xe3uJmkdqxL4+nWITtRF3xkXrRYJlHfnSER0YQkH6FE7ViF3zZqINr5oBUoYYcZ1L4E4oX9em3UM7wt+prZqZH+Q/uluJxUFZ6Q6R94ui9WZVgR5cQQl/ZvvbKusdibsaFaVfixxSOJxrjoXKxTapITdJyhYrQRU3eVQ34lfgtBkVdPXp1rZ7NRpoVrMbBV7lyVO/v3LTtd5W5O8LKNTWpoqKCg09eI0I+hTeEqLPuQFVNo+qmbA42iWmJkTwoLArdf+HDysZzNVGWL+pp+6moHIiO3PQZyTmGdeHOu8TxGTZzbrp3Pu1p/vPxHSb+HDOlrgXW7Azf36Q4Cb6a4cSBTJ5HhK2gnuDsmkSjBg/T5avLmwHdXqw1SwiHkQnCh9B2GHR0yczsW9HzmcLztbayscV++CkGOkQZ50lurp1Q0GV9jTfrHrC6s6cn5srat3kNJlj+WzOG+Ggkrt9Kmo+T9CpI1WfFAOVqmRAeU6tuOOQSDcpg4YK4zH3C/lNnyYofEmRSApCKjt6VBdjFslLjqC9LWhfGC37to71TsEHRZMlqpBvDXX2ZMaE+9cOG0CEh3XbfQ69CoF6wl71hL2yCYjkjML1XllHR9VbighZomdBdJdsnmB7cCfyoMDWrrALAwZBSGGftQMaqdeM/fDhjWN5rKdmTWPAMy2gNg6780SFYMaUJfNO3rDCGZ9CGFk+n+KHDhkfVm+z8Wl2sy39P7i7zSBiGTm5jgKHAlk+BURVr/r63+9FYaZBOGnXlrrT1uWo2zndAdCGSBr8fpAeQb0sr6WDkyvr1+RxSOdxoY5WX6i9pVUKgiy8ZsCsb5VsGb4dc83Eluf296PwFnsuXtTkQSfSXnEB4irEIJq8B5VWZrTHgCawxWyP6I+KjpDw7jPaRMS72aM/sfF/+pJLNDY2JsdBjgfhmTAOt7Mb1OBtUJq06LdF8hbhdAm82rXbK6+DLBwdtOyNejzgFV1tIpUUzobW1sOsouumjux3c7Q10cYAaI83ra9N/L6iJwrFSlDYXhMp6kWLGMrd3Wym1thebEFEXgZ06PEJMxCW3ukaRCKu7r2z6qobU1ffms5yztNC3qJuOu9BtYfaVeUyaRZXoOYt5GZNNhqwTQSrbdtyAg8JcnRw4rHNfc0zoiusPo0yqNGjiKmD4oZ9ovw85a7maMG7TxMc2qinqK3p86eVzNkmGnSTTCjgHdHKcEgTE5h0nBd3yW67W3i6xZ5GDTvnyJdx2ve6/WOH+80yq0QWgKI9z9IFrW5ftso07blJSWrlo09DA2yCS+7PGdee3ZvH10EvMqaD2KYyn9puR7T09Oe1f/YBcdgWHtN3LjiYp0Frr2xW3l3K0CypDLSofOoSYdvyTp0mPA2mbvPTYuZmVVgtat7TrPMu7NetB65Vo+90sdgtqBK9u1XW84CqPvCAcPbL8nrXHfV+n/H3bR3LgKpxVBrdLXqtLe950O3/B0TOipizDX7f7U8XgSZsxIEmcaBZOGOa4E7tp0OB7kXl9KGuqV4ZO7wxma2SUjvNOrMBFZchE1uR0LEltOwuAh7mtdwW3uLc9Qk39oRhxPHt+0MGhWWD7PVdmS18y2IxsyO3Rf2KlltdVOYhUzcf9HpVA4ax4d2yKHtRmrTGuFYQ0jjI7uwUySbhNLzPi0J5UoWENQdGY+3IFCQsii8UI0GdXK8011Oej8rqERxSnBLdS5OsBYzjDUdQpODJBnUevFu1beN6sK1SiwsZ23upNiY/y/3uTiKgVAAVfxhRjYouRd4rUJ7Hq4vc5OJ+0EWDqPlBzApbg/CUiCJLJ8sR44cEIZOTl0KdQt1rbR6slCHHcVRcXKw6UOoA6lxE3Sv5OuOCCzQa7tBQ+4KSdlIRwsYx6TXvsQtLg5Osw0FPlvnFWYXixhvNvZvzRaJR8LggrFJSKmTeOK/CYU0cOuSWc7PUk+GvMbuk/OLiUx2grmRf7zmGCnfQOIx4xHSHGJ7T2ydaL1UmAMmHoU5I1k8qMXBcDWMrSnU1q2cXmu8r10irab9waamBHGfJaHu7xsfHxfKye8xQsZ8syyAuWmRspdOCOtkU6WD8l9UQ/bAWbj1fnZXX6wTGFnxLVj/Bh6EOeEfyujLhLREDtkbqEAUexcp+Uzml42KuQKGZpNrbOpRyHEVA+7vSSoS9Op+oDrOy+V4+XMx/ozJw4GAQpQpwgQIVouA2lfpukgOnxH2UlZad6p8oRUsHUe7FyJhpLXEyG+K7QWxY+qEvyHr4EVVUhDQ+bhZDXyql9MKCuPBEVpBUmSia2jHoKRNbkcukYu2nieViUfbnggU31qFQhXxVT/Ml/dKts+rpO13J+lnlkVQCFzhShGLVKDfKjkGFZaVRGR6nEjPepg4ql4iivhpRWKjSxmZxydWi8rigWAeY1TidGjt+v5Zsx7z7GhoOoOqsesjBo2UKVRZqkJ1MqjiBaiMoTZGi0U7l5OQKUCMh5Zfk67qpFU0Vbd6B52GsHEVFW4PyMvOXQTs6V6Bjl75TH8uWKq37UwpYz/V8PujwNAqNVCg5buYCQPvYpzzXLDqxZSwnYQceriKB15xbUCACSUHyfV4UMKvevFuQjYdfJEaaTNQsmAxnODrBaVpgQVNTB00yiO7DOll3uzY0v4CyuYdqakwCHBxEzYpZODy45/tF87LO6Ed75kwgVjto1EE+26MlG+UsNyoU6tXg4AYPvwd0PiuaYpcgVwTHxdB7z5Bkeby69toV3XPPaZq64WGtlqMeD6LWo0h7RBMjw6fyOK3LhMzidnD92EpNrrixV40XTaqjA5MLOFUiGBCOracO2bKsjHaxfZmmTmmHLLFYH+x+P7p9AZ25goHbuUiK60AlbL+AGGkX5Gl+3kxqHiztDBtEUQv1eVBpVbGaOuvV4gyoIL9XgwOjClEls2VGzE2dcm1lY4vaB9u0e58xoy30PawAOWKb8pVZXRpxzpHdXSf7hkpZA32aPCOm4wfRpBcd3BIl+7b1lC0+E5U6FUdOl62PtpyhfVdWCp9HZcUBtV20pAZfwARp9vcbepDt7hNjg3BvXSzjkB9Hcco12/PHmszbSmHuTmazOZqz5zYmawfxpEdzu1EsZuu05ae0z/Fl4d03xItHJ/L368B9U+KaLjFwtgCdl0S75yzVll6v9rosupm72IZ9c6PMHgKCZeE9Ljyjyph6m3DUhOXSiNgiaovdY4I+eehTQy8qql4x/XBy455mfkBmEagRFrInS+VwifAY5cPj2a+lpWOKx6Oane3T5Ili0d4gZgLyWZYCCxiAgBcRcITjk8dBjt8vx/a7Ec9eYYWFZ0je9Iy8zY7GGtBUkXmv8vJJVVdnvetESHWXPHxKwFzH4KAKios1NGQQRzv3H8fU07ucT8owMVX76VImd3dGRjBzW+fbjs13kKzI8PU5pwLR/T6bjyowdrFlTLLojQeWq91TK29Hh/IjaFfDvGBYMcYUJqw4EV1Nu0IjUdFiOnI+O+eIZQ5RFDGBVqvIrHhTwhdRTgB1d6NDk27mr0F0ZdVR/SIoHvFpXdvvNhPfXaAcIgoR0tvlNn1bSSTE3r1KJCLKS0ZltUQ0fTW6+jxH0fbDKmpB35idVUHBDlme1mVjEok4iEOoYxL1z2A4/YtdG2xPj87trlt3mHVvd69uo8Fsu2AUYxzSGaSFhfIiKBnpUX24Vdgm8joEOsnRty9zNwqHzT2OkCeL3WbXtX5OrrBrRCcKJUJq2tukYS86GECcDChnX0C1j/apOBpQYeaa7ThafN0KFcyr/8hNSnhRa+CkLEKChwSWcX66A7aqI6XZ05vVcxTVLT5k2jWCzjyzUz6fo4lsH0wIdTdt5KJ+O4lGo7rjjjvc97OVWNgn368UiV3TenjoMR0b2qV3z4bZpGzK4lxKVMOUoEt2qFzhQ3+r7qe2z+plr9kK2+H1eqoYRMn2owqFkG23Kjb2R4rYPh3d0nY2jo7woBbyf1En77tT3JIv3HSh7VXo5puRl4QhacxcFzYTSAgDRe7GgEnal5dFZYsWax9VlGnxzDNieUl0f0JmcR8U3VXCRoVdrSqy20Q4qARFuppGNYyhvMYti2YtKstBIw6i0+TcgEbV56PuBsTyxjiJNMTk1KBwr6VUd7fKg0Hx8MO6prxcjx5F0RwUvBKt/P6sJoeu0JGJqB596BvaX3Wz5nC0xpqIobr96CYqVNk9JHpRpLt7w3ns0tR0d/fIKB+jp7TFaCCgUk+e2I5C24uxmGwzvt9JPAkUXPYo7B0QEa+shg0YeBCjzN7GbcrNRIo3uW1Fp95OMVuXphxxXq2gWEGq1EyzKjyowt/7/i4KxRjPfG6uCcbgKJp10HW35ujmx8sV7WwwSJpMOsGjCA+KDZar5OPniJRnPXgqEUDV4bBWxj8sysoUX5/gjptBTp1CDYM6aMflJak46GhHhy6+t1VXVs9pV19aJTYqK4tooDyiX4nH9NTRNrW7XC7JJqPZNgzsFbWGkjmRGfxsiTL1YBABO9rsEsrhCTUPjmiy/0M6WOJT/y6vyjtiCkVRKmgor/8zC05zM+rsRLiMpKYe+rQRr7E1g51HcGRz4owEm8wNoYqQystKVJ6TI+9DEQU+epEe9T+lT6a/ra89fpFycgz6KDcWE16vDlkoGM9MLLaOkcXp34mIxGVyJqC9mQ66PplHRU6ZaESB/GJVf/oyTcy26fjUtCIlEbU1RXTWwRnl9ySV12oc3EmqzaSS9V4hgip38nRNbq86QRfEM1BGg8FuzjMpWYkhX96kIqVnarLmGnUUdYn4cXFVgcJrwzrodTR24t71+yYi6NLubRLXbCMXp46qs7FdTJ0wzuBfv06h2UURQ41PooYRNDA4qNraWuOgPLblHgfj6gvZqgcZ88CGQ7+jtFSXTE4LGsX5xeLwZWrqMZPxGRhTi+Hm6tCtl3bogJO7vrsx484riKkNdP+nGuWs2kquI7MGZHIW5ApateeScR26+QHRFhPHjHkjGEVVXRhEUNRWPB5XIYW6Il6mQtvWbYmkrmJB93CHPJ5h1U1Pi+KYKDf0K/c+GZHtjYuxjwiKNAS6remEsBwtnHG2FgcNOCKHKhXTqhVs9SUN+ujYsWYdpVNzZeiGCPLZaK0hLeOcrlKgOKBQddho/74OwaQxqZSgPdWovqnJKBSjEVHhW59//H40W2P8ZEdxtJd65SaN/ywngcDR2bFc9XorVdw0IlpQaLJJlz1h4pZoRMygprkmM+dMnhQd9do3P++m2s20bVTr5vCM+DFmONdcbjkosQMh3Xbiy/ErMpWjsKdBfnfObHL7wAGmhK9EN0XqlJPZLVThsgg36F0pt5GEaG8VToX81KrGzXdSRMv7uyi0t6OOEnTj1ISi0eg6Tt4uRVb3NgWzEFavOL9A9FmiFeVWoutBOVUVoqVbPT27lC40kY8mcjDbh7Aoi3nl8xENYMmyLdlHYxqenFIH8+rdh274QKduu61L48ND8tTZsuqMJmdsbD5hGdz3OBu7m36M7Xs9QCuOwefv27mSR7GVt99W2HI0S5fmU7vEjV9SQ09YPXWGU+mdTBTW1rrZ9Hu/oED3z8woHggqF8vUU7ZmWoC4FhexkKN1zWbPLhMZnZ+vyaHr1PORY3poz7/o94bHldfTJbq6ZOPIthzZHnO/KGjm8iHRnC/Lh9p2b9gp12MD+npFZ7vovV4QUByz5d1U7jQGhgkGtXKbrYnJCR07flzd1rnqtM7U9bNfUbinR9SaJD/719t34z71tXVqGOuRfee0KC7W7us65Q8g9m7RzAdQUcH56vEOqu3qT6qqckrWLVPisrhCex7VrCeo/dlmvBxkvQPrZkb2Pm7Jt4I40xKjthYWH9d+9otBdNe56CyLLBOhdWobWrs2Z17L+r0Q1G+7uPML58WtG9peL4ZAMOMb2r8Qk8ee0sLerHunUrIHh7QXZC/sEV5HT1n7NsoCglsFpfrYobDmd+9S4Xyhuiw3mU/cxEYwvVeh04/qhtnf1608oVtmv6TeUEi1+8y7WeW2dl1lyZuFsrFokP3k/cJ7p0oudNTWZsZPmcs8cPm+RjXsz9jiFwS7ZRGQ9ZG9YgJZuZas3ZYsZ2Nna7UgbrbEyKiqqm5WS0uLMbkVbo4H2TRmurpFcbFmZszuFYzisLB347y9C8jyIh5HcEjW4KybtS7rnpMYE99uNvtT2ixRZckas7L8LmypY1cqMCAa97sP9OG3oZXfKiWUqIsutYNuBg1ZiD1oNyF5mRY9yDo365oR3DLNaTuT6mbpNDI9IMINyiQ5KsUgM9/XRWHPHtTZjHI5S5DUMVz7oJ/1JNjZUhv1ynq8y5Byuce8dSb6zxMPypOfo67GpPx5pWI92vV4VgO40Xt0CmdGPIji/y2l0/PPVIx8xfI8KrRrtFiPnsbRReFjImxevgvD8eKA6vNRYo8xWQ3hlVVSJX8himVFqFZQrvb67VMp1rmd805O6BdYUxEpVfpiKuup1tBEWslktXJZfEdK5ROZ/wcRnztx6qTSGlXykk/LtuOKptD0PPIQF+Qbp3Uehv7Wwe0YBt2yRp5msFThO1vJM6vltMfkCVes74wy9UA14pxKtdX1apxxLecuC1+lYES73Emp3H1fQBzIEdUxQ7MR8qzTlez4jpGk6FpQ4eSEao4fV9HagvLaDqmay+WMzIqBCVMP20R7t4WM1nfV3SgWyFdh7JcFUZG60+0DJqK5ZBqFS3qEdb765qfV0PCw9iUuUZ6nRMdTeSq0rE2Ee/jZgV1yq9Tr8DQKXG6+Ox5bjz9+VMN5BjE10IHuvTHb2WjYdb2gqhJOocrG2ieOb2DuI6WoeMoRDGuw6AtaSC6ZqHcP60lSTpHsZOw33ynnCLqiDtX1Xi57xaOrT26FCCcEHt12G7roIuTP9yvui+nYGmrgSrFvvxpLr1Rv5Arl0CQ/MVVV5WxaAAiivEpkWWMqpsIkf+/MU93eC2VV3a2Cg3epds4oFQGQhUeNZX+ovPIZg5ApQqusKkhQd16V0uIZKNHQLJY2kibZoNppxGdPiGRS8XiR8vM9mpioNj5FTGR1EcZE3A9apFbEbOFHy8uGOiY3168nFyuVzqqn/AzrwWHE9LDAViVk5c0OqiJZJn8TZrHIHoMLfWKwQRVxFMheLOpLZQAgb2cespTKZDZ8j1KcGVcplMKRRVLR+qiKFrJoYeL7hCdPJtWAmR+rQV5S4hRyQRPRnMkcmTkeqEHRofcbkgqGAwezHV/ldDlb7FsbPESoLxiQQ+d6cFa3F9067K7qpchXi7pap0WqQotkaC62iM9MggssKEFU3lzEIzPiFy4T/WuqZlgLwwh/QLRY4k7UGPJrzrY1wgH5SLh8RKiGRh2kX3ZDp7jFPP8gZofSFmzV9GBYB8PIu4ShjRgzlTrMBqzMH0LzDw5r4fpBXdT9sFaON6m4uDgrb+sBbcJ9u+IHnZPFb0P/lvf0Iy67WNSuCXyKYPw3JmisXNSNiMTWTFb7BQU6yAnlcNjstDzIexqqCB7WRwipoOqYeu5Do35UGUM0t4u+7eMUopicuf2n/DYgOF2hbTSUErKw3NE8BW5e1vihEa0eX9V5tWgpv1UT/t+TMQNlmD1PTf3obWlRyWyrbrkF9VTk6dxf+Kys4zERMqyPjRSpnTI1gPKcTvn9Z8jr7ZbHUycOXCsuKVMeaAkEZ23cO8wmjW5nGTA5yCOINVt4g/J+9k55bzkiZqeU11qtw1/G9D8Q1l5xOK4AqLOBbbJibUyygOIlqH7cL0IPaLCsX8FlS4TcQKY7ss73sq69rlGlTIR6iEfMBNYXVN9DyI4GRDRXxP3ynZjVuZc3ae9SQvEzjiiSf5b2Lx7TkcoyeaZGNMa0Qq4ZLkRIHESjXlRagoYuN3ktGmzjSLXxiBWfhn2o/CoMDNtbqonYN2R39Kpw1yNqzE6E49ja/fGHtHevG7zmoJAfhULo6bU1M9aLMBQgNiIakuMzuyPbtpUbCGhqHJ04ENcSt4sSFBwzi0ENCbWxRwWgJnr1oC+kcidrvjkcEna76fdBTP0MIHAUrF0VJYZjKrs98u2org5eo1D/NoGYFV6R9qiV7MC0ETGQNe4Os7GQBENiyfh1HHxa5Yn/1KJwivj9Sjr5qqVNGwrykshQ4zAiKFUnyE+Z+FDhqQFtNurwb8zF2Xml39dFYQz02GOrcjCTqY+jAkcHQWcwKB8+5ZGjaTqMU/DqYYOTdominC4UdJNVF9ei6ouHxQWXiI4u+XBkcUKnENoNNoqylLx41YalJgsR9opwQEMeN+FJPmJij8qcVlWEysXEuEintUhUAZZFTo6sjg4dxJHRsFvEbEIwIB9+HQLZu9BowuUv8SFsv/AYFEB9BHE2qo6ZZEIPhj2qCnrk75vUSNBMcJNkIhrdXdHY5kYaB13j26YDZOTCFtFduEMnQfR7TunghhIhpdwhvxY9Pn16DLUOodaz0MMHfVq1p2TZpSKEPFlIpmNlZWpsalRvb69M7MegavFtOIIxnalv/btH1FylQ0U1p7Bo2mwwYUbi5bruli+pY6lZjccbNQaqKmzV8Ni1ClVYJjgPxHocwYbscRwtxDzyDhs79Ep4XAG/Xxxy+44rLaDZLltnnR1UV9eYamod8QGfOMfSw8Mox0HZHFPvRbwRNDiE8OULptVUe59abvwXERgU6QvELWSlkfQK37twOh/ATPS2e+0Bn+KfQruWusQhgwzC17gx4FvRyLkjsixbPiZM3dej1UMzWkew+VDbpROKP/Hn4jevU885H9IHSofk2/uArOMF2nXiiCYmH5S/p0De83u0zD06xDmy6dMhfsmgrDD1fIfHkEtOxEc1u8tSHtXC1y0PKC+AWr2I/ejRuf8mD4Oq/JBfvccR1GtsrEC27ei0c25XdXWHKX85OjSGjiyhp30z6/1lFpP3ZOzXV+UZMopWMpnUA7tm1TGBGhzDj4aN9nlRuApRYikTbT0MyhkclF2WZdt3x9OhAsS1XuE3fiqPgx456DMmly2TpVWDvFd5BZaG3f47htkl+2tWRdEG/NoPLuOrO+6qWN/VFYJqCAqfiyjsc+QLvgNo493K6KgoapchxDPzS1fXvKLRjJ9jy1yw3bzSjLjI/D/CiKax1iOu39dFoQpUWYnSaVReji46hp7Zg+aKUDdlcnDkp0btlOiW4U+KmQMyK52LHXYpavkIiuWhZHmFSKdFXZ1WVixFI52CHJOVKh8Z1FFacOHGy3pyRcGSOGls4DYIv19OXp5uHClT2Vim04QEcWOHS1aLQrMVK6JIFsd1snKXDvl+S+FHPi7f3Xcr30qrMlIpJ4dNdBU55Cjiixh7px+FrkKPz42psnJEVskZKvfuEMBUsV2Dm3oYzM3VneFRGX6mE6aczX8sEttvP4s8yCrDOOkzKR5PnFB+QVpn+x4Q1z8qAj41VaJ0iTsJZbjdixFcIQjpJIWymFNHbq6K84u0u+RG+RkWlCkPRxfdsPFMD9nosIBIXi8aT+jt0Df+ZETF5+1T7+5R7Ttu7N3FxbU6Y+a4vHHW7bTFJ0+ecm0uUcW9CVGaVrAFxfdfI4ioeFPegKgKeEKpnmdUcP60iuYuFz0NKug6R5Wtv6AbHjuqQNCrk1m89kkv+kj+FgqCHaQkhio+hLHn7rW198Z71VF+mdjVJurWxF2fEpHsXc72OQ028+qHBY+rtLRcU1NewTF5b71c+fYF2thR5gvCSluWPEVFqqitkJW2FKJScdBCHXrwCcN22k67OuhQOo2CqUrRXWagruBOFCdUc8XnVf7QI6I5LA7lyzigW7Sfbl1R/MCmspa6bV2RgQtnSRAzFmLlaPcNdbKdMtU1fFbxvHkNk6eZD0RkWY4uOe3TWpzs0PrE6cbiVBRUrOPvazyorBA9M3KjbCyVs2EaiVWgBI471t3nJxA5SZldn0/lmJiBICU6wEYAZiqFEnkonuco4wy2cJGJFZxqog0UiCLDH1WOWaxOgM4CnUgmXT6rfIFXnqKwSq2DW8pk/u+tR/MDWfe9jE3pV/+r0tiYp+XlSRmkUbGKbkX+DICHiU0xKifcdyZsxtgyqCuI8tJpdXZ6tL/15vX7vO+LwsoK4gAaHUXLSx75bY88DrrccnSPz6dDCwvKZUaX49Eyj7mFdjZFUC6zvO7IDOGiWWZm3EJ7ZLC+hkWwgxmBVweyKyyCGJrSJsqFREJ0d6uqqkbV1cap4lAiaDEIg5IZYaO665p0aculWSYvS3g8ysGj/qkB0X5AgXrjVM5MfrXUqtyNxK2pqlH3Nd1uxKDRXt5dI5vnHeCA+d7YJMpPz3qnIvH1b4u2bXYKNWiyzexgrBQmYLC1VU7ttervG1BeMnfj3FUE84KoTptGu23c3NUTwjE7mF046mdJU6T1dft25VnI8NYExRMe4ZlTg5WrNha1GfrWJWb7hWcjBsABkwgkk58hniNnbkyU1IrGbtl2n4oKezU2sjmj2Ew5W2Ctptyx2Jr2zo8rXYjaXbKxGZ7QpoVoeFgHPtYnz7njmmy4QpTWa3BkUAfOOSBmDwi/Vwd3I1+m7FHkDGx91nZyQOOhgLzTi/LMWLLxanb+YdkLC2K0WxT8h3j4vA0HpGPJBNIZxWTTDmrG/ZvJ/uf4xMWXiiET/RpbRgOW+d0JO2IvKlld1XW2rdDUlNvH0ZA74E87DQ2OPu2OpQMCWzgTwkq77W18YZbjaNljaemcz8j/4CPCKhF2v9o5rGom5MwOyPP5U5PbvJMsVrfq3yrvk4c9Ou3cf1BT7+nqsW1dseIVjq35g1doISvz2oac6/Y9RBDZI452zczJcG9Nbjo3REB7mchqa1sWlpyZ61TTV6/uzlW1sqSO9IzuGZ7XPc336Pp7+tR/y5362B29+vLQkO657TZd0XuF9oyhk40oes+S7rxnQg9e0KuH+KCO2EMi/2rtmt6rc1rOEPd7NLbiqPSIpb2ORyN2n2qtBhlzaUz7J7cLWDOSyS64fmwecfy91evbSUF3tzrP+bkM39iMGJ4VOWe9/XUliAbjTG4B9TKsxXVT7bgOuBDm93VROC2GlidQLR61tt6nJ9rWdGDaUbLwmIq9lo4djSqvAkOJEIyJ9lFhH9CxrILHssL0O3pRzjLuQFsVnK1MGL/J87sq8G1Dy3CtTmFlBBkyuDZRg45Fj235zZYv73T5/a52NpWrlvp6eVdXRedREbGygj3GtBmCNiRo1ERRi47fNLa+/d4x0dApcq/Aq1h2ZHA2nHHsCXHBpdtHIvsQATRWhUozE5Lfr6O+PDmWpaMPdG6cewFq5rj85CoXFKVWSSIqC2Bsuhi/TTAdU6LS1o2/0KHC+phaOUNeQiJ2TFyzpt3FeVpZT0WaVSflw+KKbnWQr7CrseFx3yWCEqkSzR/+XZFaFaXHNTLSpLGaRi2E2mQixl1NsC8pAlsgfmm/4l35Ona3sU0fpFVBF4a5cZ5fhI4o1tAv2uZEW0Bwuri6UdwdEmeeLQ771HwMPcqyIkSUgB2ZYjdLTJwZEvefoQc708Lepdb+JbX5K9w8F4+IM/5IhN3y7GPdjzCJcRauD8yU+38Dah8PyznwiEh0GB8CiFjI9N86tHruqny5Pp32zAVufypUJs1mJtd1QxDtOf0CebB1HxfJT5sWp69UtLBZdMZFd7sgIhavVOyjcRWv1Gj5wftEeUqMNilAQD58ujpm6bMffe8mDj/9+lhgnzxNA0oOf1tlp0+q4ciQ6q65VXi8Kv/AP6ii0PUpJBKiPJNRLm74iS5H/iL0SPXZaortkY9RrZaUiFRKFqizIyWbEkUqx8RyqahFtHcpQaPmVyJqKTup8UCOICaPJ6Z0qFPpQFqpgpCIjCpvNl/pUEgF+flKBpOKhFGuH9kFMRUUhPVYIqgvkq9L+kNivEmxgwd14QNxRVfXdOzjszr9kyWKjq5pvPdjaq2/R5mFaYSdczRn2ibz3R6y1T7X8Z7r1vgGltVInYFNt7cL21bc69VVwQsUzji358NiZhs/SDGbAQlbZCMFcVgxV1F6Nx+bd/mpew5Kfwxv8Sb/5++/wIX/+td8MbrAj79nMboiXnjxed56qxhe/QQBeQiu/pQpz5f4VjnwaA6ELJ7jOQD8g+DtWOP517zgAcKfAz4KPEd0FbwVBdih3wBeI+otZjoybQpxFNjzq9DwAuQAVgjwARDg7wnk/hzeWuLzvk8RjmDOOQ4x+y1ic79E0PcqLE9R/noxwy+/DJ/7HLzxaXhBpN+MU5ILxdZf4o2/wgEgAsAbwJv8ffn/4Jv/+G14LYc3gJfebcXxSSK8gZ+fABAixJmfcsvsbya4NAa/+ENy33hj/QoHKI7m4Lx5GoTgD6Lwf97CvNCrr/Pp137Em4KvfWUNgFFg+El45LRPEov/jJ8Bz/MmbyHeegX4AoCHF4jwcstzeDre4s2CPr7nLeRNXmAAUfvcV+HXHf7yJxZ/xE83ip8D2K/AsxdifWUvb/IWL/IWX8xUzaeAF+Anz8JXP/tteOt78NZL/OEfjvK//t8iXnrpeehoh5Zmc7+33gL7rc1V9FY9/LQB50sWlfXwvWfe5OWgIP6ce0IX2EMQH+O5N9/C9+Ifcni6FeqrIbSH3GeSrH3pi8R/K8RuK59vWb8DuS/wEyeXrxaDP89PESVYlEA8RA4lJHKTODjEiBHnOfjEW/BLL/DLqVdg9neJvxXBsoChGW758Od55H/+EpMvvkwtwB+A25X5JvBDbiJszUDsSTh6P1gx+CeHN771Ivri5fCTH8NL/aZtnxNRwvA/HT73R5/jtedf45d/+jweYBg/vfgBeB14BXjhZTjwS0/yFja/MVYM7X/HaxbIsuCN5+CN1wHBl3+d5x79KS/89Lvk6IvwH4XwV11Yva9g1b/GV8bneS2e2rmb7lmFVCGHAd8oFA/D9DS8GvzvPFzyF7x5dIy3Vm/irRe/yYt/CM/WWfDGmwSe/Dwvv/Wy244V5Lw1hA2Q/1PY9SJ8CvQWvD7+FhqG4ILFVyd6SLfWsY95LnozwSqrvPqWD16z4M0c8P0rzwX+mb/51Rz+6dW/4FtH7oOZfbxRcpzvv/Qzvv/K93n2B2fAC3386Psv8rOXXmKs5od4i7wMvrKbn63cS/QHHQz+4D4uvriLA4/U8ud/10bttxI898WXeOJvruH53+ziU1+2+KXjHTz/7e/xrT+/kr///92ANb+XY8kkPzW1uu3HtE0IOAiA52dw3huRnet2m49FDjnAG4TdkQq5b75pqvF1i995+dd5mRfNyd9+EX7001PukfsW8NYph/EWQ+70Evs6xkjefz8n1nwc/LUYFxx6l4V7tzsFuw3tOctsl/dTL7hW2F6BrdkA8s+gOMc1wLTmQMdso0VhocnZ3QoEXNSLhaqXUKvlaqKFZos/i7EV3jiJunsuV3u7CURLteSr79JrBCGzHbcRS0ti77TwDSij1c+DFvbvV+/AsDrnj6v7cxjnYDmaYUQn7ZgWQI5ttqa2hWhqUm57u4YHh3Uli7pjH7rD06eipQtPiRYuK0fNlweEd/d71giGQefuNv93clzVboxB7VyVmp66Xjg+FzljJA764OSk4vGkZg4hz3oMxZzW0TuWpcVFYx+1XJm+B3WmN+el2JCUYERYKFKEJn5/QBSkZLbqyJpb0kaidYyJJ4XBcwctsXZSDE/LRLRut1PLEXxNlE2J5ha106d2So3Dur5e1LhRoWWYoLhN11qKFtqau9MWA0WyznVZQBczv9eJcIu4bVjctiBv30XatbBLWPOyZjxaTCD70H9T375HdfEZF2hqaECdj6L2c/dr5JvDOv9PntTvNX1VQ/yh2pZ26zbfb+rjX/+AYu3XaebqXXqybU7TLdPy0Se4VbZnRFdd+ruqa2gUti3n3LPlufJK2X6/rATiJtbty92gRynWubu6xMEuYdfJQKxdza4TUbBHmZ1XLmiScZGdcdCxdRdoikY1bANt3AuyvWj/bzmiDvX2X6m8VPO2fS2Sn9Ke++5WuthSx7CttllUZSHbcfTUgY18DPkYMMEsJkWlZU8Kkqbf22acWhaqbURVvVGxa0J4llw7vSVsRw629tcsipqN+KI9WAqA5hLIGsL4GeqQZdkqtM7U9Q90aWDS0hU1lhxsOViygxExOa3T8lFX37y44rBya3L1QeuDSlyRFJ0eYduuyazHfVauYNxwsbFXtrVH7MmTzYBqHI9qsWT3elRUYKnNY8nC0m4s0w6OR7N45Ni2jMnaL2OKQ9i2bNACM5rdKSagFNEUUMaE6Ew5Wlxb2P7cHcTHHs0TkDHfbsRXmd1Jt+7ni4q7AZBDkyhnC8LNA9q3Pids9vUVWGjItmVbtmLJpHbNzaryqiX13PV+Q1JzULpyuxfcpXxrRHYB8tWMKAkK58aVm0wqBaqZQfmH3AxUBMS+UoO599SLimqddCe0Arrl8Tcpr9Rg69eqquSzbfn9VYp3XrQ5VzHIbLM3TBwRUElOjs466yz5cqZNtGEcFxKbp9war4arGzRsDSs887gOPX1YoStj8ubkZkUwerTO0WO5HdpvOsHEZL2OX9W/fQKdjAQwsLVNx72CcvGM+30wRyfq2uRY6PjFYXFh9JR7BlKodB4NkqszyJMFquFmVTAlD6jmNmQ5tmpufzrrupDOO69IXYm3oRDJdChPjq655rOqqakUq9eLYFSkT+ji/YsqTCR07FbkKWATkVzqpls0nyqTcZ5GT7mnn3KVlnxYfVXlWqipUe4YymmuU7zoNHVGomrN5gpyUEEVitKmFWtIFx9IK2dPUst3o2h+QAW7czYFFuWCklE0vTKtmwJ3yMpNqSB1l8hZEhcvqOaGPHk8RaqsSIuKiFLJIsULUO4kykslle5sUEFNXAnylYtfSSuugpqIyK0R9Sidm1Z+ToFsGgR9wjqq4aYjGklMCXYpWrlHBXOPCV9EfPxqcWKvmltQ10Mo7kENBJTMz1VVemOxoBEDUMhFNS2nUlrUg47edJPsYFA3nERHPQfkHIvJ5ErYPMjTnJRjOzo2d0xE0JWJw2reQj9upFodFwd08JI+BSoiyp9O68ig+c22LF1TM5LVXibKv4DN4ApCrKO+MuMq7GsT5b2quf12DQ0NqQB0sduOk+dPajoyfUpZ2mtv1/wNlo73I8bPFxxWIFKp3LaE+tJVarjkhPYtLCov72lxfEAU56vCb3Kq0JxnqL3detqASfvFgbgbF+URpNyyu+bJtE+QUKQNRToQCRTwb9CcZL9nAUdlZU36fWzkT6gB1R0p0MXeTDusKDtOoT6EBmK2Mr5NK99Rdf1Wk/U7iB8Nrg2qjjrBkmi5zCUKnVY5NTp06BzZrskxyT55yZOJlN+KQjy1bxUXo5mZA4Jxcckz4sDTomZEPP1/IU7h1NUO2UzLT0AHhnzi66NmgiueEeX7BSYT0UaHqxD+a8yL+se12DNgbLY+j+Cg+b/DONkODNwvXwbt8QFc25lxqh1mi00Pk/loI05iSIFAQMG+mFJPHdOHdu/R5x+J60MDEzrdOV15Q7XyUu9enxTsWu90I1OX6+ryR4QzJgYC62VKp1FV1Xto9HUJCrrEUDb//pD8FrIOdory9s3ne1E0YuCwhRSqkkoxglavvkpXMKoAaHDwNDm2R08//fRGPdhx7YvdqhZfjkp2Yr4EQbNyaNM3O2Pak3Q0sDQqgj5xGN1goZIAigyghU1wvoDMTqB3872KWXc0R6yoOnrHlK4bU1X1YcGQiLeL5iZ1Rbt0Z+zjsmMf0+Gbp8VDj6h29BHl821hnxSD9bLSrfLfvaJUqlytxwaEDx0+bDjqiz0elXsSYuwxHSu6Rj4rLE48JcamZF+3W4+UF8vvRz09yGjgjaZ8g5j+mMYs8OsTyIRaMdQCm96n/7j4YL+wHFH730SpsZWnw6Nqnj5X+C0xZCuDHIqQiZ63FcGriUqvKMxSXlYQYfTM49vnXugf71cwNKNj3krh2yeI6uTJSdm26+PymgmxCfc93An+ykmfWtK2jpBN4WEJBvVwNF+xQ/epgh5NBi+V935Dl20FLJ02sgEUsDHQ8rD7fybRzwF3XGMHXLhjqwj9legaU+0NN2i4r0+1eJVPRDio9OFDKut0fQpUiKUBQ6dxzrRivWa3sWqtKhJLaO06W9QfEVWPicKgUTpsU47JEVRS4tZTRYUo2pzT28t2Nv7p9YmZfjYodraRXkzA18YxS9kxRd5AQB4MbcYhjM8wM6dsf8+N620bDbwrQEO2+NTLPap2EyY1gO5gA+K96EehjLI45xeJkCz65c8GgLwtSZ+5Vwr0mA/lh4cU4P8Pi8IEKM1hwZKah85Uui3DeppBE21G6QxfaIk5g4Q5hl9T9Gr4qszEstFAaVBzrt+wOILhKw8hg3G3FcBAr9YzVlmWaocOq4UyzYNSqZRuufYWHY1+SPbZzYr6fYoG7PUKL8UsPICIWqLdlMmPX8OTwwqVR2W04Yc2yp7F6PqfkeEMBUKNmaR2061cztHWsPWqLlR4M5t2Dw1elB8KZTFjnpRlOTr59NN6xIcm+lC8EJ37zXsUOittSAV3LItHhaESff3qHyk/3Siv/x5BjphGAz0oeoaZaM6lyc0JMCw4YgY8126+l81G4pF4Qsw9JAo7RHWDoFVx0mrt79H9DxzVyod+S3zoowpUXiUSUXEiqty6sFpau1VKSH3pQn3g7rsFjpYYUQCfAgG3zhpmRPsJNXXcqavyrtVwaEZVX/4DFZU2qMM/qLyRj7+rNqgH5WELfC6b5pZzmrziXkd02OKqK0RZhwCVX3tUA/ceEoGgDDnalQKzw/WDyCvVwYYhHadLUCs6OkSkXvjNgn5azdZo+XZBTBxAQxPnqW6gT4z7BZZOnDhkzBqViD4zGR7dUs4rfRer2W7U4f5+BbfAovfn52vp3ntVkdejmYaLdZF/QrWgrjlLFyU2mFmLMWluLcyOYQ7TL8er3XopPCzGUTnVKuFhwYKGw2Gd7vXKQKk/ZHbv37lTLGYAD7YY8wofqj7wy/qd685Ubu4u5UXytPDAAwrcWOSO84BgVcxZImHq0OdFtr1RTxGG1Zm1YxrCpWLpIStexKd1zdnLjgloYLtFJaJM2l7H69VFBw6oFqNUfhhk4dd0w0mVbOJBMlKYRtXVOYK7Nt57C5/XO88H/ZoiYdCQFnKGMwG8TSIvIf91fSJk5qUO325FLANGyKQ3xsOOdOQZacXMv4enkX0JOsL77Gje7vP7wPf5LBZfwtaPePmVV7H32xxPHAHegGn4QUnm7Bi7ng9i/3YMKOOzvMn/5lm+/zngyApEvEAasChLQ9Xzr8Iz5srUvgM40RjweeAtVmuq+LWhHF7NKkv8xQjPR2v4KlD08sv84y8/zaefv4K3Pvr/8Pyrr1H2ylu0uec+SyH/kLlwTfCT1wB4kwjf/ZslLvnB88BrwE/xAg3AT/j+xsNOFgMz76mubF4x/zwHvARfT/2Qn5X+MjhvQP7GeY3JGOW/GQLlAV7A4Wev5/Nizku8zusAXMMnsHmLNPD4m/B/fgiv2vD3L8Mbfyj4s7cryRvAD2lLf4pYyOb1RT8E4cS/Qu9beUQ+7+WN6DH+/uwXeMX/CvAs4IGi78Npn958q7fALRLeFyzy/jJMqL6O2GAPYzRSRIqf/OBZPn/j7/F7V6zBFWfzivPrBO5o5fC/P8+riy/yk5/8iBd4g5///HV+/ms/ZJg3cfgOr/Emr7wSNzf/p7+Av/1Dfvr69/nDt77FP+pvKcz7BhSFsXZ38sraLxEm4/bb+fMz4BXeAl7jDbcmMp+1yy4j8JIXfCXw7BH4yx9DTQRY49/uv5A//atz2G0l6CBC3pIfz2Vh5ER5NR/K4x52/ewfCODhBA7Wj38Mr/8M3nie+P+EX/9/X+EmoDQaIxwOAz8mxGvUfbGAP/n9L/M///Qf4FuvwtgoBYOTpkD/AvwZvD4Mn67e/B6fOfAC/1L+Ot+0LF61LHPQBo7Dd5+Dol+FQMU/EZv4In/06r/xXeDHvn0kiv5x/R7fpZYcfoUwESxcuMZLIf79uRhvAcXf+ywz34Jafkr1JR+BlTR/d12Mr/W+DrzISX4H3niT4Q/cy+gL/7zRIf79dYjAs995gKt/+yf87IUf8KOXPXzlgXspuPvHjPMq0Ab8HfyW4CfwKvDaMLxVsrpevtf5Pj9C69//GPh3MN3xDTAIlRzWPa2vA29uafAE4AcseL0A3iSd9eMLwG8AoNdf52tf/CL/jHHuPwKIN/lG5//kOwWvbLrlXqC7DO5oegGfO0EdcETs2A94t58gkMMP+C4/x+FNkoI3vw8vA/n8FApe5dV//SG8ZN7tx7s8vJ78PC8BX87c5A3gV7e/v7+4mMTMDH8P/BHw2W/AWx+GX3m3BXyvO4VZsqFOG6vwVA9Gu7E3cP6DQ8bsAgj7iGBKtj0snKyo1mWEk7GTufTEu9xV3bZVgKVvjqGCTfwyZ2k9HzFm+/YLz6DFRQSOLrVQT0bTTiJunxY5OeZcUJo5tW96B1vVFmq1g+K86/Trt1+kUQzR3V2LufqaNWUyIL1rcbd4DUbb44Poya3QsdunxVk5ZgeUHQHd2CLKysTkTSJeIYjItqfERzbO2eUYG/GuJ58Ui/uEN6ACCjQ6/01ZsWlhbecI3pBwYVQ3vXSzClryBDMy2OwK7RodNeypYOzh2WWuQtycbc/sF9lBSDE0NGSrfGJCLcePqxdbJRlNz8PGzsey3D6Sde+GBpNqcnSX5ijTA/ZtyiEglnZtPq8LpfNL1GP36WIuVhllGpmZUndvXG1tyLF3hhG+nazgaP8j0/JHg3KOnyVG+9TQvF+NjQsyJrPvCD6lZrpUktemW2+/UaU5HSJUZ9pu92my7C45oCVSmuZOxZ0zRGCfOiY9aisq1FUDA+qqq1NlRYWYslWaRJc48/KwX8vnY3bDi7Xavbdqk8mim25jQsw6NtY/poK8Aj3wwIxycjI7bEs4izovFNX9k5NK91jqON/WUUxOCduy9dSup7Luky8bQ5i3SCbWolQZZtqCAjQ8hJpa0LUDObLnRmVZvyXLdkn2eFK27ejj11+pxWYXRJDJ49FsqD36h4dFNCpCM2KsTxtUDduL445l41TeOL6PbB6fXTJafrHgNhkKiHmtswnMYhhXwewqkphdxFTm2lOf63XrIPvYEo68mXG8Q15kPMhx41HeS78rBF1mmx1SnA2fSQg0ZhuTm72HrB2RJZylLffJAp2AKjFEhWAC/bal3Of/kvkoyjZ2Nj/idIwNct9VIm4mi3AYeT0InyMOX6RQqE2XX4mS2VmKcjEZtyIRtWU6ZxKt1qLalVGlqNAUW+mPT6Vf7p1F/eMx0bio1BkolOEa8rSJyaiIOKK1VVO2vYErdxuilr3yNyQV7EGEwkrNpNSH2a5emevoMNFNNBDvLMc36iWEKES52Xb+MOJTPaIsotZN9ekTuLleo1ETrRr+kMavPKay7Ny5R9uEbaltbEz8QqEIHZSnyKPjf1ao2O5h0dLztuXzOyE9c+JGtZQ3C65SCUkl6NUHr7paZcUm8rFyslKx4qw4gXRIrF6uTDJx0yGzTRcJwbyGWie0MnFcjeWjys9dlO1Brfch3IA0qqvF4Jatdnm5/PVNamjoE/F6xT72AdlR33qwWModSFApyr8uxsbcSSFP82s9KipbUl5esQ6soAfeUzsZuZjjOueRAQWjd+q4Z0x2jlcLZ35IFYGAoTaI9stEhnuEg3oKe1TlRLQLv6ppVKwc+UZXdJiQcjipaP2UnHPmBTliHJV2eTXRElYXJsF67aHdChemxB22CMU0nhdVY0+V/LnoqH/z+AoR0qOcqcxEnU6jpXOvVFl9s2Kxg7IsF9VnW+LomK4YOlcjK4dETbvYc0JjmIAmq97WRQMbi0IpburK1u3zTXg8ZvwGBlDBNY+IEy2qPvtKDa5muLNy5WDra8cPanHRdXZWYnKDBN+5ztu2OXYctLzsUWR8zTjq3eM5ZAcIxmTMNbaMiTfXPeYqIFF2nsR3Gg+gD2Im00zZzuND8mVo5JcxQYXZ1wURj6LjFch3AN09/B773cEd6mkSlZeg0RhZihTiWM6WczP1YL77eHcU8e/m857NRy8ChwE4gkHUA5YfPIfIfw3msAALiPLii0u8/gZma/ebfwCev+Pbvw++j+QQCMAYIcrkBX4NeAHLLTkWfO5VeP23v80b/CvfX4K3Ytml+F/An6x/s4Gal/380yuvssiv86zl5SUraH7UdfD8YxCJgWXx38NhfuDxANCLMQ1ZfI1X/+nHvPyXgPMiz+6e44Vl+H4kxsM/e5PP8jzfe9taCePFIbj+/ZPmz6uYgIbvwc/eOAbAJNB2UZLwZ/fR9GwOXdm38b0Oq79JHrDn+efxvfkmoRc/x199cZB//1nZxnlfvQhkE1+w4HPfg9e+wBv/8QbWJd/D/rMX4Z83b3m3fnIES/pd0PeA38YK/pTcM16DGBtN+k0Lvpt10bMp+Br4Gn5MoAfzYiWvw0TmhJ9D5Fv4nNcIBl/GeiZETp0PC8iVn6Tj52gE+F//C/7kT9j0efVVCL2CddKCyv/Nc9//Td56WfCzHFOW9RMt4FNY+CjoPR1fvZ+v/sY8//HdZn70oyBf/FUTNgFAFzACrO3Gd3KY4GqfsZF4ciAMfmL4cYAoj/FJPvuVV3ll4Qt8MmzBzyHwqVFeVRvMhvEW/SVBcoAQvAkvdS+wFku4yE0L/g383/5VPs9LvMCvI/6DNz9VBrkj8Nfwf/69gN+nl78C/hGwPv91+N6z8Btvwb7n+PmPLGLOSexXc/m0fzP0/CVe4uO8CrYFR80geP4b8MZ/wHPPfQEpEyMAfPrnfHLxo/z0W1+Hf/Pi+1aYNPB3wGFLpOxPccrHvC4Ax7IOh9+AF1+Ehj+F1F8a0PPx7zyG/jZz8jxvOnDG3gb+OyYGo+5fYPZy4OV+MBEdO36sbY59Evi1X3uDF771GVNRAPh4jiDrUQBLz0E0A9B/HmMUfA535jCHtsHub3wimBlj4/OqD55+sBfq69fL9tThj/Ga1zW4mOlpywuE4A9O8JV/9fLGl+Azz8d4T58vYOxFWz/fBL4DsedOx5L71nv2wddP23Lic2S/6GubbudhiTBROoAWAI5VH+PEE++ybO92p9ACak2gnj5bzjo1hbsCRXzi0RkRj8seHHRXuJBgQrt2IY/Xo6mFKZFA05OW7q5eUlsbsumXtVx0ioNollIRaBR72wRpw9a4lZ54knUnp22juasbRG2jHNCsdZawXaRMMi0mZ9eTzw8NXazOwja1sQ1FQQJxL0ZD9wXE9KPvcuUfUzmpjRwN24qpr25Q38FzNMG0LKyN5xcg2meEc8jkqQBVU6YbadAChsSLsTERDIqlg7JsR0/seVIsbNTDPXOjSvdHRP3bk7VFooX68l13qCVdKPi66MzRmTXo1g+OKrcspulp5Dhd2rTdr8oVNwyp2kJtGU0sQ+UARmObmFb1iq2u47b6LhzQb/SVyuegX9jTpJzcBu2e3dBqJjL13WPiKqrTUXH3LhUWlar1sh4XDrvs3rtCGV74AstSj9/Rpy45psnySQ1OfUCx+OOCts3vmSnbtK3KfFsdGRNlwbIYdtTEouqJycRmzGrfyqT8e33i7GV5+x099qFbxEKzsEdUuitfPUxrHQxhf1DOlsQr+z1ofgolWNIklinv4VvFfo9oLxAXdqsOw7nTD8otxSQschDkaW7uFkUiEfEYp+RNnsUxWqFjUD593ePKyyvQBFlgC1d+IScl/+67RXePOPd8NdOgUko1h6XPZ6WMLCBf3XRuunYzJY07tkCx4jkN32HLU14uu8s1H+1xZIPObVtQdYsp10Bhoc5ubRXYms2G1YbYoEN5z1KpAB2GEgeEM6rtmHbfvUzLqEVbjnttY9ocwMCK3zaHOSLgF9O/omV6zHwxvfjuy1CIaN3598ICdFPbgwpmYl3sYWGd6vDeWVrkcKnpM247OJYjx/s+m4/ip1Up7kfJPNReWLRuvzKFtg25XWmpOHlSkKOKtn5ZhwpVVISsQ6erMPSLIpUS8/NZHbNAqZaw+tJl8uDRCS6XzaKKToRFKEc8FlfVdNBMmB4zmawnOk9nTUgWKhzH0CQfMMR3fmytUaEAVeovKVFBvk+JREzp6XOVLA24uQGSmzuIH9GHqlpPGmhh4dB/ofNtlSpBuVI4eui2LYsRGHjZeWkRcmTQHZagV6UVM6rIvGdBgXAc3QpyLEsjTz/tDpBDChYH1fHVBc0lizWWCUDbqdN5PXq1NF8thFROo0aw1QLq/OAH5S8r01BhhRwrT2QnjSn2iTN2tgmvt81EvcGdxw+pqLlVXq9X91xz80YuhprbZU8PKX3Yre+kMUlWFebpsrsvUzDYpvhtnxWRoCrX7x8RxMRxdN6ucqXnpvTxJ6bVXVSkFGfJy7A8bE5onplQ3l3bFAk7LdK2yEVOl6V7HltSvLxDgGZG0Gh5Oot87mxBgSrYaEfLQoWF6IS/UVbxFrK8QJ1IHFIMFCGpjnO+olhjmbi3QgRs3Vjs18xsUgniyh3OPSVuZQR3kjreJujQkSSq8qP0tch2zRo26FYqdXvFFTpiP6SKnqDGz48rhxyFCauM/folrli/Z7I0oKaprAC6YrLiUsY26i6OPKki5Wf7l1KIu26T5Tiqf+AjinWMCVAwmFI8bqDeRdnvH4+KC1f+y2OoGDRzeYFI7hBUVsg7IO/Q/v1u5rUtx9fjFFIILzv0JyP1oIGoLb7QKCqDOmChWKHxDyy552RQTDXusdy2NoNKAxGMaDWev8Xcs9FXg0F0XjytkKtIFlsp+U/sQL65rfiVMfPmZpUJ3m+fwlmP77h6+vx+La+tKZVCM9MISjQ0dFyOnbE/hmWiPFeFz5LjQWFPSE3D16n+20md0TSkgGu/8/lQ0IvWPMiHV6O77HV62AiGghf3RTcgqch/BJP9C7TKEZn4gEHlM6LPdd+uwYZaVVSgC/Cq1bZd7vpq4WThoRMhced+jS4Vi6ZHBU/pENtM4P8ZWZ0RjOmod1jXP1EjrM2NXI6h2N58XZ38Q53q21LvI6A529KvPP20TA4Hn1rtuC6/+wwtF7Rq/u0mQz8Kpy2d/8dhxdO27mGDdXLggwOKlkU1xJAmsXUFWcnlkykxO7/lfhsw4kg8rq65OdWX1Ku/cUDQKj58qTz4dZX/CZUSl4ne3K5czUoH+3R3b69s0vL4bhIENLI+SRmI81gzKkqsCjzi0AkxXiT8tjj8OwqEejW6sPVdR3Qqs+vqNs9fNe/iQ/5cv+iwVXbVJSovN0RvoyO2GDsmfJtzUWQw7TZZjtDoXvk6Ozf6jBdV2ZmsdR6Bo46OqxWLVYnBxzToOaLayy/X/Pi4WluXdeVvz8veslOYyTANr4thElgdQEF3bFhYGmFYzOWLxfuMk/X8jWt6LPTprKC0JKiJBa3nku5g22RZlCNKc2So2t1jdch/zYflOOiO44461mHV+WI9/idLIrxtZsOdxXtK+/l6kZVli199P8YmyOPxmzTD+ARBJTigO9l+Iq5hiyN3HhF1tMl6EvDL63d3Xz6f/JalQAD5fcjvN/W0scuzxNtA3vtBsW3ytOwshSKbay1L3t9F4enzROUOmmIkosCjj2rYNhGEBpVypmDJeP+PrgrfCUUIqnUO1Q2iu7sseX0BEUEOlvrLg6IO7foEuvgkOr6KfAyJK8uM+QjjcMpsI7OD1zygz4FKg0HR2angYKMyjug1UIAVWVxgOhXnyylrkTOMDndXKl2XFRFoWSIQkElg0y8IKTjA20cxb9NhUtv9FlwTLMu71innlgtkzBZZgxZ0PshoDJkyeUSfd9vFOGBbCj/9tPoIygGVNKEbrkRHrX2a3wFlgY1YRbGcAl179zdVW9+m1pra9QnshuUbVJIscesJRbLyDGNXib6bDWFZReaeWUFZ0Zjo61PjyISGDh9XXd2Q8kobhONR/aGTKqFEcMcO9eZRTjCmg52dqqBCg8vXioBPrGV+bxS0y0+jRigy9eI9LDyFsq5DA2f0KGz1a3FrME92UpR12S7JUFCMHharI1obfNTQt0z+mszuDkG5WP6wSaySdV0MMymVshGPEwFdS7sSzMg/irqvQsdKBk1AGB0yFCF+ma19SD6COh6JKODzyapa1mTjHbJo1ToZYA1aS50hMDsxE60+KUjrYU51Eo9bC+oNPGCcvpMGlZLG7GTOmNo4L4GJxH47OvQNGTyl3tbOCArH1uBpt6mLvadcM5j93eIdA622l10yGRg3ji10oWjWvd6Nc/WdJaju7vtVW4fM4neh+glmJdvZLA5b8rwHEFabMsitQRCn3aP+hztUubtG9rW/otWctJ45Gx1YRJdckqeW2hodoEqD1Mpqb9FKLTpUh+yuTH2bew+AdtOuRHbyqHcUR3T5tq3z93dRYEwUbKBRMuk4m0CnO47s6uqstHcJ98Us0YIO/Q2azMnkdjWIn2h+vnKsZfmveUa+NXTrr3WL6SZje0yjtcvMrsGgTGY2vVgNaIjDWqcNdisvmUqJK69U1TPZKfiMhNwBOz1drJKSpGxyNNe3T0UNA9tU6he1jiC6nfeEZkjDNsyuaD2vxNKSCo6dGhLfU16u88fHZbStXIGlUOiEop3m+f4alHtg43wraenqqac1yJo8+EQdqjwd1XXmqbT1nSiS0ypp/XNN7+nU2WfXa5CYagnqUspVeIpGYrllCojOMsP70pYW+fnCf3KDTtofEJ3lqk8VaqCgRg2HUartGnm96K4rUAK/oEL52bTnrgyBxoMp5fVeqZNUidSfC3vDrNdMJqd2s0ZZFvZhzRz5R3V1TYmLUfs+FI2+3fu+k5wQ1Y5wqnWyblrYSbXNHVV7uFywS7dRpBFWFSV4yiSUS678BXW60FpRNGXrnBNelVtdglZ5GsOqqjkoP3XKtSxN7MlXbzuidq8oKRehInHoBnGyXKw64ouXqnbiw9pNhdK0icMj2luRUkutGehlHFM5aHUVVVSYCN2tUMg7o62qP7BbcI4AVRNVEUHTh2/fOC/JNhHdO0g+tTKTpQleHB5GH/wgwrE0dP+0RjraBMuu6XijzRLv8v7vSSrZCJh8n8SybKVSBlZrgU6QryFMcF8ZmEUtPyJjak5uyc9RkNUXDLS1DoRTK6o7REdalIwKfKp175+fH1V9fVpQoFoKZZWXqr8QDRYiqxKRxX9Vm4/YVybyNky5fvdZ273LGKiiGHHO9vX0vi4Kix/s1P7zNlLTGWeopWLQVVjyg/awX1i2WLhScL2wPcJCAQst2O1KUKPxSUvTH1zQ6pW71OXpV3qv6bxYzcKq3tDswgE5e/ask3OZycloNRVl5erq2IBd2qB99Zi4AAuxbys/iK0qrlR9uEnMWSou6VFP33k6gsFwnzoJnqo97T/lvHchWXj8/VnwsT02bl6JDRKt82CTo3piwlJnp6WmJmRZjgrSlrp7DKHXom3LGbH0kc88rVkcV2spkMOQ6tkazr9VbEFEI4MT2t9RrLM7OmRiPjpkc5tqydE1mEX1XJAxeewy9TrqajI3PS1uXlD6A4Xq7+5375srZ2hCVqJcltWqTstSoTMvn4Me22sr5tb1HraaoDARt5GoJqfcxX96Rvj9Yr+pp4WaK0VTkyz6tJfHRORiHf3BJzU5OSmmbE332FrtQeza+b33wtvm0d6zZ498Pp+wPy/sITmPXyxrf60YGlbp2R9UN91qsVBZnqXp2x11f9BSU9M+9TCg/D35mvZOKzAbkGXlCoZVZaEWty8XgLo9jhp3z6myAvHSmLi4U9AtuFpYZ7n93NYCWZBU26/O7lmVnWe+17h1NXDlkFLN+Yas0L/1XUKCa9YnqxaaVE65LAstLm2c1w66yJrV2zptLUvQqN3UbRDluf20zNovG1tX2k+pwV6UY4/JsQrFfp9YuUHxxUs37xb+b0kZxvQFystDI+8VGgryeizNzZqx4eDIYo92Y8ubIeD0InY3C6dT2CPaY2XHUZhdkslsaMu2kQdbFn5tVWYzUlSE2ttPPR4GzQ5gfKiZ43sQ02xK+VqQRt1bU/pu4UTayeT9vi4KibKwEv4NLTJGTEssiZwFUZKxhyVUQ60C8WrTMc/0ikZ0zBfU1WsPysNZiuVYCpQlFAplCmrSJ6YJKZkIiMuqRG9IwbNs/cJF+1VxfYWpFDKTFzovPazT676mDZu2pXhZ07pPgeP3ycHk9l1nq6RIOKXiwPXyTdYqsnevJgoL1Z7Y4tUvGxexMtls1qTes9bjscVdR7Ouv1hQYhJ1ryfk2NDox2hxy+zWb868nPakcsNh3XTFh0Vsj4z2d0SXHDsmx3Y0Ova0TFyDT8WRCj1WsaRaCpTaMUjIFhxVTo5fJ75ap9a+Ks2tt51HC1yodlI6gU8d1KunBZXSJArbRT2y9qLjAUSoREQOypv2KuIShSUCjp6oydH+wQEtL6+K0XPELfuE16f4nXfKIWPqOH5KuVKg2pyQlpb6BLmG1sLjMegkUCJQJEIhTTGlkvIq+SZiOrOkWIGAXxxfUOCjdyg0Uij6M7mtXWne+D+O0fpydmivoXhKXqtJ3Dsmx0H33pBSe3m+iMXUNb1XYcJiAOVP5OvwuY8rUjaqYGhaYCmGyfbVmHW/QAMK9Zj/oxifUboL5fUjJjvNrrvIPb8YMe0RHNlwyPegwAl06IwhHe+qlpXVH2eujKqo2Wt2adbm9/XhaqqY/9fc/+06S099YoNZ1VeKIpO5p0wm61JcLKanZcxGRkttPm6uDxcjX67puxNtezQ2NqfHlz6h67hZJCwx3yf6t2dx/a9LndYD1cAsii4y0dMR1olo5Y5tvL2Uy8ek1mhUXu85eqL6ctWT1BXhNXlXvGo5gepv8Khs9pNKfmRM7LeUqLtXRf3IBPvlyLHQ5U0Fujz3cu3d7+gjHH93C2IRmyZ7G5NgancSlVKv9TigW9nM6+RjS9yEtWlcFYMudNv//+qiMAVqLnYU2h8VrCmGGwVY0CWrCUXyAsLrVS9NG7boGlzWSEf420X+hSIcEd6kIn7XVnjM+ASuolM10UaFG7uVP5ZSgIAgqGjUowgR5WShhHalkyqvL99cKYWdG4MsOiEH1E6ZNtskg4IbVOYZ0mhwVP7SA/KlDHNkA1514zeRu7lR2bAZYfVexUJ0oihREULHnISwKlUXGVeha3vMlq5jJiK2H6PRRixLF46fJz+WBqsiIpUngoOKDlo674mjchxbTz89oQxjqdNYpOB5UyqiSmnK37Zsth3SYuekyiY9CvwaYiIgurw6HN2n4xcs6p8PP6kmT4cqHkKVdIrS3vX8tOsyhkpKSzTBhPkesrW7MaymiSHVHz+iA7NtoqZL2D4xdt/blqcQ1ESBjnKjvLUJpa44Jsvr23xe1BaPLojiCmHlyD+5Kl89Ym9Y7C4UgyWiNWu35cdN5L4hlbAx6W6RpwNHdOnBPtHVJTxo8gsV6t1dIZhW/+yyAoHzFSAkL8hmXkeIm0CpJXPPWtgSJb8heSUlah0fVwl+tUR9Wh1vEOlwVt5qI37QaVF3p5D0ivK4CBwX/V55HHT/uea86VpUGEMrKxEFg9am/pZ3+Fzd7MnduO+IX7R4tdpsa/eTT7kTSGRzGY8ccXcFWcccFAmhAfzqcifhLpcLbLAC3ZLMKDxuciv3ugjICpSJ0/O2rYv/qoTpl72tXwjRFRXbUI/vJEHM3OPD0Srt4sly0XSF8tlAOXaBWlpQla9Y+e7uK0WXi0yqlEkmhIo6ipSOpg389p3grBkpwzBGZx2rqUErOaiSVq0vClchyhoUCfeIR8ZE6Q1uG1qyMUGG5LrMxUHkeOPqI7jhyA4hAlEReJ8XhX7QjY35mrh6TJOVHlHl2jPLkG8EXfvZLhWPVuoWsqibOxB5hla3/nC9Sj51t6zpWU3VXKvF9lsNwZsH4RmRZ6JDBw6cpRl7WvfSp046Bf1aWSnVPme/Tkx+zISq22i6gs0pHW3EWWwwYV60sklL3JB8wT2ySork9HfocL2tiRKjKdllNbLrMoylT75Dg55KFbyTLLEkZ9QxVNQRr4499IsaYeyU86Y9CA/qmDDmn9kBW58//SmFAiHtvXCvUrPtuuyzX9HajWGt3uqRY1t6+vABwX7R6lVLOqVLnB5V06wWGrI0lTGxBUURjaZ1yw0/V1eqWb2+MdEyKC6r1O7dXg2ee5O6Pd3q6EB56awyHmBdK53AJEifPZovpz1De1Amh5tlTVryH7c1eV6L6CuQ46DJpR0ghFmSJqy7GVNZeVq3X3u9Ar5sErlyBUNDGp66R9PpHtF/rjq+7lF1ObJGpzX16fipfp9WRO2U3p0jFX0Ej066qB/ba+vmpy5Si90kcFR2Rbl6e/9QXeSoC9SDs0Gm9zYTQIAJjeBRkWVpyHFUS6s6yuq0+xuIJPL7TXrbzPnNoJZltz9TIegRp50lBm8WNqo9ZGI6eulSHkl5PPu0CTYMmoxeKP/wvVkTZYeordYclhKeVRlz0RbHsMcj6BUluaJ9XIx6DGnjCBqiWU2Z/BnTc6Z+QL51xJEtQra6Lu7SajKpfaBAF4a6/l2Okfciu9m9vjvdKnF4h1ihzTIM60wFHhCeGW0lqHxPsoyJn0r9J693JR9DZrd+zEFgaRFbXr/jIhf3CMLKBc1MIc510/32o3THRRrpHDGKXAViHNG7Irrfb0dz3rBGSp6R1TqnkhjyxtAZbOCR4zWoaqJCZxQuKo+E4kSVv7aixtp6Tdgp5bYdVSQyJYvNTuCTIKxLFC8+qBi/LuYXjBMzc04FKq46JO8ze0SJsZU9vUUTLgZ5h1g3H5Xfx7rp4ZTOX1Ios2NIaq4a9WR2FxE2nKYMCaZ2briTJZu/p3lndMVJRCSkvY/eqU7Cugh0TdbvJeDSjrvvdI6t2667UU5OWCW3H1IyEdRMe5485cYUYRWjkrvKRdkRkfIpXhtQy0yecjBOxDSoJYIKugZUanv15GS5nvmLQ3qm57f1KHvUc+zfFJhdFh++SINF+aoL3y/LslXeVi5vHHVcNq3A4ub3PBdjIhkEraZSKrluWFxyicDAh4soUM8kWj6OrkkuqzLULK/H0nXHymQWph2S3YOCeNRDocIMKO+Ks7dsj6PyBJIq7C1USfCgKLhUfPiIURI+sF8lJ66Qg1FGKjbdN7v8IW0PRzUyU4putM31ju3R8Qt/ZR1XfhLEar8I+uR3B+3btnUhwoccilWYtSjlxLsVzWvS3s5C5Z9jIJBFmf6HJcOemhU3E0Hcc6bKQ4eFhWLlBsSQKjimQKBq22cXV3lkFRWK8pBsO6WyrN1IK+VKVKHVMnQvCA5qY9eQL8I+kVesVJGl5lPunVakpFN5dqeGO21NzwbEOWlxBsKDUm0p3REIyI9fa+uotCJtMvW8J0kq2+e2LsWcEtyXET87IP/etXTKMKfGBAlNTKR0yzN5OvpEvn47gjqT5Sr6Coo+g0odR4e6ShUMz6jn4J+pZ6xaqQfq1F1yhwJXBVTaWSHbrlAg0KB0T1o5PSg316sCitVT7lJqJJPCzTNSjlEGSzE7mOR/ovwZuu8bA8WazZtx4cSbz3k3n3dPc5H3R6xd/9to+rf4znNNrD3XTJpxII0H+Gkf/O+PX83HC79MkBfIjTxPwfO/yo/+V5g/8y0yGbd54eW3ELPYJNZv+xkAz1MUfPdrpPg0M6/8Nnlv/gRWg4aWoBxK0q/g+bKhXZAXPk/FpqIVA95nfeux8xW/C272y80f7xtQ+ayhZxj8Ob/b3cVf19WY317AcFB4Af4C+L2d6+IT39n8PQ12YJ0hYtuP7zNgvfYmv/Olv+CveYn/jpcns37/DofwyYvnu+DB4vxnHH75wbvx6EUO/813GfhJkprKH/HGGJS7z/zOX9fhu/RleFFY//wK9rd+xGudHbw8Mkz7nj18/b6bmf/dAVYegT+9q59zPvpjzkndyQ3RP8B+/uO88r//HT7zLf7kP3L516W/wnZsrrr9l/HE25j9vdeIO2/ixUtXv4eaG2z+0q3fZ4HP5efz3Vd/jOe/fxMs8BOhiHa+rzr+JdjPn171Pf4t7zlef8PiQ5+vxTRmUSZ76ikfK/Ym9uKPCPMv5D2WhBc2SEOwn+cNz4/5nv09viMHXvkWnav/RO2bNfC1l/nhi79MDnABcE1WykHf0e9k8Sm8BHxuh9Y5xJtl8OdBqD10iDd5g0/+433w96/D+Awv9w3Avw3By/AqFj8kxPZEDe6naC/4k7zJd/kewioCzwj8PPGXPB/6B357byHPfsPPmz4o64ZSUwNAO4b50/28BkNf+WOmX8oHj8NzV67wHPDs4e/wSuVLuJ110+fZ4kX0g59BRRzbTlFZ6WDbNhYWrZSTqIL/pwweBAzXQoa/4Yfw4mvwo++S+g/RlHXPnJwcdu8+nch3Xibp6eSPuhzeSATgbwvgs8Ab8OzfPcsHeI03PW/yGd+/YmguitixwTn49nXIj4GvbD5UCHtP30vUF932ilc5xLNvc8c8YGqH3xwHbOevMcypMSwS/PHv53PHOSk+e2EB970A/++P6yi6zSL6FR9BT5DPd5YSCsfo+bWP0lMRIPW3Hrrz/w+BrwYo66zEcSoIBBoo6C4gtwfKzvLyy1PF7Dt8iOK7fNy5+CRVHXdhWXsoP/gg7ZHbuGB+kn30MbEwztHhZbjhIOyyaU7cyO3HOgk+6MUu9oEH2u730TACC/OQCgZ4PRri84/4+FShePVnb9FiQ+PbVfFOn3e9UwCFo4UisCaIKYRXAQKqxjGmCh8iJ6xWy1aob81ovUFU1pmviTO6dLL7JhXUlchsdzPOrVodISHPbQd1VfLDuqKvW6HgnGx7SPzCfS6feL86nKACq5bI7RXzlh7ZskJ22LbG3IQsgDiyw2oaQeyfEM6g8I+ox+dTnSdru7ju/D7ynlfpKrIzRJ0qR44gf9jSyj0hGfqI7DiFekGxbu9c1owvpCHy9Ef8f7T9d5id53XeC//esnudmb2n99577xWYBmAGmEGdAXsDq1gkFpCS2ESKIilSIkWRdmRZ3VaPLMtykVucOHZOchLHdpKT5NhOcj7bkiVTpChSJO7vj+fdM3sGAxCU6X1dC5i93/a8T13PWve6135VNRSKiQoFTgYUwFUgjMqjqKh/Si3tHYr9wtNaC4/Lj6t+kP8g+u50rz7W3a2joZByr79egdyAArloZN+8OuxuhfoR4bgaP/O7qjmwrJrJIVGFTnwd4TgKT/6iwKcAAaVxdJdvVclT4/Il6k2b9m+/U+ldaOIpr16xBUHVNU2qb2xDIzktqnDy5bp+HT36RFbb9O9dR8m4OHZA/eSJh9tE3BJ45zaxhTDhw+XiulH5H/HLLXVlWX06fjwmy9OwtgEM6PiVBp//9u0X1kiwR8cOuzoRDsvGp77Wr4i2KtF1h6YOdBg0FHht91FtAxj2kNZVEdl29pc6aDyAsSG3oP2HUdpD1QVC27DSUlBxH8I2Gm81JqCxvt9DCIXrBKWiMyhyHZnARWM+asOgV472Fsi1D4ncE6IW9fQcUX392Nu8f79aWixFZ/ZuG8uyFAqFtttjS0wb9WFMSpX3VGpockgcGVV2ytZe9kpW83NQVTgotB6SFbuQSfDi99xOwnW+9PRUqL5+G16aA/pCHcrJQW4nWg8gE5djC46rh5NyGFR/f6bv95mxYSH60/JR7QW4xWXRZOpoEg1HmpQXaJeVrlXORo7ckoQpdzhXtpVUKBxUmIDCoaAigbBIRGSF0KadUDKSo/HcFZU5J4TPlf8TR1UwjT55xFLBAw9obfJj8v+LY9oYK1NwakE+zkfcXdJcf+mLwmlR2CT2vSg81sYLTY6lDchE9+WKVEyhplL9l+lbNN01bSrt6W4xNaVJSlROTP469HARym3wKrUB3fSe4wq6fkGjash40hsE1lbavIzcickYlfl+4S1kzBtI9YJlRYkqdCGn1bstt6OAY+lY3TbaKbV1vFRsRlVba9gpi1yfzm4mlZOXo7hdpyOHf01f+6Vhffk3b9Q3f+HrGv29X9eZ225V776XlJcalmW5agTZFhpNI2MXzVEtaDpocO2NjT2qsTrlb3DkhBLqPPItVbXNq2F0VBSi1HMI11Lqhe2UjTfCFqOsC0rmbIrWQrPo+hD+MhGf8s43z6SzSMx2KB6/TYFAXPmWT6dTH8yqi71pvROJhFZXV9W52anKui/LdkPnnzszo/S+UtFkiZqUARZYVeKRMpN5KxdtZp2/wYYH/b1Qu2w7Q+8vbVDkeL5ux8BgGxgxx8vLtfhMRKPcIAajyq9DC2/X1t1s0zeDysrQ1BRiETG63UePY7DwlZl+24Ua108Jy1YCVGQHReVVZhFwUOrxlOhMGZNABBMYake1SZlqQVfRIuq7zRiKIUr9Iu820y7kmDaqICvdppdm0m1QZVeOQl1tF3yn/aDC7PZ4L2KfpTAN6sOYO9IMiMCzGjwWUv3m9qJYz7vECpAlpzh/oSmkUPsuFLj5NtJPwY782D4HTbab+JcjtUcU9e30YzxwfEMhf4saG5FZHBuEN399sDGhMYpUB4KkLNo1Ckosom99sUwPVVYpz2mQPY4265CVc1ApN1dnnZheXH9Oo/eWao41HScsNtBp66DuSj8iOCEmfeKsKUMk0qNQqHmrPwEmKj2A8q5GBbvyOl/Gu70odNpKlac1ZJmgtMU9GgVvQC1ayzLh8zM6WLQs32BY7/vMb6t6usp0jtlqWcdaTSh+EQq5s/rY7RFRbTpPJeh7C5YiPpTJjnQx2Q/65azvL14wpD4iuE/Gdtij1rZWVVZXClAVVWohA6N7+2desJN3cp4dDzDEdf6ArP3z5nrL0qKnxVqWZZyL+yxZIVSdU637xu9VFag3FNLs7D06WHSN5u5bUDS2LhxHk86ELvvEFdo/v19+36DgOjl+R4vPLcksfpPbZd3SlicFUUWjUU1PzWrAKtVVdIt2tFRlyXYcLb6w7WQ/aB3cKl+uhUbHJkRyY8vhXFhQqL6+jPaYEEyIyUlxakM93b0qLi7WnN/R8eeyYhOs8+u2vt5Sby+anbF0fZml93aZuJctaoSaGtHbJGYdHbgG0e0TbfvFTQdM6kznebPLm8tql2a0XL38NovCojK71vC+uOYDT2rZsjSFgZEuYplUlgdLBHfLaMrlF7mfJ/dZWVHfxr/Tj6XmFlRdg8ZGR7WZk7OjD1ke+mfRQ5QAIog6P3+lbhgZkg/08WwqZcz7EmiTxRmRfR2I5WXhWxR3HvbKMiZIGty7Dx0oRPR7dZNAjI9o792PB8SALIRSp7DKhOXFmICmQMssCy+TGNaSJtgO5OzvR10FF+b5f6fybi8yRpa0BUwII2vWtN2oZW8xKVhYwkKWlzfGyoprsixDcOliFDTbQpCSzaBRJBaQM4qsdInm6FQAZC0ha8LSchwthpFvxvLGq0eWaeVo3J5Qz/PLavGeXWgVaoBhNTXdqequGnHfmJZyvMDBbkQxemxmWpdHIufV2bu7KERHlKysUfv+WtHYcWFHiG2LU7dufX+JlKywq4VvH9Zoca4WQSOhJh2I9Bltxo+OMqD9kRERatYiVSonpH9xHIX9plJr2Rtzm5E8dvIGvZS60Lkhwazi+FUCKpxCOZ3mWHAkqMhyphIXZTDIF37mqtfhG3d30CgiEBE1lSIwpm2m0SZhBUTrMdGQL5YWlHcK1ZCnw9PvFaXIn7um43ZYbiqm5KLHYNnQIGxbzU3NwndEnIiKjUd01n6/Pjj2O+L9DRoPJbXInBy/Tyefv1kBLh7AlvY7urMmR4MEdDUxU+anNmW5rhpfeGHrvNSH3qOg368PHD+uRze8Tt6UJ/paBY3yx/yKl8W3JjCqF0TRnOJ1M3q+pEnxeFqu39Ytz2fxumzuhio6CodPKZZCOX0oFfjQtpM5046hUhFrFznPaZNSY6o8jkjdJmxLTY/kGc15DTVl8jNHCpQX2tb8GrhYvl10BT69hyHx6KZyMCadPC+5+/PLXSqe6hFuUrvRPudLSiQXdzhD/ZQpzpQi1T0KlTarM5FQ3M1Xhs6khBLNrs6KeFZ/qkUMBxVtuF8ldxZs9XOzGJSLYtNXiyhSsikpmwM61ZJrJoUyRGVKdeTJF2lTU9BM9k1NqK/Pa1s/e3MdgUpKSjQYj4taR/ifUJI2Az/f3BT19cJJCnJlUaFGkN/vV21NrZZAV3JW7mBMHDJRtxnTWDyOov7zE3T906RCb2uGarrUe/XL7EyrRFNQkT50xKvzDx4+rHnPIXyGM+qs36fCgQHBCX2Io8pYTk49fEqLjq0vkdTGZZN65nSZakjIAjWS0gBjeg+WZkmoOCtBlQN6ATTuQ3at+a2OOrm4oskVJBXKY4t2owa/VkgIyoUbEpVJ4RbueJ9+chTK5mLy5FI+l+5obv1T8u2/YiwQgZI4P7jQeecEn/tbjloRouEFfkoY8PP7nS/xhzWdfBv4qzf/gr/82Z9AJ1Dg8OWVFb5v/SW89ud8jxD/y23jU85LvEEA+D5XATlbD5gFCnY88nVs7Mixre8vfv9ChYsA9+KSJgQEvufH/x+Ms67ir35K43951ZxWGoSJIAx0YbePEGLxvDu9hanlKDYhcnGqHXgiDD+z4PU74dgBGM+FtoyjLeo1y1vwD38Hv/br+D7n43Xe5Kvn/gAE+ocv89Y5SH4/j8FvP0EDI/REP86YFeep2++Cn30FvvAKxz/7db7OOZ7Y/AIEL+ctLCKRVzyKmVexgfAFayCCm3OO3BMWVFow/Ab8LAC//gXQWxS++sWtc1/76oscYInffuubfO0tj739L34Afx6DlQhvOG/wcvBlAGwbQnnngD/j9Z/9K9xZH7W1b/Em8IuvZiVO/czuxnmLn/zkc/z4FYsfvh7m+0VBGDwMVggyp75WDz+uJNhxF5+vt4FReAsi3/9b7HNw5us/wP8q8GWIZpj3X/Xzg9de3tHye/vcZjlBAZ8KwtNHfgqpz/BD4C1fhFnf57F5k5xokOTNSQi/BvyUELsZ+bM/34cffXtHrs8i/oYh/pj6n/17Kt78c6b+8R/JexNMrkj434jf+tpb8DJEI95F/68LfxnhFefr/O+vByF6iB+c+BjH4m04wRD8nweAYQIE8EV9wL/krf/8OvxfmHyPP/o+EX6A9erLRH9q+vhf/AX8yZ+Y2//wDQi+DF2RLhpzG5l/Bm4pAvxhgsEcSt0g4XAYy/53/Ij/xDcAPvMZIrEYkagoqHmT2ZkoUY5h2zbhSJi/B/49v4b1b36K/X9MOpFMhsyXX4ZX3oIfBy5YcZf0OX4wTCKWackQF4d3wHYiBoA0sG/n8XJgFPz8W1z+kgXC5P2Fw6t/YrJdngO+8NWv8vevvEJuLoQXf5eX/+sfEfjjPwb+LV/lT3H4VxwDPvf1z/Htc+e4EZd/9Uoet34pxGv4OARcjZ+3yOU7WKRwCRI0ze/CAvCvm5rI7e40HdWBnECU08Q4fc2b2NaPOPsDH+2e0/6/s8Z33X+k++hf07hms/+vXif95t/teK2f8kN0Xn7SS/xc6k6h0TmtYntBrnudsCIXWXER+OSLrmpscVYVkyUK+8N68sS/FrZhUKyrK1VnZ63RpvJLxI2TqgnVqowyzYDyauq0MvBv5PcYHD+EoQow93a1G3u+ZKMrDmdh8ScvUK4QYjAk0pYXx9Alk4gd2XXI6cRkCMv/FeG2iS5HOU2O5vbALm8nfT+pSV5Wvl0v4uti1OPd95ksXTvw837EoVZtp7FsEAwJd9EzCfjkY0UJLA0Skk2lHNrkcq02XvrTrfv4QD19Z5X40m8In08OQ7LXyjTqd3TF88cUwVABn19mW89wWIWRQj06+kNV2Zdr2LlC9PSI914px7b1sTmP4rgdra+tawKfgj4UT02qJzs2xOdpxV6UeU4sprm7bxKpXoWY1n3Oh1RoIz+2PurbFZfhw6Sf3FG+mGDBkNGt+tQQtLbgzuXYqiah0e57VPSBo6IlKHxjWsMnC9RCqTq9dlxPoTNtaN/WPa8Xk83y06ZhrhF5BaJrUIxnNExXvklL4Be+EfEiAkc0H5bPi3WpvaNc/aMPi8agaEL7ui/MPbOXlJLSBHfLqYnIKUMD9Cg5aaCnzaB8LG3h44+YPlNYOaTG7/1QTJ8Sd62JBZ9IheSzHG8XEtBOTL0lH5dATx1AXIs60ugG15GzOiXbmtbAqKX8OxDdRwX36LrcTn3rzFmtn1kx5qeuLrGa1NFAQOsHD8o6avxfu2NgwOzK2tmDQqaUrIDCyUuuv2z5kLuoAmIGe29h4OCNl3p9Vj1nxEY4qIs61VIil15ZpTFRa4LWzqTRtThqrRnT6XLk8/WIyYRGQT6adSQvXx0d2w7dLgxsu3FqVPh9KsxBs53IV4m4bNd80IO40swllm1vU7OXIQZ96q9bUbMXydxGnXro9OY3n5ZAcR+yfWtymZVFSn7QNVwcMn1JVqFLXRTyyFOEXsHTe3aEC8np+5Frh3Vb6WfVQUwFoFhsQDlJEwhTloem59Y065ZpkJiWKFA1fuWUPquUHVEYEwvhXuQZpaAryoy5Jx8ULD+797muK0qKjf05Y5oIBERBodlm9mGccM80mtwPF3s311HXk6fU1lYjuFdQJWxHlO6KYXARRR6hHIihXFF/RoWFyOff+94B0ipkSU2xYvUlqwVplb30Ia9Tl4pN1HntWcVP/I7ghBj3iypU7PfJff5u+djFZ58l5SBfUUrFj35SrW0TWllZFblLOh1dkeU4Kn/hXgGaaZlR6UeHVYLZ3pb4y/XHhWg2FlPfmaQmfajibIOYNph0v79JhUWLgoDC4bjOHP26wlTJdio1fOrF8wdiKYIyg+n3oQSuVikWbWd19AuoNIyiZdvtW+ki5lrE7CnRvC5Ky3QfyOKAiFWJHGMi2RcqU3caLxeDX4t0Kb88JYe0SukUtWGxUSwOuaItKVgR9yNjOy/V6XKE44qNe7bKWw0ao0TkOabfFO5dtxeSUCikVCptKA1ixiEaKDdophQGX27OTeiessfkWI46azt14NgZYdvbwaDgTWpFO8dYAbIWUBktKiUhK41RgNb9ypk6oTMdyCpA0CScp8V7fAo1oTSWaQPKVVRkKVCPwFGKUqVCIfX0FKr6jstUtjSqgvYC1f3KtYaRF0y7vYBBjSUSJnCLasGYcjGRzRevl0vwzewhxUWH5brx7WjwjMP9ndynFWNmw+uDIPpztNkYk0WRiPl1MgcVp9EzYdTls7RwY5mOxZFFoU6XB1R2wpHt79AVobBO5TuCU0pimI7v57QeLy3Vffa4TgenzOR/G9poQwsWKqZVx1hRCahptFwlRVfoAz50Ga7K6VBlWb2mQKU5aDOGrEJEDWpJlOqbt1oqLzcmxlZQrAxBgaLlAXVh/Dth0GGKFN9DmX1XFwUT8dglprsusfJNgXxryHXDGr/1W0rUlqoPVDZdp7r1DqNJ5xfLbc/m/u5VSU2O7vuD59Q9HVHBXk7bXTJo20rOGYhnF+ha90KBZyHhmsQ5Pnz6QOch9XdXaabvrMhktwKtncnuNBd/vy2x8CIPHWE5cgOOsQ2H0fhQlwq8pBfdPaiqCo0MoFjC3dYcjmffK1c4MyZpUV2dcNDzC65XxgnhO6z79g+o9tRRmQAkv9Zc5Pj9Wn3+4tnifCAilhjr02Bxnq5uR05jo+ziCuFY4uMemqgDUfS8WPKJkMmD0IejeFml3DoPpbK2JjALdiznGvXP3W/qcEubRX5G9TyLgpRw94t1VwcxgUb5R6Y1MWSLyKqMbXhIfORbOnB1v4EOPmfqtRxUE0LOmR5ZN7eKrjYxjp7Ds7+X2aLetN20F3TYDqrPRGFXI7oMZPjDHPFyG+wUU6Y+caRWRul5VquryHFQefnt6n/oDhEMKA177hx3i822DyM/v1jd3cOivV3UN8ho+Xs5wKs19bErZLm2cI+L4FG5h49r2uuXLq4MWGLMU5JWBTGRQtbjlqauvFwT1MjpQP6UpQABNdCl0itrdkCJHcyi+eFFtOHxBk0zrTzyRCik1uVldRxBUzhyVt+rz6406Hd6XN1wZF3+ILr9sAm2Mver0ttSS6yYsbGW9dvFlLyLyhBZ0HEEltw9bOeXLqa/dNKpGmo0i0eFEkbOQeQ/5o3rAPLbKIgjx7YUWA2IsVE977Eo2C6y8QlcFWOpF0fjmfsPsitzZKmgRY0u2pxOamiwRwdjKERIw9wgpo/KBe96DLJuDa0GJ/SHI65KQIFF9K0IKp9C07O9Orye0C+xnVBngSFF9/C3vLuLQmVQPO6Kg63am5N+txwTuDo56U2ggbFtKlefz2joY4gyVyucUJRGbdHQ+kb07PX/R5FExEwubezBBmmkhx51uB264okrtn6LPnWBMsUQh7Y75WwgqqDPUZg1mSQXPeb6pp4Lm6C25JAZkN2ZiafHwA07hkThsA48M6tEwpwbYtvhFgggnw8tYSun+cQ2/v6lrHtX2OL2sMjHbCXH0eSXt8n1+EhU9x21dexzT6qLZ+UQUfQkwo+iz0cVgj0iUpFrWXqiu1vBeIFaD35ag1VVunq4Sv2gWk7Ksiz1TJhz60CJk1HTma0MHG9BMKKjPG4oSsqi8tV6iU7sDRGOCupEeETc2SFyTT1fDermlKy5mKg9qQhmMneiKESrstN+5nbnqO32AVk+346o5sBQQLd03qI22lRPvbrKuzS52CPLQouLDSoru1F46SXbnXbFu2o0Ey3UGig61KP+gKE1qE1MqqMBgwYr8vpQHorWoqqOoPImP6YMP1DUe75bkKNg34CwfCoCrbCki8YpYEwoGaRNaamriYmg6fPJQtH87I53BhNnEIDtdz55nWLxmB76+j6xv1oOthcpHBcc1EkQXCu4TFEHNU5aoihDOVKnrzChp/iGwuSIaCZZTY/8fvTRw+jJJEpFUMxDMoUJaxlb5d2WSEQ0EDWQ2bH+UQ1/+NeVthfkUCtfCA1ctntSPy5wlNuDqnBFxsyREe+dYt446AKd4N1CEFVrjcHz0pJujcuLXFtXV6dEwpjxAgTkw6cwGaQVGltAd+9HzCIeQzc2oY+xX8N1aT0xhfwhNHmZWRDOHkMHQzeo5cghpWL9upPjCnjv3EiruglqGKOswEkRcMVapyaJqbGlSVR3a6gkoM66NvUmt8s40YOabZR/Il8VlCnlzV1EUNRTKMNhFHTMPJNxRmfG2D/vonAUs+LFa8UlZgGaBpW+dJssy1Vu7nZqy64gmvBWzjIMnI2eAtGcZyBz6VwN535SOVZIftBqHYpfwNTSTLMarFpd2ZQpU1yM723esmNJ5Rw2SAHXj4aPX6js8zKJTN7mHcNhJWdCOvgJRGGzWcAato9nM6tubpqdwiCDqvPyDWdkZSWm6gNZdACxItF1Ul0l6FfOojw/eqrlNtPJcxHNqHvJ1vKRF9XIs7IJizxk+VzlPnSTCnF0xx4pOS3LUlNTk8K5Req74nNKMKsSrhYYlIVjoUc8Lp5WUC5+4Y+p/3i/Hn7PqKzlnbTX/hiKZbbxtziyDiZ0K0GFo0mtPd0j0pl36lQTbReYBGpVSkDRmxwlb0/qJt+myhoalJN0xdXb5+WN5ul997xP8c121fm/o1//whP66tWPyrYsjY2hwsJ2MdGkshF03fP1Guor0+apPO2zF3Xt6qQeHjimTvy6IfqYKqpcdd52Up/8xVP6pLOoX7r5Ll1212X61plPavkPf1X7Pnm12s98TR2JcfHZFfHVB8Sxq2Rgt5fQ9xMI17T/jncOj4ucHtGd8PiGEONRUWm49v1kXXPbphw3rCunr1PNMIKkQjiK4vkzNlFOTkAx65hyQVV3OOJXnhKjYUGFHqNd2wi6Bhm4ZbN8PjQzg2JVyM1BH7HRo95EOAoqakQkUXPAm1RzwzLKktnZpDE2cx8e3DSLTibRvKkSHG3Fl+zOdbxpnpOJM0okMn6JS5ckF0eRbUkTeywK+d7YNt/Ly8tNXmzMJBoEYSXEhiuwxUSOKEc5uTmKpR2FCnINFU6WuarZK88EqDSAaudQMpLcQhdFQFXUqomAOjExGyaBlamnPsKqueM2nXp8VKP5ft1zRZ0ea0InQVeBepuN+TKXXBVmkm89uSl36rA+0hPVWDNaxpAxvgiaHUeV9Wg1tndel3d1UbCsDpEulT2M5qnTpbARWqClQysK+3z66MJ2Or/ZGXT82M7zDLYZYY0IOrW40KFhvwmeejuNwp5Ei1vBQkPihb39AREimrVMcIsPdFcbqqpc1PZW3tolb9PxGhtFfb0sx5Q9GJjTnXf6VXovsgfRUnYZrU9672p5A3RC1cTVyLyGhkZ0VeF2NCU5OWJiQjXV6O52dIuFHlh+SdY+xJqxS551xvRbB39V7HtG+EbFC8XyW3593HleJopyr0XNFswrWlSk2UcfVQll6qJH0KYDXC/LsWR/wpw7gKUCigW9smxLtm2dx6Rp8Pfm74VT5bIn79cnqRQ57bK+1yOrpESOheYbLAOx3Lo2IMP5XyrbntAn5qM6GY9q5oEZWWlbUXx6umPfFl1wNaiHiGace4VdIGaDciILsi17Z9/w+pDlTMuiR1byJjHuyLZMIhUwnPdTGBbaZceSD0u2bcu2bTmWI8uxZTn7zM4HS4zZJl+3ZYu2DlnlF2egXQQxMS6SJ7TILo26eU3UzImxMZHr0aZbPcrmhFrG21Wu2IK4bJ4WWHKY0a3E1Aua8d51/340ELBMrmjbEg31orlZ9CPrihfk85lz4IAs7J1BdwcQc8gOe5PsCOKUd6wHwzHkIJYatUCdbIZUupin987Nye/3KwUatr37bN23VDt2CZN4LMlZ7ZNVhokJlExewgSfJTNwwYxo58teY3iv32bURlDVIJgQVpcI9YpZY5J+4ul5Pfr5w6r5/CkxM77rnbclvrCoCWdEkKcDc2gp0CmWPB9j1tgZAF2JmddSoBHbluNYgohse0aObfqAc4F5yFqxhW3LsUzbWRhzYCdeTFIBsnYxBGMZEsR3dVEYIa4acgUTSpOjrdyuF5PSGY1FS2XZtlKjdUoVoaUKNDuLjme09KjpgD09C2puHhXkKElct9Zdo7mpKlVWxt7+OWmUvmz7+2Z+dp7YfHFwQeQiHzFVc3jrWDSKrg2lZYFymlB+39UqLj6paPS0jmCcZXmgAxd5dn2gXlaVpdpN9DG7UM3V9cqtRWWZzu5HVKFHeCnrurQqD16u3Nx8RUhrZsZSd6mJLXC992EJ45h8rk5nrprW/L/+rt7b71NO8KTSD6HNm7r1VMUXdX86rSuspNbzO+Q/5tfzTz9/4XqyEPVpJXKLtHr1o2oiriWKNERMdQ3lsl208QLajvzevrYh6+8IO+3DgNLFMZHbrXpQiY1qUuh0SYms5+eVLjq5bQferJWh+LhHbAaFlatI2tUgAdV46S9DhHQTN23duxTUlJej/u/cJUrbZQ80qi4woRToE6BUTo7q8vNlY0w24+SpmFrl9BwXPZaSyaRGCwpkF6PIJFobtzTjq1djfb0qLMs4eh22Fi4LQ/qXIqG5uVUVF58W3CtiMd2fm6/HyxfON1dk6oGUTI6QbRz61m6YqCCkRS4cdZ/Eo6TfREHH1tHaQyrkg9rPitJZu7+GeFy1pUUqqUX/AnTzwYPKzc0VLSfFxyrFXJUsC6WW+kVjp6BC6RyTyWtb0/YimjcQeRVqKMk2C29nPDRlzVFhuk1NqZRqiy0RN/6WUx/G+J8yY622YXt3UEmW2XdGOwkK/7klIeNzuZRz89SPrUfIKKAhYV8jUsbikEpZKixsVn06X5ArBpKioERQs2NcPLr8CeWvpgV+3VwWUvnx+8UdBQZVdOupLXBLAOMQHhtEj+1DV545qBc3xtTNjC677Et69CszOsUpXcWLouERgWXmgnxz/enVqOwHxzXSclC3MKpKKhQaKFJdQYFnpo6cX9eb+YLL391FwT8ekFOXKzipCwaM2Oyw/QduRR/vQH43rLX1j5lB14omZht0+LixfzrpUgXax2Vs9NOCoArcBlUN92rErVMFbXo7+NoxTOYy8z2g3fmPMxIkqi4OyiAfTEDV8eNmdS3EVQU+1dej3BsvvfP11/TLus8yzswBn/zcpLQ9qq7AoqBVhNpEpzEbAfL3I7fGaAsZhMY+UDlhdZMJ0ssXHJJbhHzrfapvdnTXV15S94jhymEgrIN3nlVBy7c0HtpUkzWtJb4ue82v/s985MLltWwxcFTxZKGW1x9VJSkNUSv60fFTYVmOpdBTYdMJdwVp7cnrVFoqZibEZcO64YY5LS69TwXHzQJyIQrjsItZKMH0Iwf5nhzRl54d0UMrnXIcdPz4KQWD232sGFQfRF1dCAYVfnxUf3TL01vJZCgs1IebKxQ8ZCgoToDqqVDRzIrosFRQUKCjVVVy6lByA112wtY3g1fr9v7b9Z65A9pfcqUGImjwJlQ1hE48E9QfXhNR6VZu4UrBTQr7fYrnoJMt2Yihi8jamvGfed+7ulBjIwruC8pO7Z3c5ror0EEHhU+gUAKdei4hnLicEHrSQm1HC4XztI6n2nTTvS1qGDuiDYy5z4cr/7xPoc1GkZMjP5nFu1JB7pRdiPoqvJ3ICQxV+3rGnNOqQWIi5C0MW85c4zwFVMGA8ZU0oYKiLMjp0bhwlgUp0VMrfGbhCbQjwia/9vnv+nNwH/3cEvL6dDjr+y6/aA+iHs2zV0KtkMJUaiBVIutwUsdP1IiqBkG3Br1zBhnUlU/9hqxsLjVqZXOLUSAq2ab2xygvftDd14a1r9Uogz5M/+hYeGYr5zcDpswNhajbY4F2PnOX4hsn9KWxehVRpDbadM2hT6v3rqNy/CjMDboQncy7uij0j5xWZc1e+YyzJIWXJc3I2K2tqurIleuGNTX8sa3fncZyOb1Gmy8psTU6OiqjRTmCu0TNhOhpkgtK5x5WW1v3RZ+7QjY2d0Jwy57nBbHUj1/God0uatGsZ6IooU41ma3vBfwXe8q6N3HYZpD142q+oUS33rrPG0w7kRG9Lqqx0X3gJbOv0q2gDo565w+bwcWi6ilRJzWCZr300tcM7UMEwbruG7hftde0aHX1Wfn8CUFIdtjR6Klpc07vhcrsV6SwSCOPPiqbDI888tvrsi1XazPPem1xftrM88SeFOGQOHFUwaArn99/HiDApl+jVSGNXjumrn5L116G6JuQyfNwVPh8an7xe+pJd8g/iioq0NjYU8a2e94zWwWr8kfRxgn/Dtuy/x22WwBHAXzy+fxyazYU7kNjLchuRYeHlnUmcKVJi/gBNJ5fqEBjq1Z6EV2Izh6dl6hmL/HvpI12HCN3+WZVbe2dhCZwLfIPoI8HUDAU09GP/H+i8ik5i+h0HDn+NRmzkqWQHw171NQW6BoaNXNqQA8OG+oR3yCaCiCwtA/fzsnOqyvHvzPP8/DqE3J9YeNDBJk4FBMlvp45rx9ZlVlka35L4BPj2/dJ45m5cM4bA0bWdam5LnZIPwZu+46uOySj5KzLmFDXZHZJWRO4F1Pk43xzdZBDeor9IjdHHPht+de/vXVsfBw5ODrGMTn+7YVuwo/Gh1ABAd0N2t9cLlrPNz2e9q/Lb1lqHMs4oZFNQK47KIYDW/VkzEnmeLv/a7qeFk+BHBNY8hMSsTkxOKaPX4Su/F1dFIwPoeCCD9tL8loKFGwPyw2GNXT3x2S41fPVx6BWmdf6JKICWZSriXKjOaevUYP/iAZZ0vj4uB4/eJ0KWzu9BrwwH39J1t+nS07veY7rxlRWeERme5Uv8lBl3Gg1N2EWlkLwOlCed98LPdNStomgtgMNL3mdKFikwhv2Z+Vn4LyyfxBUHk2IeI4K8lA4eNrrsBXyp1H+EoJBwbzILdBLj3/e4OMdc6/i+7pUU3uTiqmQlWvrdN1pHff59OH33mcGfMmF2yWUKlLvtx5V9ahJ8jKEZ96wLXH/yAWv2yGTiPIJFa5Ny/HQJfkg/0ypSgeLVcIRwT5ZTqUq/sXlqrz6fhWXOQpWIYNnrzL3sVxReVZuChXegh6u/gW1HP2mHCcmyGpHNy4Kz4jTLVupKSO73zE3T8HaWl1XaGnSaVJLya2ylot0+s5NhUFHGdfpkpfkblyuU+6ndNb9BRUXdqj+4TalcppVnraN6S4Th+BDlKJPL7TrY4d/XyGiRgEo6tYlmU+3ZLs/gVEIajf3PnfjDuTcgqooEXZUFP2RdizQLtpXYJzCE6Bykl5ZbFXyuFx3VpeX3aZSkF2GKlxMak2MuTSROP+ZPh/K90wTFeEK2eu2TrNrDKUxC34RHoy6SPCC6EiKjyCclKgKKIBBLRWALufiebF/HjlcaoK2LvmaEMb0kkT+SMmFyTKTiIjXh3cds7FUwRFBs8gvUUnVozILXZGq3r/HvWpR1RiqOmn+LnMc1Z25V8SzYjPsgCg6LjMnps1OwvH6XgnCLhdHF8WjvcI6oCZS6vOuDdOiQgp0ENRMpcAy85RTLcovU1VJ1XZ/ImMuDAty3u1FwUTi2mxjYd9Obr0JPXL7Ybn4NMWsNxHco/L6ejV0jcjmQVmUKMCyPskBzYLRBLoxGhmI47Oie1QOYRm75PnaxTKGiwgXjTmoYG7v8kTCEc1PzF+gvLUK0u5h2NPKOMxmmNmbVM2xxcq0caTNIYqR22J4YPxrlmxnn5qI615MprKCTBLvXkQ9GsJRotKSr8kVvY5IWYZFM4byfHkacOZk1SK7HXHdiD7x2K+LRzG7MWdG0/fdr2O192qSg3Kv84n7EI4jd58rSAhnbxMaGIf7iDOyA9/9PIdl4cpxPi4iaHg+k5XKJ+yDe8P7DqMxDBSOKx3173OVnP2E5g9MasZ3g8ALALNdWX5XfgfZlejo+yM6ElhWAZamvDJEQKMOuo+X9EsTBrprFg1MYFQY2dOOSUAPuh1UNoummVFOBh7a0aH0qVPqHHNE6Dox0yYsb3d7gG1I9OioCLfrULRNo8O36rIH/kDvu+aMAgd9O95zE+M4rrjS0kDfk+om4QXFDSmTBvXSJC2czq3vQ1wkInoLrTMn/EExs6LsBPCbEbQ4gsoO400STcpWOKJJND9vAA12hqJ+dla4qLwCNXjouCKvHGB4iQazHZP9eMGF86IlqpUGZPdikEYTWfW4Q7qVvfBl3jMDQ32nk7+z9f+uXYazXxA1sQ+7s+3tJYWYYLUmlCyZVR+29vI12A3IKkP3sk+VTu6OYy6en8dCzjCaXTssY6Ye1+HDmfNsudhyxh1ZRbsjy21x6NPiwKHt33x4sPccQZ+od8Qj5reS2Yy5tlFQJhxj4l5hG7jgYMx3rvf3bPXs1pxZuHFUo6M769EosM3v9qKw/ZJ7QZ32kqUw+rAbl4Nf7dwhQwAWMUE8o+O6nHy1T7larx7RjRyRn/ztCgvubJTjF3nOwy2Wigc7xQnUsR/lLu19np2yFT0bFcmkqKraddyvtyc72yVxjKmmD8GsNoMNev6pp/T8QrXmZqMKYCuNmfBcD0PPJOLbUdFyu5qHG/X4NbfLXZszAzsPcRxdc2uBGhfX1OhHPUFU1TKvlQc+YuIsLMRJFFk/K6fwdwQxsc8Sdcj1r+v4Y8+LpC0O7DZvxEQGCpuPuAed4tTW8YmuuFzH0oc/PC7sgMLRlm3kTF9sC2qbZjt/7Q5CtZwnRHRJMChiZcIKKY5PNS2uWL1dk199jz5+yNawD+3PP6q4lVYphTqUmfDiiEOoIPclNVV4+Wm7tp8TiMV00zMram1F7VWtsrwtcoSIHBx1YDSiRALVVWfyJXd65UuJmMfg6ZW3mCzqFF9cI2Hk249xmtY1C4JKYia1wYIeXX30OYWq/crJi6r+HeQBBkMLXn3HQRE1ZZ5vQOnIBc4/0Slsy6SjDYbF2hU7jicxvihfHIVcRLv5nvGv2CdRtBeVx8s1RlYehUV2QCldULiV801uPkR/pfDlCKIiYCueNG3TNb67vNZ2Hdeygy48W47zzoPVTnrteTKrjwLiUNTk647j9edLMOOdJ/HzfuvDiy2x11XzRP52H/ekkRI15uZraSlzvU9wQBNxo5AUFS3o04WzWozsU8Hpehmzm2eesl1x+Z+KwK58FOWIuS6BLfy3iXTxVtuEvHGW9tquMS+tKUplgboSbOVM/0XCOkCjCXDz5kzX/ZLCYUP7coKdEN5L+Vw6IV7W5+W3PSMJNrzmwrPHXyZgvcE1c/8fNDQDr8Ib/xF++h/5Hn/PX/3sTb4be4VPRFZ4I3AOgMDPIPzTnXe8WAKhz7zlcO7NY/AF0G+A/nrv8869fI5XvvwKSPDWW/QBDZmDnW/A+E/3vvBCn5eBtxx4OQ78jM/89FXO3H47Z1p+wm9aQ7zOOf5+q+yGIW36p4O0/mItvPkN/vzNV3nfS1/jze/8Jjm+/22STX0RPve5H/DmH/wG1ASwWkOcm/gDFqr/HOagOwJNn4fxV75E7lt/DvyY+df2U/+zAYh8D+vXX4Yfn4Pfe2VXYcUWPZmTgNghPrfxua2ji7GXScQhx9sU/cR+ixsyB//kx/Bftu9yLvO7XQ0sm1u+55vEV75NIOe/EX7lHJGEzRUlJRyeneC6hs/x/es/x83fOMef/gz+09/9Cj/Wq/wv/oFv8FteXSbhGxbJU7/C2rkC8rDwvwlgw8uniGET+90kf/M38KO33kIh4QTA5lVc3qLQhpyE17Rx8OeGKMb1Sid45U1IJEhjONIyhIYA/Oxlfviaxbl/swj/vQYOvAWV8CMS/JiP8z9LivjD0X/gNcQbEm/xFgEMHdulfKokTn4lROQVmwAQf8ubLvb4JH/9TViGN28+Aa+fA16BYXMsSJCfnjAp/vQyvCbgTUPzNge0AB2fh1e+D3+tv+YPrD+ApHfjb2NO7DVf39yAn7zpvUSGpO6UVyk/Pgc/k3n26+d4+bCpsDfrmmFmhmGGqaHGu8hj/vMqdG2PevkiO/gBL+nzeZKcAz7P53Ye+MYs/DjqTUI7WvEdfPaawcxs8PK57/DGL/+AOMexvMx2qQRs2Of4/j+c49d+DU5tZCgnD7H0snl+h4I0nbua7776J/ztL//XrbIVkmTu3DmCv/Qpgq8bYsgGPFq+c8ADG3AsCm99jhN/fw4XM1/YJDhHhHME4Nvwlz8Q3+McAp58oIwDiyvQbfPRJvEveQteg9BPc3iGg5TmJPiJbcb6F8gar5f6+Xl2Ckb2aTuD2m7t4aCIIHtfjywnX74wOvhMp7BqzDkWmrWW5Xb5RAHav39S4YHoFiSwCtQxQ9Y2dVz2bhuuH5Oj11sJD3plGeFihFBhGUe0+W5h0AYmxwNiK3YiX5no5reV6LoY22WqcZBtWR4pm1emefN3t22pasEy0dyxOkGzGEIr2Xw6V1SLqXtVZdWo2WoTZ/plP1ImHMvDJSc0Yt+lHE6JWdTvH1CpdbOc5X2a/1TCaFEzFylzLCr2T2o+s/1uQfZNaPb9tq6oPGR2P/t2Ji7aU1aK5TCsOVDyS89rar+tqkNoIBjUe+ffp3JKNWVbitt1woObloPOgvzt3aKkXMZRFtU+TshhSjct3qR+7lcXwax8y7YgKtvJMv0dRzlTxjRXA3oohJb3e8eWUMuxVtVSm5WbICjmF3QdaHivdwkExILHp+8iDmaODWnAyteVSzMiuB24Vofxa1xKH+kkX9/iNzRAWrWge0G1Fzj34+yXa9visKNAHE3/Xqe4tURjoF4a1Gg37tnHbZBVhaL1Yd3BhE7Pe+Mns2sextjNM+axrLbfiiG5gDkmuoDGbMTIiLj8clltlqySvZ3E5weWXQINBphdYUH2b4e0tyN6b9TWP1WsTG6EkSmR6NQyLfKBCsjXB/d361NbaCxLtvOJrbJk3rehrkX1NXOCD2ydRxui5JBsHDVwSI3e+5SRMf21av+LPWJuXCS2665kfl59zAsGBNUaBiUwCZlc0E2ll2v43vtEJLzLrHtELiuyrlsy7b3He17SXH+pi8IIBarZYUd9e6fzDDkqPd0qvxvSiaH7tisruamCW5B9tEjUR4U7Im65cqdjtsBRoV2lxlo0W5EWvl22RTurEzkYrPX7vYFweu/y+HBUSVqGh31CkFahx3deGyZr+1sn3oZx0sFkf8ItNE64Pc4pyP7+XvN//iEUP1BrfAOZaM6ZGY9Izy84IcrGxfWXKZxEsRTGUXbtaR0/ckQvRqNq3rxCeVaTfMyJggFhFwq6tG6hhQLjKKvYozwrGPODIZ9Le051zCISelBOytEH3JvVSJ5nO9+WWo+FdMdvtWZBLQBRMSPKRwRB2bbkHZEAAQAASURBVOQonycFtUpTJYc+7XDMBhG/jBk0pASuCnEFaWMDPoryQ7vMlDHE11FFg3GwpuMoUcH2pJeRWgSVIs+n4gJ0Y7kxKaWLwiqsWlcUY6fONp3tnKC998zFlKUiV0FSSla1iyJ7ZzAWyNhqL+50riOgI+wXjAqade8iqr1AnxnhTtk4gtPyx0Ma/JNrRU1IaTImGL/XfxEc1Q5oZQQ5MUcNxR2qrOmQH2M+AEx/85SswiLUmWW+ystDB15ApFE11du+CE/ccpSuQLVtIxpeuFwkUG2oVhWVqHAE5fadEda6V3cBGdqLzPUR7eV/SbMzuJMkO0zGJtYja1EoxKPLOKy9zD//VEljJt6yK1CgKCzcmKhEgdMB5ZKjAnrEbc1iZUlsng/7jsZQpNQVKymd/mitnMHf0p1N96hrpF4Vzj4VnmpXLp1iDsXu9sZMfkKFDQOivFQ13UnRPSC4TBROCmyl09VK9HxQKSylh9DBxYyP4AFZ6Tz1O/3qJWkC4zazxmftfmWDYLLlXV0UGKgTVflyyIKmgddBLwZVfVZ+N6wjE9uQVIrwolUbVUKexulRcGVQTGewtY4gpXoeUWqsSAxNvD0MLYghy7KnlElekhELS0c5qmA0qp4DBxSkXDCsHtbVzrgsCw1lRVhz+XGt809MCJKhCfD8FJd7v9fWolsLPMqPRkSHmeSKtwb8KXHrsLERFtWLKs8XETT3iQWDco9erzlrISud5xWCm3XUOaD962mFMfwyW2XxoYiD4gQUDvbr9FWtcg5tH/f5fHKcMRO05VZoMl6nfk8rDmAm/mGGz3vH4WG0Re525THR9QURjQmfX3CrTK7rPm1RhvjZqY0W2GI6A6k0BG5OBfJNGu2/4Ni2jydKVAeuP2CchpjdZBF5gicFuQofQU/4UOlwiTj8HvH1gCIHUVcnurXwmKqbclTft6IUQQWCyMr0Jz8atoMiuOq9y7D5v86S1WApcEdA1PaKj5w2Gd8KHEPFspXqsElvx4NUQome4D3KYVAuDepbnlMiPwuSarNl2x8KH5UVtMUxFPNZ+lB/TODIxiDW+giJqW5DOTNokubU1GSNAcsSt92mUw//P/IxbfpUniNrn8dRhcHCH8hmFs1BeDvZAQbk4m7nMg4GTdrTs6jqnkH1958U+LTKmO7sRQ1PoLKHMu2a3UfeoX/u7aSebWbjvcTHTkqNdzhWGyyfSj3fVNT7bbp3b+XKzE8+wbAuz7C9bi1ofrHql+/kqE41Nyt/JV/dGH9Fhu22l6AuAwVrEAW/JKuzXUOREhE9Jg60mv7kc1T1xQEV3T0ssFRUhE5UeYvCHcflTDs6vnZc1+Y8pIWnPio+elB8yOtHzxpKE8BAi70IaR/v9qLgQxxcEm1tu6I5bW1RacdRV/vuMPSgCPsVeOKkYsTUQYeKiw1TKGzzhpxy3W0+cWoFvWogoHRRSky8DTOrjZd3dli0Bo2jddc5AQJixhLjAR3zGrUBV3fgyMbSevWIqpomRd+QuCxoiNT+KZ14EZFAw6zJxtFlW8dqNZNZtBxMABEm3N3Br0FOKvYV1DGPDHeNt/U+dkyu6+qhtSNqCIbkJ7CNp25sE6kCrdthzU8dFWHUfjm6MjGiOh/iFvQrVehp+4CuXr9eGyFXTlY8QW9vn07XdKnb6lDk/e8XXzslVt4nyNWhfpMBbyT73Qa9so8gOCCIiuCoySx3H16MhE/k2Opt8dBJYMx9+VmQV7tA+M2CESeuJZZU4aDBdYwSEHxWW6kOsRToDIiVlLYDcywZLdSSFTCLuI0tAn6zs/AmiSBBmZ1fTHBMyysodkV2mY6J1cB2jIW9KNbjpkz+JXGPLSZ8oq5P8cIatft5W7K1bLEx1B1duGrA0dy9fqVqs7TgIsSELRhW+JqgupcRM8jyxRUY+J5IVIlWM65OgByfNwn6DHfQuEezwjoKRqPqPXxYQxVVurLxrGBUWHXCf+Gk9dFRw0cGyM+4+hnWMTDjcW3NaOhDaD3iqNnnEwzIpspAN12yssyl5bKpgVqfOHL05x87P48M4CmaPbqkwLgg27E8h9B6uFsTOzjJAjpD395BmCO13nN8ugxbjoOG1jLHp2WU5P4LPtvmmKJ4iMl4UFZ7t4aJmjbMjvOJYnZQHSgTbNsEygsHzeQfQJYVkj8WEzFrm0wxiHrxxp13vyoMJc27uiiMMKqazz4krrxS0K7zmBC9wpSVbON8c3JQIFAkTvvFoycUIKBSSpVINCmV2s7LUAFyY1PyRfqN9ttgJp4CUJSw0hRfHNbmIO5EUKO5Ykt3X48C+ej4bhtpX46484at7ynMltEC9SRqlCqqF5XV2s1Xf1FxuaD5CAxvj8WcKMps59KqKdy5/S3CDHjbO79ysEdly5eLSELEdwY5xcgsuikZLTUurisQ/VGtWZa61hZEb5uuGkJHQjUq9KGCwd3pOV2RmxYBoz2GQDUEVU6p/D29Ii9PUKTThA1+2t11fTVmIa7Z/q2w8GOClZ3vH0YVxaYztrEho0DUZJ3jl5ngt4OIQlTr2ptHFYqwdW4EVBLL0fM3fVml7V1ap0NTnNimJYigE3dE5Dv5eQXoUD45eqoHNXdsGqgvDYJBjYPevxt/Pz8vCnfuLLMlF4+9tOBmUViiYDysM+wV9XpxMbQpvYIWA/cM7jx+GEtxqlXOhiqwxQeR7cR1uOpp1YQw2jooQ99QzTasNdM2LaCBmKOKI/lq7W3Vseu/bCJivSQ0haACHFnkCwI6Qo6iPShw8DaVcUg0IGewTpU72siQRzaW52mQpPJJiAQq/BBybnO0cfzDSow+odVcR6eb7tSJF+fV/HVHHDfjy41wQVTSP4+Ue/3qbc7zISq2v9eAPoqhUE95Y6SQSp3ZuqZHeTQbypua7f5U6fXBajAT+CFk4muCMkzRaCWNkj1sMSIXERIFJs0u8ULRUe5RCMWUk+lvWIICEUOpTuSjRlCgZizlFe1+n0UZP+jxrXev4LB8xLNyf5g+/q4uCmCL9LxxkNKoTJTjxaT7JpRuX5QPn5YdL2G7bba7bW27zq9vUKKyUqNgVvxOZFbcck1iX5wEy94v5ryJdnREFOSLKcwqmYeYMI7BFsIykbTmuvZMY4LqqNEQnZoHsbL/0jthCeID2997elB5+fnnrb7g/d2FuM7UA4fqzCQxZHuN5xMsa7/zeTmMqKbSUlvzTmdbPa2qpFZMDsnKvVM2zUaTKPQw3daCyLPEfkTFivyTaOoju8sTEb1ju7bj50edbi3EF8KDFxniP0D79nlkXHu2j0dGZ48Lrsk6liu4XRA1ZGxebER7pu2886pA9ZGIhj94twoLO3UebUIFovGo4AF1sF9nOGN+L0ec9fpTR1D0LYje1W0n3KHMu1WIQLd6Fo0jPPvevbatQseSNTUjQt3C+nn4e4oED6nViqnWsmRbtpyVvc6z9Yk4cmdNW/qJa8Z+WhaFwoOXHgQ5I+jyfEO3nbl2y8EbTcve/4hKCkvU3/F+0RERNSYZ/L5DaIagXCa8SSTDFOBk/e8In6MCFw37HXH33Yo2P6zb+a7yuEoW3xSXP6x93+wVP/mgeDBu/Dh9iFSxsNoNtYfragTDxkr9O62vi411R3Bw736aLhSjo2oBNXFQ5zmlvblgr/s2gX4Ns6uzXEerp8LyHZyXiX42AWzOoVXhWrJAlu31a9erO8vrS44ty3FlO8j1Ict1zJyZ8JhXsbWfEjH1HhEKiNz9YsBSxiHfTYZryhXMiAQaGjTKK8zoelx17c8uu3HIr2x97xcrWX10zisbhgj03V0UyodFdbW3lQnokmyGkSrRe0aW31Xi2IiZhBZQScAkTdl9fi6e88mP50OYF0xqhZm3iY3Y8CYYVNMe1WjOrvD1qFl9d2+fQyUlCqSMJt5JQBNcrjg+kdyLq+VCnZQdmlA4jPx+ZBZOU0fVVKss6Tnb6tmy35Lw6jEyJXpKZbSDhFIfTmrBQoHGMYV6swJecFRc1Kd0ul91UUtdjjHrLICSsQ6tVDuKdz4uXmw1znZ/0iCJ4sjguXdqgNtEZohsPLjfL5qatJFpi2N7v3uZD03ugbdvbW2VkzEFOo44cULJJDp4MKrc3BmV7ZU4KZcLJpLP1HNkpE2pvDxV4MgEU4ZVT53HQ5QjSMjX4VMk4/h12k3b+JEvZKk5HBfh5HbCky2nsV9YIYXj50ezMjur+987ohFGVDqAcususV/sEJ/gRoW6pxRoatIC83pPYjeTryM4oRts5MTQBhsiFtfwB55WNZcrg8dPgKz2alET284+hgngzAHFbFur8biXG6BIhAZEwCOITGY9L4N1bysW3CawRfspEXpWfP0x9XykQ5F7m0RbhbhyXtglqslt11DZEREuEcVhk8Vw3lHfgXYdOFCr2GhMdHeLr31N/P7vn8eqm0igxYp3FuU8nYdKsiPXVxDxnRQo63jatXu5nGhUV4CC7EGT4s0FF3pWEmRZyzr20C369GcC6pwYVEfHTXKbbN1eeZluOzIkaxHVN6Erbw/JmbldsbM3qZom0RlQ+1hQ1sFbVHPLt3TzfWX6xq+h235xQzUHHXHPhxSYu1FLtauKxa5Qi/OI3A+44rph0Vin9EBaRf4i0VStREe5KpxFMe8T00Oy6uvVHkbQpnBljXyJhOzmVrX5D4hQh+rql1WcN2yUn+aISObJoP0KRSb2y5NL+VxynMLw7B9R/cH/Aa+CScl9CZj+V6Pw5pfgoA/93gL8EPgDeON1+Olr2Se6ED++FYvgf8NP6LUQ8B3gd/k6v33R2IjYwW9gJ34EJ2Bl7BUq6rJQ0W9h4NbAT0kAp9nwDr0W6uf1gIlU+A+N4vd6v8jL/Ax+dIGoiAQQ3/XbOeDH219/8hN44w3IjqywsNCPMg+FxM+8v3/6OgR/CvoeCet/AT5gHsdaIkqM1//nX/Pa//4bKLLAbWXV/QzRE5dxiteJI/478G8BhzA+K59/E3+LV/7j+zjxvT/D/hyw/iPWX4XAy9slCQCFxIkRIbGZhwGprwOfYxnIARLXO5y+Ks6XgPAbwJcMhH13rbxcUMrv9k0CcDIXrGgUcDh2zMLvz9T/W/CFL/CjH8E3v/kKfn5AOOseB4GCAATcU/DjJFWnTjESO/9hsZjNsysxShNgxSE4Z+FvACtqkcgF07n+Efl/RqzwVexkkEQiCOPAG8BrYayfHIGf/IjNn0LyOPCP3s1PrYOW+UlrgNwRmJvLPNUG/RkPfemP+U83NWD/2TTWf6uDrZq61I+AT/Ha//U9Xv8/f0GU7/CFf/z7Xee8BXyBT5yDt34Mn018luBrP6H423/B//D9NxyGOBEIsBgIYL86B28WQxB4EqiDb3k18ONz8LU3xc9c+An/CPpj0Juw+Dw4d2FZBSzHIpSVhWAqbOr55u/A889CwXfhtV+C277AWw9bvPoNC/72H4n758H6W6j9CfGhEazOTk5VfRrn/nY+9NxROj+ZwF5fAQusN94gfscd8NGPgrTjDS3LyPmf3YPqwtesfD1G7OUfb13iw7z76wBv/hJvvfIKnwJ+utW4u6r4lShw/rTXRx8FNIC+xV/e/yxXXyl+9v0fY1kf500bvmj9ez738r9G34b/+vfwJ7/yGvz2V7Ee/iwWFp1A2w+Bb/4m//2z3+R7vzzEe26A4Qd/C0tzJmAg52Xsj38div9frlr/d0T+01H4fzZZtizykq3kcIBD1mFaNyuwmAArRCI/iJYtrFMJ4hGwjkSo2qhm6dgU1tU2J/GzZH+G6GOjVB38HGvRQ7Sn3suBf/EpiCe4eITXBT6XulOw+5F1Q66g95JX+W6GlaZQvhg68FHHaINTu87LzxeDXeIZRwkynC5VOkGnaEcUpbW9zd1b9tlzihMTDhq3UcHhfRc4N1/w2PZ2s8MWNUabqbBq1WC173HNrLagceuofYVtKOclS49WPQqA5mZ0c6n3ez0GJz7crdVCozk2NjqavNbRrzGteG2fph89K/dRnyg+IoeDwknIiaPJew2U0Ny/XwXcogf3G34bJ4PCcFCIKU3h14lcdHuvrZeqZ/WlmkNaYEKrzvXygUc1MSdneFjEYoom0lpcekQlbOdL2Kqzcraim1cta8s05NyKeGBSkLf9/D2kgm0G1VzQgD2ippsi6r0nqVFnv6yyUtl3t51ncyca0cQjD6roTKE4hDo+iGoqkDWLVq7cPq+oCH3wURQ50aoV6kyuC9AUIbkcEMxpERR1ajVLlfFJOI7wO2Ia7ZvPlW33e+0eE/0PiqV8PfH1g0r0RESppYth5efwtvs7dj1FGmdIIerFSoVmLJS6AJPvlqyigB/N3GlrriIlhwHtb2yU09TkPd/rkz5MDgkLzV2Dwh0nNPa+74rCeblcozPHUdtzqxocCQhuVjj8O1pemJJl9QrHQwv5LLM7tCzBtNrbe1RYeLuY7BMP3KKVu26VY9uybEsHbZ8Cdr8c+73C78jnd2T7LPUOOMo7sU/+SbTsR3Orl0pbjQxY4QIpTq9E3MiWM9vBo7nwTH/Z/enSZEbssYtoxtbVWBpi21TTgav8DbYj6zNShknik/WbZWWbT7f7iMmJkEEr2VvtddAxqT3BkW0jViydZFUHCeiIk7m+QyvUyHIs4azoAGjUGVCfU6IRxxYOcsiRzbyq623d//7DGhgJ6aH7SjU+Nbnn+1+SVehSF4VR0qrpKZO1v+08DPuFJA/PZBNE3J51LNEk8vrM38GgSKfEcKV8sEULkQCRMy5CPTpM60XNR+/BcOFQtWHyA+/A6GY5Fh93xImCLT8CoP6qKr2Ipc+zqVlOaAtJtSXmXlXE5ZBSJ1lomkuWVp0+bWCLydOo9Rd2H88Tp42pad++fg0dbFQLxpRRxDZrYzne1tuHcW7HyfILhAWFyiFHXd1VWlhd0XB1l04G/1gbx67Q/wic1kfzblNX+ZWKVXSbjluNau+3NXpNr6BR9tX52izweZ34AnEoEbLMLmGvfiqFL0+kDwqqFMYQDKZL0I2zO+MNTp/ebo8AKGUVKGdkQGlyVACqbglr7OZO4YxpC3k1gjgcFzc+L/rmxdGjpgyeGShBlfIq7xVFFSISUTnIJU8EEsapG0dDvci18809KxD1cY1UtcvKmDjsSlHoqLgkIOPEPymYMnbonKgKO/tkX+EYJtAbS0XhbmemiTEpBqXThmRu61gYFRQil7ggquWlEt0xUL1n/VZltbcdd1T4J30qrsmTTUojSVTV7U0+TyL7S1eoYvqDGvp8UIvOh7Tvobs0c3uZzgy3CnJlkavGBMppNWWCZlXWHVDRoKt0JKLC9ULR1qvbbntJKysr2tzcFCdqlHPsBoV6W0RnWuSOiNiI5lnYzvwFKuK0PrG6qmQyqVOcUkGeo0B1sShEKRs1Vr3TMXIBqcM4yr0Jt4wK+d4hzcilSKIf1TWaoEAfqJIhpSYdBaeQm4uX/tSTbsT+sODjKqHKcLZly2lD52/M1UXiyKK4acMc83jSdsRzHETkbjutI9UoH9uMK6pNTmYwC2MFoi0sCguVC0r4McirQVSZMk7yUPGF3/NdXRTMAG2STc82PHGSLO929uAwWbrGZ/0qLkZrfp82ThxW2kJLPlRfjLo8bvES0IzjyBo+HwcPyC5KaXWi66IxA702Cq8hnjaDcc90fQEUGN4QdnhH4vbRZ589z/ZpgyIBV9bgEQUaDF5/tP1W+Qdqs/IKeO95KZ1u8mZRaBzzQ029OlNSY/wKScQR5JtGoeLAlj07EMgE7jjisOvx09sawacoATnkCPbr3lvRI22r8h/0ixMtwnerDnCH/nKkTa69oNHRQgWpVxAD+x2mX+Hyq8WdV4iQo9OjAY0Nuprxn5bPLpLf71fEsZSMouWtznthOUpaBpo3LNbzhPWscFZEPKTGgwfVgOH5z6Sw9PkwWhFBbSGVLEvVI4+pBuM7qaiu0MB9t8kN+Ld3J7ONYqVDvtvGZb94ULRdLzCxHSYXxajqh6fla+uVXZKvfnwKUiWiJfJ1+2RVuhq62pUbapRtp+UbRCyhkZHp7UWBQYFPR/MLxdQ+BahWJgr7qN0nPvIJ0eM3/b27W0TeAUtqO+I6D7q7jhbtTpXN7h2A9cxRS+GQt+DEYvI/+TVhF8jn9+sTFZZGvhqTPbckDrxX7mWjGmJIo2MJwZXCiYrKtHjwiNFmpw6qOzqluptGtf/JOV2fO6Xhqb9X26eeVUPno2p2mo3T3UL+qFlsQodDOuR/TEcfLBc32jJQyI9qW5N/e2RPXS+qvOzSUva+U/kgAyrLIgj855JhhhXyubJtA7kP4CqAoyXQTYGwWHW92JIiGRjqdrBrMAOS8CMr4ClyDkaZ85sdg98fMBDurGeOgGx8So3ZasKVIV4cVRfWVuwE/YiVYtHRrKojqC2ao/1X7ZdzNRprQ2MH0V2738eHbMsEP77LiwLeQJ7ZftjuYCSQSe6eI6JR+dfeK8fJUSzsavJjE6rOQ2f3byeUALMzuJ9uRXfkvt0OhitKFWm+c/LiKTltjFkqZCigz6NnsBDH0Do3yt2VUYxQSO0YdFIlCBpUwrI+cqRHkUeSOlZ+zKQi/b/bxUa2dndAl8qU2dzl10KuLejVSH9E769xvEAjU+brA016ePQGPYxxdh376BXeZDUpgoe9MrVrnGl1sqZGhgUhxarQYk1Cg8FeUWOLyYB8hBTHVmtrUPH5fF3mq9FTfaggge5q8RKjHH9S/IpPLy08Ixd0I2gojfbPLegDTTnqfAYFj+/Vtp4EED0oNNQukzweEaoQfEjU2qLf2gq2M7uOdYHJDVxQgEGquEGj7beiloFOtXmEgU6NI/9H/eoLZcFgXVfk+DSx5ldxc40YmRYYzH4I1FBUpO7K92uUNZUeL9EWwiyC9m3uU+qaVXFkQ0z2qqgcTfpt8eS6CP+K6OwQh+IevLZWocVx2d136iitYqBN2Ki8t1C117aImhpRUCfj5H4Hk4ydK4auEoGQCKGDFrrlo3ufu1qU0PKSocoOglYng6IKOUvLuiyRECFLBILCH5PrH1FfTZNYOS26Tqv4phmtP/qinOimF+UflO+ZYbldrQokgorYZYJO4U8IJya7B/UHELkR7Xu6Q6kDQ7JCloLEFYo6WQiwkGhtVX4ioRoyDKEXeV8fOu48I2MCGTSa7KUwmpKrCyWHyUgEo4W/ewtAni5EwzE6ikqPlsjteY/uDAzqS4ONWrFQ5fGzInjG69u2Vx/bkeXHj2PG9yoqOO6NuRbMjnfZBNeurh5XMHhqj+dOaO9o5CLBadHQL3K9HUYI2QwrSEh1oN4x1DpZrypSZjeTMcHOoOr8f4Y4BRNavpfN/WJyWtAo2w6ptvZ+BTkf8tdEQBv+bnFbxmxjqYGHtjTykvqAnr88eXH0kZUn6jxNZs7sRLaP+5WJOHVwVJusVcBfrhQpE+iUQpVLlu5iUy22LSvVLuPDqDLp+HIQi+Xi9klx8OA7ePdtKW1DXTmIozWKF4zq2mvrZGB1BjFVkixRpC2iasyCeecn8w3kjS6RrhZWse4i6mHde+QWfEN5l6dFokGNt46ozp9ZrFICRxugijIU6ojLcQpMxGsYVVWgllOIljoxbqm+s14Ou2IQ8g23/gXhpWC2sdWorL5J03jb4lvLxa92q2HZp4F9UXHgHgMDTTniulNKdqNDLyAKTSTnUQcR3hRlKNKJEvX5SqXMRPj2LLzrMlHSj8jC0mZOUqT3yMsdwMABQ0kZemmvnixL1A2JwKCoLBd9IY8ypVB0FooyL+F9Xb5yLNTfEdP6+q2ioEokCkVeWVbA1iVIWVSpq0bl+HwiHy3m5SrdsttMaWSSDCSxQDZBpeNHzeBOpRQpLlb1ZXmi4BpRhU6M1qhtpVicGheVE8ppG9RmfpfWvd1Pan1d9lREt09sahlLNA2LviWzwx9F1lWo1ofMzq1S+aMHZPh2tsuzxbF0dbviNUkVpNGIvTvuZbfElF/QIbPbrTOQ1UsK9osqMyG6LsrLPf+cLXqZHXJMP38EdVRQpH4yGeiM2BQqRb7x+1VXKeXzaaAO4xf1IY7XiDlbp99/Wo7r6iOnPqLHaZOzH22OouA0Ovos2nwRHdm/ohtJKnEmoU+sreruKhT42FEdD02Le0dln97Qxoar/JP5slxLBacb5OczOtF/UJ2N3TrNsprCtfrs2TUFqupFDB25/oiiiajY+KQ4fUAF3fmiER276pjaR9vFNeyZdOpdXRQsq11k8N8XkYxGHwHNDZpJYMG2FbH3yr5kOr/j9Bhc/e57ObZw0rLoe5vnTggrJpxDYnRMdk++6PbL6lgSFZfLmhoWiVqF6dVdfXcpv/By7Wdaa05IWKvCnhb0al/uhNzHHjMmgoFt55FlO7Ity5uosyT7ezlbwSm7Zbgf5V9l/m4/jaom2JGjwepFFB6UxX5BSAuf+IQmp6eVTN4r9jUJ10sI70k8kaOxsQe0QlrYyLIsXeug+3lYkS1fwKjMIkFWQnvv72VkOSOyKFAQS4sYoj0sxDza/ywm4rmYC2RwWxS4hmPekwTPa/KeMTGdY6LKu+4UHUWy+jCO6ZvYm4bARrV1qOuRo5p4dJ9KrTJ1WP1Zk8iMYEMR0PuHBlV4XaGcBduDLFuyJm2tpBzjS7IMntxacGTHHEGebGtaGXw4WMI2mH0sxziYbbbFcYRly55ztNyLlu/cryHH9ibpbeey9YBlzDOXOvEUoqkBk8LzwPwhTY6NKjdnb2qMX44nNT09IzB5oN/XaausFDE1pfq1Nd0Sj8qemcyqS0sreSnZY2M6SLXmn22QGxgUxYWa7vPs2hl+qJoa0dZ23ljN/P2JBXvrnmAUlP0g4nFZH/iOyN8vZrvPy653vrRq4RM3adqyleDAhc+7yEIRj7OVE2CnZNoyq+zZ97Gs83Yl85a1zcJwoWfu+j3EIU1b87KvRwyauIRkEk3eh+xcW8EwWphHh7z4BMuyzrdmWJgUuFlzhZV1zAKzyIxMCCuh/eyXYzlatEqE3S2sFp20KzUJogrtv32f/H6/7EOYSPwwggUxamnxpMkl77cQhbbHNrDdRzLPf1cXheERVNOe64WSX1gOYPDSNigZQ/jQjScf1NVXXmcGshcF29SEnEpUVhrTx6rKFW3eeZ9wKKS1Z9fE/VFhzYupeZFOq4rdNBpG0u2zyn/8G+K93drozlG4N6gPJK5XfiBX8wmUcoIq8CdFfb3YRJYf7X+qX42jvyoWTwki8gWiahhMqtU/rKbeed032Knx5lwtLDyv0XRaA8fYXn0dTJ7bTBkCbOPfd0kM5PO0nsEZ9GCrCULK8Y5Pg0o3x7XWkFTYZ4uxXMUTCbmuKx+ooRy1Dhv+FF8hIpUni8/plvr3igE0NjamwfsrVUYyi8wsLnJcUYJKhlHTCJp7DpFAgUJ0pv52jXBAY4xqgUE9mB3in+H18XMBXHeOwFJujC2svEOuEnGUm4+Ks3Zqq2Rp/tWIgTE1NVXIcWZNAvTbLJFoVsB+TPWJtDarGsXIL4rBWlGXI4N2K1cCdMuhmGp7fXr26jWFo2HR0iI754BueewFMfmkOOLTvWVl2vfFF3Ti+heUm/sLWl4+LZOe9T2CWXF3m1bnahQ/9WnxJ78o7q5Vy82l4jMNKvnOf1ayd1k8/JxyahLKKTGDcSR6QLOMyMVE2c8nDgjn4nxHO8SHiDYI/MptuVldi7biF4iCL3JOqy5hdpBB0BXDw/LX1Ii6OrUHAuq4AfEC4n2ZawZ1i9ukunhcc3g7UlpFOk80NQh8hizSwpj0woYCogwv216W5LIhfCHRuKZG0FXe74GIo5t+9REVNnYIrhDDwR3R7HtK7rgSWHLI3ft4CkMFcyn119SURYGzLrh+x/GjR1EgiChE1vwhNZ9MqDlrAk6ur8vK5J4+kNW/MT6vBpAvo7x4v/siPjUcuU6bfeXiCOo5gdqcFiUStjbqNxQd8umaZKOJbF9lV4xNUrglXiT5hpkrTl7k/Q4cELlePU0jSjfFGiKMJjfQ8xbKa0T0oYmJCd3XWW7QT/OIvBaByafxKVwFaBRtm+K27GfsExv/DBHNQwypOna/qH8HRHEhzDb7cLsI+8yk6YXcd3ZGNFW3qrLKhKivEZ2772sJ0iLWLuxPKnXff5V/dlb1YRQ7T+OMqMg/r9L8eUXuul40NCjSjh7OQoAUgEoCIYXbhpTvQ6X5MV2dH9ctxSk9t7igmx9slH+4R21tqIdpdbYe0ZHAgBqSKD+CnJhP0X8Kydep7O8nzzseo1vRNmT50NmPXKfFpaMib1yb9Ki7GnXPmA7sL8EkydlVz8VBNB1HXNOhLZt3P+KY8ZXcUoihBwcFg6iltU4XZZuc4sIpPY8ifKg0UanJmgXzWwwxH1G6I6iK+qCihHQq5soBHe/oEM89It5rKzZxgzo6viF37Ki4Mk/UW4IuhenSAJaJhg0FFaRcPlIyxF4Ze21IO6CLfd0iYquRk/owO4OiujBRqoBOkha0KBMciF0ruorFcKFobVB3XqU4WKvKtoPKK8wT95gJhuPHRaOjwx1HdOipYfm2Ai5N+stLbftS0C9EWxW3A+IJ1OigouvO7wOACjmhfmxxMmYm8rSpa1paFAteuP81k0HFxQR3is6Eoje2ybK2zVSxWKOwejQeNSgnc35AO5zHPkS7Qf/Veu0aCqHmU/UiJy7WUDC5C121SwZAtVkU9Sa4c0rnp9ONiNi2BWHH+D9xk7A8FoSOjqxFAZFKiVBK4QgK+fIUDKaV4cGyolF1JRLqicUUCyOcXBmUXFqQp0gkIjuZFNgKEVV/LFdt0bR8oZBO+n1mIYkhP3610S9wFY1asq1xmQDPiOhxxIBPo9F21eAonOmfyROae9bWcwV5Gjxxp+j3fC8HEKOI9ri2o7EDGmDdY+hdUsbEPYUB3xwGhQOo27ddh5FIRKsfXTW71BEM31tBt9cfHXGZT5xoNwvGdaiDgFpjWW0bi727i0IbbSqhQjYekVNGCjFOlL06yAiiCI257CLRM+LgeKv5qCCkw2RvaYOCB8WRcjk4OlvnV2O1bcLUz9OyPiiaShR73Nb8QUdYlvyYxOHJZI76brlVFbfeqmtqOzXOgh4rRY8/vqrNx4/LV2sp4DryLVRoMnKD3Btdncif1Y2jKBSq05VXlutD+1De4WodpOvnzznr2aCbQCV7YLI/wYyWvIH64v6j8rnzgpTc7MnHQUzWCY+Z8TJMhrGxAWT1IWcSsZa1vc6E3oPc2XXhZHJEhAXDXmL1jMzsLFPG1HSRd7HolMPNqqtD5Q9Mq290RomafoUGu7Q0NqD5I2UaAXXZtq4M+GU76AiWmYSy71+FYtWeqaK8X9xxhU75TczKjud2jojUHTJZrTBb72lk457XvxyQPW2eYSinD+ptkTO9GMhfRulwTTsdsSwRyDZ/zgmSl9z2Vhqt3IMiEVN3Fujwsb1x+Zfjah5LuM+LuF/87rioQPYQWr1QtraMVOBRhxtT2tLBMYU7g6LU0JE8d7mtYK6jiQ+hEmY0PIpobxPl27vECUx9zcx47bxifu+5o0c5Dbkad9FwH6qouHA5TM6PLEDHCt6kvgutZ82Iw9s7riPZx3J9YmBYlB7RxHUTcrtcUYBsx9HU2bNi4B5N7LPVV3mHeoY+IMYDgiNiYVFcdpliKyvaf7sjmt+jmfFR7ev4gCh5WHP7zyp5xRViKqIRZ0FFR24VSw+p4YohVU3WmD55GOPHuXFQ5JdoYcFVJHLYK/+UWMszNOXLqIhCjTJqyhxz5UyiwCyyXVfNLWizyKtHB6OU2W5WPbkeUnK7bhxM/3BADZ3osm5kDaDLb0MN9cj1m7Z1FiY0FVkUxEXfV0WyZoucMM9CXQ6yaZG92rhtTltff3cXhdyRKxWe2UO7CXuDE4yz7lpbXLUpylF+YYFCqWYVFyCnHBmabVsV3G92DevmujW3SNGT3qArKhINAWOmqkBGOywQiS4Rb1N2xyvDaL0PF96gNCnd93SFFm+3NAZ6/nRAtVc+o0CgTQXtHSrtGNdUe5V6LdTUjGrSZfo4jsZuv10vvPiiUicrdddQiwJtlupDpVrsR8XBpOLkCYrVW7GL//0dymmPA3+JIXU9UL9jwi3IL1D99Z/TOsbu/MlP3y+r5Ho1UaJPOeh9mWA3P+K9CWUoDxoxuORi7z6l7Ep7WMsWz8/p0geFkxYbaANXDoU7Uw4GSkVPiQliusR3Cjd0Kv/4zUokUDSvVPkFKI8G5TmDotiUp6i0RHk+n5oxAyhIWpAvUl0iGtWqhZJjCflq0yopKVF1NKyx5Vzl+LPNhBVG2/xVxFy97Pm0yn+vU/Qb9Fd8YEC5d10r7rAED5hrehCf3RS2N9juLddGne3F2LiCm1TR2S5rBT2QeU4KFUW9xQnj0HRALbSom9TPlWsYUDgP5b+IZ7Y4qyVs9Z2ueJvrSoUdV6r4aZMDorBUG+75OS2ypTWGuhMYU0U9WqdI4aRjTIAFqNSPnISron9VKpru01oRiubhmQiLBAGVeJNS6WCdmNswsOmET+n2LgWSDSrmLtmpyEXpIgDxAF4f3/me65h2rQBBsWgLiNyIYF3Np8d0xve8ok9FReemKCwSz3xQJVeXyEpbImzKVrL7WTZ7w6fTiCAqLUZlKUTEry3ahxJ2jMFksl/RqId8qjCUHO95EM93tabdaT83ystVY9uqrAzJosC8jw9RWKhoU0p5qV7V51aqJ4I34Vec98zdcoqY3C1o67qSRNToN23XNItKvonWvZ2DxS0qoVXgE/n3CH+pDFW9X0FQqsQS/eXidIW4wRLXPiCofHcXBWgUE7dogcksdMiEducuoNd0sujTubq79251PnBYH2n36eToqgxU0NJ4Fikdxcgd9WCka2uit0cciBvb2jgyCJ3zUU8+TAathiT6YR8qstDY/jH5x225QRTGr2FnRR8pWNeHp/ernXa1jFXpGgcdWUcTnUMKElAAv3wYSGpneFUsm+326CC6P4hKiQp6VTxuzrlQg1b6M9mULiAbzwlQr+uqcX+26cGvW9u69XDe13XgyAGFwmGNf/FjordPEFMgYCJkwb8Vx2CtId8enWuAdxBYNzEhCgt1EEMRbifWxbVn1RAt3UG0djHJa+9Q6/XGvmtZ18nne0bFDKiOHrlDruyyoBgYkNPfL6fpfnXSrSSNgh7ReJVhJ7URH6pQ+NiQBkYfNYlsbnLlBHplU+0NqHFhRYVvSbAu1w3rPVf/jRrKjImipKREtddfLsYcYU+IkM+YfkAwp/VTtyowPaKhcXfbjOdUaXxqU7Y1o4+TL4JB9X/lkCoHkW3bOvLAhmgxisoGR3WVr1HDg6j65+A+Suehs1ejSBDBuHw+W5OB8T3PXSOzq7YFuWoMPalC24N2Mn8Jz4uKWx8THcU64jNKhpWHfB9GjDiid0N0jMsusBVecuWPoBxy9GHuVmo925zojbsqRHlEdPaJ3AnhjIjGEVFYufO5LsIq10EGFPT5xMczEdLb72nj31JaxtcQdo8xk3mZ344w4cW17C0W20qPfw9kTWZeMNaGgCAsbEu+LaRYtsLjl1EOLOEzi39wbU3YlvzjKM8K6wnf8gXLEhgZ0YTramIqV7bbnhX71KnCwkY1NFyvRiY99gNbMCaOcB7Y4gwpzTGrtYY1HW6PaoolFZcihnyC7ahwu9SRU3shsM4eMnBAhBbF+LjotkVyQjD5bi8K5uVCBLNMPJ3iAo4kK/wRhUgqvwz1n0SR4bCiUUOWtiNTlYMImM6bcYLtlKQuhl22QZPLKOJF2U5Po6Hb0cdAV/WHlVsfVk4wLLtoUH11yOlEsKAH12qVHEc3cVzzWHJBfiu8I5lP+B0MfPfEHmRqnjSCEi+Zd/P392vz/myN76j2M6vLeb9CJ0OyopaiVxWo1drGwteBajijz1OvPFBu2JDg7VmWUkRxSFsLqQ+DWSYu2pu23y/YKZx6hajxbMBhQUg+7Es3kTmOSWMJys1t1sLCY6KgXFQ2aCRwuSqGf1+Alnw+zfmSMv6BuOh5VLhR9Wc4532I0iJx9lHlVfaq5olN9Yf8qs02s0VDanjvFUqeLBF1roaPzKplbA8TTCmy9/vU+83LjWnTCil81bXbx682/5e2o+IWBEGFsY3JMScs10XgqC75JZX6FkRTo04kasThGvn3VcltzFfbO+wbpeRonvqtcbN/P0rdvPe5xRhyOzghX3Bc3U/cJaqrZFmW+vreDoWHwBK35ogORx9ZRTlhlGej/TmI9gYxOCbGUGlZqT4WGtcVFopha5yg7K2Uk7XCo2UB41Nob0fpalQ9gKBJzDWIluNipVbB1RJ1zCKKHIUDcVlH1hQLn1BLuyXCpo0baFA7n942CYbf7j36Ba3q9zT0WgwrbMY5fuxYJhBypyyToam4RvCsqCzS4aFMdPGJHePOUJmUiFXUE0bvn5qSbbXpOBHl5Vh64oMdypnPUX0T56HwQnhm9OKB86l7douF6CsxRIKNiIRZ3HowdR+kX2FfWuG4pWBnSI7Tr74AGs7KC9FQ2KDuiovT/eyUkPYKrv1nWBR8wqkWH94n58Pjys17QPi3bYKp7AKcfEq4xxVrQyUfRDSjUGhDlZXVysYUb2Zfk4dxyux4kYhMspkLV8DDuajYW4GTIP95PgdLLbkN+pclyF9jOlytXSL33aT0vYiUza0pMl1pvkfnlAqev/N5FLyBaOve9pCqNm5SE3nq42qVcEJFRDVJ6faEnUS4ZlHMw2ypZ8FsmfMi2uKocjBUAYRFdbnwG26k63LLVFlVLEaLZZyTQdmgDUKmzhMIf4Xwj4vjF3i3ze2/C6jQad4viiZF7YYZbI1mQkhHUF4YJSmXj7CoqxOOo0Yat3DniZBfq301ijOo4qNX78q0lxJOvkrHP6fooSoFWhzdNNDtLX45asJVHwbG6C9Ny7ZR/Rgit0AkbxVuVn4MvxmUaa/etn4PhsQzR8UH0wJHqfZ7le6oEFeVi+ERHT36u8oP1SpIUlXs7SO7oJTliefGRDSj6SXF5t4+hdtIyuGQoFEucdXxtABZrq2GB0cv4XmOKM0VUVS7htwwxjG7tKyUF1MSJ1uB6VGQ5i3qmjyQRbFIx2UUPkclJSlV16Ce2qCODMcE66JnTFROiZESBSbSqkkhyoIiXiOoUT0VuqdmUVxlGFpLKfXySVjaWnByckSRK06gSR8qL9vUkSlXk5xQMw2CSjV6TtymeFzpQMBj043ICcdVTa6Kg0GlKyuVthPypYOqJlcOjhwcVZMrPwYumleZp+Jqn5LV1SJWJCocJSxzPJVnKd+uVGpsnwyFdVA+F9XWlijWF1NpOefTf4cR66iExvNpLgiKvJgZQ2UIK1fhhgLFaVVuWa7xR2CUPR8oSZUgYJSjGgSNaiCTA3zD1FlJk1LVfbKIK3vHk8r+30bxPFTt9yuRSIgISnmLbzCNYul3fVGwBCnZPKBF54QKLVsPDQ7tCBraYXO3LJ23UuVYXj6GbblopPIlykOTqNizcQ5iKb07by8ToqZb1h1NwsloYheWtzv+zmVQBv2AaG/XcvmNmmQbqmmBrOVlGc0lpBc2D8ga9+ouZIm5DAbaESyYuh1F5NoKYe/RKWMyaA9LFgEv/mHZ3MNC0SJ078OW0mUY2zvtyjivLWoEjQa5lMmBfQnY7iQVmrQeUOXkhNpPnVIPPSqh2PSBBkQtGsJSHmie/fJndWzLskRRVPYj0yphQF37r5IVwOs/lmBRViQi6+59ovtF+cbR/G8dN5MS44KkFhYsDd6ECv/tC149hgUJMXpW5GxulzkfE2EL4viSmLG1XIHosExcjGWiibEbhVUv7GGVLBeqx1pQO8Hzgi8vSQoLZA3cLQjLspZkMS6svXfYz7MkF0csL4tAXOz/qHfMNrky3vZ5YWFNm2xuGe3Ww8Qve+OxD1uFoLkFS+E1tERSFveJ5S7tD7bJN4cX2zAtiGjx+JLsGVtW+YjoukxWd7cOdPfKHR/Tgdvfo9gDPbpvdlpd/75EXV98UAT+ULmUaxRrG4/v/Y3lF3j5SsbHxEZyxzm2hVqwVJNIyJqY0DIVgjZ1d3eruLjYmJV7GhSv7dZ9TOqysjIduOsuLfsHlFou071MKWbFFCWqe5hSGuT3+bT/zv3aPJurkXvPiq4T4j1h9TvTKgAtzPq0ErxTS8s3bsU8hEBz9Gp5+QHNMqQwd2iJblmcVWXlabV3rGz3lfOkTOxrN2PoegSTqiOqbtY15VF0+Peh9wYMSm6LNmghon5nRgUUycIDhSybNrOqLC202vJbvcIq3hp7ixjFcAlLBFH3LDqbn6+BgQHRgJbrzAJUtoQ6Drzri8JjghrhfEd5pz4phw8rZ4/ELBcVl52c7u+S9LK9nS/nakV2pNVDkBShmCg327HU29zv7Y6/UykvR5G+JlGPhspQXTKlJNvMo9Og0lTKaPQ+lPfoi9t8TDYiF30oM7DIExsbwnaUs/I7+sTpLytke6YmyxKNjQoEkqqpuVVwvY5iaYZc1ZDSIVCiHTGUEH2roqlKLOylffqVSWBfx7Ydt4pdOSn62Qriys2N6sBytyYni7SxUafYeEyByjyZXM1xBUhu8RvdQK5CGYXBdcVDDym/KKQ7H+1TIBFQrK1Hg7aruqZNYaGWRjRBTId5Ttz/lOwZNHE4opwcb8eZm6vh5tvkJPxiNiXIMfmfR5v2XtBsWzQ2ioI8kYtS16Ce9If1gdse83Zgrtq/+ZA6OlDF3LpGZ76qK/mKQllUBu9Eyvzo2rjRCh95JE/L9qLSpPc8Ny+jRadScu246nP/t6BHFjsjbi8kvli7ag/XqyKFxpswJrT3NcmardZGMKgIPToy8bwoH9XV104pUY1SuIJKkYqJQFQMoub+flE+K9LtouBhE/NSOKr6+x/V+KElDSw8qSNfulxfeaxNPeUxVVo5ipWgZIWtBjtP2Um4ThIz9DKbFWJt3GjZTZi2uRqx7NVTGZqaMo7okOuKZFIpgoKoKClRNB5XZb2txtlGNaY6NV8xq6niYjFZpmLnPhVHNlRRY4mHGk0fLq9VU3GTnFnU0FKkpvCsmJkRJUH5S/2qra1VM6iRRrUWtqrpFrb6iw3KJaZUqko5JGRTrhQxQaWCwUJdfXVafr9pq+22Cei8nCV492zc+ZuViyrsXeMpz1acHPnxa40ehXFFnokefwp09fETOjHnE6NnxFSF8vMbVZKLZqqqFApdq5ZdfSQNujWAFmsq1EixipqLLmmuv+R8ClG+CvwDBB6k+DvX82DqYV4+8CRQdKm3gDeBH1366ZfyKQDGMLUAEAr+Aa7zd7vO+hG89mP4658A8H3v1zAYavXQzrO/z7v7CYWmSSS6IHIYNxTE9X2fH2Ho3QF+h0n+12sBVvNXCdthfvAH34WPPgN5eSZfwz/A14BwWFjRH3D8s5/FmnsL3xtP8kf/87/g2BHKOcnTlsVoJEK7/SPC4d8APsevIH6bf+C/R17jN4Ef/0fgP/wjvP41Kv+bw/Dv+IB+oDarxDYQAe/fTCcJA072iyUxnP7AP7yew7/81iz/jQb+lAHe+v0f8/obQZj6Dvh/ip1jEeYbUB3hlwZ/yNpkDtS7Jt/CN34d6x/zCX5zldfdIn58eIZzQQdFPwPAfy6E34v+mK8eupGTn/47LGeGvI9vkNPq5c3w5fD6K19l7PU3KHv1++D+kK6nztE4fPV2iddC4F81f7sOw7/4Ai2p98I/2Hz/JXD+/it8++9+zZTJOof7X38d3//tJ/SH3yL4xvV8MXAXP2VHEpBL/vzNG1D0skkB8PXUD/i29W0ORbLyKUS2/3zr5A9YjgLfj2MFOll6+B7qq/+KMJkUAhaQi+sGCOQGIRgm7cI+aw2OV2C/EiPynQh/VVrO7w+MmnQZX46ivDCfDYV4NS+Pr/zZ3fDqn/ELX/l3/GP1FXz/k5cTWurB/v7jnD7XxMd6oaU9AaEUBOKQ93X4wFuQ+hnRr7n80W98lz/+t3fwlct/iROP/w/+x08W+dunX+bUBhz+23NUBl8DooQAmwif5xXe5DtEPvNX8OXfh+YIdHsv/P8D/mMECPI3f+Pwx38Q5icfsgjVvsniwI/4/vBPoW8egnEc9zShCERTEaL+ON8Np3g1GIS8EEH7Lwk6PyAUsOAbXs6EUJhoMIqVgkg0QNRJmTEVtLGDFpFIhCgQJUo0ECNqAyxAZJgQ45wd+yBXXVXID/kAHV0VpEZK4dlG3nftUTreeJXDh3+w1SKmCW3YkS0k6xPd+VX/AH91bldWmh+c42V+yBu8wVu8Ze73AzgM/CvgF774Bb7wmzaRf/9d+F4ugXiEYCRCaSgPv/slYrseE8DPr9o5fDsc5geREMFY8KL9dLtwl/hZB0G+WHpMzhNxBVsR7t7OjH8umfBW5cKsFdEgEga0lax7nG2zx3kSUoZszwcmhV0uW0FdYALE0u962V2tTR4V+IxTd3Ln8Xa6lbee1sSHfArmoMmp50TYhL4DohWRRgcPoYUNL0jLNRrIR1bWNe33qwKfQhitfgs6OTm5/Zy1Nc2TzSvUIbu8R07/sLaJvSyVl0+opnVcDF7CLjD7/kemhOVTTd2kRvo3TC7b6edMOVsPit98Sbi2sNcUdII6MvSwqK70rm9WJDar0YVHTTmOrMoJGR8HNga1YaH2HnSyJWC4ik58SGt2rUcXYlImOsPI8uC7ThDZdq7o6ROJYjF9lYnWzUNON1o/2Sfb7vKeXyhoFO5pMT0obFttszeonRZx67iYL9Dj/SNKZExefbw9JHOXmHwKIU2cMD6dFz+edXxt+28rhdx5TD0EIxo6dlDVNnrQtnX8ssvEZe8T9u+rvPx96n94TIweklWNyRXhv8aUawlhFwrnBkGbDsZL1deLNq6ZUu0ff108vSqeuFU8MSmeOiY6T2jGt6A8yuTDUcgxtA4jYNLTesSNWLY45KWXfAIxPazm+zd1f+uspkO2Hq9DD435dfzQISUSCX21+4xKyy8X1VHBojeH+AyTrp3Vd1iRQTKWaIklRYIRWbbhP8JBOD61gPIpFHSoClRBRGSACt58ULiK7C4zTxAOq2NgQLmTaMQ3Kf/oGSUmT3q5F8oV2l+toZF2TdIkOKO6ulmVVCEsV6w5AlchJ6RAwBGE5DiubMcWIZ+CgYBC/kPy+XyGguKfQbLBHq43zzGG6BzWc2c+JbhJHB5TbOaIvsysrirO0+hVps5yc1FHBzKxOS+pC1ura6aPX5JV6FIXhfLyPNXVRVTUg564An1k40Y5zrrI4sf/55aMPTdClpOwCBW90CNf0iwKG7AjX8LuyRlKFGaXk7GQLfqKNJeGLCnGmJnenrwN7ctHxZkQ+lxEc6bBjF05n3w1cL1KS2+T48RVXn5WhhjMr5Mnka94UoTLZWFiM8ow/puesqjKyJENCp4tO38xK9+JES+iRL54p0jUCF4Q4RxD7jZULtpqxbWFii+NKNldJm6xRCViwhJcIC9xefnW33lXDehA8bUiOilyNjQ+jqomvOOJpOhOGCx52c7+knknH65KKFH1JBobMwl4otnPisWUf8MRNeaxM3ixGPGrMdHnAR5CDbJSHSpNpkQsT4uFVys/0CHKNpVnFypcHzZ+hQSGmiAfEYgIp0OU5KusImomwfJywSntK3B0T1eZ7sh7StFMcpYijFPwUvtuCJV0PC7XTetsmUHNlJ/dDZ44KjhjYhlWEKeRQ0Ql3CEoU4llqaatTbR3e3mim0VJvkk5GuhUUWGnOsvy1HpzStaHOhQO9eiG9ds0FU7roD+moiLUWh5TTlnOtkmt2BKu17aWeSZgFKsqw6rZsKOMO8u8wsP6//P23uF1XNe5929mzpx+Dg56rwQBkCAaCzpIVIIACRIsIEESoLooqstWr66yLMuymiVLzrVjy7Itt7jHLY67b+zEyU3uzU2c2E5cZVuVIsWO9/tjzwEOGgnaut88z3pwMLNnz549u671rnclKJCxR1nKiaBqL/BTvCSgTRetlhtvki8rYahPisOioF60O6LGaxsx5Es4KqRBSc/1taD7mG1vzAKFOSjIUQKUhqtUNtFMUKQKkeuNEz6fcgoKFCxBRXaJnKLVCpTUehDRuHwVCRUW5aiUTMFqpS8r01W3zPAoRXA0RoOmKTXWosmVqWUyPgF/ko1pCXJ9YbnizmOCewWWiik2qtrcLJWGMwW5Ir1Y/rgJMlQVRcUNpm2FQignp0CQLbd4lTZZlrYQFWS+vpNCX99Kje0tUfNVPtkJZnvizWOMrNaC9MIWHk53kShLc6WlZYaxchHJAd1C63Rc3ibMgHKue2bhodcxPz6wD9k7bdlj9oJ66TYvj7IlvIfThMaSu5f9iM457++gXgux+T4RStd47risvpkdWFubb1ac2h5M/ff0FIpt1cYO0dunRu+660M+x5HPskwAj4hPVm6uOnvvUqT8OlHeIB9XyirIklP/pFj9frF6h1jXLPuSfjnVjqG2xvK+1fp5dUMbKijcNWMkuywuWttFYbeonvB2b963q0CsMv4o9CJw5WAoBexB1J2OR7Lm866blV/B3Lr02pnPv11Nb9qvyjsDslrRjrFSTeuws/fIaTikDZV1KZNWoeAyraJRub25M2UqQ6xGO9PLFJi4QSM/dNWb9NT12cbgC2Jfr1jZpcU8on34ZIIzuSnnUtJkIQ5tEKGQeT/LkjGGm8hbWJYHhfUp7fKEBoc2C7tM/kivut7yXVF6qdi0RSS6tH1Xq3qce5XLW0VXs/B/SSSuUdu6q3VNT60uDdXJOXSlcrKytArUaKNlthnMbgE1sE3gmvJ1OPLFNpjfvYjMCkHTdLnbMAukHRftlD3kl0W/HN+YDANBqfEJ2X5A231md5qXZyILAkpkZWnNO/vFxZ9XKLRM7e2I3hzRecU0jBkQxSi4PKgODolF7Czz5HwYapcqVWjndeOyLUs7bIQTElxz9jL5ljKOLXGsS44VOLKw9MB93UrPNnBcq39IPem7vDR1gkYN0+45d3qe1jtT89mlId6qKDmK9DyqT1o+/Q1lgjWv76SwljLl7btW/c6I6sbTVA8y1Aj5pkCzIITuwh0oC7HJ0my88FkkGDxnxTsYp7EQxmizkPOLxblC9q1Uqu/Emv41Yjlq6mrSinUrllbWs0hfFdp3yPs/gHDneIZfhqEKibQLK6DLJ56Rta7WI9iLKBjc7g0anoQxdR71xEKwRnUYo9RbxtG26wb04coLVJY1LsbGlVdYqP6tWwV1ilOvraA1ZeV6z7W3qHkyQ2v2rRU1aOXKlWrs6hLbHtJ8rhpPdiPiKMsXnXZ0C18+oJX2ZkGtwnRpB0GlrcnUcnaKwoASK9CWLck8JtTGfrOjiyAa8rX6K5fIdu/Smo0bxfbthgMp9ZmxgNi2Q1CuHQ0HlJ5/udyrf6Rap07DD1wuWq4SY2NKlPdrxxgKtCIIixW7RHSDjKphTKSNiTEjq8fGZNWNKZq1T1ZdnSLNjVqTh7BXifFtun/1HXJr7PkLBk8CGOz8PvbJRNG6cLq97Z1OVykS6aqvvluBpsyU+ztE4y7hdKpvRaluPOgoxh7ZBzMUju0RFT7RFlJZ5ogyfdUivF80XK9oe1BhsuSQ8PpZl4cgqxUpuHZA1KPAXuR6iL8MUIAugaN9GFXDnj2mrFYY4bhaKFbChniRrMiIKgYr1PqR94lok4zKbauIFik6Tgo1CIYtOM1R7RVhhZtiYiSg5dV1Kk9DFThKnXjOS9Z4z9nj/V+NMmOZKltXJtaiNUnEDgWaHZPAJ+NTFZXFCq1ms2BELK8WaYbepQRU0X25wFa0eo38ayKq50YtSmcSCokdO7y6P5sszHG1mHTTrUIKNZn9DkXu8/xrwruEnTPrfSKev1iYqIGuzlJnRhUhItvjjwuxUwkyBMEljfVLNjQf4xTPffTDfOPMF/iXj7/CPwPwN8Dv4NMw2wZ3ChMtfc7xPPAVYaJYL+E4fhxOn553OsCMbe4MsAFjhNvLNZzGN5MwAgTMfvZ4kGkbUGamn3SixoCalQXD7wE6GOfduLhMHTlOPJLOL3/5z/zHH/6DtNJSiNZCpGVp5U49MuDHQfjXj08C0O+D7gvmVPtpjEHZ3wNWkE//9RR68YQ5RwbH+31cUNbIhb4ecvfCpfvAenUcpgrY44f+9V10lOXRiY+T7OORj8PnPv91PnTyZwRfnCLj737MCz7xo+/a1O+v5M5DCb508Si/et7iu3/3PK/9/jDHnj8FJ9L413/9V/7pu9+Hz70J+M389wliIqUfhhN7j3DYvCJ66jecjH2ZidzneI1/4DNs4czxE5zkFTglXn0JvvcvcSiNQum3+WHpC/z8lr+Eo3HQSnacugaHT3PzG7fTWX8YJCZSn/uq4HOHgZN8ZscfWf72BPfkvYEBHefMB1YQOfZddr7SxJk9mRx+zcfU6AMw8QSceie8OQItFqx/GzyezvZ1vcQrGjl2/23w8BGOZF2DXlvH0Y6nODb2JpgKwS9+SrSpBtZvYrLtfsYeHiMUMoiEkeQ7A/54nL/1fx7S/4GIHSWYeRNbRj5O7vXXQ2Qcdq5n8kwhx098nKnjr8K1mVg2XMfv4fj3Qd/jyK/+m09+5Qyv8ixTz8JrPc/Cz0/DD4/RfOILlDlD8Noz8L8e4sgPjvPawPOcKQhDehhifyQzI5cEYzjrE8SajGESSuH4ek58L8Kp5wrZzH5scjnBH4khPk8modPw7LOmN2oDkHEKODHvkw8dfo1M33f4+Ylf8e+fvZ3OE8+zjONs2/Z5Es6vOfLxjBnUhIDj4DuVSeBn65n646vwqjhx4jgnzyRHhZTBIggUY6y1+UAMCIehMAiPA9nAHsDv3XZmO/x73KBLNg1yZuoNnHztJKzu4NiyQi/TU54MAAUQmIA948B+ZA9xfP8DsPcB6B6FgiOwz8/JSx7k5T98G5ii+I+i+R8hlP4aUAM7YpAbhsJChoBsMiHzGPg+41mKHeAxDGBj7vHRBc4tfnwr9i1+4/6GYN/nsP7mQzABHPsUTP0BiEBsJ/hPc5TjCJjiiPliR1JzSeMorUwh4DDHeIWXOcEcs/bix1J3Cix1trMsMbQUPPX5SrWSMMlimFaVgFGnxEA2I2YFZmVr2I9uvwldUToisEXlkLjBrDS2bi3QRmvdDCzSNmqw4e2OfJtQHsNqf9cmvfGdO9R0T4k23PN1sTpD1C9uVB9erNybUVsnuvBCc29jQ52uqZit619nrVOOlSM2WiKEnvj4k7K6PJ3+DTtF+50qaPo7ta5dp5UWWm4jrA2CTNnv2Sgr4peVa8lq6Rfcpdjua7Sh19YV7xtWS2CbBm+7R1lvukrtna4se0S2ZYkOSy1N6IrVAW1koxieFHQJUJjINJ56nniqIEDk58q3dq3nn2LJ2rBeW5591vhFrGlXTlOTmtubxXXVit1xu3rv+ZKG7xkQ99wq7mkVV79F0C4sS5ZtG3WSbU+HyEzqbyvwgAWW174sZNXbctYguxMNs0zwBln4jb7/FkSkVtjXmlWiXaqgVac+ywQ791mWIZ2zTTyFImytI6wBa7PHf98rqtdqpGalHMvWFmtUlp0S/2K9pWXxYdUQVkvLZ3RZ7kVi4+dVF9yl8pFMWXaPF8bRi9+QUn9DW5+QbTnaNifOQA9mN3sNW2QnOfhBVhPacmibWSEPeXXSigovPKTGwdWiGY1cfaF67PVK22qJCLJ6TGzv1VhaxbjKRh7Ueusez0nK7KybGFHzrH67eN8r3v203vzle0RNlt794CbFPeZNqwcRQxabxRx4emZGhrral+Bs14dGnx3V4B2D4nHEVYiVK03sh+Tuw07td9ZMeW1LDJu6arAsFW1GxmBt1C4tWJ6dzfK+q631WIpbjoElWzN51dq2rsSzKYxUKBxepVs3NivPWi2sZlG7Ulx3nSzLFoxo4xByZ8WVqNViEdzOS1oQueiBwKDSh0LTsVAYNtqQvnWWuGNYtCKuXyGuKjc+S42HtPWNqzTkGrvoLY6lyCbzfdpubVPj7Y26o/72pY31f/KkUFU1L7bxtGRnywVVUKRZlBZ/lkQEYRUz3xCcMYqctHrt379Bm5yPquCeMuWsR5VZqIZqlVmWqqs7VdXtqmR5hdaUVmvZY/vVEb5ENVkYR6GJLF17AwoUIMgRmZaiTrbBCs+j8ojIGF+zlPTOPBdiKWfaaS8mJmdTINeSpowDM+q2zg9kG+/uMKLcFtYyRevHtX71qFy3R0HaVHboSlFaqvHsbPktS1QcELuyBJXy5ZcpM9NS1/IuOXkeBXJ+vsqfeFz+RNr0c1bE0ZZ8S1lkzXJCdECZFGkuCdg88ftFWprWgFZnfkBXXv33qi1t0ni4VP4Pf0T+4XcrMZZQVllEmWWVKqFSZZ7evYPZ0bvSMLQB5RUV6uycPZiEyVAkM1tFN6H8q55RQVGP2LRclCIrHXUSkvFEtYS/2niF2lHNkLGF5Cem1pQ8VzADNghSqQRPKYsDCmMWHcahr0EwoJy54REzbIV9b1AERwaXHtcMDXlQlJbOhELsLhAlKw06K4qyeYPAVnV1teBisX6/JstMWdKYb6PqAH3zjdViuyWWV2l/FfKlo2CRATnkgRKEhF1m/FccRKZRbcVBfUTVREhNW+5WLKv8vPpcBcbzeeWGJmXe/zZRg7IeqvQCGKHyjHL5Hf80caC5zxFUqswt0sH0fV7fyTb9JRaRXeTX8uXjM88Jody0XGVXZBs1XRqCbFWRGq9iXKz3m0XSvLHG/I2Bgjko6YUNHrvB3LGCOfYeT6IkSfpQ+op05azLUVo3qrwT9WALqkQQlZaVKkSjskBWAR4t+OspfYIiHRq7VbFwmiZB1ghidIa9gOIc409THhWlYQNOWFeq3L0xZVvIfwANWCiUjXBQYllC8cq4KmOV/48mBQfxAOKSZjPbLvJyIVA7NWLWx/0zpL5e1NZqJQHFp+mkQyoADRMU2LJCISWCvaqzi9Q27te6CdQ0/lHdYg3phpYHddn6oFauadIQreoMoaCFbGwFCaoatHoX6nLRzew1utExRAbaOGSMbmt34qGUEjJ8TMVaVO8+V3o9fe86zKAVDIraRvH2darxzQTcAfSehy6WY9u6h3G9gzG5uEpvHdLe1RMKBCYUYbua69bJvixNsFN0RMWtjhjZKmIzcaNbslvlVhiOFXLH1diL4rhyccWQ4YHyV84vq4WlYKDJUJgsQjw23RYCZte2hl7Vr2rQihhqD6GOUfQIJrxkMajQQrXBJC+NJ7mIPrTKXaUOt0NbGNGysjJtaOsV/lQAQ4EIlqqmKahlV7eqtiGkXZ94p66+Hg1ZTIduNdK6YFn9zLYrFTOXbdOSn5AyQTfbKG03uhQPtrysTAy9S7SERCUaDg+r8IF00YBgg0pKCtUxHekqaqKbRX2CNPn99XIS2fOilbW0tCjs9ZPqvbbey5hidMqsOFPT+tXKB+RgazfNpu+5KGmXqwDlEJMBdpiVZSBkBunRfSjs0W3fzDqVEtcuWBq3lR1WU8DY6Vqawxq49Y3KrclV6B1dsqKuwqA1Wxp0ZVpIBjmV3Cn4BGsVy0a3vAdd0d4nGp425ctIl7MCrVuHzIJqcJHnl6qF/GkCvAU5xdIQm9H4nzCWrFiBGjoRW41jafLbhTE7sdvJUxllJn0YGbj2OhFBq+pXKZbcRV/o9ecAqgfV/gllmS8BgaPR0dUKh/2CcVnDwxr/8E3mehcGheSixjFUsydDWMOCcQNt9vprI3Mc4zz5fzcpHGDh0IopEuXPo5qeK2WOoxLHkXG93+VV3jblge5gSCuIq27nTt3fG9QNeeXyBVrkCyDHH5KLq3L8s1hOd2xFA2HjQTrAgByQ4zeNMJQ0kvsRlgko4gP5zjZAnk3q68XBgwK03FelfDtfDN4hMjeJ8Hyjm7//KRnyQb8GiKt+ZauystYbNJYXaKWffmX1Zwn8wtcmQo3Cv0ZYliKgtTRolpHM9gsXrWSlaqlVfX+9BgvSdcGC3y6qzV2bzVa2baF36jCDQCGi0wxAyZViFWaQrvcbD+jpASgNEykKBG0C12yLXeSsdORr9snf7FdFfrc6Vz0g9qWJDtNJ94HKiQo2Cz9yXVc9l12mYHnBecS38GuxCSOXXK2iXtdxi8rINXw53oDoB3Fzvnj+KpEZEDYKDLnafZ3l9QFXtm0r1OPTBb0XqGBzjVh9meB6wTfV3t6noncXmS3+nOfuw7Ci3uDP1xD9svCpk7isJG8VyBjIvy7sdfJ3htXZlySCmwvksARjCkbRX96K6jLWa/0DrQqkG8Oxu3qjrFiGejqQL9l3HWaXKx+11yJfKyJ/t8dSbMS92ZVdY+v+7lFF3YB2g1o70GUR1InfQyOmiIXcCAr6HOEzC6L188o7AyZYyUqzY52TzzK8Rc0C+eMuTkJ5NnEc5PhM/7aT/hAYWm/D/2V2aA4rxe75ZQLD0OyrQzQh1iOHMjmUnHdZ5smqLpFRoLC/VR1eACTLH1T/wPvNdR/T8REcP3L8yXr0z1nANSsJ8W3A7Jrg/8GkkF+Y5JpvkLHmn/slQ5wdIhpkjs8A2Yb3PDG7AaVTMP1iJGdxT4rIVQ6usn0+5eYayGH+nuvVGYqqykuTxuzVuM3MdvFsUuiinFWLU/WCcfDJO0seWXl5CoTMpDBCltYciMnsMJIdO1OzAo+XPWViCBdOqpQ05eW8QeFwuYHnpqKxOpFBnIwJlguP8CzsojUXXCTWeuqCDpRfma9BBrWi0KgVVmXlqTrYrOr8rcJOaJaaL5YuPnGVR6S3kJi4GLPO5eeJSy9VNdVqpVU1eHafvB3CF5dZQebqwFvQePvNChIWHNB2HCWY0M35E/Ld6+j2B2rFs+8QxdHprXkDqJSYHmenig7cLTvco90fXa2a+PzIcbcXFsogYxy5hSiXbBXiF3uLDcFfId51U48W6CruVYGdq9b8KwWNchyf3vXkF9S43kBxC7c1iR8eEJ4u3cbWrUzqiv3o/T5UdOCA7DJbq5etVrwmWxQ2C2rkUKp8j5OGg3gIkUlNB1SxUX4+uh00sBtxCN3JxbMHl3R0IFwuxy7VRMfF2tpxla62x3SAhf2DcvDpL2vzFM64RyUtlXL8hvfpkoM5Kij0q/Q2PF4phIXWlCaJ1xAxVJqL7JI5+U5g4hskylRSku/ZS1DR23PlFvhUBhpkQAUUaDeL07eXL3LelDtH4bnoqblSuMRdeapUMMO3losYWiidX3BIhSl9oBSUTY5Ci6i/SwuQnUtKCN50nU/gpUVlP6IKjfNGrSRuxokRS2VrO702mycolo9e7Zt17+SsfPIoks+bdPOZ2TW87pMC/XO8XM+xWwATBrM+5X8Lozveill9ZycHD8dbbfY0i4bENFdIHqiDYeHx5hiZXQ6HdkFEeZGI3tLRIUAb2DCLdC0pthftzQGj/rItOViyuUlR6jVMq3ZwjcDADQ/FUct1Jmg3GIeeIs793qmyGluZO7xV0WrEG+emaRKpqyRfv1kJ9Z8lXwvxuKMRZ8Sog9wd0yuIWBR1tSOrH23DdFLLQraLHuoz51av7tRw9mpd1HO78DdpthosW07T2w2EeKnvWXKBnDs75FTeLNasUZ2NvrBzh5m4wshHTNA1X59rbxSjcfVesF32er82Wnmy7VWy7RlHoirQqghik2PibriooW+11tnL1Tsnvyf6+2UM5iHF+lCb1axNJATdplP1I4OzXycDXkDQL7/fr5s3bFAZZtDfMXJQ9rblogtdkjupFq6SiRjnyGJQfU5CPsyKMp8dGgXtaUAsyxDW28X2dAXxVsfZpEAXtys5KQQCaH0PcxzhtmvWhFtni1JLjo129aEP9Y6qx3a0GP49REida24XOQXiAccL7LNdHc4dSqNsDsZ/SEuy+TnIaWkRmRli9CER8FSU7W8WkfzZ/TFlTOhnjrrwz5X+RcAP07Ljz8i/Rv0Umza33Zy70m7Vamu2PakHbxHbjdmhJyfwWubxG51NNjMzUCfHxNnfcVg7CAn61YuldAZlFo5dS8q/k0GFU2yCyZ386zopNJUi+h+YefB6VDm61HjNjkwcUmPMjDea+ypApU2owofYY7bTVmR2w/Jh1BlDBbbypukr9s/Kf+vKlUoLGloE4wWbrrkRn3JB5cT0EKO6uimhv6RciXXrRHW1hkEdZKmZoGKEFSdTq2wUb0AtdKimelSRzoj3sZaok50lV4j4W83vIGoaOEf6fZwVDTItG/YrtjtT+OvEzVtFr0FnJWjUCJaWYVBRV4Aq8hD9K7WWoLoIaCXr5Ja3KNRxheZSlcSwNbqYkblx4bIUOXHdFEX7ureKiQmVd6I76uOyMbEfbiAhe/mI9keRMeImB7WoiNtqPFgp23e7dpRnqKOjVC0tqHK3ydsPCoRiovWN2tDULcdx1HLJ1QpV16VEZzMSJ01QIUBhGrUC5qyojO43kIxNXLVcRM279pKkT7HUsfZm1TcPishyVfli6q/DDN7794tVe8UlWRrH7Lp8xBUDpQVRxO+omlwRd+QnxW9mO2an0Bif/W07EXeklm/97O/R3iburpCzEh0Moscbs+W3auf1AXOPp4q8dLNYWSYuuEdEE4K4hoejysx0DMbfNYN1BdF5334hSdyf0MjQG0VeTPUPPSRfLGbUJkQFtmjcK6waQTzFZ6lJEZivVpoj2dmoqOjsac4mmcwwHTSlxBwPNKJtVZWKxWKiDhVXoMzMc+SXbNueX8qm9bWqKJ6tPoqQalTfqCQikgBnt7/NkRizPbbnMiPsJaFrPW1MBEvOefo71NZGFQjMLC72e3+XcizZT+HMFHDqQ9P/JwRTn4+ich+BDtjdCiz3rgGwF/CRQ4J0drIHlyymGAYOn4FXMdDmqRjotEXi8/l8ORDAlKiKiy56kPft8/NY4S3c39dC6MwUU0rm/8x0OXxALBLBsh2mJhKQAb5qsev9U4R6gI4J2GQzxX6meJWv8ll+kyW+FInh/vjvSf/PfyctBtlkUUAL924Y4v6SIXqB7Q3w2opTnDlzCk6bhx/DIKDP7/gBHH7Q/DwOp5+bc3krUD7z79UZV2NhefW4+LFfFq9+4jCcPA3PBMHqBuBlTvMF4EXgR2nwPQt+/pwL3wjx94gfkcYZtnHqF3Ds+69g2svM8ao9xWfjRzDg8Bm2ts1A5pmUhK4LEXPdOXMJ0SMTdLOVHuDMP4L9fw8DcIoEz/AyU2e+wDMC45ghwAfxNDhqcTr7V3DBZ2j9xRTfXzHF3/1v+M//C2Bzkv34ge0RIesUfmDzPx/l2H+d4qgp1XSRDiN2YBNlnH2MM4U9Cyl+C4V0j/bRGD/BqkSYjQ9vIa9D0AbfBP4NcHAoPTnGP58QtJ3hpzkiseNSQqFssD4JJ214Jp2PA4eB0xzmhB82vR1UfoYz/B4On0HMwPexvL+xw8Ri4CSZBb8HvD2lgFcJnK0z///gh0y85eecOQNPKsHLp21knYGUPjBznCZmJ3j0x9kU/eq/4EM+OLIHOEzcsowHz7PjcMqlyIUNkSPzvv1Cx8sfhhPfj5D3gsPppz6BXjsOpyHOEWzicDrde9Mp+PQYHAvhS5zGxnO1OcshwdS5EgHGMaHMuATsnTk7lfKM0xxOrQpOnjmDJDhjnqFzvepeDKfd4QAQ4ivfOcLPN8z2tzqKedM0wOL7wH8D0GjBqtTRNG03WIFFH/UqXs0nzCNH5lw/ufNV/iJ8ynumOMOXsYECwE0mCmGcthY4JkaOkIjPVOxCrWXRY6k7hfr6m1XYUKjuVrRj4zI9+mijXPc2bSJHWK5sq2+aF30rKLkFvopRNWN7wbzR+o4O3XJLmm6+tl83+3y6YNTQBGxZdau2Vi6X1Y3ItGQ7Prk28ll58tmG+GojyKZF21IgotmgO/v7FYvHRdqIOgYc5ZYip9WQemVY2Wqz21SBrarRUa25uVe3/fcmtV++SZsJaVsGGuhGF2NpG7ZCti3XstXrQ9FrUVo5upEZQw2NKDsfrXUQ81b8fQK/2DQ3bGKHpmPDskpzOWTWdKDsi2b+37H9SdmWpW3nWA3Y21K27UN4aLDlYuMyYRs10fBw0h6SLaM2WWbS0CXI1YIrxRzEvciolGaifdlWp8oG9+gazA4uJz9fq1uN8bY0XqE3d9yjbyzrU1PThFjXqJ1F+XJwtDEFk18Iug6//PQKakT/lw1i6tBG8U5HRRSofkv9NKTTAm3EFhFk32NrNA+5uLph/HqV9JRpnm2D5OrUlp28Nuh9m0ZXTj7q7nEVjQwYvwifPYMFT8mjyqrRcqtqWiVn2w8KuoV9heCtwlMxznqub34+05KMErZ1UBu6LWVmzE2zXhAR22OGPqKIaX+Q5PvAVjk8qmkDrYvow6iIWr18Ijlq3fgN5ZCjnh5HwaCpg7vtHpWTPlNf+chuXbisDRg99PS56KDaPterzJpswbtl4nWgQbq1k30yhHbJtmjyz3wCrT/HbtdiJh72uSWlndZgbAVee1qFUfXOi918vjKtoVgmQyeR8t3myHtAYS6b7h/WCmSlBuIZtpe2c9iW+o1nJNDnqj/oqcssWww+rjAmnvg0/Ust06FM58omew53mCdLOZY8KWzeXKO6NSFlZ6Ki3Kg6OtbItpuUVxn2PliO6cjFaO0y1LzMVaFVpo5SVLLBuNJPTqLc7Cy9vcZVzfJc1RTYGmiMCNoFPnHLpeIrnSInqDAGDcCBgJKwVmPMzRBxvxm4vMa7nyR0LVulF96gNz2DvtEf0GUPP6xLq/5SF/MpFZOhWGGh0lfkaFXNkAozC1TRWqHKNDSy1dJF753Uo76Iqsp26QAo20K5y1F2ZFLVWJ7KKCwSYwoEUbrFAmysOaZT5M2OW13AgMIef9A24lr7ltCswSO9r0CBdYdMPFwfmiTPbC0X+eAzYoxL60FltyCjU60XeclJx2xtc0mFY0aV9D+IvaVJuRjDfE4wqKGiEsGEOHCFmNwjRqIyy+gqA4M7lKVwXrGWex06EEGZ+UYNmNcY1SVr1+hTbzuora1pgm06cGCFLB/K3W8m1W0Y9VtVeaVsJ1+V+JX0AUnLv0/b771JQUJK7E4zKohKhIXyli0TxNTHThVxQEF/WI8efEEF4V6BybulokKFhbaikUqVVSC3M0uBxFqjWshDkKu8hKVosFLrsstV5CvWOgyramUoLshRLt623ueo4eErFM0wPP7Uh8Xua0QoKmPoyxW8ffo7VOINhtkVIs1M+pXJb7cXFTej3nePi/SDYlmnrGJbk8GHFeYhjREStyGeyhfvv0AX112ocnKNYToNmQXFMmMLuAftX9Yhx7IFB6Y5qCjCGINBsQxHl77xbQrQoJyrbpYdM34pd28pVnlWQOxFuGhFBO2/hgXZXhPMhjMu8zVof9+/qDRRoT17WhUMJlFDWcrFZyDWcyaAUN7SbG9nA2gsKBZGzeMZeEMYVVgaqQbuei0VCJMqwUlUnPIe3XSrjxL5mKuCnFQbyEdCswAiqVLOojbXyoqrRGfuWcviy/GpzW6buSdvKVH3zi2v66Tgx+C2A5s3y0pL04OtrXLtOvFIYuahcWQ1oF3taE9rSKvsDl1ISA3eIEIEbQ0OquOCDL0d5Nag9pEMb3ALiEhENB5QJTGtDSF3zMDH5r1cDgsOmGFCaq9tE1m2ml1PT2cHxeiQVqSn66FgXNs3jKmp4KP6klOrnr0tas83ZWtrcxQM+NS7Fu0rRDy6VWWx6HxStj9BrgatCD5iOhgotz31elCGeyndYJ79KHPPHm20rWlyuIXFL7MqC6oddDNJh6AtsrhAcYZl0y5AdcGYDu6JagD0Zmb03CXtn1CVh4u34wkF6jsNUijmGh3p9kxRfaFgvUEC1XudJ1mGeuQcxDiF7SkWt92qzpo67Wlf6+Hy82UMvHM6X3OzLNdVHxGB3+RXflDc2zw7/3aMg2RbrywsbSSggvEL5fe7uutdFyl/hQmz2R1E97e0qLbWUWZmu9a0oMCFZbq4YJduwVIWaAdmNZlFu9awRtUEDQRxVZ++mFan5mCllm83ZIm25ajtzReLYZ+ovVo1m1eoNTgq1wrJ2RMU9i6x+69kVsx+tWMLQqL8fpE/KGhQexLKW4NBcU0GFQxaCva2i2ZbwbQdMrw4sw3GF1sJdQSGZ85tQHvKMZNkO+LBVuHaYs+FZlJontMuspH/HVfItleJ0QcMEy7olsEGlWZEFWSnwFVGY6FWXLM0o+V7gmENXv9x5VTVaPve+xQIJu1NOwQJ8fgB4SZ3CqOCoOJefS8l/zCcc1c8LX7Euxe+thAu/3z7aSOoqgqtbiLl285P2wLytSPmIrWS0syiTLrtFIt5gcBmSwif7meD+X+TrbZDT85Pl6QWx9g5YsGUawEW3LW+rpNCC+hNoM1+v+KWNfMBgrMfugaj5oGoWLlFZOzRNlC4AvFWNLLJr9wDVsrWJkNmUJzJw8Gs/Nt7UElJuuY79MxIGuhCDMXvKtBmupW9Lk91BzyLfvYeMRyQU2wp9ulBBaK7ZdvBBbZWVQrTpPtBldmItwVE7PWJFeGC7D0zK4qOWdd3yaxsZlRiXcE+BSwM8dwC+UWJqombBVmidYdcX53GKdbFzWvVe3FMaXv26QErpBxQMBjU9u33yQ7eKj/GUJZEAF3DJaptbtWEW6lDw53qv/BvxNr3iLfWmwmpYOHn7/TeCTul4VuWCARVdOd7VXO5622LbU3DbtsHVGevVdoOtH0lCrSgPVwrx+rRWDviAxNij6MO0GgzqvObVaSFo3YeUjQY0461W2QHL5Df9WvfUztEL2q0GpW4PipfeatqalYpc5vxMC+jTA3thTpoNShBTBtaDR69A7TWRqE2gzVvYK0KSJdLi6hzRU6HsFyx/jvCVydYrX3UyB29VGuDfi0L7hHsEIEnZdRIvZohXwsohlG/zK2zwLoRvTsY1e7dqGkQXZrVsWDdVqRZunPYP923lo+hkvUdYhhjAE3CSfsuWPD+oIXeONCogoJsEXhAyV22v6VRVjyqnQTMtyuxRZ+7YB7z8nwI+Vtulp1eo8BDG8yiAQQ7BcNqn5iU7XiTQnPg/GjFk/VzPukDC5/f82f20wOYBaLjjMnnq1ANlyrzbDuOOs4Su+Us0rFnCen8CiTRVH5LhBaAIDdgQt1idqv37piBzq/dgkILeFu/rpNCUseYDUpE0ZuuyJMve/4HKiEF95yP8Qj0I67F2w7PlYjMinKxyqkSXCCzbZ9/PQS6H1TTgDIajU9EZjSk3NyEwNueZiGy88S6isWpOTzpBpVkFouVj4t4NAWH/GfIOGaV5/3/5rnX+/JFUdisUkGd7puVne2o5IorxIoVIi9PxQTUy2WCbhVcv1pXbTMqouvLxxW0S1RPVO0Vpaq50FVeT76srCzlrwiI6lxh2zpwIF+7dj2l9199td517VVyrhpTFZ0qKEctTrZWryoW7Y3Cb+q5jznbfz/KykIueYoQ0S52iTsPyNeb3FpnCrYqf3O9KrPTBOvFgbKZ+5etUKFVqlBTSBSuEK3eN7ccsexGsfUCcShf73/nAfG2a1Tpj06rFpaxTGTE1feGnboDjCPeNQ+J1hqVbCnWpcsCIqtCeXkFijQYlVkmmcpdllAbjWogT3vL47IzUW05arKvkNvep3sSdSodrVfFgTRBuchxROwtcmxL93c0qJGooE75B0rENc+IqFHF2NiaYMLsnnYiUnwGAnPrzZOx5nE1BI2vyh1Z6M3uAmEbQf68IpWQLagUoT5V7XlENy17xqwIJ9CNN+YZZ6tlGArq8XFNTvqVpFtxY+iSS/NVFIiIq1sMuywoq6lYbiyFAbXEa5dLgJUnqtG22y4RFRXiodbpScHB0gTLdDf75WNIUKCcFmR7A9NWzk1jv6hMsoh9xlKMvAX15bPFp9m012mCsBkLFqDejmN2vJtBkbw1ipOlK8nT6kUgu7kgKxcRPf94MvnLzjbeeZJjCduomLZgKSvv5lnXc0iioFxBlqcinZFSFkZJvq6Twt+DShhVJ6hhGTpUuUnOWkfOOWBezuh5xnFeUIaEs33R6/YgqomjFTG0dsBWJgUyDnberqXDERnvWxrME5TfgFqvxMzCZedKn4xahoyX9fD88q21xf4FJqNUA6dlqdu1FXTQ0IWoox2NlZaKm26SPbRR+PIFa+W4PpHtyu4bkEWWNtpb5NKhK64o0pvfMazmF9+mq993tezWVm28KUNc2yuf33ic2kljYDQmp2ujBq1BEfTL3rxZkC6bNtkMaIQR+WxXSeNeA6giMaq2VlsZDCqp8sjHUWuycSYSor9PxV+9XitX1wocFYDa2SjsqOLb4uq3+wWFwn+j6ElSHNiCATF5UNx7ry5tsbT2hXdrIi1NXcn6AxGNiOFBbR9Frh9tedNaUVkpHEc+yycfyHYcWc4mgSHXs0A2HbJoEKwUDSj7QrTGWS/6k529WYNzua1c5HxjmVhRKVinzU6erP6HRCDJG2XpfDHx9r2bRFZEozhqb+1WIjGXT8uTgR3CWm8WL7atVWscXVeerCf02KNPy3U3y6zSvXuc5YKUQaOlU+Tky+7rMx7wDrrrLlvl5anPyhcbWudQ3i8saVE02NktyNbW3l4F/GYns2lgQJOxdDlbEXanIEc9/cMKBMyuuI/X2U8BBH4t55GUQFqlgtVaA3MC3kQ0G9NfKygSHXhOkVtlk4wZYriwvgSyLVS60UCTV7cxK45JqjxMKgebI7hVM34vZ5fB0cXoPVKkb6uIbDG/bUs8vnHW9Q0MKkRYEBdWuyETTG1vi+T7uk4KB0E72ayRmhE1B0dUF7hBdo2jiXO83ERi4s9uCCtWxRW40OjP51Z8HmjgbShYkKugXa2K2DbFKJcx0CU7jS2+cKWHrZ4tYeq1nCqlctG7mSiSZAIlpLOzH14po0fFa2DewFGDKM0VIyPqH3lYBbFqgxZwEe31ogpj9GvFBDEvLZXzRJdWXYT2p9XLqq5W9kirqqpWacfne8Q7O+TzDWj8Xe8S9z2hofjTWkG+Prg7TWF/VFlZrvKL4opsKlAwr3m6sa+tRY+Wo470PG3kGtXlBpSTa+tWYqK8XoEuS7vT0pRDvYYxq/400mT19ooi49BWCSokTRZoPzWCBwSuXCaUwOOfaeoQ8WbRdZXoDgt26kJQxImLvbbsNEcxYovXo10g4i1y165WOP8KhewS+cmQ7ZWJtJC4oEWJDQ2ywn6l/a/HRX29rM1v1Psyb9WnIhFdu2OHSiaKtYpuXeZ19GsZUll9tnCbxMp60RATdoXYmKdgaa6qqxE0qLa2Vj5fuerru+XY6IYJlFtmynbXxF3quOcDIu5NJJYj6t93Xm14ezyuqG0rwX6xfI0Iz/fGBhQMYsq0bJno6lXxzjHddaMZxCBNaV1XCTtDcLU3GNWKg45Y7un5Y36Vf/FmxVeWaefddyuclhD763X33htUnjuDeovHM1VevkAgrAUksz6h/cv3iahPD9XWKuZ51cdjrcqwL9XeNORQL0gX98Sn1a4xUjH9r5fYmj3Y+wUhhTlfyosi9fCoClOiCqbNSbPhSnT76oXvvwwUoFTTXsx5jSJniTQXibNdLxfExURcPJiykJynZYlrFvJuzvXRFSi+gJptKceS/RSem4DTvIJt2VgBm/TQxyB2ho/4FrlhHPDBR17+yFIfMeewMOTqEI8I+9nU8ynlyoPQAAQIcnzqFNarNoY3/O+BMZNoCvjMy9NB5ksxqGdYB6zAskZg3xNYNJNHDJ1Ow34N7PjCz0w94mnPAJ8FYGzsKgK928irgAFrK3VWgnp7P7K/jfityUYtMFltfv8r8BMg2gO/OQ2Hvov1QXjmFQtZFml2kGNHo3z9un+E9/6I06d/xGcf+D8EHr6ev+6a5I/8jk9+4hWaW5qIRgv53W8Pc/S3v+V4Tx7Yj8GyXI63ww0WfN96jq/zDWzL4ogd5ZuMwC+qOfG9dj6hV7jyAgsrBmlp8Mr4EFu+8x3u/HU37ITjYTjBKwj4Ir8D3gKcQhRzih6+DJCYAutV0upy4Ft1hPk0zwBHzxyGj7lMvZLJq7yKH5cQISBEHi4DsRjYNky9DIch7epfoJe/z7Epi5NYnp/BPngFIh+CIyTQSYsTz8bwI/SlKe564RluOnqUv/nMZ/jlRw5j8S3+Efgp8D3+mj9afzTf0IqA5fd+W0ACy3oMyMPaE4bgbtKvvgYcCG6pI0Q90A/l+Vz82v8gfPwo7PcalPXEEtrwzGEdPkza1BTD+0TcGSLDylkwnQPELXB/9jNCP/wm1vEXee8HaoDPQ/wVXtn7UfCdAh7DAuLYOF/PJLKpA4DYqxaTn/1bXH7Npz9t8dprwDMTPPux7/H73788Ux7/aYgcXWLhHSLRKD4X/mLPHo4Fg8B+jvZMMRj7KB97ZS9nIifAdxo+fRiOCfbPjFKv+xF/JeWfk8AxXmPBCC7spxzoWODKr/lbruE3/Bp2AuF1vEI1pmMeAuDbfw33/2w6DMus4/3AidRxwfo9WPNjUcw7tgHx/WdJ4OX5sePwwbHpc2mv7JuT7jCzvEBemX31s1aMwyx5eJ99LHWnMDg8qExM/FRq0AdW9Km3056Ghial3VshsJFz6isbaFAOOXJw1MchzfZCDiqpihkcHFQ0OsfDNoUewN6MSKsRtMi47ifTpaiuqisVrluuLpJqheSqY6PAJxxXYaL6HEO6he3a5EORrWcpv0ffsG10dJoLxnG2CTssPPZVo8Jw5mzlbOEYjv3LQMvDfeIWV+SlrArGBmS1WRqlUmFaNcSQ2J6vnoE23fbDRi1ffkg4looxq2ETgyBlS+qMmvqzmMZZj2egdWvN7xgRbeQOQZ4IBMWWHo3l7pbb26Kdowhno7pwVIxjvmEN4pIBWdgaZVQwIvApf6NPXdjGL+WiuKyNbfrCX7ta2WSreQMq2pclVjeLyms1Wn6LurBVSqlWs1qwRlAie2BAxGMySJ5B3fcGdNHazZoN9XNEOKL2rk3K375dPjesG+55Qcsqe2VWjbuMYdyHDE2EuS+BUWHM5NOsgawiQzVSiagfEB2ent0xz3libEzYjlY9ckgrRpaLtY6K8y7VXe++TsE0v3BM++k/r1WpMfA/AnIcR7dxu24cqFwwXTyKBjqMTni1369VV9+sgoIy09YfRf2PH5Ttvl0bMSvjLRi4d3cKY/F1a69WfU59SvtPEkmmz9RTfo5oW1oEtDQKde/6bys7O1t4BuUBHOEOyOmPG/qbDcw2ug5t/3+jPnKYxvYvRRwsLeTLMi9PbO3CUhuWaU/etXwMQ/Lse4o1Hf71fGU9IncJ8WY2bBBBszO1QKM4Xp9Yv8RnDWoh6vulHEueFAoKblcAlEmxwK+S8gLlWpaIVsyaGHLYKpcMkX+BsCrmF9YqFO8IiHV7lUGughyUhaV8apTJIY0MbxGVOTO8O8sxRqe5+eQhvCDV+fkYS3wjGshHBUk9aRtGTQNiVVRXvz+u6/agSATl5JR4nWU2t0kGBja6i4WdP6Yl1+tc5dXCKlZFQ2xWTAJGmbdN3I2hUqjyiLmqQHEnX+RaqmCmribLnpSVa4vJCkXKyjTmdfj8PFRcjKBAllWoK+4JTHe6UGGz8p7oFxualH7//RqdQ2teHkB5megukJ9MFedfoYpwhToDG8R4nsyEmkS0tGsiz9HHkrTBaWViecG8OqhIQSdlTuZpq3Oplj8zqUQ5BjZYcbnIzBKxfJVEjXGuoiKmCrLVCmqoDYmifIOxz3LFdcWqjaL0HJSVjWLT6IlyxZyYduY+rgMUKRz06dHvPSpaemVxiSYZU9mj+2SHFo6hnCoFAUysihgivWC67ZYxLoegOkGW5VN563dF6TaRhUKBSqW3bDLxI0BYtgrKz08tOmbtVFV5VJSjHCtbl966SFl9iBxUWRlTe1euEivytCqMmeAL0E03heTzrVVBxcw9t5IrQyMzITJQ5l9kKpgRNGFHw0YtesUVnn483+RVTFC9XL7gwDFffOLiHFGO9nCLgkRUkGyvBYgnSEEclZp+tQhy7fWQJlBdutfHlpA+wNIotsuYVE6Kk1xuNzqUAjn1Y0AE5eURTauJk9KEQSN5/zucjXBzfl+aK3ZLnsr8qfbYclOvnN2/ISk7rkfxBey9r+ukMJ3x8NtEvMAYbGzE1Z0m0lVwbgGCMnp92/swAe3ORNZAkyCmdAJmhVmIWfXvxMQvsLyGm/RDSC8TqzYs+vLVCXTdrX4RN6tv/zUYHb133WK+FT4rC9XUtGhWPNpwWAFfRC6o+ADqTJ5Px/OIXUQ6NgprnTbsypWvagZ7bOPXLlYJVqmb2U46V+3OVv/wA+LyhHduvbrYIxeDpyfQabwYxzp1afsT2uXbozfsYdrwSgD5/Y0KDcxMQun5tu7e4M7jUEkVCwPJzI2jt9+F3BxSYj+XaMZI3q7a2qC2ZewXhAzxly8gawsaa0XhprC2MjJTHtDBdDS8CU12BkQgJNZvVVk+6t3g6M3s0so0xBDq7MzVeqp0KWjXtoRYW69AAFm5EQXu6VBXmS3eskt764PqyEPGNtKhaBTdvwXdsHu3XF9Y3ZPPiYINHr15p3oeCCgUMjvAEZjHiXRW2b1bbQGzCOg/gFzL0d/uelaN2wwJY/hC5Hv0QZFmBgLLQmN955E/KOKgXe0B0RkwMQ8WTZsmGBLluaK5Ss2+Dk3ay7x+tEv7d6XLcdbNMH/ObeNh1PcMKqpDbPWLEJoErW7aqGg0U3uTkNTzkTFEoysSthh9pwhExe5ODbNdaeSa3ZbtCmxt87co6MGQN5HCBAAGLXW+z/7/UXaDbCyNBcYE6MoO9M4UXqYoxgm0sxPDZRVmxuO5rs5EjPPSujArqNP5yngLeu+s2OCpzmuFOicx3jpEyCxuUzUV/28mheBOFdnpXnQq8+D5E0JSNggK5dKmnexTyDa0va2gMXYphmsqNeDlswASoo3HtFAw8aTYaShw6WYRSVMctMXPLNf0bNAAxjXcoBNqlJlZqap9+1ReXa3lyw+obrJR3H+3dq2+Vz2sUunFGTNGK4tFcdGAWlvNIFEBs8MbslkhMgU++ed8mEjIViCYpoKIrd0ghwa1tRnirSAY0jLL1Md7CSuDkKKhFEPaHjQ41KCrn/nAdJ6JzHzd09itNEq0eOAfS9CicCSkZ+7Yr8m2hA60Jev5OlmMzDTkFVeIystF1UWG4bNtj9hqKeRHlmspSFBkMM0MGdkYUbC1URe1jotQQIx26mobNflRnJDSLNQ0t53kImcA7d6N4lZcW4JbxK1l4tGb5YYCs4yUdiiotEtXa2BXSH7Hr5ua36o8ikyMhgx0f3CXBnBV5NWhteD7LyK9IcXejd7Rg8bfj3Bdtf3t/1TT6tUCdOub29T26IMilDbdJpbtSUW7ZOpcoRjftrpFOwMTgj2yaNQeNi6S1jLt3UH40cqWLu0oTy42Qno8NCYXZ1aci+wYGkgCI2Jo4y5UYiM6R0UgrItaUQNBRbE1yS7Dqnse9dMaQtaq60RaldatD8rnmrbZYe1WX8vlMtTt/YI8dW1H/iCCNgWwZKXGsBgfP6/n/lnSwqIUFQtLuULkGe3DQyYOQZ8frVhMBR7ELIy9nUSxz6dCn8+ASeJnf1YbbecsT6hrjcIPLbbzTfH/OVc+c/5fynH+lojjn+a1qZd4Lfn/MRaPB534X1DicIrf82k+wbEp0Al4Afgkn+JVThlbyQkvn2Pzs3iBR1gomDi2DdnZ5GTBQ2VfIhE4zWvRNH54MnOW/eWPwNe9rF9jH3CMEyeP8Oovf8nRI69y5Mh/88p/vUz47if5x5/czj8lXuS5b6TPGK208OOny/fKBGTa/JxcfpENlt0Bk8uAL3GMF4DTnGQ2MdjRY1OcOP4Kx45O8Stgiud54QXz8sfBcNBlAjH4feUNvHblDnYcSzGkPTtBzlcO84OjLtlhsMbg1O4XeHHHP6H01xauSIAswPciEZ3h94lX+frLYb72f4w1fdh9GCfjCwx7SROHv4D/yOfh1a/APwA/fBY+L46dBO0Kc9x9gAMnS0hykEV+l8Xx34/yJZ+L7YTIKtjOt6duo/vkAIc5xjHBS3PaSd7vYfAb4H4LDusoXzz+P+HzNnxlilON4szyZMocpk7DK//m8N8/i4N1kkD7o9g1Rwxn3wU5vHrwU3wncIpfe3WoxT/Z/OPXx4h+bQ8f2Bmk+F3gnBEVN/yOf/z3KSCdT9zzKs6//RFs7ytahgtwug9wAkNxtvjxQfcl/jXXAf6WjOGXqMiey4oIOWDALNtOwJlKcPp4sb6GX/7uVzg4THAI69jXgK3wwgFTELL542n4etLQ+Cqc+UaCKTfAWKdLOAhfegHszONYvime5lOc4hSVFLOD3iVVzwuxN4DzHbD+wP6uGCG/BcegJfMkxw9/AvZ/G5xvAM/x27+CM8cBnucEIFKQKB//+JKed7bDAfYvbKMnBz+Qbv55kfNsBEc5PXmcDODYe03/+ZuTsO7M3HTDQDbjx8H/feCX5mxNMMjyQMD0h3MwZvrKX4DOs6c59twrvPa+LACsLRaTKydTrk6wsFk95dgBxBcdCc5+nN9OIUezoJ7nkrVrxYUXnjPdzKrOqJps0OYQCgw2y7YXWfX6/dP86vZAv6zVqxVb3qQeFlI1mWDbkUhUA4ODKihAa9eZa+ls1QZslbFJ12Op5RDKu3PL0t+xMC7e3CsYUn8/8vstpZJ3bSGqrvZ+5aTYXbbaW+fk06ZZznnp6aJzg1kFb9skBl0ZSKJ33bZ1p2Xpuqe2aGAHckcQ27I10NOi6DqmvRxLKFGjdZvAr6ysLHXc3iGiKBqJqv/mO2U1bpHVeLEAbbsQWe0zdohmjA1g8Xef7XexaWuabF+XNj+BEomEHnjXu5TLQTU7HWJLyruDIe/zHJwcF217rFp2dK3o3yDutcWl/WqgRaWUGvjnyPtkcOe9snlKuK7q3rhZpRWW54y4SfbDtjF25p/P6nBGHvyApdhTaMvoqDGm3nirqFoh7FZtd7IN+WHA1L2FUY2cT/6+d6HN+23ZbFLHBkv75xDiOSxCDtdwsSjsFLjCfkLDW5HtmD7ix9UQA8okRbUYiYgv3iHqczU4PKRQKKQhbK3v2KBEWmI631w80MhSZHiTuLVD1GTpQfs9Blps2xrY0KdYNCZ4THS4xj6zaZNRE40m28hccsg/UxwWVee+j0wZ2xgiukX0pdrVGnQRpbNUnnPHnwRGvZrc1VvW4jtOk2atkrvyFVXVqlq2MHhg+h7Pzrd5gf4zTyxXFgNef2eeH8KfKksa689vUrhIsDC++rykdr2gRCUMqI24LvTOB4P7tbyyUm+tCmtHW1hjiQs1OZkpY2RZqVqMmiZVX5yXl6eBO8ZUH3a0noBGy6oWJPmqJUN2IkeJi++T34+iXhofGdN6+BWMy75ymVh9lXdfnlggRGCqBJx6LU/pbIbcb8ZbNR1b8Via3BTX/4yJuY5L27x3TP7vS6nncRmvxZR79r9De22fbr72Pq3oQU4nIiOqNJ6QvT1LbPbqJhFQ1Q1FImDJ5/MZbnmQg6O0sl0qry9XR4dBOGRk5Ci1A/eyFEKzmKaDjFTWihFLExm1SvgDendrqyY5IKydIn1G15oBxk5jFYpIkZzycl2dHtJF4YRWNFcpseudKroLRUIRL+aBLdKvkVHR3KrJVdcp5Pj05pH7RUG7UbPVovGOcbkJ90+iWFgFWv8Iqi9BE+9/yiw4/uMnYmOrGBjQde/bOBO2cuJP87txEj512Hv1DtDyNBRuWCxtQLDc1FEhKmSjErxDluNo5b6rte9xM5FOYgasdAxtiWnDtUbvf90O4RYp8cClstOjonZCmysTygzNGC5jzHX2OovsQ+y5QhRXqm33QbnBkGonJnRvdUIDqx1ButiBKMU4MVqWYTD4c8eJhcRCrFz42izvaTt9DnY/ohwCC9rcdpF0RAvJYtm079XkBrRqEW6jN4FCxVGRZtQ4IRoVTDKrLiL79u2T4zianOtHtYCEdqE3h1POzWPVPYdUMZulNWHa01KO81MfxT4IqZzlZ00bAywoAfr9cOW7wO3AYjP7Gh6ANa34iPA7bP4RwymelngGn9/HW35q8+UfvsYnX/5Lnn46B4dNjBPAj9EWpBb6+T8+xz8FP8n/jp/he1h8fVMaFM52nrBsyNr7IpGXI3R/4CgnT8LJI7A70MNpN5vDGI+IAF8k/J31XPDyP3l3OuzFPouXAtgFftz1p1PO/AD4mfnp9/NSVgYbzpwiL90x/OfAix95kUgkgh3MgVAORP4GeJ4deJjo8t0wdATYx+7dH8d1TwFD00/Y+/lP8PGpKe7/YAYTU1fj37QPXrR5ha/h/t0R/P9g0p1ypjjxmefhhDh9+jSvvmpUHBE7yoZdJ1HZL1DQYNVfPNUPfGX6Gd8Efn2W914PFGOTZHfPeDGfzVNb+MimizhqTfEh+zWm+N+gv4KX/AAMABcaDR7sdKHAB1tcTg4e42NTQezXLsR+eSW+p58wKjZOAFPw0qNgvQaRb/H0RQ9jBVwy3pcPFf/J0BhkFsf44tEp2l+F4lOYIBt7zPdjUzZutpN0UZlzGD8YPzGGn4XY7+Bzh98HOg1HnwD7DHx9ig981w+5OwmGQrgf+QimBV5+ltpZ4Dh6GvviL+ISw//KJqqdbJoXTOjVqW3ew+VrHNj331hnzhD46GN89ONw5gw8zX4EvISJTnEEi7344eUp+I+XoFC8zCmjtgx8hKnEKVI1OQF8pI2GILqEsn8cwifiOKd87PnEkwSPHyPwkY9w1O3BF7yMGC/BZzChBV7uAwXhkdl1/LodFuCPYaK2JKMQ7AICvOidSQOYemkWdr+Fo8Q5QRfTCqbp41N+eG03xDwyr6Rn1U++HeK5lxZ2xPqrKJx0j8CkUeNM8TOmin8FIyM0Ax+4+GIuLSkho7ge+ncAV8MXAuzdHOX7t/6C7OgPsKwscFyjNwyZ8AvRUAh86fApP+5ru6efF1tUJWUDEeZ6MWzzQyx14HKY9f3PepzXTmHnecxUow8LJ2C23SHEWwOi0hY48tl+j/u/XmTnaKjBrP537Jgx2jYl8+nrN/cs8pycHPT23jbFrYjyQG9xuoQ1G7blgB7zIXhYviSXiS8s3/UPi2UJWTQb1A/b1NoWVOm1MzjlxZ47LTu2C/8mFfT1aSXrxcpGMZlvImatXSvuuEM93d3Kuy9XrFsvavziABoYGFSi+T7R+k4xNCLYOW1Y7ds5KNuHevHJtwWDzkph0/Q9hvBZ4r1PqY+d8jlhA7NsMlHFapJlK2gXKybnlTkaQ9dvdlTXlq/6Sz2ywUuyxLp1s9L1neW9HWZvrS22y/F1icFBsyp5J/KxRzhNXvnNPW4S7eTFHnAdW0/4ekQkLtq3KI9K1c5CWngSjYihIfX5UNjv06N39otS5AxaImOHtnX7FPSllMmHiCVEx72qsDJn2tMsSYa+3KmhEdQfQDsHMSqKK0dE5UOCVu30ZYlen1YHknGGHcH5eTT7gj6NPrZNPnYIXFn0L0hFEO1FbbPoWFbK57tBtm2rt7fXoF4c0x5c0IbUZyR/r3dEgSW2zbCkOrf3ibJ0JcOSFlCgdqd9aeWPow133ayczBo9hOeH1Ie62rsUjSS0nVTP5VTWV1upfiOvjziaYRBw5j1zMQ/qZDyXRT2sfei9zAaEHKRNN+4sVCeOQnPZfrduEK7P841xVMuoag4gNji6kQLdtvetWv/Od+oNZe8UzqDgl0p/5IDu27hJzcXoLVv8CjY9q0RDp9be2yqaY4qs6tFQx3ox8Vnve3pxxG20473IIDrn9o2EoH/eODX/PfsE/6/QR0uWQoGlAx+9W8FsdIt3fouFst6BgUyRKapC4hOImGH4K5iDby4s6jyro1AwiPKuWCPKwvIl0nSA7QvQXdsqYnK6TID8QUt7bywU+EVBrqhCvgpUVJItZgUQzxQpQWLmycStwnYUKSpSOgUiI0tUR0xMBTdLkFBuLgqGygQFYnmOWDeXXqBPpLjbd2Y/JWuLZdQ3JXjB5meItyaLJmVbjg7c/pQKvcYeCqLcLKNOSPPSRSMRZaYf0lzO93w3S/990du0f7BHl267VIBKL7ta5DbOpOtDd5wjTGJp6v/+DlHwFlH0lGKOozcWFKuwY7kGNmZ75Ud55BnUUsq3K8i31VHaYfxO7kWHMGqANjJVNY2hL1UshnbuRHfcfUBB29aNt9aJvpjgckGBSm4qkR2wZ5fRZckslsU4KqZYdCLHsjSx8moRv0pQLw6kiweZo44oWlK+ZhAukW/fLu1/a1SlGIeowEITH6hyNcq/ChMzYCsyasND8lk+3dpxqyopVTGW7vYGsAJQaUpAejeGiq7cJ8JVegMtiuM3ap3cfOEPiJI2YeerOlyj8Zzepb3DBCLvgAiUqaD4Ztl2WBQdUN6hPPmyfYJK5eau1e7mkD6+3SBecu86oMuwtPy8x41ziaP5oUg9yc/X6ODgbBgsEZ1LBZyUuerSXTnZejocVj6WnHmIvhsFwek+kCChNDfN+CvURFRAhhyyxHTI05WiKO4tWA26ifR0BSIR5ZAroyL2xqci07YymAnbOdlZKqNabF5aPe1gDgrK5LmU47zUR5Z/bMk7EPgNID78pR9yOge+j1H9fFHw/G1++DH42l/BTpxg8yOQ9iqE/elcXHA/rXYrq53VAEy1XXBWO3s4aFGUCEDcx+nEET7s+wK/teYqfKb4NU/j9w/jx4Q6PHlGfOpnfwBOQmk91GXgVEBRSQ5GiZMMevcC8IXFC/CRB2HqDMO+X/PSut/Ci8/Dvx+F556DUxEgQW4RhMKlwG9Z4yao+N0qA1/xytnF31CQoqw5MHgC62vwB8Btw/zgw9PXn259lilrio//90l+EwKNQOg4FD1vtsZpXrro0WNkvfQUc+FhyjrGM8t/x3/8W2g6NGjZh74Cv98Ifm8j+jfwX78mpR7mH2UpvwPxatyyr0LbJzkZiPGDtit5Ydl/8t0TLzH+R5Mmj2KCKaQBwSDk5TmEKme2yV/2w3K28iNG+U8aTR3tKkWvwvFPw09zj3E8OMUDG47Bv8Wx+Am7eJXKh6/DPjEnNuEpC37vAsuA1Yu+B8CvcPgVxfgvGOOMY/GRhmNw+EuABR8Pwed9c6rxbMq11ONbwC/h8Kc49uARlmNCKgb8C3e9gp9aPPePLvzBhp/5aA69SNme5zntO819u+/jlp1vYLkT4tt+P1MYdN1aH/R5CDn3CJT/QwIiAQoYxSFieF0aCiDqhxIH7BxeCD/P/875prnJbwEu/hD4fRAOgy+cT9jXB6sh7V/2sum5P8CJ4/y2Mospn43/1x/mD/+1hm2V90HtNvJy15JxOMibfma0g7//7ocpcMX9S6ylpR+LhSIFfvc7PvvNr/Ky1/19gEUUA7s79/GHg7tgYGbs+FR2DpPhC/kd4gy/mZP6AeA0ZZ4yO5100k4lzBBcfZTf8iJnyMLo5wT8K/z6MCiXab6dl17ixNGj/IHfYyBLZsws+jW00UYmTcSpBNvm2OTtGN3ZwopQMNrpe4FiWACCt9T2yhKnDm+nsPWhyIIqhdUsHsy+Ze9D07/fE22WtcoWXkCYrlWXqDivQaFWtDqAaiK2bh/v1IbVtapeZ4jvnPD7z8q1XkWVrg5dLew6Qb3o7RX5c6lpLUGz3nfggxpb22NWVL6Qdq2/z1wfDoqr5rrCb9PSvD33CGyV+lD5IuH3anpRmoeK8Tcj3z5UNzyscLrZ2geYvd178jMROUPGC/OdF6xV0O9oGlUBontc2JbGnzKUGngGqa00KJa6K8iuEGNXCt/sQC75ibju3T2iPF+lVga6zfm9CWGvE+MXT6e7FGS2/+GF3z0lwMtNVxbpts2b1Rx+jwgHxP4OvXGiQAORHl00HRfiWs0NLuL4bO15oNuonPag3L0tWklYzQRVmVQLhJFFUKHqPeop3CEn7NOaR9dM5xEGjb1zvdyQMyvvCBmqY0hGvXB2XPcaWuWjRXuf6hGuo8In9syEd9x7m9jRluKPYyk1TOmSJI7Ce8w3tetq1fwXi7St/Hxx++2ipUJc3CL/Z5CvJzxdD1vDezTKPWLvXgUwsS3s/Sjo+fhkRdE9DzaIwiztW92hiD8gmtGqZhSpQmurOuTs3qdNm9K1wm7U2h0BRW4oVr19s8bvztHD68v0+AOo7VFH7xkYU2wiJnviYoVWbTNOq/d2iairvSBCIYUDGcL1/B6yEDchgiiWjdYOnIMV4LwlIRN75Sx1v4XpHV0vc8KKnkPG+8Ky5vlKLdL2QUaV41HzFHFuL+51GCRRZqYhPFwknYOjAK0y449PWLbClzwp/BHRdJOSMTLmShJ44IAINQhrflS4JY315zMp1HQt/BLLWVz3fu8baqZ/f+GOHh1YdmAGwVFYqOJYTD3LMGyhq1FZz+0qaFynvBYD0Syc7FM//YtWYJiwSigxNBcbUNpo2hznnBwZT91qVbsNspa1KhtE0BH3HBI0aUv6iDJ910933iXFVgVlMRNmMu0sDbCYGcRUFBSsMbrpxSa7tz+VLcdCN4Dasx6XzyoS2TP1mNWJMmxLF7/9DdPn/KA03qFZbvBpiPXLp/lqkpJNmt7IhWoNxnWph0i6OCukTEqnkRdpLCHmbc2MR/WloGWWpa43dJmGTKXKJye1MyV9InG5XHcO9YnlE9VvUVYaYjuKt9SooBO1EdVygjJ66QnhBEXDTnVF18oJhzTxwXepJhQyKpbrs0RVu8ceOjP4B/F5cYkxNpezUKfXB1do3+4aveHtbxe2o5LV96s03CA2osknJ8Ujh0QoSbdtywTYWfqAw04MKi4LZZSV6f6m0ILpEpGItq1dq2BaULH8mGL5KJiitnrL/nfKdWqUTUA2ZcrEFtkIMhQKVSg9EtHqtFXy+zM19sBtiqSniRpUVr5FTQVd+uKbvq9NT/6ndq4bUol9maq6XAUzgiqnXEES2pS1ytDXgMyCwEPBXT4oluUps+1O2W5ERt2RpnAYhS9DA06aGuLu9MBYBvoy5xtPwS/j0Z1l2pCVPofiJiIzCC+Notq0dQyUeA+aJEezudHm9Ocan2YNuPG4JgsDMirkOYvG8TnjRLbXxs5Slv3VyLEQ8TeLgrNTXYz5b1N4PIVKI6vG2C8qCwUx4dsp9i6+aN2esUxxZ/5C6HWfFLY8ef6RyLZuncH8P7slXRus9YbCAWRmfLOqX4nhHMK6TZRXalO9t/uwLhNOq4k8tdAzspDVZjp81Irqdud2Zc8KruENBpuR4fa5X5tBrutq09BNgnJt6NqgRMJrDGuYF7DCSKlIgZw5oCHv9/l4z9ZzFiigZ5S33/c+WY6jEWtEm4b+h3y+kVlY/+FhdIdlabn1lHfOUg6oxerXrN1NMWaynPOcGKjfbldRUZPWrG6SBbpxM7oNE9ADUDPNungRnpUhkouAzdPntmxGtm3pya1PGA7/gUHlWLZacZSkz2hvQ1kpHScL1ObYYssWDVnItizxZLJO62VR4n07S+RExL392mwhN+xq6A9Pi54ewzVvDQsekUWXZvw9PBpzy/NbGWRxuKpXt5aNttjbhO1o+eNvVNXWGmG1yd6ao43ORgWSJIMgllmz6FTOKdYmwS5Zw+g229ZD12xVXd0C6WIxWd3dKqZYDVaDGhpRUXHKt7PG1WsNaPOWQm3Z8l1tvXuPMq7MUAd3atmyO1VTU6Pma65RbkO9rAdskZ7aPi3ZtiPLspSHpdudAYWHZlbCpaA7Bwc1nFz5Y6hjYsTUa98lyNbG9wzJHwvI2pIlaNeWLejJbVvU2dapi7Jn97vz8ioHmQVNmww02gvUtMBEPjffAIv4eFhJnwDz+1zl2UK6LKtrOt3atWtUcFmejM0vPC/v83u3lOcXbhFNfsGgMrhAHdP2pSGBoy0gi6QPDsJG1uNzx17rrGWwelkwQNjrPilk3XDveVdE1uSMkadrurOanUIRWxXz1AkRPJfsoUZREldGxKvEFW8V1C06C+e5aKO3knLSHKW/N33hbVwmMruGDMEKWZalzEwTrSpRvlq+4EJc/2s0Eyo0KBaJwnQuKSkpUSRi7s3Pz1cikUi5XiMz4UQNFtlGEzXXy97iaGLiSTF+tXADWjEnz31YKuAGr7F6aKnt20U8xY8kwII+Gxlpabr4vaMq39ykvj17tAf0phWoCVuZnhGvmLiii6hcMqmWNWfllNWJLNvS9ZNdwk6IjHeLFZOyLFRTY+p5kNkcUC4ozUU8kSn25wjnRrGsXBR0qhVmjJRZiFCmaL5ZTK6QzxdW+8Yvi2CBGdAzEVytbgLehOsT7DXb9C1LcETMQlVrkPMmxL03yLJs1ax+pyHEI03vyGpQxliV7JBPTK4wbTi0YlpttxSprMyW667XxAqUYW9W+W33TvvKpEqAgIk0V4mJ1hc139HCoMqctBylb88wO46sLNnl2XKDrtKmCdr8YtUakekXB8dELKx7MfdndHQod8sWFYEyQWVWuuzMxYNgJQPWOwlH49e+Q3mRGlUdOiQnFNJkVp5go8JhdOvqa5WZGJLrnpvobckSRFTMP+9i6S3UzDpnsciOZIA5Y0FY0KfMzOAsZ9KkTKxfL2fz5undcmwD8i8Wg7kaYRfqT/LbCuDFnMiQj7yUb2f6SRaGO63aU7NbWJrIPF//mEotpDJdynFehubnj/zVktNGMdThzz+9ffrc9kiSLdz4jge7Po+v5udAkKP4OUYAApvhZCYvHjVv8aY3/JYeThp77wLHc6ccvvaKMb7EXomx8aqN8NsFEr4AuxnBRw9Eoriuy8iIwTm37TxBWs4MEYVD0pzzD5igB2AsN0vjn4/M+T8UCuHzGRP9+kCcFe4lwGaMWTiCcZ0vhRddmBrjI51H0JfEmY/8BWNnPojLCfJSch1nnI8PWrxS9hy7eA0/nwIg/Fd/hXV4xo/EVwiB2tQyhQCLF/UqHzh1ml8EivibmMsXgOBlOfQ6/QyMfxaAjO7DBAoXMvFX08tj+PDPOtu/HbDgoeCkAVcMH+XG6NP0WRCNGAvtV4FUcodT5PLKmT4iH3+B+DOHGTnzNSK7fwHB7/E/gf9IJjwWgcgR2PRVLns6D3SK469+Gs7Y8EXgBYjwGN/C4pc4GOT+x8h44QWGv3iKcxoaByDihLC+PAmh57CAaNUUNLrAYT5zLIPjX5pEx8PwdHSmTK/Nz8om6Y5SDayZPh+Jvogdg49ExzmmL/Pf77idI0fm35+FzYWETSN0gVMQ8agW2latorY0j5f+6kV4Hrqff56uX/yR0uOneMUD5VtYDLd3UpiXzcTRTxKZeo2/umYvGrKIhELEo1HSvXL+l15i6oV5PA7Tx2kcPsoeztgxnh97DRX8nis/9AThY8f43MnnCAa/xmun4A9X/p5XXvsap06Zjje3/c9UAgbDcTbHn9SKXCCQwRksPkckpZ4hEAzRs3MSh8hsM+zXmTMW5AF7cV0bf0rzDWP6+98eO8a2L32J5Cj36rfB/eXCxQtHACtBcqRooIFaapfwYnisKAJe5DTPTX+75CD3PDDJdnIxwAkhPvLCR0y9hQEi567GcNg4aE0fFUDL0sp3PjsF9nXL6NYWZy1NFRfUzb6Z/3fhbXm87amDsnYXqI4OsaxeFLeK24dF5cxWaWLfxrP6CqSn56ix0ZQnj7ju5W4xN7xi8vnr04SzXowhvz+ssbFHzXnfOvUUX6mBiy/W+sZGFWRnq2OpM3KEWQZXMB6Si6V32C+bXpnVbPI9vd8+RJer7o8/JWudJRfU647Kh6sx3judxwADsv2Wdj3uqhdPlZOBhhs8DLkn5TZa66SWaZNZ2VgxERoR7T75L3W0DfT+sR4F1gY1MGDq5Cofqltwe2rLZb4Byx3YYHxP9u0z3rjvdhXoRj7HEesXC11pyWf79PCOmfay6w3MVss4jnjUlAkX7WNMEBZN3zThOLEEG/QgXQqxXqlkgFYM+dal1vMi4iKzE9yp7o2ubNfRhm/eJOpvFjhi1y6NjLgKBhHd5p6SElSxwEo2k2SsBeOTkzzf2dWljfv2CVz1sUaZc6mXPUlE0JZmDNna5ajmBnTNhd0CQ5PgOLYaGlBGBnI7OqZDrSbvj4Lu8q1Wtp2tHTtQOIy6/a7woZ7+fu0aH1c7S7AXgVf+fkULLXV8dUB2Ro4eelenYlFXV30yXd3djSpbiW57a78cx+wcIy564BIW3q2PYXZ2SwgBurjYgvVKI5VqJCjX3akcds3y21iovc32ozCyBUNvkYzR/GjKtbFF8toGcmmVia2AHCplU3GWZy8k1VqMRvvhdlfbAjMr/W4wO9MtCMZMLOmz5T3MHC2BaY9LGuvPa1KgxKvU2xcpzPwg1iUHiuXHBAJJuuanXg9RrGx6Dfqk3HSE2aykpd7HXBgXHgwWK9fDomf50FvyVym4iHWep3yi3Awalj+oor1eXNuRfJWUr1Z5fb2Kc3NFeGFDVhhDrztvQDkL6iANtJ2NMx+/LUNULWIg2ovoR+1v7dWlBUY33kaRFyjkrpk6LS5Rnm3J/9QdesQrVzAdZa+anV8lqJ1xzfVT8KX5dMH2C9SVs1xd9ZliHJVUdcrKt1RSYmgrcjDqvDFSY9Ea2YcZwItTzhV3lMi2LN1BsfA5JpTnXXeaRYCnE89hvnHdBnVQbIziO1BFzpvUVd2ljDYUTcbCKClRjJh2enGJbTusoqKPCGIqGLH1yaw7tfPmYvUF7Nn2Gj8iP1eLIY9cZsAB+zE2rbvuulOW7VPJlX8tGicFgzrAV/UGHlWUkLjTpI/HUSKx9AGg5boWLU+vFJNos52nG4sXZv7NcdGhAsxiIwdlFmUoUnKfcVibaBA0KmeV+d68sUhE56p/Yqodv1sZVRkqLLxBjhPXGj/akoda+vs1OD6upO+ESZ8QXKlhy1bXgQG18nBKfY0JhhR20fCmAwokynRjcavCtis6LxfkKi2O7kt7XL4cvwgi20ZFDYhosfJYHJX4p4ul5EAMyfgi3u8l3L+VxY3fkxgflTsnjcNnd3eWSkoWBgTM7+cJxRdVJTlKqsxnS4bmIxyzBSGVFI2pzEnaMSyVMGkG+bG5eSziRzXPT8HI6z4p7PTNn2WnB5p550YFjlzf42bg3IZ2+saNASV5Txui0DKVVo9xIOtFy7KWq4m1KXnZXkNe6Nl9ml6R5cXU9ObblLHITsH3wVHRY94h7KJHd/lkgYZcS5ftSl3NLtGpZ4kyy/t3nW2MlKlpHEdYlolt0Iduy3hat/UZCOqjvkcVYk7D7EGtdp+y3/us1mNiItTWoRuuHxKz4iCXydhFZpcnEo+oZ0ubSvPz1by23iB4dvaet/GsN+V3z5PIsS29131KZqC5T+P0msFsu0nTvECHdPHpEfcR+ZLeofe/QVzUrP1rUGdFStuKRsXQ27V31zUKR0J69NHfCLp1h4Xu24Fa3sPMCtTn08xudK2wFl6VR5jhvPdjbF7jPC5sV/Z135a98irh9AjrVnXxDvkJaqGV5lKk3bdeoVHDLeWzkNWzcLpIGmrdjKBC0CLHVyeLa819q1aJujr1NPUoPyM/pc9Z033AAr3xquvUUNeg++67T+np6SLtctG2SXZ/r+zxsTn3VGpmguiZUx7T76JYuvLmm5VeU60dWx9SMBCTr9e7f8RW9zOD6l7rKDcLjTgjnoPiRt3F0gbqc8o2FgUJ9PYu3B5ni1+zCCUXEZed8qXuKtvqxHWe8TzALCpuU/eOdnrpK2pRWc3r8K40CLK0hS2z+v1M3JNUWbwtjjBba5CU131SiO7bt2ABAiykMjEz4IP7us1gE0Xdey+XZVla43XIG1ctUyK7S3CpCKAMFw2Hket0KzA9s5pBrRCUv5oFBq48GS73AgXDRVrVsrgxeM9718sXMJ0nHA7p0UfvVRZo5xBKK/Vm7GWcI7D2+UsfKXDV9c1ixWw2xeXd3UorLNSOdSg8gf6iOU/RsAn3d/HuR+V3569WNrFG13VvM8bIMeTUofHrWxVLRUlkuqJs/oo0J4G+uReVrF2r4MR+syrt9up2jZduOQsECz+LXIYsx1L3vstlBpyIDrLGdKT1Js0A85lXbQdtGI9q/MlxObscwxAbDCoQLJXrZsnG7DIDoTWqa83VwWhC4YClz70pUzk5rsJYaoyu0cNRtMLygrqMjonoJQqDVg7iQTbPIY0IH3r/mm5Zrqu6h/+H6v1+0RdSRn5Q5RyUMVQu3AfOJTaoKWra8yYsA5VcSDIQe1BWZofKVlyotp37tJteORYav2yNWLdOW9iiYor1FpJEeDnCi88QA30zdJ0afA2KtLfLCgRE1h4xtFM1/UVaM27aXiJRpMrKpamBQ+Sr9ua3iBpHF3Y+pJAb0z6v3+WvqVPBj7+ikOsqpwzVtUe8hd8+hWFBKo/zlnlqkNXnmYdpj+dKdxtRvTH1XBAzFvgQ9zFLrXkvKEynokk/BT9LhrKvWZOhBrbLLXXVnYVqLEyI2ABmcQxqJ66A9562hR7YOzcfn2D3os94R12dcgOpGoJMQdmSxvrzMjQfcTwi8xAzVp7ySU48DJ8KzUsNwMmPepq/I/CHj70GMh6PR4EvT7VTnpGgh6/BiTW8eKqeL79WwqllP+dEy995+RhG8FPAqQXJwZ8DvgH40OlMTrw4sGj5n31xgNNygExOHoePvfckzwPHf7AZ3288b9gASyeOWsKRBuwgjuV5BkdO/ojA6f+clebEt2ymfmPxmVf8vPbsOGduvZljfQNMAJ/9Bpw6DaTSqe+Hrzgv8/DgGHteBP9noPg3cCL+Aq/GUwyH5bZxd009MuDVV+GWv4Zf+v6T48FvmY9hTcCQQ8YxL6j4CZJ4gCUca8gIrQTEGfspsEOQPsSTk8fMt/c8mm3mG8ecMw7jX9vGxx9yOfPpdHjJhuPHOdF0ilNlZ5iy4WP7QWdOcPyF0zwZcDgh8dAr9Zw+XctriH/yH+OHR8Y5KZcpwPfZT7L3yP9g33VwMjDz/JSnwjwKMWAM3nPFGWzrDHX+B/jnkyfhb45x5ndjnJwm6P/odD2e13Gpj+PZe8ngGF/ZO8Qf67IXTvcK8FUoK/8/rK39Gv/y1W/zn4GfAA79P9lNw/85yRf5Dr/iOZ5Jh9csMC7vXwNMVIenB+FkCRzd0YMiQXj5t/CDT/NvP6nhH761FoAC5w90BH6ypKJPOS8S+NpncX9l85dTT3CM1/ioOwzxH1P7DxbrD3yBY2fOcOK/4MUfHEVePfVhaOv+7GOWQV6cM0pAPdCwD/Odk/d4IJG0NHCcBW97iCPTRmYAjm+Al0sMbuEx4Bczlz4MHOd7HOG/zYmVYaieNwgueBw7to/jvIJOiqNn4ISY8UD2Xu15y8+ZDAPQmBJ84GNzczkNfGLRZ3wgdJyX7KmUM2c4ZwyG5LHknUID4goPF1/FNGc/WGeNcGQNp6pKLHUyw82zbt1a5R88mGJnSAjuEtZqYdWbc1bq/TEtbuSuUjRao+6eswTptg0OeJgRjfhcPbnROLKsv8NSosxLs26NyM9bPI8/QWxuEBi+owZroditqe9o68lPjsrqtmUNo82bt8h1fbPqeMhCNraGrSdlezun3BzUdgciUi2jEkBQLKzGlPdHbEb5+VG97e29KiwuVOPaxukyWJatLSm+Bwwj+jhLZL0ZeXzbZvlsW+/bslkEkbXRkjWyeVaahXDitg+NPGbJokDwdrHZI5qzPCHphxCRxYA2j4zIBQ06+wS95p1GkL3JktViaXPTZlnrXNkrh+SsS4g71sua8HDf2F578lQflj2tztxoIb+NGH1SuI6sJzwnpxZE9hZNOy955aoYSSEeXIoM+2SNDWsEZG3oFBcsrOKkEPFmRDGyGlBTEzpUvEU2aGuVI6ottXCDslmp/kEUWCAqYPN1rcptyBMPbBTpQVGxVdxuyeyovehneXmympfIoxNHnb2dyiJLGx8ckD/mFxfmiPZ2WaAt1ogcHFP2xrN/7z9bHEyckXOmXQRc0N3thVXdJNa1ipyclOv7lBrmci2W2eH7MJ7ay7z3WtBnqkZzvfUXk+FzAR9ADG0UO+YDOpYs/fzJfgpL3yn8ogN+9kHz+6fAvycvaHZYseljOWCjv1fKuSr+DzPAzh//ppnfff7HqBDWZGdTm24DHwb9X9A/m0Rve1vK/a8B/zL7MeEwFBcDP+XMsZ+TsfYyIssLCOCxJwPlmMUDU4cB8fd8gZ+ccfm/PzFxxv7lcXEkSQ3y4/+E3720wPtUszCkK+A9YfFjil9jQiHB/8qB/06bm6IXKIIqYOUUd55ei14V+jGsWRPDcSyqJ5Jps/l7pTNVuokfBx/ljj0Q8sPvj8IPv7gdjr/KDA7vMOg5oANYBqXl8HU/nIxhV36UF0r7+Hlwrfd6VUjii/xoplh/D/wvlrTA+GhnA1MVFfzH1m2Ej8Our4mJ6hWz0ky3BAfyuiAtHmbqTDFf+JjYV3Ucx/4FjP4l0DnTjLGoUg0xbB4jxu9++gVsv5+qByqg5t/gyi1U/WMWe6oq6f9FD/Ud9Xzzp4/znuzLedNTd+CcKGOiKJs94xdR5n8f3RPvpMR6L+17HmHZfVdytf0kXZs3MNAD2gXVsZ8CQr3l0Ndg2vkrP4LKW8GJmaBXNjy3CX61yGJ/oeOun47x0L828QVA3/5X+NDowgmfS8DD20j7Yxq5v8jjH3/XwepXTICMz79QCy808NrF3+D08t/xT1/dzakT81en//6r/8lLR55j7GcbCZ8OwS/T4AmgHYOEBnjuCPrRXD6fhY/cEwHWVq3i+TyX5Z88gnNckPkH+MEPUCb89LE4Uy4GS/nzSswKfRLNyacUQ7n+Zx1iwSB3eR0QXzY34QLHt74Fr7wC/AP89N/g5ZdTLv4dcMT0Q6CZDdyCt1N4F9OM+BOHJ1neAvZ6UgjA/o0UEPVZj79frGwph132DZZ/vdj7z4L0CS80X/LwAftMhMaRebdT0Qju0jYu848l7xRA4YfOxgMyW8Z4l3weisFP0uYwY8iyQImqOjnvyBbVyC2tVE5tiYaG3iB8FTP6udbWsz6nIB7XsBcwO0RYe1e0KW2OLrwRAzuDp5VESI3iU5j1r8PqJSxjHDpbmoAIeyvNGr8oWMRA1DwqOsK6eGu/rHqzSli3YZccn6uHpx2lSsSeG0T9JoVzrzGGZlBBwlZ3TUAN1KuDWs+TM1ukwuQaG0QopBC5auQ5Ob5JxWKT2rkTXf/IU9qaHlZre0LrPnxIXLJ/np50E4sjN9r6Vyjc9mZd/NRDBjq3D2Gj6HhIF11hKXLT9Uo88oii1+UqfTyozxzYoZZVB0V/nWjerVCrWdnEesNeLOpmwTJZWGphj2KxqLY+uFXhafp2s1Ow6lHLJcjsIH1qpVXrsDRImlpaArJCQbObCBlnuAkSqrUntLN5vQoxVOOVra3ag7FzPca4cGy5EwNyi1xBry6J3SP62oXfM15bGOP5Yo5NC8hb16GhQTQ+vke2Zenic6TPJl8VrJB/v18faPGAFGWICrSiqUlpGRnansJ5NN2vLLRt0waVFBZqdF+nwpGAMsdLNGgNqra4WK3LzWq2qChd69cvjS4iHC5Swx3/KPILtOOhdygQi2p83Fxzy9BffCUkv4soK9P2tqsVnBMDOhpFW7f+uf3ME5t5EHAwyLFF7TRJGU/9PyrYajicRhFhFCYqrDrRYoAKdZ1+ZRcv4Nw3bqLWOR0YBlqQATYsFPt6flzqvVxyzvd0Rh2tC6+b/qYXXx9OeVZSFkBG+REOamwyLMRzry9prD+fSWG3/7Elfzy/NyGsn/4f0fXoNMVFGHQf7SqaNFDTBrarJt4nt9VVfqWlyjVLe04eCQ3gqZqIKUmpMKuj4E1KnQeFbYwz4dZedQQ8/PtqRCyZfqWWSrW7ZKm/Rhw8aH6vXSsqZsiwghhUDiA6/aIXTTz6UVmWMRx27OiR4/rk352Sn98vy/br0Uc3ajvtcvHJplY+rpKDTz4c+THew9WuK9ralEig+voWwaDM1jqsdc2FuvDCVfL7UXHhhO7+1mY98Bc/UtOTveKxHUZ1khIg3mVxlUB6+o3atOktmpjolz+MWnch8tG2/s06uDamS++d0LtjMV0dtLTdjzLwy7b8HqrEr53DyNmCbtp9tVqokTGkJVWBflmhsPzXduqxaaOxpz5itfDHhBenAAwP/Q7eLGgV/RuNR/R2ZhAsNl4ktYjgUhm1pfkO1fiF42jlrnu0ilUCV5NfuFvc2zKDbrIQi/CALSbdPjSwAwX8flkw7TU7Lc2IkJmY1oLyKFcV6zRZ26x/KSgzaVZiAsNfs0GsyJP/wbbpyF9JiUbRg6M+Fdm2/Lu2inBIVtZuuav96q/q0Xij8X7PtlHjgoiWhaRI3HxCrFgh/+5uEXDl9ycE9VpZi77znYfk+l1h58nvm6GFX8cMFYx/iUbYP0vWn+P6vDL4NZBy/hLQGhBUCZrU4WtXkb0AFD6Zj2+FsA06qYwRlSwYenQ+HNrP+8/9Ln6fTBRHZFmWJvrH5qTxeW1+zn1tnHWx8rpPChxYiAO+Qql6uLlSfmDGd6Gw824tputLI0PR/DRxBYpVR5TZmjD3wFnjKRAIiizPBuCRqi2W9qY7YnLdneIACpbW6LaSJ+QH5RQw4xvRnSNKlr4jWooM5NWpIGSQBG2gqpRrGaAv9KGiIsxKcBl6cM9TGrnUErei9oI25VqOQsFKFayqU4lTp8LCqHJsS9VPPSWKV4nCG1QYvF5fOLhK1+5rUvbe9+v7T+7U/XkHlHWJo467S/SuICrKK9YEy716GlA0p0rZ1dkabkNNVahoTZ780SqjG14SPDWopGt+4eSlwi4Rtz0lB1RChiCs/DxUusjgEwDl4KiQCVF2s7B8uv0voqIre15aJydDeX95vcrDCL8t/rJLrC0QlxwSBbfOpD2whHJbXl3jCtapkEoZP5JMURiW5XNU+NF3icZGATpwzwHtxosTcOCAhiy0qg6tXgAHTuHCMcWXj6MnD5rfmy10421z0hQhXAPRLSRXTRgHqaos9HgSfdOAaEQb35ilgtqAri9pUXQu6VksJg4+LoJF4tprRTwuf0WhcgpRKwXa5O0cw8Fi5WaeHXrtYPw3cP3KfvcjCtTUaHz8IQWDMXGgXHChYqD7y8rkWh7CJz/bs38dUNGctv76yFniKZSdf37lYLD/YdMei0CTAyvEunXKpFsHPbjuGgw/m9l9J+s8W0lUUzrpSpAw9o4FudNS20j5OctVWmprYsIgmyzQrZv4M1GRlYL213lSWLtW3HDwTyiMb7qBbeqf68/geFGk0HJsNSQy1NeXDDhj+E12sNuk2bZw/gU12eq+wUxKMdCgs8B2z3t+77adchxPdeMLi573KA3UMittq5gXUMPkGQQN/wkfxN+1Rtahy7z/bS3uYesKtmrTs0+Jdkv0o/c81aPWd3Xq0P+4Sd2f/KY2j/9YfX2larFRon+TfJsCom+9yMpS57rVCvehaB+6zkaZliW/7TVgr55ZgWiJi8ER0VoqLu1QHSMqBG1q61AidkBsxGNW9YyzNotMEtmCRgHqG0vIcgbke+opQUg4nxes0/3v2KpncyeU6t2b/B6ZmEmyD+TwuMCvJy5eJta1GO/oaZCBo3AYdXY6gt3C9cm5+X2iuEdWJ9p+6ex8z/f7PLHj/RqhWwGaxKbr5dqOnrj6DrEyueot9tqFSW+Dtpdh+Inm5te/MKOvg0+9bJt+H1//YuWJKrlCBFTLWl29o1Q4yBn1vkfzdSJrpTawYXpHnpQoaPPVXbLqC8QDPSI9qLT+frVYliqtMtXbKwStsrILZDcusY6iaWr/7FeVUVMtfA/JIaYrdhstQMUKdMvdO+U4jiyQvQGzks5i2vv7fOW8vmEpYo3ZXa0DddmOUQel9NslP9fxmXbufZsGbOXM66vNSu4soVk4Sw22NCM7Fv32M/LO9SGlB4xvhWVZGrx4p2iKiuH5mhB6mMcN5wwyC8pbipnYXt9JIVQjBj5yjsaDQSZNn1smmq6UH+MJvI9GbcYMBmaG3SEv1KxgtRx71TRxXFLiTd5WK7bwM9/mOLopbFb2djxN0W3b5qVJYt3pukzYrtfwLNUTU2dTp7Yzqo5pfH+tZquPMpRkAzWMkefXAOKgR8IoPyPp7diiGXRQSj2RJsPCmqnLnjmkmhWWyEaxWmTlhpVW7Yq9cZFVK4NLt0TTA9qNp5prwgzeDWbyWgFqXrZMn219t9YRUNMD3rMCGF+Alg+K1lIFLg1rrDgmMtGbV6xUSWiTGM8SvjtlnJq6DA989dnfs/3JNar1xfXAoacMxfTOQwJXre+4T7m5ywV7lVQHBTHqvDxmdoHjXC4Hn+LN3xehS0VLi0djYcuoimKCUTXxfvl9jnZ3tgj8sm6s0YZ7Z3Z2+8/z+wDq3nBIHdTLxSf2v1+ubeuJ0XeJMtOW+vqaVVp6vwz5WZP3XXO1GEXBQlIL8nuOhRab9K6m+buhhaSUkMrjrlzQO+MmZkhlX4Pi+Rmirm5erIwQ6LbwZhX6yrTqwp1yozN1U1RTo8o1awRhFaVlqbtiabQM+Tj65c2dqqxJKDh2sXYFQso45Hm6B/L0+AfeJL/fp3JQRx0GreM0aUXEI7k8D/GB9pw1ja1ZNjwXETTPCYHCbBXxNO9bzR8Lzib79u2TZVnTCKqK8vVKJIrPck9I7He9Oprvg7PomNB07jQxdsoiT0SQVY32cVBYzcaJc276CDOLPk+2RVEsBbHoYvrdUo6lo4/sdnjpe2dPI2Zj26NnwPoiJzGI2oz0OBY26ezHYJC+Cl9KRvb6CWem/jdHj84mnTsce8n8eBWDL47HIZGYvv6kZfFp27zG1OFXOPK5z80r1hTwMYBNnwTfaS9ytzjDq5w6neAkOzidSGKXj2C8IpLHi8CXpl9vAeBDyrEbmB396zBw7Wv9/G7YEKmF+Tv8pPop7GVrr0150RQG5nCYZ+RwegpIq2HqpXVMHrE49gLw0mFWH36RtzPF5rio4vN8Yg+c9MPEXvD5XN75xCHq6sxn+I+f/Yzr/+cbOcoJTn/Ie9wJIGDBtr+l+mSQDUc7+dVULctVxTPj4/wx24GPb4bTnwV+CXwXfkwK2mzmmEj5ffqlMGemjhD/GESPHeWSrzwB/lN0f0hMvXwY0wKi08D1qFez33Bs2LcPi6eA0zgr74HV36PVslhuWWBPwb6PYrwcEuzlaU65Fl+7Nw4NFnz+DC/+QtPlWArX2tzjhRd9DFy/i8C1uaRnPM0ZBz76tmPQcAxicIpjTMV9YFskA9EfpgdoW/IzLgDSvNYjvsKHTy8ciT2Tmch5AMGBTnYWPsxp4OmT/wLBf6Y31kKemwVn5juSxIDt/d/GKv4N2x1rFqdcGUFWWhHA5tdy+dbUAoxzCxwvOTEOfr2X534NJz7p4+sn4MUnPD7AEwFefi6MBL8oh/xWz4XpzCHOHDXby/M5TgPPAgbBFJt33UHsTR1kTgHHDbz/GPAan4fDr2B63vyx4GzHR3M+ihKCcfN/KPQdLvL9asG0IWBX5Bh8wnzHhmCQVcHFoqLZpPrFHD597rIc2fkZ0sLHvTHVxqId9C+w5giUzKTbD1hH8cbdELALgM8dg1f3YPrbVihZBk1Lba5L3SnUXbhOhW3nqT5qQ+SNqsebpXZs2yafZWnbtAGxWYymrLbiiA40yKDo2yzcjdr0PsdbHQwYWuj+fpGyG9iWnS06k7aOiDgbosgZEfjE6CZDd7G6X5RaouMucaDs/N7NtsXAgNkddRnbx6q5gTimxfPl8KPGPhOAZOaarQ4L5aeqZ3Y8Kcu2dHBbuVZQqyuvuEKrm8wK1cJsDTt7LF2U+YRR9bjIsTcJf0DOE++VdQ57QCQ/pvVfv0stjWt0SeM6WdTJokSdA29SPFFskFIbzl0Hs7xVh7cJ29aO0R1KD6B334woQj0b3qFIJFfE4qKrb1oNuA4vroSNGLKn8xrdXizsNbLqLFkl3tbdQUatMiSbUbluWFtueU4s65HVaWlw7+CCZYozqA5v+99HUC49YtNCxsAdsvePiMdHNbrjCTmOoxvesE2VKy3RiS7ORfXvetDDt2/z2uNNSvqeLEWGSCUwaxd8bMF0E6CNJNsTWr32IpWXvttcr0asQC1dlrIXij1djnKq0Dc7rlZOfr36N/cpGApqkISgXZbVL8sa//+Y++/wzK7q/B/+nPL0qt577xpJo1GXRn26NJouzbh34967DdhgA25gg00SgjEdbHpC7xBISCiBQDA2GBeMbdzt8Yzmfv/Yj6RHZYrzdfJ7z3WtS3pO2Wef3fda97qX6Xe0KlkldkSJIoYuEVTJN3Sb1nkjYt6oWqXx8W/JSdg25vxmSNkqOt54/JUFiWs57cYK7e5NlLGT4rLWds77BLWvQflH4DWzVzMff9zaskXWusMH8EkO0jN+DHnx2B5tmPMZsizZY+8V7JhX4zoYhoDlZZE0BtkLfy3LyDFphY51UojHpxQInLOQacpUdAxOGDdgdPY+UD3lKiy0RHebStNzlEenQpy5cL8HkW4CvJOVI6xsXXLJDTK67eSALy0yKhSzZZxjfIzhaHJpgJ2ElIG4ejph1c8Wma7aUzpVHfKrMG2V6uYCi+Rki9DRXeKxLJGVZbbK6agBFKNCy1VDGMK8oKmczKw5agIjEdCDuagqydFk7ynZcgrRR+K7FM0Z1pk316i1Nc28aw8iG+2zNirvhgfNxOuiffTK8joqu2uzUkjVlrl3OBiiwSCy8kw5ZOfEdOP7v69AyybFN/aIzn2isk8nbk5XVqornIjImDp6GSTr1D+wV7i2uAGdYru6IPM4QYkyTlstJzUgQl6NXVmo7IQRLivx7TiIC5FRoVnaV3qdmeSjGLSPjZgpM+rDu4ZUfuWV8vst3faxCsWqQzor3VZbwQdW7lhkK52599myyFRedvaKwAW/XaSdmbsFPbIsS021WxVObRaj6NrLyhXLfI+wFziU4sypQY9NpixL4fkQjOla4BtaLFmgc0CB8nLFurqUlVWp2yJZcnA0kzCwppIrL0GV7CiRE3ASfWGdCNXJibToTOpUTqrOumSNIjGfsvd6hJWmzs5hrV9vIJKhUEg5y8LWrixx0BYuEVSL27JExNa+uWBGa1PVfXWtbHvJWODZe9RIZIeVVsRNe5c4rhqx5vry/4Jk45FNmvaCKEU5gyh09Qr9GbSLK+VNgoSm9fUppbPzGN+zcpqLJcEGDGYiuDio5NgNFseurkqWYzmOWX303HNBXp2jQABcMkg7hs36P7GLQ4kc5ZFJShpQUURGJE6cOvyJzSIAB1Lg6XGeLH8SznsCPE9y81M5iaf/snCfUwjeKPhhXw6kjJvTzzPLA8s5DbAwjjN8bb/Zn/IkPOXnJ6+K/3o5hxNeGqZpbjsfi5uI8kc7JPjLX0x6T5uN7vNkAlnL703B6AQOQeQvCwwhJL7sR7E+nvLlLnze519A2X6+HvgjZfGv8/3freVPjxSZd/23iz/N4UnfF9mdeydTh1LxsosP+2fxAJe+msLLBPknjLbN44M1GVCSDxunjEvhC8/BF+/5Kq/+/Ame+6pN5Fev4zw0y/3//CJP/W0WZl+Ev35mbhd9+CPZmeZD+7EOwfExP/crzGPPtwJ/4q8fOsTs38CSi/PlNA4lAipEMeVgz8L2dwP7MsCxeH3XP4B9EKo8kOvAIQs+nUlYFpu+8n0yH3oM+5CHiodPIHgol58+Db97NJn2YKHuDrCfpzGN4y8cQjzFY08+yddX+paJP/K55z8GOw/h2BYnX5/Ka7174Ksu178jk/0vfAz06nzyIRfCnpUSWrntfM6eYDzDOPP5eBqbp1a870Xge8CrDz/M8z/9KdE08e2wmHVm+cj2zwDwkjeLg7afgk/m47zqgP0UeL8CL/+W2Rd/wX/jYT82f45uZ9YKcuC+A4zqGUKhg0Sjpp37gj7imfEV87D0eA74nPcbYP8F/EP4J718mH5z8fcxptZswnGXDCUH7jtsDJSjHv8J3HKfQU8vOSwcMth+9DSiLDjqHePx1JkH8Iw9w30AGTD5HWh+a+aK936cryd8Oo3aOf7dHxL70U+BIZZ4mS07+o9y3RyfYlHAjj/aJNN7LBkRlx++jWAtV78d03GsOwUq60TmcihVBsmws6iY9xmYk6GF/7sTs143Zhas3rxkNWEJvGb1OIxZGR93r2wMSmX+vhIMJnkC+WsQFx15drQwFNCd+Ba2W54tYmtQYGvTpV6lL3MMefOkHhTfefi8+fAIbLW3G9qCffffL2tsXA7IDaLuS89UQVqCBKytSTtOrVJgDH3wszsTxIEzYify4uh7vm0aBl0FKilB7e3GyOTYBituVhg5upYbxeoO+c48WTd+01VZmaPx8SuUkmLQFLWg3Dfwjd0MysbWPUN3KBgLasfbbxMUiusQmYbaZIKVt/4+EHd1CY8t/8A2eU6u04xnt7KdbtNediArMKpVp16hTTvOl9fyaE94RLiuxmhWahIwoJudC2mHrUTYw6Pnf7cP7QLh7xYOan1XieqbrxX1roijiYl2+f1ecYfZhu8YRsUrOmTt0ErostUMKIahZB5pspQeWZnMLAhqAWWVlKiivd3EKF7TLXBU4NuuQtDZA2erZluNJpgwjKQZif5CtaBR59aeoabUevX27pDPF1QvEflo1nCto13tvWKOkuIYfS1CoJbBQZGZKf/u2zQRi2iBjr1OvrvOEd6lSJ/uY0i7Wcuoo11MPGuLIxDM+WRUxUcgxrNYQsF/dEkbQaNJz6wFXXLEZ7pEt9nxNdCgWmpl1HKHoe5PyNAx5KULFmJDWJbYe5UoXXXs37PRZ6K7BTF+WInzb+pOgecOwKtvgQwWEca9CvNxgwwfwpLlQc4fF/4fzTbL9icB5xUGfJ+n8LXkm2XSmIWsh8A6BPv0YcSSWfFh4LvAg/DaIySsyIl8rUA9sCk9g2+4Hqw9Z4PrIQfgwFfgz1vw1uTwoxc+ytMHE9G5UgbAX7g8kf+H49kReP17+8yP8Rg0Lxj4wsBGDgCHeOqp7czOhvjq3degr/0Ts6fX4HPb2fPit7CLEiGg/tXlk99wePWr67npl/9FnAAWWfBdEIf4Wu33+WWjywtk8PCTAX7y2xgHgNlD8PrrpoRnY0/z/OT7wYEDB3385KRtOA/N8k8FL/G3k4xB7G8s3tGseFy68O/I3pewnE2w83ZeeRk+ee8PgD+x1QdRy7SRB1mZEWU/wJNm15my6ff4nnuaPW0eKEsAmD8JOvgSTz72Rf74yFc54HH4xqZ2OHiQr/IMG3gROB/w8WRO0s4zTfB0BFhxSb9w7INv7w7xnePOYd+5o1iHLNLv68Dle/C3QUpf78F58Bpef80HtwMC+1+BH6yU2CfNDUuOp62HiWZ/nL3AN54R6w6sTGZ2BtAPVDgP0+3+BF7uJjstjOPOMvGW3/ISzXwn+7M8+fwuHsTHa1iG8O/rYKgWfsEnre/yex7n0S2ZzAYdhnmd13mal389y/M/eSzxAUcvluRj3Te9ZD9l81qmxYMHAC7GmMX/k233x3EPLh1KCkln71G4JZ9hMagDsxv+DPNDwcrH/sRzT5ufOzEbtH0AE0DcPL8fE3CsZ+657EV/5o7MTAvbzuKZFy/gq2Ob4BJz/j9SJrnDX7liDrIAix/Ck6ZfPhJx+VPYwQxur634zNxx1B048De2M0AQ8IDS4Ndvgxf+PXG1AEONc4Tji/tNdLeEJoNyDM3JMRzHPik81Q0vvmQogJJ2yC+RPGC/Bjw2n3KnDdlNDy/cfO01Rh3wEOCBb4/b/CmWuGaxCDpS9zA4h+DDHzb8Dn9YKU8W5LwG/U8kfvsj2HXLWVJfrjqD2UA2wY/+CuvgIRoBD2LjT14k/ykfZ/7uZ/BYooGVvArxY4AHLD2KgJaVLz3+Krxy8H7z49ECeDpt/tqLwGcS9KGPPPIpDh58mVXTzQbp8pXf8XLuT/gwAQ7Md6/98NDroC/z0LVZ1G18FcdTwGQjHMLml/+xm7/8qZk7hqsgNTXBC7X4ePrQAW579U8U8ChrDv2AF+Kf4nfFYOe9D/bfAoQpYT3vTnpmRV7J/4C5JnTdiw3M8hqfoRkO2vCnV7GAL/wzvDDHctnLypExHeCXu+CQw6oLi3n903/hqz/6N9zf/cEUDFsIHwjR+FSQXzzchqtDNFUApWUMrH2ML6bsB34BzPLQqqR0q4A/V3CEAJHm+PAETR86ROM//ooP//KXWLLR/hx+vv8vUPIKG/fWUbp+Ix7/i/BcGqztJ94PvsOpR5b1Koc/2dXU1nu4z3E49Gf46Ny4YdtgWdiJh+4FfmnDww/Bv/4Y7Ed/RHP+V+EQ/Onnv+BZ/oOh7CfJf+xHwKdZxBhaAdTBX9YGeSXf4RF+w0EOcAP7sfgzT5dbPN70MLAaHs2Fbx5T5okDQ/ZXmS16GjwHEyrYh4ByqoHiyNuRdQAoADvBpcUWavjvlSJqJh2PklgS/A+O1zHoOAxc6TUMdSkPYhRe5ij4A7TNgyYbTXNqWJxSba2D11vPxI8/hPXFl6DYYRNQWfQw8djzrHTUsRGHbngoH4Dswf1k9r6OGf+OzOL6gDN11K/7DS9xPcJMAGfAf0zC03MD5OMcpvLmj1HMgnO+mB4CfrwyO+yy45jVRwwLao59+3IjCp2J3NoZ1TIXgWlJsJNgv/AkDG4tzPOVDzaiPM8qFdVuUvxwrKh1iD50WTeaHDHnMjNtXXZZZNm9ESJycNTALtkJZzrXsdRdH1N2tqN/3BFeMBr2B0XhShwmRxEvhw8zGEK4twhQPmuUupRNcS0in/lyunnvxbLOq9ac52bd+uOUXtYgQDn4lUEiRkJjo+iOCzemeBPy4uqu5itEU6ExzKYyH/UsWa3nz/Gp+sZqZVa1qHrdCcpffYHSfKm6sO1C5eXnCWJq4LhFBr1pkiguPIjaYjVRr7ngR42xB2RZe9V4z1mi/TQV7bxTdaA7L69RNMMn/H6xs2q5V6aDMZ7fPSLLW6dbBvoVKkQ35JOkWozJjkQUnZwUzMgbtHTBV7KVnudTpHW9nEia6kmopmaOxkO1ksRl1D4+MXO2sF01rL5VTf41ItykjPQSBaMYlUSLIyJh1cbQqqXfUY9x2lq3NP0Z+Yjq7dhielqWbenmBG8+vb2iuFgTTChKVKFstHqOkbMTdQ3vUmmNCTgVS6TX2Disv0sZF2zTIv4bH8If0dqGSeUNotoTjZ/CuXRqA5UabqrWrt42GdXL4dr4Di2lZnDifuVsPkeu90IRiAosEc4WZSPyg86/6Sa5Ho8gU2yrTvSDPl3IG1NBrihpiLx6Hc0RrQCUssJ5D0sjB1paruI2ktvoqJKoiE0rhlHfFB72nTEZ1VeiHP3FwrcyeGCp3HLL2Ue/rzYqPJaCZKvC2immO8R84LGVorgtlihLVLVliM59b7L6iB+Qze85bLSCQIBF0bA/Di9/FUIDStoALMy6oVCIreNpcMDM9gM/g5rfOEAYyzIByC3bBt5iHogufl3UBuuHcPcP4IGvmXMzGw7x3S8t9yR4MdzPrBPF2vVlcA8yDQhxoP15no3NctwnX1pQen3nFfjTyhjyFY84hqXwdQ67QNjyMhSGzE7BWvMvWBVL2BS/FYQ/u8YuZMP9L9yPOATe+yEQou2lQnIOGAut1VILNaUY5sS9sA7wiA0WHOQg749+hvjsfja/aDDMC4dtFoG7wX42RvS+SUoffozh7/+IU177FOy3sAaiIIfoKc+zZvs/LvK4uB/TuuYPCyweBb6dKIZbsbifvc8/B5aDpQ/xOHDFN/fx0ktx88wrVmKVmXTMAh+F3YAti/vjF/KaNcKnrABg2lOM5wnxIoN6gNiMeF3wib+8Avv3I74MPMPuubs/Ek9KfA/H5rnwHOz8JGTuJ6b7wBa/nP4JP9e/wBD8NfgcjrZhEYDdYXjppeSmvKhMeBr4ytILH2ETL/AlDhH74v1wKMT9VmLV9r3vwSOP8CAPAi+YRe4XMCu7H8EPX/kPOgP94ELheQ00+hrptEJkzniBfyZZVVFbBqtqXuRbLz+Ae7CI/r/vhZfgdiy+hMX+n/+BV7/3K4yPUAxWXMd/ksV6myhxUlgrPwcL3s32phfwIdJmniRkfY3XgCdjX0bMAgfYxqsJtePLfIkwfztSsVusGNZi2T3W0etwiaJh/jiAMdeuwWykFu5efvgt2MkheP6LPA98p7+PP11udtotwGLO3+eBQzAdA6D5tRrq91di1ugrgE2Sjvvvf+9Rv8cXe41T7O3Ak1j6BNz/GwxtMcBHjvr8IBOEiCy4ezwE/OjDR30O4A3sFFoFRSsYCkfM31XTorhXXSz2+p1cRDsxsvB/ADlrHTE6KhdjhIwRVxdDhqQqEdx+dPTeFWkuNmIMlJOpiDZz7vitaN1K+Pohx/D9jN4hHN+8G32TjcqWxoJoalrCsX4McoR4EoD6aVXWpOEIop6k1fucdAmyTfyCABqx7pJl2xopKxSN1bLtLmVZuWZlalULq0RYaGRynQZD/yC3/71yQI7jaGjyQmE3yqF7ZboAB0UIa5R+Fa1pV+9pJ+qKtYbzxem9XkQLdYeLAs4b48OfeN+ELNeWs26d8N8hBg2cbuxt6xXOMru31RyeZdW5607h9Yq7S2Vw9KsExbISbQOCcpxeTa5bJwgK51YBGhpCO3YgJ9FeYDIp3XEdnlJksXiDa7V2o0eT6yZlY+u0+jNVVlsm+ntEVqY2bBiS3+8Tjknf4o2Vj9cxeZ2YQJY1oDnOqPnvx3AdRQlrJNlIax8nZ2uPcJB1pSW7xpbdc4Hc3DoZT/sFzv05LLrJnyWb4UXXiylXTWKVnMlZWsXRIJSOYItiRDTu9AkLOfZagVenOSZ86ULdJZgC5jxrR9J0+BC6c2OBtcwT9+hiaxF45RjFXlRfxTJe0Ys529LYqWGGZEIJY3yRXOvw9d3YLvIMTL8SS2VYMr4faUfOz8jR8zu8rl+7AnPQeEsUThg/lSZEZtK9w6xIQTPQ41EoOGwABV/CaA14kw3Npdf7CeCuMAe+CvTAv38JHvkZvyd57ZLNA7PJ683/XPj3UIjelycpfOUVDmI0ga/kPsdDZ3wjAThrBlx+1foHs5pMck7cB3wRo438+csBjn8kB4D6ZzxEfrdch85vZ002XzLD5Cz78AK1KZAezmBj/kaoKQGK4fXHYPaFYy2WxLcc+bKXR3AeMIr1zj9D5VJd9EwAqlz4MvAqbJ/5E5bEfz5USfwXzZzf9xDPVz/PH7MBPQ4zfwUbXo38nN/Y1zHbdD9FpfuQfYhX674Gh/7CLK9Rwgq2pVmw032Ezq3hmT/8kt9+9wH+/TfppBPh9OEvkBNfz00H4bVZ07qO9Xjw7RE4ZHHV5CS8/gj82hTKrx/7JfsPvAYpKex//wSz2aUrPj/7Vscs697aQ5Cf8O7OfydS+QjCtA04xOzsazzw8xexeZXisb+HNTG+Eczj+6/7mN3zG/DMwqLYWb/gWL/C88pvaPziLA80RbBtke+d5akn6uE734fQU/wq9BIHLMGsSX+u9x3rceAQ/PrX8GAE4NvsXQLImGviL8RjfG1i3BgGu4EtP2KW/8YCiv8Y49BvYhwq+xp7go+zg18RSDLUSkaGgDzEocJfgXuAEh+QB3/Fw+PF1WDbvBD8PH/MPhqUwOTq+RQ/uZuqKRHMbv8N+A/y6vQ+vpe4a9dbHZxENuadrP/TZTOBIwSo+08SnfENHQ5iml+/sYdgHhZvjqcx9ozfLbonkPE9KjZ8g708yB6g4FAGZxw0u6nErAGbgb1QzG7sR/8Dnr0DgCeI8xdiwO+BbNjZZSDz+/bh4DAz5/8/QrLJ47DHr3/9W376uhlJLcTe2M+NDftRjLP2/I2s2BB/89pB9us/jcH3YpZErzvKcaw7hff1GieWBrw61tUXfWeK3DYDOUzIKInVog/R7hW9SQRiEUQn6tnhS4KT7ZAXZM3p0ZdIlRXXuR6z+unuzpZtX7v8vlavCFmi633CNul4QVYZ6slFtFhiXY+gS5w5LFqOTTd4LGKBvAMekW08Dd02V07ZYv2opw7ZqcxD8Ib2+hKzf6lSadDbPJeKjHRjR3GbRLBKPtAHd+zQZNwr75Y16h02tMx33XqrDCfP1brW59PqpXnyoWhWTBuundTq7CIdX98hH3WCbLV0XK9QpHC+7H1H+bYdi9LdLixbw3cOJ54z1NfXbV2tzGhAYKkRr2IsYdq1HbFtWtvoloOtfTt88oBOcVH2/CrSpzB+bWS12DEsF9RZVqYdubmyNrWInSeumD8f24+5rfpBE16viWTmceT77d+LDRsEXu3oKdGaHd+SNxCdLxsH5FjIE0L2UXaKgOEo2jMl2K4RLKUfBi5pEZSXVgO7Xo2oPFFs65IN6nYKhVMkGhq0MyVFPgz/U/LzYcK6mZuVS668a0x990QQzagGR6u7bhNuwOjqa1fIQwCxFGobQ43rEjaNZTDROsFp8mIryBzE2pcod5+ME9bC/Zt543xIK0tMcAQP4qNCWs3/NnP2ThTJQKs2LNxXS43eQtr89WS5BRR0O4U9Zx8sk4/qRH2Yvu4BeQK2vDGv3BNC8jgeefHKDiKPB7k+5GAvq0MfyO1AndG5NmFre88dx1Qu3sRf57qtmsqMLrt+TFqhY50UFiryajHnzbhio0Ydc7+9PmFPawo0kPTBNshHSK1s0aIgFCkhsa5ZnYM7DVbZi2BQ1+Ioc0njmq/ULOQbMv93YMlO2i7PSVPTOoVCKWLNPmEbQ/MExgDVsTTNwUFRXPwmNFojUdDGVWvFRuM9uqt6tbpyy2S2r2Z7eDrGl4GJVhH06rZ7bpNlOcphp6p9fvXcfZJoqjAdsLlHXOvq4ib09ayAAtsw3r93INeytS8wkOiQfv39rtsXN2gHsQMFg9nq7LxRTnG2Ip0tupitygI1rZtUKCVNbF8jXFu3H+XbFnXuezfJWrVKtwd2aaoHeTu6BEXqugkFsxDERd16k9dF6XhE4O75tC4JfFTNlOsdq0mEP7QEO2VhBm4Cu+SC2inRINmyJhH3LxhbO5PiP+zsCByV8gMQncjy++XfOqnbbzcD/o5oRHg8grUKdOaL3UMi6J0P1FIDagqj/nej3EbMALtC8Jf5dupBa/YGBAH5G1H3KSvfFyPBxOvMtf8TZdSLlqjbJhoKVFtbq5x4XJO0LQlokyuLYsXokE16oo2XiA7TX4cZ0C6mdcSJ0kL4UTyO6mtb1IFfHWFkdSSub0X4kv2GXK2hR+fU1uv6eFw+vNrKVhkG3VEtparw82aF6ZybdA5zPYrYuMS/af65BV+WAlD33LVSxFWL769gISbM0u+gyyt2zdF4N2oH18tmVHNsC2tAnedmafD2EdXdc4O6G7q1kY1quwztGzCAgrKsDMGIyEX9lWh1C7q9s9OAORIBpSzQ4EoBdVbojxNzv/03KWBlLbvnTZ0UjquoMAgSirVS4IilBQkYpInXsB42LrnHBZWC5iKhGSkSXKueioX79mX16iYO79JdhFe7Es4iHyWmnYt0yol7itLk87k679rz5PF65QPFOFMQUUWS/cABpTMhE2TjzWi4CclnnnkxK6tTsVhF4ltNo85jjhdnjcCnigfuEZssxTNRgc9V++3vEnX9wioQmcZF/qoiSx+7+iLDvXQm2leZJY/H0vnnl8vFUDBUHuY7snOCuvHGNvn9TUqJbVc9ZjA6h83KIVXG8chWLyidBRTDxsTvldKcaRiXXdyqSpB93flKr5sWlOjCm9KVnu3IdV2lNVeIgEdmwEhwtDiWGqe79Y9My8VRpOhi5cVOVlknIqkd4MRF+mnKYl+iPWWqgrfouE2WsjtRBufKwqe3VSa1p4pjrJ9KFNyJzvajyiSW38xpZDkoqzJLGVwum4iY4xwKskBNHM4ydbyKwyLQrDNQeaXhNtpYuF7d/pXpWDIwwV7wI6IoSqX8ZIkkfXVDwwlKSanQjh2XKxBIRtulyFBo5KmIkPrZLigRFW8RWOoKdmlD5CMawKtC2pTOoLE7pZ0r7v6AyMhQEOPoGQqhc/NK1IpH13uRU5x4x86zhT+oXgo056RVwXUqyC9RMJgmrKjIQJl4ZBiGK2QYblcICDMvtoilL2gHwmG5wWCS/clWjHQzEBv9kRlbtowLLklKx6u0tJQFuwYLjrWdJI1LIGMvKdeisczPfICaDJAVQ/iWD6zJcnEvYmu6iDrKBI2PoZ5s43wGZuW+FBUVBeVmoLIcFIh5BBUKprhqz0FlJaiycnG/tUE3ZA7I2Now5RQ/TDmSnmijFwlq58eCuXve1EmByy8X+YfjDh/XirP26g6RefqKzwQwqqSFc5YMNLBXG0A26wUe2e+/RwMkk4ktljRq1cEFArTOXtgKenG0LrFKXLv2OsViBVq38X1yHJ9aQZ+x3qUAqWLd3ebdpSitHb1z/HQd0VNyTqxhza30j02SiKrSWORN2oGZ9MYYVAC/WH+3sC3ZZ5Uq0N6gwcvbRF6uMXqNISzU7ThKvef9Ih4Qt6wT9jp5vY7ueu9mRZhb3UysmJdQTrYGbny78tYUqOfEVn0TS8UsGCntDWPqdFydCBoksSqClWMqzD1jf0xYA4LN8od2aXjMbHfHBgYVDoUUiUTUt/YSGSPcsOmMNjJqpnGN2wke/ZNPFU3NSatJS7BJhMJyBtdq/cTiMu2xUIxSja6/UK7rKicbrVmzcE8fRl25Hr88jGkzhq47RI2iVGpwrr1sRMNetHlioczGMHn6or1Ol5BQp92d+ObSclFVm7g3ocaoZYWQiYjNaGzUUmQKYSO735Z9/MrtJALqtzCTTANq5Hjl0W3KanOVoFrt7eikdNPvjFrVFhYqZy4QzEL+A6BNmxLnii1RayfqbL3WggJYpoyt5L+ILZnC6lQN6EIWiO4sRgRerWOvYI2qQNVEBNeIzc3C0yRG0DqOV3JciCNLQLQMLgSnqa5WtKREPZBoI36tYkQ5ifZiY5tvtm2BI+Z5lzLV39+p8JzaxXYSecZM2MXJ7wzKkBouLAqPY0GjMQpyWxDZ6zRCAta6aZPot1ScWqzGhMF+/TpkDOphrcORO9/PrcT4tDReixHPEDrfhwpIEVyiUqKqSr7HgwGegCHE27B+oW6yMPxQy9L1CYYSkGhXMJY0Fhh5cyeFIzJCxrXSlrSIiCJctOIzNmb3sEAO1yqolQV6B3XaSYq8WNrbd+6RG1ToBFFidGexPT5NOJWCElm+25Wy02y5WmMzCjuZ2t3zPrmOT17Q8LZ3yRdMVd0cAsGP7DCKb6kVhUnxFPysHExlMiaih2NFXSzFoDDvML9zMeiBaLnmkCH1mIErnigX6nplYWna75cnHtTI7XsVbV0vWGsaQy1iwzrxYLWwV4v46WIvch1XZ/WclfTulcvOl5OiyhuPV0mmV73VaWrP3amcVFR+QYX8uX7tTvFqijO0iSWLgA0spiUpwPhYgG465wOyNzuCVEX3naSr+k0+bqq8VFnedLOyeR+Lo1LNIMM6GlPtHrMqh7PlI38Jp36qImm79d7LXOWfm3x+RlCuPlKUnRIUFkrvj2r79lGNN3s1HkCt5chNrVdKri2LeFI5B+Tgn8f+c5YrWqrVd+49y8oreyZpUTIf8tGvFWPkriSp6DR3m07f3S6m67Qhvl5/l3mYeApxluj0q0TdRcJBGWcHlElAUKxUwoK4OrBUkTkjxs3knazS68BMZKmpc+dqRKhtXi1hpEUmBC2CSrFzjVFbNXjEUEQBEr4Go6budpBYJNSb5wOgthZbpeMFChd5zEq+BlF3tPjn9WbM6KuXZ8ijKjsRL7rKVranVumBgKgYU+pMu3IJCraJvXlyeL/O53QV+C5UxdmXiuxviB3bEruMGWFvUcaeCmVm1mv4kq8pl1xtp1qBITeR53LR7zcR0saLRKRTVFeLwkKtHe9TvLxcdf35qi0ckj1SIqJditdgAhL1popYmXxuimLEVJ0IBGakWXHer/OYVIgykYzsqmBhF1RcLDrGBflmLMgPirFSpbcaWg0bVB+tNzuWFPOMZaHpt1WL1W3zaVaRWADX+YVVbtBFuTWa9+eorDRovuQyb3iT0UcR/wB4VkaOGMxusteoIWLy8CJ25F3GtW4JNPiQBS1hKAZDT7Hz37BTf01ovYVLOocSqIr7ttyeeMIHMW/CTW/hyPN+ms0xY44/9FGLB2c9wMNo/7n87RPGceDVg39jVgcIWR/H4iCvU8RfDpmlum/PyyZvxV4C1alc99o7KHFzFyge7N3gMZkPAFvnzj/wPLxwFNhR4ogBXgytwRoXyg8BvV5IscCCzpDxvH+OMIewiJw7gyy4/7XXcF55haxv/QDvQ48azcQcjOJL/0TkhgE4dACeuxfug4OC99kLGPMIty/PDBB//nm2fe5T6ODrHHrtJZ7sXs3BqnK2fm+GtBcy+dhzp/Pl0K/4C38mKTETViIZNPMo8C3z76fueIFDnxfwLK9+7ON8/m8G7vA5b5zXYw6+F+JwSSaeJx38WOAP43wHgmPfgl0bSf9oBOsQvPP439LmH+cba8AzDyw/wIvWFznbfTf9txsOgrZ0qPJ8BPAQJIL7NwOX2ulYHDoUJORrITRdw6s+OOjU87eTetHua1lHEf1bINRbyez73k37lveRxQUEPgDHH/Sy5e8/Ov95p2Bg3k9+BF5ONOJIosfUUkozVcdU/zwLHzj4Ve7/2EEi93v50nNf5n2vLiduBIjbsGmR+8B+8L2ODczkujiNrwIensUGnufHhPjDUx8h+FV4bbcB2QUC4LrwMvs4RJhnNwBh8PAQPuuX8FmTsvmin8E8mud38Il/MW4KvzwA33iRVzH+s3wVyp6Ep4CNACeYJ16lgVlfPZ7Qo9h/S0CQvBDxJcFdTsV0nPcBt/oIB08CvITWgz3ShtV7J97+EBTkw44BnKgXe9oCbwjnIw1EuJ6tfB7ue4zZLafz28j7abbvwvPNL8KT72TbJ6vx7Z8BDsEh4X7UwXnB4etf+iKPT4tPTXl59YcW/Op0bMvL7jaLSHcupO+ANSfDP+yiZzJGY//JzHq9nBDz4M0KYM24YAd4biccSoPUl2B91xb2n/U6r/AKXrwwDc4U3HSqyOe9fJkHsOecTOYOLwvjn8cD/hDgmnHPtSHkwfEveI14Ha9peH8zvyW4/6r/gp8m/BQi4MHCIh18IQimGMYRNwnp6fNBNAMzaiXG5pXYBFY6jnWnsK3NNrEHVpz1vYJNif8twaTWklAHTCVWmMm61gI00Ix865OMTi6KW2jYQS5b5bLZpDsf37dOHF9tZvikd9dUTemi883/0yxgpxfJiCPilrZNTMh1E2Em194q/KlGHQPCGhShHfJetlp5+VnzOsG5cKJz8j8J99jbgrLSEHhk1/TLymMBnx1CreuMDtPgzgN63w4TT4FBFMSv9fQoF0tdjiOGEDZqx9KJQ0nkb0MIxysm7pLxtOzU1JJ82Bh1UCg7or4bxkxsBhC2V9iWnJHrZcULtTZ8vPrWbVJO8vNbOWLc5kHGZM3vFteZlR1ovG+LOvZsVnX0bDH6HRWToVZ8om2jMotRn2dMjKZqYu2EHMfR7lN/psDqk3WdjUqshfaEhZrbfJpJXyc8yL7WoMcsLA0WXCIqjSezOzSHYbdF6rBYkwhh6TrC9crFMjpn2xY+nxzHJwuPQR+B3Lvumv+m7axNoEMQbBT4tXXKpF+CrcrDxs9YLm7PJm0JbNRW0BoLxbYephzzBuV5q2VWkbXIrOILBbZc7+QSnxivYLPSMavMub7S3Y1ycpDZhQXNznQQlVOupi1NRjXB0hgPR5e59uKChub7pS3WJkK2JgAfVKOT8lhAvh2PCZFZiDxtHm1O2BeGHJRiVwq73fQHyzL1lPQtcySZ82F8XdOOk/2lXNxEP50TZFSnXmW7lurm0orvFG3ItdGEPSm32ydudsWwq5at6OZtroYtS+7goNiR1EeTbBSO48yX33w+XeR17YRa642PD8tkKPn3gk/GOEa9lTGFznIGFBi4UQy2i6ER5Z86pCYf6j2zXmSdK9vbprW3XyVjpxw16dwzcmxaoWOdFDjujX1YHsgaGkrYIbbLoBCqlbMReYtRXnwJCmFOLZL4vZuEDvea4iO+x1eFMhLOHNfOeFTgrBA4PTdXeL2aZjrRgNAF78pVNNUR+VcLLEUZVqp7msj5oVi0LTycuFoWQLygIKHnXHxvVn2W/Cl+04HKc5cF9t7FYiPYFUVXmEnhHShekqbzb/pHEQwJB410GaNZ1gZ0css+mTCXI9p3b4nwWOKKPBnX+5URYvkg10XZzYjqkIJkzDNB5uaeKq83S3nTyHIxxtSMJWkUoRAhbV+CBsvfmz8/aew+6QZ5Z64UBJTXdqYyArWKERS0KlyE0ihQN7bKKBJvQaxCM5chx0Vn3rtV6VSJzjQVVYbNYLPX6NqvSUdN1YshrTaW3hHeq9R44lyS3WuvJ19WFoIq7aZDXlAeeRpmPFF3M4k6QdyB0v2oPj+hPorFVRSvl4WlfaAdO3wKBHaJhEotwgLtxGGl0BFWIj+Flthn2mYWOfJSZeJgFywO95ifmS9Ox1CjpKD09FSF04Oysi0VxYoWGxh9iF3o4qw53fZh+ggsnuCPJn0YSOwR7slP/p2Hqfv8xO8U5A2hzLnrnsS1YLFRP6YiBhEbEUU1CjnbtD3fFlwltt0rBk4TtWlaWGgiEzzrXuGMKz49rVii7sKElZZwFsvZh8YmEfGYDLrPUhDUxEVyCItCnzg+WxCVS5vyMWVf4EXubuTL9ynnlFzRXivn5FTlWxkqKgoKq1AUlsqAQwxtTmphqrBNuNQ8K0tuIfPX/58lP/n3QnsuxIyrAVCDlSMnz5m/N0S+0h2U25CmfcEmWVaG8vIQzGgcW9nki4KCN3lSOAriaCVxe9fKyjlfHlALq1VOlVoZUYRUEUTuxoTRyMWsRBPPJQcj3/6+RIzm+npRswL30oDXNDov6iMo35yFPkk8bW1yw2Ft9+4yk0IB6v/2lPwpC5HaCu08tbhrdFPgFuWtiDtPGLWO9M3dXQkY48I5C9TReI7SUkze1+xxVNGzZOLo7TUTlyfRue7ZZoxnY175T/Nr8K+ny27OEn40+Z4E9a4HeedX7q62v2+nHJ+rXXftOnIe56QJVU1maoAadTudwi7V6q4xhaNxbd3qletgJoSkidoDcvuQg1fGUOeXZy7PexJ53o6siZ3yePoFqVrT06jaICr0hgSrlT2CGqy1whsQ3jHRbovglGBK4Cizf4dqqBZUqp+c+YVDGHQZKK1/n5i6W+6+U3RcICjf6Hqdl5qqcs+kFvH5eB15vRmCDWZicTzyuK7xF3CDiWBLTuIZn8Cjalzt9K4ThERRlXorKxMr0gpt9qxZMLhjdLrXhZG74Qhl3OMT/k4TfMgNas7uNsIanc4WA9nu60xa/c+1e4/w7xZhVw2XusqutuVr9qmvqN94tSavVFsxUMoj1HUUQ8e90jWHo0Qyc8wCwRNEtmXLxVEAR0Gv8UtwQTssn3zDQZXmlmpsqlsTg52ivHR+tb81Y6uct7pijsesHMN3ZWEmIF+P6DhK30qSEhY4ibLJVhVVS/JcJJy9mgN3dNGVGFPiGuMyxWlUgNO1xu0Slllk+UCxWFRrOloF+fL1lKvTqVP/g02a6L9K7+q5W+9ii97FuN562R1q/PEndOOuPu3NaVbX8CrN3HatpmI/kW98k6zt24UnqnZuUQfv0vp1A/KlI8vyKegZVrAiW8E1yOsE5N1bJA/jsrxe+dK88mwPiqDf7D5APp+loCcoH648HseUqZ1oI7iyvAEFYVHbnG9DuLJwFsHS3+RJYc8xV9qcDPjHlOccrxtYpUwG5FIr6v0iZBAQvYFeFVBgtmf9CEKyaNTuJN+FtWvNpJDv8Sh3yYALiKzdxgi206BKtqyQj/WgrpwcdV34BeH6hIMmU/YoaIU0B/Pqr0J7+sIafPe1cgpW4kOvEKx+w2UQBd2KXzmYCu3pale1uzjyUpWvSXEnTdywSqR4xT1B4Vhq37tLIZ9PX0g5R2vdRlU6NSrv36oCssUFaNfcaq68W8HCWrmuqxNOOGEh7cPg5gOgJtDVpGmtW6eSM65UZnmuuKxd5IcVDO7Q3DZ8FQbWl9Ue1ji71EVILRwvuFNwibZsQeEw4qQM0dio9s3tCgT7NFlRo/j6Mu3cvEf+SK84AYMA2Y2m/FPybR0Qu69MKtsFGF5Li3HuSc6z5UeB5ipBqwjer9b+v9ffXXun1gW3KmjbYntwYbB0EdtXadeuHlnWVlGBAqu3abJ7rejsFMO3ih09Mo5Xw2rnPLUyJbd0QJxzp5qbvqe+wLfFuz6uao9HZbxXx231qTqwsPr1YNSdNGP8KSoQFIvwHtXv3qPwnkEx1SYGHNE5JfreI6MKylZb/Zhyh9LVCnK6EUXtaqJVFfnHKTcXwbC4clj+jjXaGuwQlGgjGxUjJk7BqGLA1JG3NUnV8sbExtYptOmMEGpsMO2lFVRNufa071EVO8UGv7bsCOjKrzaqdOYc9bNbtzCtO3e36zYMxr8jeooGt9+h3rJevXfDuNKm94hcd57OIWgFD08W+b8h9Wh1w8qTXYCA8rFVAGIAkbewiExLC2t8vF7ZZKuorciMS1FHQb9fqQSViq1UAorEY7JSU5QS9Mt1HOG3FAzGFbRTNRwIKCsUElMz8vnOUhGpujfs16m7UTR6im7dtFt37nV0p8+nmfabtfsd79MGZ1Ipu3bppJNP0tYP3inuvEiBnlV6R5FXZ9+Wpm9ddJsupUvv3N6ixtMrlDJQJnvPZWrbc6umPvY7fatxWm8ZGlKnB61ehWhvF/ZmsbpHceq0AcwCr+TNnhQyIsrGvwRGupKkCFztwdgGYIPKKVecbgWoFsUbhT9db7GRN4GKcG20uxIZREeJMjBQLgtUXW0mhblzzH1g4v+TyFacUTO44sgiNXHN0iIOkrQ0kTEpcEQl4ounKZwTUSBQL0hRCigfW+WckxgsVvq2XQKvCdf3BmQkhnK9yOegkyuSZ/U6Qb/yOVdhwqK8XHhczfSaBl0NckJxNW67TCWEVW8XqnbPuFJrm8WqFLHaFWtQXx4qjl4g13K1Jz1p8u4t10qwQK+DSlMRRIWTq8mKbLWTos3nlig11yfIErE07fWiNaSpEFuZ1QGlsFZQIOx0kWot1EMIEfCL4rNUvapPNpVKyytQSXuu1jKkCgYVDaGUtgT+Ow0Vx5Dfj1ElOOkGpz5p0quo2CHXXYLs8SDK8jUflCWMCCRQYgFEKD1R5xlJeZp7PqBFwVxSWaQnrgZVYMvJSRMxVFZarkbvkKjqUYFlKZdq9WMcneIgsMXqm+TcP6rUC4fl23yFTtyzTUFKRWBQxYOD8g82i95KDdi2CufVkZnKSkvVj7+CisYqVcka2aC9VKuMi5WXka7ytBUWNhkLSKV0J5F/MpSR5qg0WiF/gclTOqeI9CKzAt9bpG30JRhCZ7QSOtDBVjeVGvKjc0sQ1WYBUEiuhqoHVchakeFVU3pIZc0jYu20Mst6lFHapNzSDJXGSxXNyFYoUS7XlaLqe9GeixF7D4Ou+j+S9hg68S7kbVp+rS+IxhPhb31F44r2GW2Bm36tUjZcrZSaPGVOlylqL3gIA7qQdB2/HpGZruK0NJ1hWbqcDMVTUXoUZQcrtIcJFYMiGWmKZFgqxfS1bKdIOCFTdz5kxSylp6XJrOjjK9RNuSqzXZFngmUFMLvTwrx8RXJzZQ8WqnKoV81dgyotGRSrWlTroqoKtK+62iDI7kpCUcYQOW/2pHB107z+szKRwZUrpF8QNdv+9g4TxxijN18L6usz3pJ3Tq1TYHzBiGvNZbwfbWCjxklArqwV4u8mbdkzQF2WJSxkkS14e+KaRyQmC4MjbtX6dd+U4/iMEe+KMdW3B1RakiKbPlnYsgiqjZEV9a8Wm2TUDbYxuDlDWr9+OU33itLB/ADaTKMKl8XnXdxh7fdb8/r5AGjYXq1sctQJGqdG8BZZPb0iNUUWZnWXb20SDrLXJ9KyLVkbLWGZXZltWWblZNkiahko6RLDsQ1mVbF9SlwzKisLDbNOfia1dyPqxRKcLQIXqm3YVc6GBFFYDUopRf1YohjtavDrNkZ0IqjPcfS1C9appQUNDJj0faPoknaUn49Zrc15Odu2LGyBtcRPYcPyMq1HFG8wA3QJom5cZneTuLeGJLVKkRZBqgcxk8aiNH3z7cUm4VW8HtGDOBGNjiJ/AlbYb/UrWp6iYO06DVqucjZaak2uw+RytUgywBs7xICFUQEk7E9OJmLNsKyE34vVgwqOR02+zWLsGqUff7WuvOYaRa65RjtaWzWydlCwQRtG0FWrUeGZph7WUy7WXSDLdWU5lhzLTpTj8gkhG9RlDWucoNgYV589oH0bN87n+aSTMnXNFWt0TQidR0Q9nVcorfkqbbrqKm28aqOOuypdV3Rfpdb1O1SFgb9ejaVLfMg/jix707J3/l9Ll40yTsPsUDHOlxYGoEC1OZcDaknUV2lKma7sv0pQIqhTa6Kc5tKLs1792IIN2jI2pg0ej05ig7oG0bpWtLN8vYZwdBPoM5tGdfVGr24DfXnA1Y7wV7U++3zZb7VFHtr4Vo+uvmtUq0jVlf3dirag9TWom3ZdR5au8KDV46hlY4rW2n3atKFU21itjW0jys1DHbbpz5Zl6qvYstThN85zto0sxys23LmsTN7cSSHMPNY22IiCK8zAyyQ6JLzGUBJuz1agOkXxuDF03nl2lwLzIfxsQZXZBscRpGsXiVl6b6/RQSbxmNQkN+7skEbXFYlpNN2UKqfixPm4DAsSV13aRo3UfFtYRgVVsW2b3LVB3VNdo6+yWaN8QKtZrQj98i4xGFmU6kbuk6EcmDMudyot7eQV83Q4CYGuyQmLeDIVh0csCeT99vNulGXZMrhyxLZaESkRg8PK9DQotQatt4qVQUC7qFJ6nq33nI08LrrhvAz5yjepbMuE9nKjOGmnut/m1wf27tVdOIo1vlPc3CQcVLM3Jpw85VTOrYBLlUaePPmZKr+iQOSHNbfjSpv3T8gTVCvKWjUT0VQ5GvCgm0lwWvlRRshWGqnyElZ7RaF2daHhzdWqKC8RhFTpVspZ66gmhioctG8aNRETI3dpb+6l8sESP4XDsE4GCsXQe5SaN6ysrCxBviKRXBUVFKgvE6Wm+gWlghpVVblynOQ4FpmiJl1Ypu6cSlSZtHtIA9HjVVHKoEI5IXWmIm9C9x/fkiKn2zVtcs6HxbbVXlWl6nQWFi0hxBTay5mCxQZl3oq4dZfwerXXg5xoms5rrlN6A2IH8q9CETtdpJbI44motKREa0tKVBRs17aiNOWNoOE8R8M5VcobrtFQsTFCDnvRTaeh8fuK9K2da3V6S9VC20zFqGkLUVku2nJeiii3RaWrOHHVpqerP1gle5ut3EqPxgZW65S6Ru2prlFKiaWMECqkUgM4ygUVJdKtBlmFiNybzIILdOPeGxdNhv+nko7WZHi1lXLVrMJwqmG88TdzeKbe0pxBXTW9BDyyBlUUmLGoBr+s4iGl5OVpoCBHzmCewrlRFQ7aIr9apDcLypWPadfdlWZhGwNlkK4aJ02kJJza0lEswwAWiuPIjaDiEDqBqP4er/ZZKJqGStNdfYIZvS09X1cQ1aejqfrQ9QX62HvX6tQwmjkXWVssNe3dq4/Z6FMTqPgaNOmi6J7l/eZYjiNHy0s+6ofhqT/AH/7AK784yr01gA/4j2/Mn3rpJz7g0HzIgQ+9dz+v48dwqgoIG67952A3T/MxQsAs3HcQGlkUECrZVcF+MgXvV1KBP3Kw728Q+viyCH+s7+I/H/kDdetmcP/7AAcPQujTn8YG7iXMq3yeh/k8Lx/mc0QqD7j/CPbX4XXIBap4mW898xEDAX55mftE0mEBKcDz7GeWL/peWhJTwMVPBgf4/Txh5Nf+8lVkCXaGCX0C3vriALeW/JZHC9JJdV7huRB8mSDg8HFC9Gy0+NFPYPYgfO4bEewDAYKf+xL38Rj840/5QQP84PH7YMiGb/wMLvk5+CEccsHy0Rc2Lgc/JMgzWPj+ahH6UgD+/CIexNt4hr97JsQz1suw6yChj80yyCSP8QyfCf0CbKhjN9fzCW54bSfr+Biv8yzfJUZPIMDjT0F6YZingjZgE7JCWGkWYQ8cmIXH7q/n19jwtTO5r3gPvAs+cRVJdLtJzhGF4Cn0MPH9CT5j/4x4QR7+Z9NxX/PBX7y4jk3A7yfV+yzeWYEVhJcChAoseChk6ksQetXLy6FD8+3JCkGoC+gDfgE534Vcbwqv951A+ef+jRYW2Oyf+/zfoDVRtXPuOZbFT0Ih+C3GnwPTLvgMfCv/e/SXjfGd73yQ1NRUOjo6+PLVXwY+DmACxR94kU/rrXgPnQmfDLC3NJ/7Vlcy9S+DFOLlV41fJJgdJ+25NiZ+dQXVadDos/jKoRB/SHdIe9wEREy34Oc/hh//+x+54Gd/5pGuJsozbej2UfVTm3COxb89KQ5mncVrL/0L7H8BDgR5LhDjuGe/w6P+DKxPN/J47FNkTa5nYP9PcDjASxvOoPjdFv/0t1+T9i9/4MTzYf8vNnLPN54jd+c6qn51DZ+b/CxbP7qVZ/gKv7zvAYQO2yv+V44soB74DWzbtYcrbv85ky5kvwi57fClZ+Hzv4dQKAVefpml8T5PeSLAK/e/ignNFqaXH/FIHexpgB98EOqZ5sxgD1mvvZ8nnCfJSB2gyf8MT576KrnxIu5/zMd/nvIDvFeUUvztDC57+V84ZTc88jG4hKf5xIk74elnueILvyJ39An4LHzumt04hZ9j+GezWPeFeW1LB2/73H/wttjjBNbH+cQnX2Jn2ivEn92PZW3lVfcVfO/5JM8//6hxf7gPAh3i91/4OLs9fngwSOjBF3iAzfDRVOCDb7wcj3mn4OzWwApwy6VigfptDs+TbqH8/hmVM6fvXg4hNdbyLTLIoIIjvi+bszTMoKBfnkhErFuBOdF1hWUtM16uKPX1YvtS8r0hUZY2HwDbggXcdIK64PBpRgTvEGQLD6o6iYQxcU7C6mlcr9w0EuXh03tH3mtWWR5kBVFgoleWVSB3A5pcovbo6UH+tcgqSpT5NfWipkMwtqzcjUEyYazvQ1xgrjlVyN6D2kHhQgwbawcyFABN8tMre+C9wnKEd0B+UD/NGmCBF8aHRz2tKB7zaj1oBKPaa+1ABE0UqznDXw/IS40YMLDZWmzVJZAiA7ZH3f7FutxFkmhbHjxKI13vHB1X6qkY46sHGYbYAdE4KdYg3mlWe9yAWdlvR856tDW8QtoOZjecwMJHQGs8rgYHkOPBqJLiiJbVWhZw/ggyODgo1zWqUsuy5v9PFhtHffblBjnDWu2xs4UzJQ9x+QjI43GF1yPL65UHQ8MwAGqsSm5PhYLj1djo6MyaDJ17Vp2+uhPlbUsV60ZkV2yT0zwtmFS+5VO/O4fAcsSQR560bSZuSSI2Ah5XjmvJdSy5gYC8bkA4/QKPvD7kcQ26xYqPydPRoixvqprwyMU6MqLpf0vm2zjyeLyJcjV9tdNBl9jItm1NTV0paFj2/FXRdF3dOi4DSW81yCzL7MBdyuRykgJ4FcCSC/Lgyocr1+PKH3Dk+E0btv22XMeRH0OECKgZVOf1CI8rX6GlQI9RDe86zyPfxlHt9nYolVs04dmqQizdusmjtQM36LI15bLfuU6Xp6bp+mBU/Tf267zPpQunQY29ZVozUKBRb6u23bFJ7Dpd8G1tHyhI9PPliNFjGuuPeVLovleF5WXHVDmF9cwPoCtVXKSwXimshPBZLGmg4L59sliCi04WHyLTFVyhaWJylhDiZV2cpQ3r36+9pJpt5N0ZIv/w9ATpZ25X4MGxxbjrDVki8wiMjIyLUPZ8IAtAOQ7yzMz9HhXkKhBEN70DhcNzpG31ghaROSQC+dq+PV/BkKPCwqs0rwd2ELnGyLnSuwuKkb0saA8aH0fZSf4QOfvQmEOCWsJIaSnq7fWJ1F2izuhXPVE0nY7cvCEFqVIamYIC7S28XZa1WewtlLMHNXsyVL3PBNJpBdWBTjopSwUFPhVXXqzCXX6l+AdV37xHZMT0/ne8Q67rqqbmJjWlpqpvy4n60FkfkOO6mvn45UatMWmghhdiIKgrl3VQi9VJmwXnK4Qhcts3f75NaWm12rwJ7aNK0KF+DJxxK8n0KitJjsAjF9SciVZVoTR7nyg40YRczL5Tb4T36t577z3qPV4s3bVqnzIbe3QGRqV1YWFIxxVeKF/O+3Ta2AcV5516R2xaH5x01AnK34Ey8jt1ZlllgicnqmkalZtpqSU9qJbmdLU6KDLPx1QjQqvFdsS+fdqWVM5ZbJCPVgUJ6gx2qLJgn77EVn2IQt0bP0v3Tti6l3J99sKfanQ0ontvKNb6yb2aiaPj3ctVkJunELU609erwTsWEwu+KZKWJoJBQa5iMVfRaGKxGGJRv9vGNp3N2ZqeRuvWodzcUu3z9erEO5Dvln3KynYUiVyhWCw5fa9gt/IjeTq5+SSjfl69+P3xeIkitZ2yEm3MATX29SlYUzJvL/R4TlROTp7K9y0Q4hXsm0ujSdCsTJbDR3NgUejb5UG45sQR5ImioLAyREGKKIyK7GyRli5SMwT5Cf4tSyylqeFNh6RuW/CAPaokVkL9zOsYse1Fjl1u0v0m8lqC5Ao0hSsCqH4jOmvKzPYDh3nXVCoJ6KU775i2WKYSf21BTK57vbxkyMFdgBNivJwntgR1VssWtWQgZ/OU2DAjUlLEyOWCFm3hOnkWURW7ZvLwuYZsrNGV6yCP16MOUMT2ybFt860e5MHSoM8n1/YulEnUkfNOV1YP8rxto7YEgybPw5bhPvEjupknbgPDujgCKp1Cq3yYFez/Q4dzQS6WKQebedtRpoXqHddMTNtJGFArBE1qAGVsm6tbhJ2iQedqpVkpmrqjT96QRw03fl/nnX++2DqptY/eLtvj6D9+/YD2Hl8j58QTNfzz9wivR+4ddy9uNwmZ99RdJJmC5sT/qWJ4SKRUiC1dwrNgkG4EVbJVDFqL+ZqyWSAjTFpZzotlCX+P8JhBf9Uq1JSGahN5s9JPl7P2LL2RncLY4OBR77HxaoC7FAZ14GgaSzXDXjHUqxQG1eLa8jGgIQ8mzrhlCceRD9dw9LuOdlbb4uYpDWz3qXj7TvnZputad6u60uS9vKpGTS1NorNTnrw8MeWKE94qqNQloDJ7rbANF1fWoMHvBymVYUY2+ezr65PH45eZmFfJtlHUNqRrxYWosz2pbJ25+lyhX06RIPErVxNN6uxEee88R/S/XUyETNtPjlBWXy/OahLrLlHpdFDF43eKAddEIqvZLOhR5plFurHfPeyEH4+jtlZLJYVrVVmGoEeQow0kOKNipWL1VfP3d4JWW6jbQTVbq3Te2ytkjSEyUHogoH+a2KjsdObJ6YpCYV3bseBcuRp0YmL8cRNlcoGLrp1Cm5ibHKbUgbF1zD1njSWNsxYa3ugoJTXZPpOvzfQpPDdmtmFAOq4h3zMLSJ+W0pb/L0wKEWW3tmr4qJ3AFtm7RZ5PrGtIzFqOaDvFkDQl7tvBAqMpNgqvWiVajYNXmD1qtjxyGps00IjsyoTzTQvLEDMD2RExXCvYpV3skrPEwax1vvPWKhLp18SWD+py8tTLVuGbw7avE6QpHA4rwF4Vg/o7Z5Tvb9d6e5OsYFjQoXDyCtV2lLdpp3JaAuKx9yv92go17N6mt57v056r9sjC0XENb1dPY6Op8D3I5/Np2y23aM+qawz6obZWtPRq7fYtyrsGkR5S2LLMgBPksGopG8Pa6AkbFUfTSvVQVSUia82Kp23hfG5OjnI3bhS2pdRRVL0dbVuN9oRLRfW5ohatummVbNc2pFw9W0VbULS2yqw+5py9EGEz+PpWIWoiCo7dLyejRCfc0SxfyFXD27t03obzRPukWu7+tWzXo5Rfb5Pv+GLtWbtWZ7S1ybU9urn/bkFUZtWPWl20utl0jGUBWVIQk1tFeVBk2iLYJuy4CHepjBbFE/A+H8izUjk6LEBV4xiv2uT0s7PFe4fFaQvn9iQ6LwSU6dyj0cAbMKCWoT0pye3xMPfZrmiZAy6MKI0sFSddb9qE3hND7buiqnc2i+JihbrW6utcpGvCb5d94ZhOyapVpKRHuz64VldXj6mXdUrriei4+t2ysOVpOE6+Lp/w+7XHdWWf1K5VH75P4FUQ1F7BshWyUe/mLDnXKWPARw0N6NJ2v66ur1dHFjq50RXNzYZaY3SDDER9p5ZNDAn1nQePfPjk9yM3PW5gxmHL1Fkw6f7SUtGYIVYFzELJm6hbB9NfCMiJe5QZuEJtc978lSg1ikpoEpSrNZwupupUGyzVKvJloMqOQsyxK2QpmeLbD/Lno+gA2ulbpbDnBrHVUkY2+mi3pckTQirORQyivDx0UU5cERIILlxV06RswrIx6EuiaONmVBtm/p0DrWFVWySxnlao8D0xDThmQUI6Cn7wQtmZSYjF1mZN8xZFWSVIOPRmZIiLCuX3Jiagpi2iazk68k2dFMbCqLbFsCk2HmYgcjGW9rzKVAVzs0VhpSjKkTecoV1cZxAdGxFbUhVqQ1P9/eIDV2rr+Fb1f6lftdtq59OqZkZO/lmqzSuWXeaoZs8es61bMinUUSiLYuWnopP37DHcJCDYrg4CC0EnMNQZLgY18QHQB2jX22bepk2bNyntvDSFTkZTuxHvTRMXo6yhUvW27JZlWeLS2sUwRq+jzJ/sUfo6nxgeVjwUUqGLqqrMdYsEqoU5ZI+REMgXzBIlMdMoU4OJa2lmVxKxhT9NEFOqPyyCQfUTUSFFYmuqWvvfpRtvrJVtrdcMF8hlgTMeSGyl46L4PJWH7tBtdch/KqJsrwBlZGQoo79fWJZiXShvFAPvDAZFSYkAdad2L+NxOZchWUkOjP0YVU8lZnJ3KNbuda8rM7Ncu97bI29+phouSdX50QZ1d5fo+NvHZDm2Lv36rxXedryqxsa0/aab5PHYuvtuE4OYuFEZ1jqovvowg2fUK4bCZlLNRUy3iKyIoFoFFCnCCjDhSrTz1qC83m3Gx2TSUXP0ZjXQIMbGRE+PcWrr6hJlZXJwtIdpwRma43AyWP/jNbMkru/RpL8AFUZIDDZh3Ujqyvp2i0WouTgJdtKElINWN6L2pgQlyl7TtqrJlRtMUSwBv929e0aumyEvKGJ5jWoQRApK/WDqokHf9lWr5obG+d8t+BRaphbLlInRkHSui8QO20iz16vKigqtWoV2TruitUuuz1WU2HybjCbaCdtQ+1pUVTUjswg4T8b/x6MrCtDatYuLXMTdAAB4T0lEQVTLZSbxty8/X1fnxZKoyeMaY4su5nr5dwzqdv8OXQey4hVqdXzGP6MYxcIojypBoWqDKWKkTH7/hIJMydj7PLJIIJLS08R602/bQoipfsGVAle9vEsjM7XCRh34dHlbSPYXeuWpr1Q0kqLW4j26vHDObpYmmyzV06Wy8xa+ZQ9na8fwySqa054Mo9U7ExxftcaZcGqwSfljEdkOqq5G2elpiq0/R8m2Ve94miJr6zTHLA2oMiVFa3IWJu/Jy05UtG+toMHwu2X/L0wKJ6xqUtfp+RrArE5X6gCpoD7L0nkbN6omtF5c5YjrThdtbbItS5tAlm3L2rzJ4LcTW2DLsmXVWYqXWurtNg04QFDDjCgjE625DDNYguhEpKGN3hFtGPFqPZtk2+iCDZZqLHOPlSBSM7N/quYcuJKDbzsWcm1bjmPLtgyhl7V+XLbPI+v6TeJsxPZt4rbb1eNYmv4qonHx91p2jaGtnTu3kQQccf38uTBhDTEg1q/XsBe1j6Ki9cfLBA0vFxtqEqudTWJ0VLT7RckmWdaANpW1iYZ62awW1vWy7A5Zli3bthLfZ4vAuBhOqLQc5le+FpYKsHUNaIPVpA3WVRocvEJXXHmlWlpadNnAgI4DGVz/JrF+vaBPpaVRXfi1DXJ8i3dc72dadlIgdgu0Yd5fpEax2KCuunK/UlLLZX9gq5jcpOyrstR1bocmJyf03rvulO04OuesX6u5+XitOuEEnXVTjxyPR5vufp+x9wyZbfWRB9pcQZtoQJSg3oErFY8XH+H+bmE1y7LrxSpLVvN6Y3jG1vqIJXvA0mlWgRr9TWLU0nrQILZ2sl7jWHKwDLfPRWPCF5C14f2at/ccNapbQNY8oZmlGmpUxjlayW9gZTGxC9LSUUfHgCqtFp1LpVzQessY40dBaetRD32CqCwrrNUMqxnU5kWsM++yrrG16Z/vSspztgat1QrO/e5GxSkLcQJWknwSC8JmlH8YvbdleUXTuFKL0tQzF3p1A1rjWiZQlm36vYVtfGbm6GOsNtlWjhkTqBHrz1Z3j6O0lA1mrGixtCl3g1i71uxaz2mRZV8hm0xD5mhZJubDYL8qI2FVjZt35eWtV3OzRw0Noyo8HWH3q3zd1aqhVoYsLkseDDkgbJqPWWCBsCxZlukHdZar821bjoUsq1hWoFFcayurLVu9nR26qMZWVaWVeGazfExojM3atCWpbIjqAmtEdXPl1UxSjIdShWjViDUsK8kPa9/6u9Vvu/NjSiuomWy1W+2mHcUQvd2ClEVccu7QjVoXyjH3WAvj3ps6KUSJyp/pV6qFnMq0ROc0K0sH1JOFMd4UI3yovhINFKJQK8KL2nejajJksUEzmBW7Ma4kjK5h5AZQagrCg/ZgK5d0eUvQiaehfsfoLbfEzfVMO12Z6VaCdsAR3Cxo0gjosr1RUZ6TGGw9ghSRiiJdHm21SkVVm/ZOX6xvfe4k9d6FNlgbRU26dj9wjjz3+rTvrZjCDofFVQGlOijvwsWN38XVHk6VMXwmzmei7kxUlhS4w+QtTWRmqsPyyZu+c8ETOBVxLsI1JFu5lblmtZiOuNsSvXsVeg96r2dAhfvu0dTU+xQOh5XGjDZhCarEno+IXX5T7g5ij1llbsFsf8tBmUSVSbnS0spVXl6uaCyqsrQ0Y7x3MkVFpsjMVDGpKg9m6cqSc+Vai7f7GWTIZmHlBijzorn/w6KoVCmv3ypPeUxXd96kgHucLk+t0nA96g2HddFVo7JdR2d/6PPKHq9UTlWlog1ZwvWI8+9e9C4HJ4FOW2ngKZJBpbULmnUcqzSBqzxQGblaqusvKkpRICcqN6tF5VFbRDONCqoSZbimDgrJUqRqvcgy0bPSKFVOWr4y0itNp/IjRs8U3pAyL7xQZ4B8dYh7PBraWarJon3K7asR7XvnnaKM2Eo2iocpUaBxMEE2VyWz+8gXeRNieHj5t5anK7vPUnoNisfbFCRDTYQ0iaHb2EmCAygDmcWPqbMYyNtQJD7bP6+C2ZiK0nOT2mVBudLeNylnDoWV6HdHmqT8mAVhJIL8qYiCw2gNslAgFlA/hfKlporccVG6TRQ1iBOPE+6tgl6xcYNIr9Hu0D3ybDtD7DtFRk2XLTKKlJKyXh5PnQmBmtGnTF+7SEvTqv5+NWzqEZSpvNyjrkEMq+nepHLIQFjI789UNGopEklXoBBTHxm5Jp/5LHFinONQqhGs1gDoqiv3yR51VfHud+vc2pv0gQ2Weu+p0q7RGXm/slZ5Hy3WKFXq4kalrTlJTJ6lvWf3iIHehAzI6u9XpdcrqFecMqVXrVZuea7IzxbxeOKdQc2BF/YlBeAis8e0wcSYEmNJ7HQ3TaTu0yLeL5B1SpZGU25VAw0aZ0z3kK2uN3tS2MMdgiuEherb89Swo0JrnWblYFQinyhFmZmY1XQQ9bWjmTqUsoy90bCF+kOWeuIBBZ2gCATktSx5w0H5/X6jItjjFbFuEalXwOdTPIhi1m75/SFNUym4XXSk6MSSLLFlUNyBTm5Ad6xdq5zOBvl+UKepE94pMjq1fmxEKecjtvmFvUp0bJBDhVZXJhqGH7nhoDwBZPSriVWyB+G1hT8gKnYt0s0DInCMQVYS0hpAnuTV5RAKJKJipZGqivYK0W08Ev1+RDCYoCmYm1x8gphOOCMqe31y2t1msEzEYJ47v6t0t6bW+DXAVnXu2qVbt2xU9x0xNbwtKkY2qfiCy3WL26m+NtS56xxdwqiuokhVgZVQZrsSjXNhEty9m8RAtF12cbr8L1wtSqO68947lD4TUkHDVo2ft0602bq7+W65lkdrdn9Ru6nRieUn6u/O+Xs5eLSDhUlhNyiERzexJEiLhbEFzMcuRtg5wt+rCddWpQe1UJkYFJDRFwdV34Yilchb0qaWuXq1MeCEOdvCrgz5e3Zo685ewR3auPFCxeoC4vp3iYkx4VwgbkGxKHIJaw1+pQSRB79glTaAKmgReGUTXBSpzhvwJdm5isTghGhK7BQCq2WM5ltWbjNtqCzUoQynRH6aZCUF9SkGdfpYEjAnSVJZHI7UPy7sVLFtm/B4FClCvmRDrp+jQKtN+Nz5KGJRFpElLoglSgOKZEa0hzoFc3NF5TaxyjZ101KxyBH1DcnuY7uvnnqjGgQVFy/E7d6VgawRW0HeLlhtJvCU5GfXyMLo/7dh1F35JxVpLSMLNOBzZeBtEy2O6EA2rZqiT3ntQWE1qTQDrZnxiJmdYmZG1p49ag8EZNgeWpTesVGXtJYrtapUZGYquHGjdp++EKHSeWC3wu9CN/Wiyso1pu3vMsCLCXrk7O5UPHCHrJY7RPV1MouPE02b755UsCYo2CQWhWp1FcT75k4KXkLzA4JThJzKoDyslp2FaEDerkqx6VTRcqoKetepZGRYnNqpvtQMdXTUmJVVdUQtp1yqyKmpGrlpkyafe6c+3nyGGjdepjNDIXWceoJG131SXD4qBlvFZlece742D/bp3VPomlimhtetUwHlgnHhTmivbRlcdchwC4U8HlmuLeIe1Z82oupcV2s6u9SXuk49I37Zp7Zr6tQpNZx4qo7bO6hdt2wQV7ap4v7tOnsrcjxd2jEH5WpCdKQYtY7tXYxUcRwxNXXExgkGkz+vQ97SKfxJ2GEHTTlJSKwOhA+lpaGRUUts366tzBnk82TQBDdo2n+VLI+1qMLnw30mdTif7ZXXRR68cr0+hbweuSFLTtASrR7ZuQGFCMjlOLm+4+TBKx8jmpraIncpKqd3OPGOhA9HLfLmzV33KiWtSKNvvVbE0b273q/dkSHlNaRr6GNXq7irUV9u+LI8eJRb9CvVVk6rq+pEXVf4a9m2o6GeBVuFN5Ged2ko0TBGNVeAOjoTq6W008XIu0Rl6nwM7IXy2GryOmyZnddK9bOtxzC7ehF0yes1qzWP12NUkD6vaVtFAXn70NtApZylMWtIHdvm4o7Xi75JuZhwjg1s18iceiiEujZ1K58mrcinNYnwdIpltCdz0inaA6LY1joWw2jn8PfHMsBGIr1a9UmvQcglonGdf+6ket6SlKdhDl9OS9+ZJIUseDYDBrXVdfMxDd5vWI5xMnFw5idi22a+LXstZHnQ+flbVFKS1HddVN5VrlxyBS3yEpHX5xMdHcrYO63mFVA8b7ScltUJaDLx/7jHoyz/AstBS8Crk4dQMGTyP/ftW0EhXOV5Xb1zY0ihWEg4AZnF2kziW7zasWuHia0ylTxGlGgXq49prLckiWM4Nv/LB9n1/U9w/6VZpJ5xPx/5yAmMPvctWhuP56Gr8/jC1em8mv19NpdH0Nc/xqvuLF9PfZ2SXz3DbHqIx/Y/xewhH7kl6TzDY2Q/UsafCg/S+pu/8lq0Cuevz7D/4F94NnOYrPDD/PmPL2LVxNH+35P34ms8/nQ1efkuf41A9csVZD2eSeotX+QPZYOc9advcOCyizmoEJ9+x1cZc+uQ/SP+e9UZ/MPv/orvm/mc8K8hQhUXk/Hw43yaGP9+KEjuo88wW+Th54+/CJ7HKHoYHrXgkPKAxxZ9//IzOYAH+NNhy6wHKMV4rJpCLkykkvBdDofBtsG7Gl76LbnZs6Qdep2H/7SfUOZLBJ+DP6U7ZL6eSWh2hOfsD5NxEA7N5vHblx4nr2ovj6V8mNQfp5JHHk/yBF6ehuI8HnvtMcrDcGkmfP+HkM0+SqY+zMdygM/eSOpIJg888SH2HXLoTX+RWz5+kN/xK+BS4GPAIwsfEgfye+A/f2Da3n1AJux7CT78SuIejw/q0uG/HqPotSt5lE9zKJALdXmk/Pz7FB3o4Od8klC4Dr//CZ7GgteysV7+JUVF8MjrwBMYd/HHjA94JqU8x0s8W+0hxyNiTz/Bfz9RRgbP8jjPMos3kbmnyHXgiepUZKdDVxvc/wk4eRZeziDvH58nMPU6rU/38YlXH4XvP5zIdLH5ziDgK4S//RkT2u5wRxzjLp9wYbeBF7Lg2nTs6/+TZuL83puFv+o5Dr4UZHb2Tzx/sIaCx5+gApdv8holZBPmt7wE7M+F15+AlNIbKIqs5etNW+Afn51/2y4KeZA/8xqHgElo+hZYz8F/HCGLKxw+34dIa7yMx3/xJOwHSIO2fnjFB7/+GHOtuwpT7j+mD+PjbsppZgae/Sj87BA8B2zphk88CTxkSgTMeQBsF/KvgT89APz7G8vo//qRBbSQPy7cUIhHPvMZc9qGtII0DvzxAC8QBp4BdxZycqhe6/L2Dz/MncD43r1c8dxHuHRQ/OP5u+nkEHvy/pt/3vInPv6Vp0l92mXAX81DL/w3s/v380PAlO1BiDwDVia88IQBbuUB3wP27YMPf5h6wBuBn41C6DMQKoDXHzce/y/PJfPYsg96w8exDPfHPCk0XObjbx9N5cnHi5DzrzizLoc4iOxDuH6L+kuaGXnpJX7xi3Ke/bcsXj7wOtELXuL1z/+MqU2nwFe+wgc3P8VDPARAkCADP76Mn/7Ew8mfepHH/vXn1L7vBzyYehYdBXX80xc+jOeUaiaf+zjPPfIU3/7ZyQyNhvhpCQQeA+uTUMev+MTI1yj5Wjcv8nNe5jUe4iAjmCiRs4AsF8s+iGcWZrGwsDm49RCB/Ru5+Ltf5xOvRihQA0OHoryy6fN8+yur+eOha/jT7PqFQgI+gMOp80QUwIYb4bu/hBc/dtgyK7ccLGuW/z4EFGFibv5L0g0lo+ANQfABeBTe/dwgz/Q+y33feoa8NY+S+xtwW/08/cJqsl//Hr8NQNtzNgf2D/GhP36dUcQ/WbDKPpmh2Rq+zf10NvyMQxvfy93fO4+i7x8knY38lG9gWa9he2xmX5/FHR3l4Ne/gWVbWBzk0Cwm/N9BgHJCQC+/55/yzoH8f4Hn/gVeGYFHvwXWrAkp+HoLeFbD2CPY34nAto9i/XaQ2R+WAX8PzLKT9/Np5yzqrXLW6e+4uedGCsb/mXTA+vdZnpvdSvXrn+W734EXVrvww364tQG+eAc1z7t0dE/w3z9/lJ83T9O/zqLu+gf58DdaeMKJ0GL9jhf4Ag+rhtnZH7PWDz88rYn9vqfgm6U44/vZ/Dp87rsjDP7X40y99jIvX76KR1uf5PYtt5u57zPAb21jHovb8OtZEzbys8m1aLOwwKuBrS9gffYxJkbhgT3Ayabc1rOeb/EEgVgzZ5zwX1T9KYdv2l/mmY6T+cJFnwL+CkwwSTtFXM6fEU8PwAvfh8e3pfNk5h744AdhdJS+z3+J3xw6yF8dkdzkTEu0SJ64WoC/sZWHF2d60THJFA/yGDY/ZZZZ6DgN57WfMMu/wy+B2SHgm8wtXSDRHmZXTg+ADKAaM7DNH1uBL4B9OuizoDdhFHszDi+w3oYHTT2Ojo8TCoV44Ikn4OGH4YknsIHU1FQaW1v55te/DnPDokuiX3iBg7iWy/CQ2P/1A7zsNNI9dojvvODlZy/8jC0vhnkm/US+/9B98Mrf4CrYeu9dfPaP98OG/WB3wBfuYqWFh5V41QHHi3tIHBRUsY5XcKiwX+Tf7/w39n9vjIFXX+WfHYfZLx2AjRG2fuZVPs+DWI6NNbuZVc7XeGpiIzVfeIXvXvxdXvrWCE7oQZxvHuDgrMuslnIArXAcq/qo5cc/VkXXNXrv2GVafeOIbuq9S2NbtqrrqhLdene3Ui4O6NxzL9Xu6W3K+0CK/LfEFczbrECgRFmZmcoKBOXN8oosRDaysixFolmKp2dpujeilLEm+VLaRE1EGRlRFZQ1ic2uoikDqrPL5V+HGA+o0qpVXxoGQ48xPleCxsnWJBeovtzRUARdSIOqCjxKr32X7DFbb6NZfUQ0wYSIFmoqbb2Kd1k6fs9eRTZElJUWVUZkp4JWTMdPn7Noq2dh6Yyl8SRm1oj4kWwKthoadqtxDrFUmdiiz123LDG9RqzyqQxjQIrXb1Wzp0qsWqAdTvOihnqM7eN2RLhFzdTIwuDngzE0dV1A0wlDk28yR94Nxh+kGrSWiKBb2dmlGr5zs4jFtXv3bjmOq5LpaXVvQwQKFJ4eUaVli+Y9skl4unrSRHtYeBoFRarmA+o+p0V87GaVeGIquilNFed26oS2TPWs6dIFVTPqmdwsCnYIvPo+NTp76kLdeuonVLB7l2ojUXmyptVefJPqT+rU+yuj+v4/oJRaRNVp4o4PaVX1x0X6oDju3cp8e7nGdiBuiirSf4puZ0KX0i92f0S9J9yvhnOrtH79eqXRoxBt2trXJy6/XK6FdmX4Fc2Yo8yOKmbFlJWZpbS0hOE3g4STnvEJKGO7GvAtMLbOy5BSyFlQkSSuR70sonCPEJGFpbZmU3bpoAwLHRdGBk44IGMTOlywqjpzPRpVkFE5ZIntDcYxcv6eBrEEHeQHeYgeUVURxSB+9jQn2nBdnabT0406dOdhnps+iprEYbEfAcj4mvjEmu0LRIH//yB+xElrNEc86R1fJf9Uh4FhJyhHVoNqHUet27crmLYADjDl4BG8U6n0aCPv1bs4TwHQVA/iyqgWCC2bBZZhZQ0gzkRRT6JufD4j8/lyEnW5SoBqQe8koqq1t+vMTZcm7okIogoRlhN1ZMdiikSimo5GxY6IOD+mEqLaaFm6fnpa7wq+RfGpu3VlzUe0Zeg+2Rmni5Mu02hsQndNow72HtNYf8yTQmNTv0o9aEdeteJOtkK2o2g0Tyl4ZIzH54uqAtnj9+s93Ktx+jXJpIy+wSvjwGKgUdNUK8S7NIVH0SgaL7XlrasTgQZRaSntnGlVXFqn2zc7uqquW9UjJfIOI/7OrzKnUp0pzFNQdGIQNkNkagNZqilBfWFUQK3y8lylpjaYilqB62SZnL5L+DziLXFjwEsKizeNcaTa1ovodjUx1KY+vKpnrwjHda2LOveRQEAgttiid4+xS4BmWk4Ug0Gxo0NQISYs8YGEMQwUnYnrtBo05skVDVmJBoEyPKi2xngpznn3voMFO0XAE9e2miTdYVaWyMyUGQzdRN0cL3iX2DcqJhtFf5OIoCwXBX3bxI4KheLDKrMKRdslsk8MKOqimRM9outEMXOxoFMVGzZozfb3iNx+FfVPqaAelV5QrfqwV9CuiooN6tjQYSCcIdSdhcqpVa+1Tf7041QVK1CKz1VdaJVKWKcm8rWKfDlZ+XKqc5QXiag15JGVbyk3Ja7sDBJp+UUgJMhTSkqmYpalUG5cvmyEjXxnpyhg22Jznij0iFOnxGmVgpNkILeVYudOMTQsz8arFR5aXO8piTqoTfx2QO9obFRTX5PYYtBcBVgiGNOMF9ls0nRdj+hbJe4cVFF+vvqICSw1NKzQrgowVOUENO/4lyRuHgoPVWn5hNGlpaiSFWUmU2x6n/FzWeH6dKLf0YBMVLnPidgx9AeQcVzzH9O98bkB+NT/jyeBdhKwY0Pxf+82FEgK8lNXgFYtCjc6Nz6l6zx2quAwERYdx1E0ElWDL0WE4iJmJfppSeKeeoElGspkHPzMc9Gk/jpfTjgyPgaL66EYFJlvQwGRkq0NmzYo7f1p2tVm7IszBTPizq2iPyyndlp56yy5GeYdsbk25bq6+Z03q6F3QESiwkXn8WZ7NDdM6JRm1PNNW1U5m7U2HNZbR67TBJmJQr1aTBQLe1Q1pKkeK+EANecEteAMZWMJ3MOTZtnGb8BNdNB5bPVh0RG2FmInYJyaGg937+FleLMt14PYOmGMWhdVidNPF7YleyyRdwthZ8m2uwyfOXHROyQ3HVl2Uh5t5mMZALInioTVmgizaZmVVjJpoD2hCRdtH0YGQTMgQLcNo0DCUDaHNZ4vt3HEhg1qGfUuiwGxhouUyi0yDi73Ky3tQ2q/tkvsHdPklrDWXnihzq69RK2eC8WoT9ydJqwbRMWNCjXUaRRkF+aZmBh2s6AsEVw9YdS2bVnWcbKcVlnVKFaMui2MM5gP8VHE2zPkpU13VtSIa28To9/WWYXpql8VFQ3f0kl5b9UVfEeRslsVvuASXdfXp8zWy+R9a5uu3Lpe534SQ2TXViFq2wXXamLidI17PFpzxQaVno+wLZVNblFDICDWXSPIFeu8InKZTDQ3WzBh2pRlKWsyW11221HbgmNZBjOfHCpz5hKl9zaqgy45VqIefQlsujuumuGATl1KRAhmd9yGqKoXxcuhtlkZGeq6uG2FGA/rdSxhcMdsjEf0Ya4v9LNiGbiludfB0KVATAbBtvBMBqgNR3CpkqPiHUkmwBjmLx86An/P/4HUMI+MKgB1LBk3rApkLUNO2YpjqafrGhXHilW9NM0qFG/eqSvWDileskVDHRvkGfcogwxd2Nem5iA6g7BsejWWZ5kIkw1DIs9EhEz27ZogV/M7vrEjfcsuseU22Y4jXEuONdc2HRPi1UJxy9b1tvER84PG55915DjrZG3ZJ/pHRLpBVL25k0IMsyVKR7imQWX8f1XpK8oCYyd+TH7fYBpZpaWybFsQkkuO9qxdKy74mbA2iewuQVDZbJ+v4FUkfCeOmG5MLCHpIxuj/spmMS+PhRlA/Mx3qqysOWe8JQ3bsnT93+1V8MKgrsl9rzLKiwU7xKozNNOHMrbskbf8FB0/tFHH3Vkpb21cqSeliXi28nCVmVolfNXCqhRZtspLEN1FIrtOZWnIys1VeVZIZXm2KktL5b8LFWy2xN69Cp2yW+/b49E9V/XpnrEp3XMaaircq4xNtvZmZ5uBtBLh98kiRVlhRMgVpCsAimGLWKa8AZRKugi787QHZtUVWyinN6FttLaWK6MDkZutplUdyp2Hrb5BiUblCcSURprqQC1ZiTrbt09YKJqFSucoFkBuyFXntmKFfYgUlFaSpnhefHm6pT4VnZUij4soaxPW5ArvLxJkax5yG0m0FRYHgjm8WILTxe4c4TFe2hYYhzJO1HzEuoT4MDuoI6XpkPBbKSPJKc4W0QkROLaJ5H9DGhtRc3PSOR/G1wG/Csmfx/kPga5Mes6TkaG0445T0ONZzp8UQb5QtlZhVutZmMnWh09VGamKO6gc08azA4iYLeJZi8KQTifKrJyLNO8TkcRbZqJVJr2zfVhUtxqH1PQa7Wa1PANocPMZ+qfOHI1ntyqrrVbdoG5iyiBH2ZQoTLmKSyx5qrOWlc2bOym82ZXn/79rJOuO1sDHLNG5Q5yxRjiO/OQJaoyfQu8HhOVqp/8eEUCVN3cpq7DQQCddTADykSEdn7lW0Kc1nkl15GZp5N3v1r5YUqVcWiTfO99p9N5XXin7Kls73rPDuO17MWoQfIYyO8JRdzoWaJ/jqGfYo2qPV+ndC1teG+TzISeKohFLAa9ftjckXzQgf3CHorGotk69W1dcepv6O/q1lZvUFb1NHH+puHpY7y5CIzU1+kxFijrqHPWtWaNI1xwE8/9AktqGz4csyxV4hBf5oyER8Yq2iKjyaNzn123OSVq1yys8Ptm7LpSXQcE2nZ6C1r9nTJee9lEd/+mtunlVg87ccrpqkzyz/6fix9VyordWGcLAMUGq/Ph1MpcpLUFRUFxcrNzc3GVp2fm2OjdPKWBFROetZtW/TNffIhJ0DYCxZ1QcLn9eQVS+BIWDUf8Ye4bfH5WX6DIaE2+i3bB1q/AOaCWYbAmGXn3Z+zo4qo/DmymGttqSb5kqztbczmp5IHsEUTXToNCKdZcs4UQ6EQWw5Uv0twgpWsMW0xYDmWLodlHVLf+mMQVyLeHxy7fe0jvKptVzmldrdvtVcu6JckZ82r59QQV3R91bRF8i4FPXbq2kUjTfMNeeFp/v3pSqNXtrdHw1qtyGjrPQ8WSrlBpVslrpdKl1dUgpa/cte/Z/bVIoIOFJ+T+VXMTFHNWD8s0Sb6JS/aA2EN3pgmqVgnLo1iqvrTHPkDp6O+Q4jnam3mm2n82IKjMpDO0wBVwV9qjRsdUPRkfbgvB6dZw9I/DIs8YnT5mtUCSmu60dCxUZskU4LJ/HI0IhWd5WDQY2qxNk95ky2dK+RUFv8Ji/yynv1a037lSw4URtmhhWXVudCBi94rohVHIruvUmv3b1TSir4xwN3zqo7Sf7ZMUsjW2NqCwUkcfjkY+wjG7UK3xmlegFBZeoFN5siW3oVv3xq1VQNaxdu7pkNzaqO36i2rfVyXPyGpEd1fiVjarfWa1iGkUf2nnrxeKdAyL6dpHVKd/omCKVb5Pb2SPYrDx/UL14BT4FbeSN+OTYQXl9A2qzPMreZMtu9Kuzs0tdsIga4FjFAm2nWoYmIVkV5YruuIy3taWQL6TN+7aJtCPHIcnJy1H/7aMiYs0PEFn+BMcRFWKRh/ycHKlu+tTNrdpCl+pBOewQjCuXTl089WOt9dyp/CW0yiMY47gxhnoFy/PskERiCTK7jyUxwD3M6/P/t6QB1EVM61gaOyVLsFYUoG2FR2J0HtYc+eJysQRXyTCo3qyd5GsTxkE3BUtjbBB0iOmbxJ6NYk+ZtgS36oS3RsTwbRp60NXnbq7R8bf2yROblBO8RLZ3VIP+W+ff4b/VL05OjAvdBYn8LM6HB7SVuXgXZnygZEBmVzfn7FiiMFValTBWJ4trT2lb533qwnicx0DQ+783KaSAUqcRTjJ//bFKukIxj6LpyDAo+s3WMxvhyTbqqWxkZ9nKtDJFTuK5CMoOG8K0ONlKwWzhTgadlOGoz51R85yqZh/agU+D3K7eiyr1/vVGzbMGVMSQ9pVXazuFKmK3YpTpTCz1U6bS0lLZdpouDY0Y9c4exN7rlG47qsEQymVhUD1HY4u1QGVJ6o+yZfcUqoxalZI0MBWznMr5sGKJgbNV0pEhOytLjc1Zyi3K/R9MtJYWqd7mJAXl+OplWSnKyooqO7tG6enpisdRZY2j1JpM9fmLNZZ5pt7jnKZaD6buqhD3nCjumVHetfs0vNUV0XcphZs1ga19+9BOv1/+nTt1WkOZ8jqLlZJdo9WrS2Xl56ks2K1iO1fOmhKR4RctqxSv9SgNRyb4iU9ZFnKykDHCLiFr27dP26ZQeGkQnV0lyvLaCjfuk5VnqbS0VGX8zyaFBfGIJaFb917vk22dob016YY47nJUULuY+nwl2bo1Q9GoGQDGMYg6Q+GSKYhqgsXEinCY2CZ5iCxUTo6wUHpWu2JUi8TAkE6pFhwdp8QFYbHXIyxTjlm7bFneTOXkIca3atV0VA0gGBfl2do5ZOrOqLLGBaWKge4mQeBnk6DxeCPimO/05Zj2k8KCfWWZCtFKvDsxFgRYEhsB03eLECMjoid3BWr5uA4b4nWZLF5tp61HnszE77648opP090kHAu9VUrrylRBY7kquroEMZETkDXmqptrFcPVJNMinGtUfzF0T8PeI7TBdhmOtPcruzpdpFdqgC71XPUeDQ5OidZt8t0zqNO3FBiwSnBafadOq8R/rXFcW1WqMhflZ8yxDZe/uZOCZSHLNZVuYckzF13Jwui8/JammJQzNCRiRifcCcqemBAYPd/bStFb6VQzMV0McmkWk1nGgDmMiI6qv9tS2ijyDfq01jOwYIipQCNlJhh3ozOm1aBBHKU7qKMfQ5jncWU7yMJJbDFRBlnqZ60xLtU56gKdnSj0VaCLSNXQ2gGlpKCdmzZpk2e17nUeEBhe+QrQZQOWKlMnFlfYOpL04MvFttFkMo3AUg9de64zmN8WHN7wfjgZReAX7jqxFTFum3KY4y1yigRXqxW/Sie2yx0Z06WrI6ppR/b13SIzU+u9HvmvulBpbztf/WuHVLFlteo2tauz/Xo9eOr1ct3VGhr6iEZH71ZXV6caG9HZF/vVdvGA9mXtFf0tImiLqCW6bOF4hOWRkzCi20nGdMdesI+0YnZtvXPfsjki+kfFaQXy0qYNJAaHNd0yu5ig4HxBhgZc5B/CdDo6jlxGA4iTkgefYynbEbGIbfUcLd4RoGV03IdLy2beQJgsyeSMpi575YQTDKXOgBwyTH7bMfxY2KL6UlHTLhjRxMTSNIcEMYU+iMZGEIwZY2QCaWUvzROOUdOtQ46VIrPidzToBOXal2iMIjE6KicclkOKYFhOEYngWa2CQtmecW3eMiM2R9Rjj6itAF1zDfL7VwmKNYSl1WxRXQh1jqEzzka0r1MjAbWlohtuQCkpiTZMv8g8XmPnvU1rZt6m8uGLBFaijSeLLRhWFHQFqCEP1debaxNz95RhYKHLnj1M2eMR85TXyEy4BhXkzpWdhfCgDttWCyaSmoGTFpj3hBFE1EGfGkGXg7yt9eLcXLmWrfc6WwUh2cksu3VoLB9hD2nejrZSfi00egYKNKDxNbbItQT2ou8oANXiE00DiyfSMIsmxTd1UujqQmXXIraghlij7qZJU2BWBesRVofOYrU2RSJKTdBXh0BugvApUI5ytzUqtzJhpPagDbWor79JgHLJUWFgk3ZVVimWhurH65NosI0xrSiOztmMsqfRHvxqZbvKL0JnjCAaG8Td79DwlKNcZjSDWb3UcInCbFedD63y71IIV+cn0uwH9eEoEonIcVBKLKYmy9InZ0ye/RhVSiSMjnOWVNo+DB//YSrSAZ2R9LsxwfM/L5tsMbDg+1BE0gAJxlBbmC6SddA1LHL1TwPlBS1xe9RQQExOiJY+UX+j6TwzXkGOgnTrivjHNBqZUlbQlj+EhnPDynVdxSxk5QTl5GYqHInIFw/KH+tQqDRPGYUZmluZBfGpgkrROKfeKk5qyC2CGmGtE9N3Kxh4t6amvMoFDU0wj+0fHUXZCeNoMCHzEdZitghHRLpHFsF5aB0gMpEvx1AaN4EMlO9oUM0cQYaxzww2ykNQtWxTD70qTcQCOLxEtFh9kqFFxIc2Zhc593vmCGkdh2ZWgKlWpqH2vIXfThTtthNtavNWTZMv/NvFcT4TmwCEL0v4g6I0ongjZkWcj9iEqIyKxjHZPTlqsksUZZMauESr2Kr0YLrWzdkfQh6xtVa3FMyIuxF3o+maacNayrQ4fqfYkyI4UU40qt22rT3slUNcM14ShtOgwCu2RPX/a++9gytNr/PO5ws3JwAXOeecc86pGw00gG6EbnSju2d6cuiJnMQZzpCcwDTkRA45VDZtK4vS2mVblmS7ZGtLtXbZ5f1jXU67S1pWWaZkyeuSd0jqt3+838W9F0CHGbZUa1e/VaeAe+8X33zOec5zElV5KGETUZywT5SUCMsKIfmJNYlwKEHQFpG4mF8QiicItVuEHZNG1CkuwLe0ykmng8oJH101pURCpQRya9L5V9qFHNGlCVpa6glUdRCZNwlwUiieShmfR7M3bmXLtP0xbdIqsyFMf2cdmpQDyOOZek4yaYifW0S/1IxWV/BLDLYLx5lA+rQxl4VEjnJY0xp1MtqeFTZ9Vz4fide/TiIQ4HRz89FnOhVDuc6hZ2w1Cb3CMr6jgLBCEeLhM8hXgdqn6e0zY+Lw9WIyPFWSUFDUN4kxr55u66IQVogriRJisRJsOxfbtoltxLhQesFU4tA2TzQUsnzqXZSXx652cWdc9sqEX362y7bJP93FCS/fwMWLYqNbTHcPIIUpVSlVoU3O9Q+QaBQdJ8dwnDgJ1/Aa1QRFazjBTHGUpJvEL4tRFVFeXkz9egQFRW4gTokiXM5PYkUs4vFFCh8dY+ncuyg3l1yJ0zPi9OgFlibE5ID4wmevsbL6HslHk9y9I57zhZmWy4a2ieqqIRbzqGxDklkIXR0DHzwktk383LmDz19OHFpUYqdI9B6PK5dk1OiqAlSWkcO6LXtRyPeL8lBKnfaheIxgrp3Noqgg0pYJwnEc9Po5zr1xP45zhgO+lCPSiWrtrECusESjmlBXxqLg1qHwYf79ozuebol25SCtslcntoaDBHSWPe1lHHeO6+7kC4W/xAzmbgkT6HWzRaEUqYDoVoz9nTfxhSO0nbnCudJz3PPTfxvlxDMQJgmTWS4gg1qLeZPK4aCwkG6Jf2f7pChMing8B9XEDyHhEkQl8uq8CX1C6H2xPusQ1y45Eu9IFO3VsRUcJnBWXgCVjfQ6953rZLNJqGrPmEgqZPIqN1moawG7q5wuu4u4ztJlddIX/wwqWTH9SUKWD8UepDvxHJJFPB6nRmIlKhJ5xhy7NiFaqsuI6B3iiqOc80TWbJr2TKzMlsReqj+de5371cn782KsVMwGxPb2EHtqINFsczF0HtliNiZOnRaa9jNw1zZN40InRGCyjPh3z3EqNMb0h3s8UiMUDKLcOpb7PkNBnoM6tpEzR7f2aW1tIFDdSXBRJjlN3ZfQsKgcFa214u8rhagSmptHY99i7+s/w/vvf5uxl09y4vQS55/sRcGRm7ZjStyAze5PL6OCYqLawlEBHR3CcQyiSK2m79iOTbQkSkuJn9n7Qmaz8KBwfBb3v9GFggHU0oL28jnYZBSK6FKGJjcjql5P8IDa0ovC4zIoxYiYvCAq3QTqEL39oiVPLK9kI0Hj8szVgSDncgI0NYtxL1vhbV0U+tRH7cZrLC6+Rjx2kVgsxuKJRSosx9gcbQfXEo47hRbiOGEHTYsrVhFd6qKtuY2qjkrcx4dZSMRZdFZwNUdh4SUGekZ4QI08Md/Np59/nt2ncjgxc4p5d4yNonI0JlpbxeDgu3zuc7PcW3AvccX5sn6HjcLXDEVts7jQeprXNE3ptfvxjwU4dWoN634bZ86PZHFeYs0W12yHEVv02KLZ5+I4PizXNLKjYaTLHqFWBqumV+E98na7YzfuSLZtc3opjVl3NrJhhtZLNuuHsNxTuh5q4nipqBEt3Tl06o8pPj+AXlyidS9KU8YxfolpOWkTh8/B8aXe7dbMKc26To7okodMcpqs74/CKdNqruGjdzzTWXaWvFs17Xw8mV54lsJfaDJMt3OrFFgFPPHFYcJFBkpsp545VT9Xhf62PF/WafNcC2J6WviHZfw+o0IxA2k8zpm5MCbyEuJrazuEfIccmvPvMTNic/WK99nuRL7igzqRjNnTciwc2Sb4sVJocgyt5+IsLTBoOyR1Avl8tM48xBWVY1tifl5E5k6z5KywqDLkG0JP2+jRr3u5C0QwLCZP2GjTxXVd1k6vsSHhmxEbV40JZsoWg5bFlHwe3Nph0hGFjqkvRzowD8rx4crG7wi7dBGnQziOjSObecn4gqLCXurFsgqQPY9tr2Llmnqss+roPDOMfCcodRzGJJN6s6EBe2aOiqtJWuR4i+IxeSgsL4WsZ5rMcoTbNrLrcPwz+Hyb2O4ZHMehvrWJhvZbDd4z77vYInQ1h2lrgWSFDhIiOZ7cL9F9Js7CqwtUv1bFwGDvQRpbWzZnnAxnsnONTHPknD1KImWutIW1vXnE3Hcwr4wJq3QTTTrYoTmTItk2eTWOPHtrK05T08HnpaXbjT66dImXVcJ39CE5ehhJLC4u8tc+HOfbExPMSnyoIj7UJa6V+og54v2iOS6rgQ3lkkgkiORGUGshpb4mSlSOpRLaguPk94hmX5zV8SRFhT00N+fTX5LPabuQSHiYisFifD5R46+mbKiC4WFRXGzTOVBMV1RUboqmHqEXhdy06pSvER7a/5AN+xtcu5iH4j7m3q/kw/J93tMWs4rQ/EQBa6srPN7SggYH0M4u+6fuPajIi35hl4uLuogckVvlOW02K1D8JrvVg0xIi2j/uezfCmWcwm4NGrRQoSguEU61jEmuXChQa+gCqoswNk4LqZoav/k9IpGQQ65aCNWGzG4iV9QU+VGFQZfYjkNx1QAfJ6fwYUnI3OuTnb9J1o47pix6CKmCHPk8yHAJqg2ZHXCxCMZEaYVINJvgnGIpg0pcJnp81UL5n8FNiMqsnBd9JDXJB6d+hcI3v0XYCbNdvE1d2Wd58ld2uZRnABMfaJnijNgCBWR2fq7w1exRYTmoVBQXC7tI7HeZZxu/y4AsLAk9qLSJRwFUUI58tVS8dp7qiz5japQZuHulz6ACO61xTOayXxNiU2aHl3tBrNvL7KuY3V0xVyzqwkJFhajSRSWlJGURUCny+ahfPUHfcAfWiEXpbC+NJe1UWRalkU5UVIXqnkPrX8FaXePixYs4ilA0fRb9VC2V53wMf/gmrZOtnPyGxcSHr7L44TBPfyhU8zzbm8t8OLXHh5OPcGb9DPv7+0iX0dgl9idKcD5Y4kKOSCQeYnNji5dDpczneqknJdbWbPLyUtpoEqO1liCVm37Qc/P+E5GyTYk3k3UZE1xCaOMS2v8sBgzgoOA+etWivHmVmry+G1+nOj0ZWxIlcRmTrmSsBDkOKZBBpYz/MeplVKuXGJXYKBDdUXnjttT0+2uiNiomCtP3slXIhQPNdw6pnK0tET5CI2IkLFFcZCGnBL/8lKucUhntoEZmfhrU5hH6k7Ky27woBAIB8ryXjSqMKwff9AI1w6W8/uZpgqEg+9sBHFtsbcnkWf3iPDulQ2htlN6wCRSxF8VW3jgRmWTVv1r2DhP/YJXu/Ah/960ottPLxHgJl1TPvWqmIPcqY1faCYfE2KUw3ff0cfWqTUObS9u+2C4RQ0GxOiusceEP+ph3QgRc4ySuloU/C689QIXEF9a8St/eZtmyuL9RRHrEWmsr2thFfhGwAgZRM+xlaosJDZndkk9jGEhi6407180kOIqu2Gw3VeBvn0YPn0MPBPA/u4RVtW3oEUY70VNbaDaBNMt4VFi9PrJ2TgHv74YY245i9Y+i7W3kizLx5CVq6tIIo5hirGjl2OdplujMwE0baFyqY19vEezCIINS0bd7SGext4VvxUGxM5yVtyt/9FmCDa+xrkm0XY30EpVtJVS1n0Xqpmo8l+FhoTYRLxZd/aJ8WVRbos3vpU08IuMEAmLwCBTSQDwjmiaqKFFF8dlRfD4fEU8z1KzQUxn1pzSEOTJmMT3rp6ZYDEuoQRRsifmAKG91eKpzB1eu6SMHyXViGAfkOOdHA4xnOKEbJX5dKSTI84RCfay9IVQpAnIIplJ/zgoV1hDcGGA9IAqLCpl/c4aX7xavxM8yt+JQvF3FtjvOS/sjXLs6zsmrFvcu7TKnGvOsRWdRZy9qHkG/mp7gAhJjY6L83DyD/gBBy2Tx8/v9RK0wkYCP8UAAWzYBbRBUPlZA+LWM0zxKZHIQ7QSwi2x8M0Gks+iuB9Cbp1HZp4hvTbE5P0BB3RRzB1nnzmDiArY9anSh2DZ6xjLm2bDQmgxy6osbKLJ/MBlvSxj7/hrb24fb96ik2s587sAgHIdM34wLXbVYfmWMMzfjZhoVPkfYZTJj8CBvhY+wfFwK5XN27TUkw5uUmUvcUGf7aWwTld3e+U4birWbyPYBoUsy/9el+ulWxv0rOAL1zZCkxKArzu6IpJNPr9WLtsVUSIytiTaV8dOaz3qmgMe7dFsXhXPnztEo8fdl85Y+S4c6eCiwTLu/jPjlIFbI4kpoF0sez4gVRYmzhBw/CvrxWcYBYgXEbJkIVovxJhEtCDEyEyQWstgIGfPMWa3To1rWJUY0wqq8MPGD6MBapCGGJGqKhL0gtrdFPC5OnZpht/pxNkZEqE7sFhVwUgtZwWuORCLoIWFmQwQkIq7hWg+qibyVF7n0XDsXZp9COyVoSdTni/4vmA5cIjGtVQ6yPLXpGCK1w7LGcYEoQYleidCIw7qihH0X0N4OS8EwSTvlkxhHzcNo/i0Mj5GQFtFwBhxz1/vbJzSSQN0rKBQiNrrLd751mZKxNNbdkkVQQTOZeYMjFjMoDoPa+jKZ9ArGpJVEWqRESieUzxvxJkMfBjq57J0TQgpREhLTQSErlO6goRiW4gQVQCEHKYh8FvKFDtom7A20rLqKyjhUkzI7+cGbTxBSBZae5Z9qnN/Qb/CW3mK45C3mp6f53KkKWhfLzWJwVQxsCtdbGF6U0UriivMV/ynK7RH8rhnMtkTghCgtbOGS7xqO2slMv5opIZ0lcyHtlpiLRDjR1YUUw7L8BONCjuHWvzuVRCcgZJdghS4RtFzslTECD48S79kn3txIYKSNosoknftjtI/5OLcUZ3j/AoX7EbOb3RPJrh5ax64w2KcD/i3JUB30+kWBs4uz9gpDkSRSLkuLz/D7+V+k/8Iko9vrVKqEdZ3ibu2Q2BYn7ZPU7lXwhXicwPkNiuwiZgOzpq3Dl1EigmpjbC7vkHsuju3sEzjgTAod/F1XH2EFUDRkJscyGc04leQnN4iGwwx7k3tIwi+L8+qkIlTPQaL668iLPT0UN4bQWWWZXWqV9jV09JYy0FV1w+tIJhdKue21x8Hc8ySf1iKT1gChjBwImVKrQgYHnkZX2tkdKTBUKO3jqCOO1JNOFOVTBnItk1yzkJtxtZ2WyB8RO807WB3G0qDAABp3sFWO/xDdyu7u7u1fFMYuiUUVc/f6olHPCkW5JcIhUVkvHstogDYZyGH2i8SQQtgSny0VyQaHL03mo6SorRE+n+i4YHaEUxpkVIXkJsRCsBHLEoWFPcidRcm7zUT2Nx5G4TBFfpFsMIk03Mf3qHfzidd0k3hnFZ2rw/fOveQ74r4LbXSrl7Nz4ulvVlE4NUWDRF2DeMISP3tRDJ8TW75S3ugtZryiDF99AWanYd4h3LnL1q6ffRlyrC9/eY8vfOECdrWN7hPSDhoL8qk6sZR678eFXLH/dB/GIWzqISnhRoQvahaFeGMRCUvEUphiSxReNOrglqZJRZj2SbzuDZimhgmG7CFUIMrKnmN+/n2kuOlw1eb+TpPD2NQY8cQxTJoxHcDXQiHRXZEKs69Hsgk0icSa+T1fz7GiJKMKs5Kyf0YbTVCNxBX3Avl5N8g9nCPjEL3pRG4WhrqYMvLXikKdx5JHh1Eu1CMKQ4fPTdeTkQBSFVOFCeoPB4BVLaDKaSSxr6eoU9o/8LhSMQKeBBspyBV2nSgsMju1QokRvYelWlTUYxbYHGXRGhzIvtCZfBR1UCBAXlWVsX17KSOlfbTlogf2jPnIERcvxtnRGMExB51pxJmoYa/kERIlc2xUlxOL3c+1yTqqmxwGukJUT04QmAwYX8i4iEailKuEeq+/KU8U+gqRbVOan09SIi+/jnqnzAAnkt00VBejnDqUbyFVkJ9fT8JJkFCE5JJQcRAV5CD7EsbMkSSiSRo0Rn5uLorHKcypY33tBG1ti+TmijYV0uvVQ9F+JXqwB8VcCoLiVKW4mCPU5qDcfNRQZDSH+lTgXh6h6nKaGoqZKJoiVlSDYSLN9j9dlrx84yZq3F/iN1HWGVDgIhkzlG3b3PfGo0R78722z2ini9454TD3xGKcT33vEzpvrnFZldycIDCO6opQWTEX43EkC3U2oK5iJKNdbMsb575CruSKoqz+GcWY2Y6//n7GcYUKG59TUMgdYbLWTW/aJEwU/LpXB5dv76JgHD0F2KlIyiWZlbi0nG/+w35+MrVTlYWtVXYkloeH0b33olOn0CsvkftKDy9PT3FprpaLD0zxu3/627xysoQXh1zCbZ/i4uN9vGzNsKE1/qZO8mKPj+dLxbi7zNJSFMViaHLKJKJeWkB+PyeSYupTJlgpesLiU+4IXeqm2xpEepxcu5IR29jbHpVwbYuTtsWSbeBmvRLPWhbnbNNI896EK78OUEeaFMpbM407YFHcK8ZeXMSKxbAsG2kcnb7HHGtbWNZV5q0xo90sy+wGPlwzjq+udtZrKpiUiNfaqEn0y6JLJ+nxibYlh2rbmG1WJBZlH6jEtoStNizV4critL5hkBpzSxQVrTM6YhsHWH8cfeYzVL7yWV7pfoFXNMwrhRWMjQlZFrblHKjYy0rnfH1ZxqGccnIVl4hnnxOhkIX0N5EmkF2NgZ9md9REXIxnBQn1Y7LFGdhco+JIs7e0KEgyMMT70p+XvEnb9vpYR6t4sMobxLZM/7QyYaTmf0vi4ROi7bCTslGelmSxYX3zyPukNjKj+gyFpYXM9Zh6OvELSSamJ4ivCkWW0IKDTqwZk0+fjD8k8xpWanKaoV0RGuQwLrOwaMnC8oINLVfIsbEtB9sypGeWLEOgKOG3xaptc8q28dmifP00fctBFHgeaQBpgkbVM3DuaRZOOGhtjSUtEVIfWq3CGrdZTryPzoTQ0ixFEi/OOGyHFlm9sIr14hjVz3fxbN/j+OZ8rOkS09OfoifSQ7fqmJRYUzma70f+J5HuQZqiXj08pwZmBwdRVxcnBp7k1EI/eXn3MTJik9YexUnrbqy5PrqCoi73CjMvv8wrr/Qx+Fsvszi2xH3PnWBoyEUrK6yu5mDN/D0q/9eH+c3nVgkv/zKFH3zIi/O/TSQyjdRo8Pf5Mjv5EwaB85IWiN2ESrzOaqApw+ybGbNgSaxWVxuUkGTMWq7QKZFQDhPHRB9fV3oy+oPVhKx+pGnKJfpS/THvBBMjNvGMerp1aWZZNaafyMLE1/iM1jAi8w6Nj5qxUClWum87zcU+kstpxQ45fvzcl3eF8mQIqQ1bYk955EvkxGKGyjkvF1UmcStdKhJxCoNB8qNRKisqqIzmU5Goxj5VRkFnlIq6BJHwJNGWXHIcC39zGbG7/xrKwPnX1eUwMlJGubKjPAOJBI3r7yGV0uwIt6UUFeaaiVkyO+ONWVRVbiZ6iQv5+VgrJ9GecWqd8a5lnxGtXs4GJerQbDluVZjmjbP4ysR+xRXidg5twT2shlw0+aQ5dmwU1Y2SeLoPpyiD0+RaHtraQvkhHv2qvMUkBcmcRSo3qRJ33yT/QjNft8Q1CWmXKfmolEnUfo/CJBXkfVk05T2KSm2kXHryOoh1zJmdatRFUxUEWmaojGxRqRgnr/iJx0VB5zyf6fppnpJDVO3kZgyKCxIF+eJcUZqYK5njp83eRcozk+/rMo62w7mB2w532CjG5FRNSCKoCFI/ORJlkjEbZCwigUArjY2WcRAuN1O67JJbLuprsxFZF1WFNElY3mJ2Sia4y3c3evWcWUzkYiCu5pz6vGFKS58na4dZJBPYZlm83P9NyraOG3S5xPSIgQZuydRtkQ8l4uTniaJUXEGKpK5EZqebeY0pHeT+mFAfj+lN1tTAG21Cr15gb62Trm2x8YGI39/Nk3qDZxYdXi5+mZHgLNreoljivU2bmgfPU/3AeTbOOviv5RHN3UbWPtKb2EpwVUGij5SRU2ChvDxylIOtclSWNLbrZCOt55dx2lppbx8lV1XkF4u8xjyUqCPghin3+kOe2o1pMMMZnDfejuZdytx5cpRjFtaA4adqbDyu/rKlc6yTvep9Zlrm6HJfJVFRSWVlhGh5GTmWRbFE1LJQbi55eQ51vRWEq11y5cNSP768ShYSc/TbSaR+k+s6R6Zf5pg+W6FLOBnRyu2HnqFeIphfgYpqDr472yTCPmFMOHXZfqtUe+YKY9b5NmoruOm7qlkoIdq+atiTW89Voq4qqiXyVEPEGTtAMB0/fj6OnCCL0NDnzXWhkNk0yrSTIrd9UShEMR/O2nl2E1Xsytj5HQldlpdwo/fgwXZiMdz1t9BeGZt+EfacRNZJi88mzzN1RWy8J1SRQIE69HNChWK5WRTc22tWum1R2iJmn1CWfbDOl2Q4WEV1MEjSl7bZBmVMV5LodISvq5IjNAi3JC62Qgz3CP/XhGW38JVT97LQLl5+bxwNViGdRrF8ekJ+rLYFzve+R1Z0bVubaZB7vAZy9rBkEZ2KogsOUhi/REAJUrkPrN0CYpct8nWerZVTvPrek/R9Mcmk7xtUlE+ht76GJqOoJQ/pJBptQD//JeT30/uAUL0J7mqX0MPKSnTSK5MYfNFfxbK/mi6JvOpeA6/0joloBbsol1iZgSbuqRJHE3TlK02f0WsWz1R+WdcVOzsZk0eDMuz9caSnkGLk5IRYXW1lUGZxU7VQRsR3MNhDW5vneDzTSeUZH/nVorUp24l3rPhENKY08sT73paIhEVBcQGVlafJiqEolelzjhhM9rJzaIfv9wv/JfO7XBn1fEimvjbNglCW0V+kPVQRRgWmbVP3jypk2tYbL71OGCvaynRvDA34qLnQSe55b/wERMhv4jF8PhEssIxvLpa+5oHUvIBmR81iVXj++hTM/ZtocZyV3xSPtBTSvX+Gmc92s//hOlIzKtvxkFPNSJkxJ72GlDFFdhcRWulF2z6q3T0KVUi4PYwKRDAo2q8zqfklAlYMRdZ5eO5hahoa0NUt1F/JiZNFJJOvou0+r3+5SOcxmwk/zY+ZvAdf2vLh93eip0XnWjvDdgDdO4labNT9IsGF9zhrXUBlxehbb3uMCrtIzoHpKiWtEqGiouz4n06hPHFeESwdE1yW2Z+8MWAWkM1Dx9gmbscRZ7uiBCYterfOY1mip6cEqYQGibiqiTqjWClfj6VbQmLdWHxEFcK6CcrwNi8Kb6AzVYy6qyR0GVcmArdLom1dR2yproScgOEBl9KcPo7wy8VxhRMQsgqQupArZjXLqCxyUse6JntV/4pQt4hWG+qMslHR/i2he/rRyM0dRh9fSpFG2bTF/O4stm3xrdolnB7h3ucw97yF47jMrLd7g8nBVQC/bCZT1xjxBtKW6J0WyT0Xv/ysDqyhunykGRol2nUBaRWpHJ/7OdbcEJZclhyH4kALtr8LR1NYC1fQXMDY1K0NpHGTvS2+iCZc5opNx7K9zmtyH2S+k0lyVHeyhfo3H2bCtimy5rIW2wU55Mg4eqckXFnI56DP6EjilEx8fiox+kEHz2LMTLNROo5nBpsS8hlIaL9MQFR4RozavZjAtHRCeWvYBD5l3ntCyg7Qqxenuw6TtRktcn5GKCmmFMLVinFU9wldFbP3mV1cyjTX2moicm2Jh1pEa4qptlLoSa+POzKaZ473W7dQfjlpgro8UmaysMRJjSCV4cqjWM8R1rx4LzWhDAm9IaM1tekAxVRdLfpeDqDAKjpTiDSZ3UctH3JsM64s9yjVRqFQh0uT/QDldiVOQPi8/tDjiAd3Uonrb8QW6klchsqhWqgvgLRKoQqZtCfRxo3PbZRojwidcHHnXPO8s93o7CCO+xpSsaHjOBh3k0idaLYB+Uxd+d0p85w+MbYyRjgaRl/f8HIK+NH6KdzAMrlFSfoWRrx+n36vSSmNekpJSOlYI5/Q2iHa6mOkUuLTkvFpNYsszbOujmh7FyPPLqIC4U6ummA120UaRTURZmrT5s9Tsgl6fbTfEpqtwvjyupn7OBtZDxEp1bKmUXwpVKHtUDczc8i/8JfEklp89hruw4/jy/dR9kgZYYk8VTAih8ZbfZG4MtTsELLyya0UrSqnqKQEfyAfxymkoqKCYEM5+c/Mo3xRHzPIn64xcep5MV4g6q+D5T0sVRn/vyRjo35mUOg1IesU2RpFBdIs87n9DOX/Llapw+v98yRXhpm8r4CJzS9gKXOnaMSWcSDVS8aB602WBRLBF2oJBOZ5aPdhnqhqp7TU4nzBCnMP95pJpryarT0/4Q/PcXGigNOrH/D4xQmMvViofBSVzCKnD+kyWrnXQCmdMlRqUx6Usa+qB13oRPYyVRmaS1XQPFM8LuKto579PZMpM0CKaMyVQcqEwjKYezlZWeiOSJ9Q60UMf0whOifkN/Uz72yir8Sp6hBaFvUTYnRf6JyZ2Au9enTLRLFVgJlUu5AcqqqqKCsWtT6vLvuEWkW5zGISyySjqxSyvHY+az5f7BTWVRGrEB3hc1hbCyhYYybMNlHekv0eeXlpbHhZarJIUVE8WYFaHaOGF5v7uIpxKf8M46FqprSE9EUKlM/KYSfhS9VYtqislHFm2mK86tY2M2M6jkzxFiQklLTJGWqjbTl795jUNKHDi8xNZZmqqmLjc8rPR9F8pEGUuIKqfBRtlPFkZJ/eIpvCnR2in+9A+jxq/zyVQ1/CKvfxwHgrBUtn0xDgEqH4Dso7mpgo+ZxYteX1uzIkm5ckHtqsJG/qJcM95rW3HaygZ6ec9pJqLiwdjtKvpVTvYI/MpmkzJKP5DZj/t3Qo/uWQuDK5DvxKUqRVs9l70PTxkMQjEg8kEviScbq7jeYULBU7B5ujYhR3aYun4N1p8UsUnhbqjGE02XzKbzHTneTV4T3e/+cc5Dc07bIsEmVlxOQj5dtT9e1eFLZNxq0TpweJJ8KEIyUMTv9jVF3M2vi0gRje5AX8MgE8X54R3WczfjstNpY7mVMj6u1FvS0kvtjO61MjqKMM/c1ZFBLz/gSWlqkbr2H43oHrOAcPi4Ull3lbyLEwangQVwZydt3zNoT2xflf+Db24BqTFY3sdn0F3d3DVv/vI02aMP+8PLS8jN+uwed6E7htmdyvB5QILnYwTNgN0+S20TJ3N31Tfi50TlLjcdLYmrrOTsWftQP2y8AKbZ/wW3WcP9fH2S+LnXdKcCezB/qUpszgOy3ezRHqOoEx6Uwg2diyDc5eYksJdEDBG6VDKyQLhFpHOJbv3SNHvNXOO6nrEf6ZZzqjlPaxhcFo+5mammJAHj9SyOv8m2aQXpYo01T6OuNCjtE6XPmMvfseP5rwUZpjeWgWYTQmF78jrJCFz/Ud0ajWtEZCcWPSSZnCfKNozM9WQti9YtLvEPI7DMvkQ3BHgqjnMqofx2Qry7jm1BTBgHjvTQPztSw/33z3vVuqt0GJ6oCQ68PvtBFzRjihLyAVsyY/0b517Frv+CahDjExYTSeVZlF5e7JY2JMnlgwPpWbPkM7KRjo1JS5nq+5GRU3I92DqsKoOkynhmguEnd3+mgfG6NECaR78auVidBlnOEYvSriAXUjx0U5Nuq3CT32qzj1JhudbR3SOlPimYinJLTi4B+ZQC3+g+98EnfJoVg2toxf8GxMJq+7hM/nO3rNkB8NiS2Vk5k681hxTb87PJf5ZeJmOmUWB0cmuU9Ozq2Piy2lxv+NqL5vVfxo+AlUUZHxXYSDjeUHt3tRiAwj1TK8IyKLQvEc9NV98iscLn1pE3/iekns80gltt6VWZFzXWOzPTgmLPyWzwxmmdzBNYUi3CvU0Yl++jEUFDs7UWx7iMZxl8nf8N8gUU+SA2rhWB1O62O82SLUFUV6E2PnvkkFnxPKF9/4+Vac7pdxG1rxf+GbKBZgJv8+1BREXV2oowOFQpyrdTkzFDBmjaIitDiXkShllv7n3uFXH/4ywfEpNPIO+tqiUV89u2Kljl+kItpi3asXV0YTCUu0L7VxT34ukYifcK4YeMHhge5jdhiWqV+zEwqRGfBWrWpGvAGRtVMKWKjba88eHcv30zAhcq+bcrGPW6WtsBViQHbG/bNt55YlBryJuUk3zwZWLjGp06gnit7ZRW8vo/xMLbABRzNsd4qSv1PC88vPo6IC0nl2a9nWKXI99FKzsiNqixVj194lvNuPto3Zs9KpZDwwburJtUlDFv2kFtqgE+DdqS96g/Qp7g4f1hS6OA7q6JdwHxfO3Cl22vOxOgKElIvkEJbFkD9MfWoi9RkJBI2pLiSjjbmqRnoy65lyW8/ReB0W0WzxEZKPTomhQdHnE74tMzZk62C3fXzbpqKbzbhzVMauNgj3TzLYeAHbsnl5ZubA7l9eLq5d6ybQGEQlEQxWfxWdfYp6fyt1StIW6mI70IDmv4O60z5M1Q4Tz9+l1evLxdYAqyHThm9sbjITDGKoqFPPt43kElbKX3OTCOew8ScYGvFBLsr4xnJk/JivKu3P/DiS6vdpsscfQ/qEIgGzWT3u99vvaDYXfnLjbtqGmkkowbrWGW6t5Vuf/TZT/ggNGfQFjuOQl5dHoDFG/GfKPEe0N0ndiFXSq+hiV6hBlDXlMf/BS0Qq4oRzAuh0Le19Yukw+kUilfqyJlDIeMzj/AhVo6r7s/iAbkUsmaQjY3NlrF57lCaJlfOF2KX5TFwrQ+3zKCIuhffIz8njYuZupOAijhz2wnuoxEHreRRKNDXouvkSLr5YgLUg8ncP/XZOaGEaVVYaxE/UPFeNVU3lxfRCHOnwU/H49el3D9AJ+cJREXk3SknpE6oz4faqP/rM+TKTb0w6eCbz20mkAnbDL+Hfut4m4Wg936xtmjwyt3JlsKr+2BIh0JRLrVXr9RvP5FMs8s7lUVxsBlaFzGSQVBJbNiGFmNFMlmZ80XuPpFc3qe9t+chTL1KAYNDm3XcbUbIKrX7GaDJZEdh1HM3HHETaNqbIgwl8D7Pg1mISwXj3tw+Pq4sZ/TGEVqq9zy5SPVGvPm+lrgIywV/NzaLBEc6UDErMUppo7+PIoGh+9VVsy+HCxi9zdeAbnNM30Aufpu63XsD3t36KC9/4KpZdjy7+FuHwOR575zGeGX+divf+Loq3oM5Z9OCDXCweR8FRxn5xjM6vXaXyIFd7E5LFRRnnsmEgvp4T2eZW8lBHJW8BS18nouvwgt2i5OffRWYs1I8ju43C7wipjC3tcL+KODCLVwRRLPaXsygE5t7gN+O/QpOELYvy4XJ+60+fJycRTOP6JcLhMLOzs/SVlnHvQL/ngPSw4/YNgpyyBsQSsgrRF4dpuuzZ6i2jwl6SiX7ObJCoosxqjsqhcvru6qGrq5Oq3kfQpJX1bDeUVHJs1+HEygmkHGznJaqVx2+HPiCycJq7isTQkBkQ8XqL6dExrJ78dOToB6vM2iL+mIWaipH9KmVlovsGCAPLWsFniaXDJjHr6P8nvbpfyfytsBC9MHxd9tZTWjE7uxMievIunrdf85gVrWyzjnfNFEzV5/NxYjmd4apG4kmlnXLHtaUlK51n4zZ09h9LrOv1tSZSGuxhmZufZnu7j4M8uhILWjhI/zglL6lKRl2FfeJryxYXJCY9bczEvdyPdaqHYNDl3XdPYBagKaqU2nXeQAIyqWJPZfaD4+r7mL7iHdfutZn53ZhXLFvGxGlZHsb9+Pu7cjnZ/ARqOBqJf7vaxbJsLMvCks0py0o/l2WhcXEquYoUwrIWsVSElkfQS2KlYcXE2zxYibqGkL10ENORrhMLS2mzdfYzrPBxSRgTUhpIomVuztR7c/n6SgHWJ8lw6AidMM80dUw/cLXIivUi0jXjP3xtFP3y/u1dFEolclrE0/kDXNyvpEReUouWAMPfuQt/5Pidob+jkdj5UxQPDjL2y5/Hdm0uvHo9yuZMiSLdR7Q5SuWTs8hJ76J6WlqIyjiLM1U2Rw55yuV3Cmu42jTO/HyUnRPPoXOWQZ0ce59DYfMpXHnQQu8lSSarOPX+VwkWuCwqiSsLv0Rc9Rzs7JaWUPU4inq2yYkJrkgkk0KFSfTUXSQCojJ2o11x9nPU6EaMqUkMYqkJw+sipDKUO3/dhC+ZO1glHeJWLj6JgLb4mkIGGWML7bUR03k2lRq0FslkGvcdlNkdlZeLWKnYfGyTaPQ6MLj82zSBfFLJyzOBk5/o/GFMhPShhSPcQm61B/s9L1RbgaJRmiw/RcldXOWTo5V08JNiPJjvp8Fv8e7DSQNTrq2lRLmcUjG2ypDiWDKmqqx7tSsdoPUJ6yCS6keWRcuFV/lbkQGW3xWV37iIO3OGc31TqDWbv6tcZtHb1CZD4XbyQ7em9f24kp/FI9aCcizyfQ2mbysPRbtQTx+q8ZMM55sFrTyIonGUpfl2cl5dOFrAIJqOGz+f48eb1PM4lrX1uu+WSW+dHusTLa99rOukpN4S/mQhrsYOZeQTuigsRyTPh1FOiOrTIhwM0LoSvb2Lwp4CDA64jKy+ykKiFL8tQuEQjgK8eTGPnHD2i0VlIHhOtwhcFuf9Af7dT+4TcawjDi7XVRbZlSsPQhYQrUVJ7u/ax68ggRyxc0qcvnuA8JAYGRmhtjYjYUpcaE088ng9V1tn0KB4850LWCfCRHYP8/6nxHNY74qIIhxQPztCkyJW3ULowqdosBt4QtO4Y6K0Ssyoi4h/AjvYRyi0RqeKGPIS70SWh4kFC7hHl8ipC7Lz6TBJmZ3ha8c8w7REU8oZ5Embfhxm0kwJYgjJbnzcSkEBi4tvoUguUh+attPIm+M6Zb3IrVVW8viQzGSyJWMCdByDxLjdk8ctS55MAqiPed4ppfwIQTTbyfmSfQ6c7bEBrBYv17dkEC05OXTrEOxxIN2euTITfp+EHQ4Tam+nUGP8DW0RVh2O8ghL9B1oeSEkx2xQvvDj1UG/5KECQ/giSRYiuThBCwUiKC9MJEuTakAa4JLGGEg8RzAapun+GKUfM8VrIBDAddOQ0IgX/+CokoA1jn+xn5LP/xTLJ0/Ql/TRFylHixvo6+/gfjXI69Ehxh76p5x851303OeJPNDPhXffRD93Defhx9jZCXK/cthZ+CbOO+9zYehd7pr+Nm7vzyG9xY2ymBlT0acxyLtpDpA5tyhLOrTBukUplYdoCwpdTPeNgW8OI+vjL7pdEsM9FUy88m3OWDYNDWJ6wPjjSktLmVmZOdAcmyViijA4dJt9Co/oU5TqMsvjqwxHEgwUT/LXX5lhpugZ/s7f+Qckco42hE+iwipkxGmjv2eHd15aYMG20Nnpo8dmdLy6UtHbIfRkKwUnZhm49m0enGxjePpBvhJ4kO7tB3nGaSbsONj2oQTjPlFdX83o4KihPz5RiuOb5x1f9sToSkw0KD3x+Yzm40vtHlyhDXHPve+y9NUAdtLmjM7gc/xYtrGzbq5tkNj5BstLa2zLwjkrNCHOfqmQlenf4V6doPjMMK8FT2TVyeF3TzmQP8mgn5sTU1OtJNVCj+5jsiaEqiJkO9VuviOyLAvXH0KPW6hWBzEixzvPJjhO9Z6X4ZUvkHhDhm56YuKTvddtEUsfI+d1dnscfHaFz6onrZHdukwoE1HiUFc3yVhFjBc0gMoq8DU+ijRFscSEI7RpNgKDmkbFnejqVRT+5LtZV2bDkSNx/+AL9L30r/jtp18h9FAPWnmJwBef5asnOjEQbDGtCqQWuuTS80iAmZnX2Pz2/WlGgBtIl9IMtn19fdTW9pIKZt3QBo4cygssRgZctv+Rw0z7Rfyuj22rAWfjFTQXRg3VKDRGUD04gS7ccAjtBQhtr7OZSBgCRdfF5zMkeQvuSQpDVficXMZGvkL1My8hhaiWlYXPH1PGgj1ko1OpaHeXj7tLd3ULeb2nb/DbpExipNTn8/l8LPqXDHEcURDM46QGsG1xxlnHJ58Zy2vuoXTBhoH3ti4KvaoiWlGJKkTXFTHgq6SndIlkZITu7nIvdWY6ybUrL5G38pGayVUerb0xrFM2FfrGDV+2KdrEcMEsOv8gDa1JLhT1UFlZgCp7kdVLVH0kb5R4+5V2NLFudopv9GPZJxnLgmkZZMTZXNGcIoU7hLA5KxFVDn5/L93FJSSjIjfXIakywipD+jrKqSQn0ZHODZslpUg+fDLwydJwLYHkBG9LNHr8+ooJJcRuwRwNofIb1sn1pLpaVFY2E1IlRVYPlR35KJ5PSm0OSuwoj+xoVU/2j7lmXOzlC7fUICPy/TY6d/jZKtC0dUDfIGV3dEfGBBFUhsrsq0Ul5pnK9AnyUf9lyqyyIrszpbDQaDs7ChDS7o2vMyjUfBHJoqJCVESEtTWNNI5P8zw0v0H+8DwlK/ejl99G5U+h7d9AqmGzpIy4W4PPJ0pLRFekiF/+4mUuNVbzTFAs3ScvYG6PRTmUSgQUYFe7qGjfaEQZbVBdLWamRMXyIIGBZnpK7sWfP0JFrrAKClA4H8sqpKIil1S+i0pFkUdRE5aQVY7aa1BCLC+bRf56714oEcxCo1Ui3ZX+XCCDZCsSdRUm3ujG7ZIykaY+T5l6kjIy5nkSVAbSz2h5iYzfy5WxOKeosF0dkDnedqk8+l2XUlkDReY8uf9j38+k3E19TurGMRe3dVEYGBBP3uVdvEX4Pn0JOadQpTg7Lr64JmrcfKQlXJ0hLOOUqSwvZmy4m0Y5fOfsFs68zaJmrv+SB2rnafPCxTIpC48cu4V01sPLu9hnHewcGy2L6spiRgZb6W3u4+knH8R1/bz7zjH37JbhhBmQMT2Fw2htJcNhV08s1sZDg4N0V4imrgDtvvF0ur+Ai2UnCLpfwnImUPBt5L6N/HUouIndejfB7vtwF9/C6h7C6RpEw4Oo0dip3UqhOou+hwLkd2TvWOZ1c/jlGQl3N8Twm79GxUA/zhdOsPHsRfT8T+DM+rEKzO7AGbiEVXXr6QcVEhp1MJh+L6m6dDRK2jWaz5a8gZb6zWvDZGoguEL7p9Co4YifWBO+wC0+y8eQEZkF56Q+pult9pjvvGxePT0iL8/UY696qbFqjvHbpE0llrWLz2+x+G4DBmZqNkdjMhm47FTuZ9dPSDanXFNv7sQEVuI0iRyLpWGXktoSWiZ+E82exEoKZ0DItvHZDq5ctqyM7GdyjTNxZscgx8ZFeaUYlmtQTuW7mHiQvPTxpUKjnlaUm4sWFqhtEL2TYui0Q4VlITuAvTDjLeDTSAWsKUBgYBVVmYV9I6seLbI1yAWkHNa1jtPloN8TGjbmrFtFPt1M07N0DL7fazsTHV2U/ZslmmZER8i8f7nE5yVCt6pRHmEKkAmki2bf40gfaZGhfD90vTMy7AY/Xt+30KfOoB7j6zJ1e4KjibW2bu+i0ByspsH1dud+sZsXx1EEuSIaEvkR4TvvYGuLc6okJmOOqXOrWAiOI/UzPdiHHbE4l4EJnpeHKpKMY/DkSQokKn1Rg+ZxlEGh0YtkebTcMWoUJXleSKt0jIzT2d2JImK4qI+rLSJY1UTur34dOY8RnTpUkZ0yO/VMe6lloRMRcjZyqNcmKTuyJXG+QehdpfMWOA56fYectjzeXrhC0eir6L1fQHs/j56YQm/9BB0FK7z3yM+x8ZM/T3VFDaPng+ieffouTWLLUDQ3K8bp0NeQm23bDEvYfUc7QLnSvPBR9bFVZBG/Lx836KL8CNHgMMqbYiG8SJFjFp/zwWYG3eIj17qxTKPcRVQ7fvBd60kvRiV1zHnhs8Xdh1FVW1uG3C81iHYODZrIMQPrNkhQZpKL6EYq/k3w6Cnp8PqIVxeuxLAC+Ap9tC21Ee5Nx1Pk6vxBtr+q/Ht5atniXNR30H/cHBGsF2vla0wXTZtBfO0zWM0DRDaFSsXpBYf4zi4Du6eI2s8bqOdyBJ2xKC42qTbV0cG9neNsaI2OajF6oN2cx0zG95i6jgl3XwS1icHg30urtoioEKX8Zq4IBG3eUI9BBYbDlLaKxikRXBrHrapC7gZdO1MeqZzxc0RlYQWjB5N1NkS4muzkMGEkm2hqcqrNRW21GC3iEJX59eR89ucOZVOc1MlLgHQg7agj6LWd55s5dM1KidqAaWNXJte5tSX6bqVvLOlQ5sBj+nOtDGdU5jF+HRvvE5VDdi6FG4g/s08ektwo3QGzQBrK7whlsg5pZLcZklqmMsOM6JiGekDnOSOHGolxbSGFuJA1GI13/mJVI5pcISLxs69dw7ZsjE3aHDfsNVKKwsAMMlHiCjUK30UPDy/RqBYuyaLVmwAel8h5LP3SeQlxZUP0rNzLztVlkw7zg07k1qIPMtEJVahxErk69MxGYq0xqtxl8s5dMt+dPIFeHSdlV/apjJjmkcpR3o3NPo6TjnBM5lok7TZaPURLMijqww4/G6uk9kjU5R5qLTpyvSJ5tMsSUiuywyjXy9ilDbo1RYc6kJZQfTEaFWVLd5HTejSTk//IoD4kcbFVa1G+a+qu1hah18wOMVdCFRfRnFCLSeRu3Wiid0Q8R7j1MrxQtzIIbiSDSmPkU5QpGYyk15dPkimvFUdpdFCd6gj2BckrF7KMOaNcZjHKdUVtYoUs2pSYUKWPk7UvMFFe7vUFoTobnc3GqLfqK1hqJiCzo945+M3BTP7pYwPe7xd0gTWJvDZ5xGoe6+7BsRfo1xqf1mPYtsjNNd/brk3LuTQSZliNbGiGlP1ZssmbazELpJaQitmWmJWou/g0jhZN4npPXpKYU4Adj2fLoNnSv1d9Kc7UXgXG3HEoTuY6bZfq61GvvzbclYO/zvbaPI4CxYdg2PUcgALiMpaGXB1M2qsyuRqK/MoCSZi6b8WYrJ4lT+EbbCwueM80gV/VP14/Th6HxLx49LugjPmwMXP8Z0tvqr+UCc0Zk16+8lB8iatuMRH9JQWv2RLLVgOWmg4qzZJNhzzeGUtGndJJJAertB/130+HxN+zv4Ftuejk1w+uV6QMJMcxk0qRJYY1j3SGn1NG8hoZ08T9GYlbohLztrD/+d/GvrsPdQir+gNkO+i0Z58cECo0ZG+LbcKqPr6CXYmTHjJjfNJm75dOkXJKFUoMy4f0FHrv8QxCr8PSQDTay9ycUQ9Xl/xsBp5Besj8viSimxE+/eivU9zZeejcaTLpwq8rQaHFlOnJornJosHLE2DqNICuPItGK4+cWy4dYZE0soyBZBbil48T1gljs/ZyA4QkFvqEim1mrVnCCt94QZBQTIzNjJCv5A21hDJl2l5vIFbG31OHvvurkHrx9lMikGEm6JCoyRWamvTabgljWipC6sdqa0f1JtJ+VUIKGny9zA5vWSIWs5maMvE3z0kH6TKN2Bnc+SYexLIszyzlYfutFC272eyY/21mLJufl00otMTCQgYJXgb6yKqqJtQ+yNNapFTC9Ysn3hX1CWE9N8rKfg8hPc2nFKCn8Aojw5/G1jbRrRPMzDlUyqJXC9gdIfIeEOPT4mSfRaQvwjPPPMNdJVfwL8yzGAp59ZOBz++Xl/DJQS1LJhvbQT0Z5FaZhJbn0E7EtLk9hipeQt2Hx44nI0J3m3GWSrdqTU6iePwGE77JS3BS2zcgyLO8Z7KO8J99bFk9ztFtef1mMf3dnIU8hObqdfp5UGIh1abeMTGdYmrMoSrfjKvbviiEw6KyQhQogvwRKmpSttttYgqlB3OGehXr76f0/vsplFj9/BNYtktjwTeIyDhz/U0pp5CX5eykjqhntcrHr2IKGrMHfkzi5zKO88tEXn6m/SnGm8Rwg/iFn3gSy3HQBW9FTgj5zYApiOn4TFmHZK/HovuVJ7O/r91AvvhRVVKiKXzROP06R/B3rVKjq0gi4AT4Wv09NHp0Bm1hMVaSZPDbP4PqsndO1RIlamSswYddUYeiUWSXoQazQ6yWF/PQ0HAQFCiJ6oioyCAJdJ0wl3ofou4QNLSiQkR6hZx6NO7SlBNG1VPkBQIUqMAbtAHq5OBTA8ECUaVqDqgYEmagJZXE0fUWxcOSw82QUAEd40g8RgZ1DK7fkzO6nZHP2VJYKE54nDoF8rTMzKjeMaGVXG9QF3gD3I+UyNKG1STi4TDPbaVz8xZIuK0B8pKGcmMnGKR6+xpxPYy0TmdnDl/qeh9Hz1JbO8D4/c+jvdf4fNPn2Vi7xst5OzTHzvK/P7rJQEkV37i2wP0zX0VXF9DKgzQpl0K1kZrUbHuXhoZ7UTKJVldpCoWYzM1hsW6TgKrZsGvpHPPReUmcbsyhoKyXc/oNWrXAgO9xruTMM6mnmK0q4JUB8YE+Q1zrDMds2gZE7ovrzIw/ysADndQ1LVGeLMftL2d072Ua5ZIVyev1J8lC0VYUPi7KN0K2BiSvP3qZAMPKRvYcJ3l5TLouS/JhosKPOy7EUXv8IQk3oK0Z9Ak1hXp5vpDrRoRbpLVNi5bQBQaiMsimTx9/ji3ROVlKrPqdA4e8o+y85rd9UYjHDb2wJOIh8anutJd/QOK35ZkQMpAAYz1JrlxpoFri9Mwuju3w1bu+mn4Zz/YWUiXXS0HXIy8AZ1BHdoNfk4yaui1CitOjVS4Mh/FfFaoVM9/ZxbbstEp7IOv0KUyzbZOTE8Q+ltzNh3SBYLuFfYi+Wd26LvfScDw9+MNxMeLtZAPuBmdGJ5FrdotupygdCPJPFs9RWWkGgU8+XLl06AT1TY+zdd+bTLcMUZGXi+wmugdEX94OXSdsvqZd1P8GctL27Q2ZjG0KztFoFzHntxidCGXverZFT4co36xmI/Ywkxd97JXGUOd5SsP9VHoOUjlhev1n8WuK6l3xlPUpMtNdOvLsu93KSFx/WBwMz8zHHziZEpVYu8VjT8slmpUI/SaoocNySrSPiY4OoZkZY4a80TNl2o+HbnztA2TIjHg0ZPGuZ08Oyltghh5CloFybkq0DddRUFNgdsYJoe0pZpxeSnQK9TUjXz9DQ0OcVBdtqqdRT3Ku2aWuTuw2CL/6sIcWCeopilXsLexef3TEl6aEnZcmj/MHLEbGQ2bCsrupGAweuxse1hIHpriQaOnO1uIlGZ/grDAO3z6UJ5wGhwENMHTDNrjeXJDD9akqZMxFn/Lq6XrH2KJ0R1QqSJoA8jptdEPp5+NGRGdKnwxIY9frLzfjPnJ1PJz9sDSoneS5X/c+d5JJQy/9JZmPUmJlPeQIrvxcmvAoDvxpn8GuPZlmPtyaR7aF/0LA7Aq8CglIvFkrM7Ecdq5Opv8fV7b9v0nGJyDZyD9Oalc2fmmbS+NCDeKd3/Bj28I/kY6ILpBokR9HojCZ5Le+tEBVVsaspKnM2i5U3sG8jgasDOoWkr/ImL9ePnBm+2nvdymp9cjW2kTXWIjl5wYp96ipe9VLg+pR3zDK6UBOB648COeQcIIiYQXo8wm/Avg1w7Bc8mTMF93VoqNSaNZHXaHFSDDI4OlnqM5EYcyJ6W7xS/fZ+E+7uONKM23KSXf2im006kf1wqpJxXCk1d0yr03k6LqR1Kn3/qSDJ1OOcOLf8Dj/J7+/TybfhyPD0HldqgzhVzuazMNoBmMex04vUsxoDYdQLW/LLKYTWxNc2Qix519DEiuDIhYSy+P3MmgPpd/DFZPOpAFEWEI54/gGbCwVkjlB+g7Ght9EQueJYQ0TUBdJVbHgaWgByZuQJ3FcMbspKi3xvE9IE2hujpHNF+hWk+ebMsFn/bqKitYMmunQuEyP1Uk0Ihr8KchpH1KUsaCwPVLDYY0T+IS4fMlcZ/xG2n2qnrK+H8nuA8c4fFNiKc1c+vGkGkVa0NV+Y/v3CV1uMuSYxx0/Yp4j1acd3ZgltUG3aFZtGSHv/AuGQqXaQZXZC9etFFu3WHIlhb3/yySRkH6wkfr1P+iH+pGYlSwLXfzou9rbK5XrWvrOhe8q/kPvvF8clf0Xtnb+2rb0o1KpydL+i9JHkt76L5L+q5lynrsYkZSjyclJjUc/lPLN+d+TK1Tk3dPW91Wif1Em874ffU97e+flOD9S0T/6j/L97oRy/kTK+38+ErL10Xd3JJVKslQoqd3/kX50TvpP3/++Lj0d0MIf50uOpGJJ+nNJ09J/+bfSn/1L/f0C6T/7MyqjTPoDST+8hXr747irb51KPfNH+sP/bUCb/65eKirS/+Hv0b9XryKa0/dULkn6Z/pn+tf6N7L+4/+ti3/+h9KP/oN+KOkvJOkPpB/9UPpz/l/94Q+kj1StH+ma/kA+/bmkP5L0z/80rn/5ZzEV/PYP9L3/hH5Pjn6/pFr/Z1gqkuRK0r+V/H8h/eI/LtFHv/9D/fCf5Kjk3+WqSAWq1o8kSUkVK/gXvyD9+4+U82dS+PvSknKVb64gSbIk/a6kvh9JrT+6US18dAs1VepdUZJsSSWf6CrSvj6SK+nsoTPDkraue9ZlSZdSH35g6jkaTWjj1Cntw3XP+0hdkvOkNPUXkr6n70qS/tDc83vyGi5d/sj7O/OL39VP/eqf69sf/bokKfAHktUhJR79HZ22fyTtl+mj3aDk7ug/FTrKnzUu3Sr3vyo5si703yR9X5LkL5KaTpgx2qKPZP2RFPrv0n/3j+mHX/szfb/5T/Sb+oEk6UcyfVf6rv7ih9K//RXpD0nqZ35wWtKM9G/+QL/3J/9V/6rmj/VHm38kTUkfffEj/aH9L6T/9q8VXJR2gpK+uy85jrq+dEHd3amXmpHGt/Un/pA2JZ1eG9Lk5LCKunpFq6Ry6T/re9rW/3Xd+rxZ4Q+k791g4BX9wAMIZ5X/4L25JNlSwcXrnl9gSb92Udnd8daeTO4PPlLRv/iP0n+Xgn8h7fzLFum/ZfZjV0rNX94jpfr0j1JPOCftl+/L9H/n4Mx/Lemf3+QJSiVZ3/89Jf/4K/oj5WvqT3+ksT+74cC8zqvcYmmTKN3cxLYd5tbXD1Y3Zchmhjp1Rou4cijbrqHTg6m952zgyDYRju6sl5nNOJPOqwPFG9CwmFf5wS5oPn/eOIfXxXo8hr2Q0kL8qH8KXU3f3/EiFH9tc552iRZbXP2WSYRu8NSzmF2wcdqpSyZOIfUOeTI5iDPfa0PGPJCzkf5u/uPsIIqRPpve6TiehjUygmIDRAuHef1Lz1BiGXW5SwZmZ+kQBtzLI3Da+96S8Z90a5VsO30dUg39Mma3Pvnpv+shqkZLGZUxeaw7Ds6gw/y5DwzqI9TCvNXOmAa8QLwQPRqnYF5oUjQFRMWGmHOHyFXca3c/85aVzqlwQ03hVmTWtInkvc/0j3m9v0Ips9BQEGkt4/t6jPqefeyGjNb3rBx6Dv3myOW0tc64M00q4b3fL/KtPIacIfx+P2ccP5N+B59tGUZMxyZXPp6QQ79l8YjfJSA/RbLocRyTic8Sfr+D7AZke8/kpJzN6THrSigknLX0d7ayzRau4+US8BlGTssRkov8flyfz2hGfgfXSp1vG8RhCpJpZ/aVT2J+WSYFwHCkI87gVB+/7vmW0Nz17zvkWMStDZxUgNstP1cdUdUwmvXd4ftEOHCuO9c/zlcm7KFJjs1jcgOZXjXggK8vdyA9Tn2bqDlk1r0lq9CtLgpSFYp7nPPxOPGAOJ0RjFEhUas9zITbzT3axSeXvQf/IfLyA8fPTyHbIt4dZ+f+XHyff4nEnlGLchTgiJpfXY2qcg19c0wU2jm0RldJyoOxhpSRD1jsahdHDlPVMqkDh8SX39zDsS0mu4UCAZM7WVVIE8Yn4I+QYsP0B/y0j7Rn5UvtjgurSSgyddNGOU66ZR/kTXUj4p7PiZdTvxf1UNgzzdvfH8BtNYO0obycsoIC1NxMPJyRWyBu/saUdsT6JYIpJ9thaRC+mDFxhe4SvoyI3fjuG2jpBFppRupAQ7WofoEWtVCtkBeJXoeUMJ2309y/76SIJ8VrihDU1+hZq8Ce9myh5/VXi/75/5O4lSg0ibLaws9x+RFSyYau6XwW4aFPPt7QG4zk5NC2uoq0RzAo3nxT1NaKjY0N3n//fV6feB3n7SU+PVrCm7MitDWE9BnWdIr3W3N5/wv3cNZ9H6mMzTObTIXDjOWLd945SXK8FPV5z7S3hy2XLu0QlrFpn1cPoUiIM5fTlDDdMnxdqQj0i1vi/YB4/0nxzrJInBOK34feeZ+9p59GewH0/hZ7Xn7wVrXSE+tGbwu9LwNh3hbGiXripnWbr8PU1DmkoLmLEk9IGN2g4xbbyzbnB2TSnx76vfmkCCfj7KgL3y0DKDKlAeOkDpKG9h4jZ+SBXAoxKLUiUiwEz7ti4hYAMEckJmSJtb116rVKScCD3mYcc5sXhQoy0QJ2QMSbhN+fS7jUoiySw6NFHpXy+XQDFTZ8k8iJShQSe3d9Acu2jT0y4CMy3E9SviN5RI1YqLIDVeQcwNOCMtjtXBVRnkrG0pFxTo6plMlHcgwKISwm787BscUbHUIBP2o+7KgKk2LC9Pl8tLS0kPPFnIPfOyRW6mM8Hj7eKXUzWclJp+BzfBato6VcSC1+BcLfHqD5D5sPaLdLS9dJJsc41dDAtVDIYLDPiOd0gRkJY6822PK9vUayOY4M1027ZDSgSB1ha4x7Hi81voGD494nupFH2akwkUQ/sqqRpmlUI42BIDUhoWg18tUjJ3IweHplFqU2b5Lo7CjEVoz2W4HO/k8kq8qONq+6kKZUvn68hkVOSQkdgSCWRI6GMNrR3WY8ORbj59p5O5lkIR7HLfKbCHsJKZd4XEQioixooMQpDp5Exj1yUmPg0L3z5RCPxdK704iQT+QpwaRswnJoUBypAyssEmeFLoiE1plTnIlU+9aJnJFtLAWRcsxGpUdmPK971w4oDZ3UaWrHHyY2Ky5aIqILlAYs7PtyDPPrLZAVJnUo7e3ZdXRf/NBxLimn9+m4SFwnI6DriljMqye/jgVH9GqFmPIxDtpbXxS65Y071XJAKRMeReG6jMBNGymOX8aZHZbw62HvtwKkYqKzwlfuQ4nIoU1WM7q//4b+kIgl7k6IaX2VTkWp1giVh4g2b/OikP0AMRlMbHn5On0v+tHwSU5e8363hQlxd3iof4WB+4U6xcmGkwZLfVooJAaXBik9ltpWmJV2mWUJg17wKnpIKO9RDpADGWRdi6vGPPPr5b9OZ2cnbd3if3nw69iyOZGJ+V2WoWVIoYdGR1EiTei3XrKOeoXRIKoZ05QJAvkEE8jaqvClBuOyn/bNF6hSNePjItYlwj1i6sV+VFJwMHlIFhOjo/QmErR49XmXbJ6SCGXg1O2TllfPPpZl1Ok1ZTrjLeLxHL76D/8BqsqMU1hn7Ikn+VzbEn0n+g4w3JJoaPAQZiNCxQ8hDZgQ/colXpAOLeAPYBK9fFJ66v8xxZYx3R3kJLfTdX48ik0EXZe/+9xPU1N/BlvjfF3rBBVmxku07jhidVnc83O/xu8sv0r+o5VouIeOx0RZ2d3Mz48wcG6Rz62Kzw2Ionzh9/lZmZtHXpufltA7CyjgUCx55qlWrqiHmZlpE8QlGe26VKxoiR2FMbtv4/zNCQb54vwsssUJ2exJrOs0tkaRlWRlwSbgF0mt8+SCiMbF4pkI9txUeix6deBO2pzed9CaGHNFnxxeCocJvf21rOM+jkzaNuEbnGfPy+yYU9+V6iAKOJkU05M3RrG9IJvqT0BlbemYKPpeC/WZvBDmuyjSAuXLBn3U3S6qK+7GxATVIDUyYolu9dG9fO8huLyF1qwbmrSCQbFyQhSpi1E9SqvaaDyE1vpLWBRCpKhmfUpQpY2sGxZnReI9geTjweAzFOcYxM/PXxzHvgGSQwEdwRkXS2yqgLgcWiWq85S9WmaQdBXVmV1aTUcNOYkcGiR6xs09n6ovzjrHXyjOjYiCCbFyKYl8PmpdYVd7z5ErjDkgQn65aMmAn9Zf7/mPkYJEgsc2TD1deUS8HRkhrEbye4VbJEKFSQZOfx5FAnxKIqFBpGYu5/dS73vwIJq7WgZtZez5HllYsTBqp0WxUh2/h9xHOswurFjEfRH++pM/T8wLmkpJ2W4HnTWz1KgUR7Woo95Lki6jZWTuUuIFFIRf5VJFFb5gALMb+iSq9f8E4plFIm0i1nvr5wV94mfPx6hUEWvqZUpislEMpXxaloWK63j21Bco3rjP3Ge8hsRdk9y32MrG4r3kRD9HIvogX8/7Jt98vZT5ycu8VfQsjU9dxP7mBm88+ihfeeIJXJ+P5v19vr3lZ2bmPpon7sdaMVnIsp7LkqFkyPjOyYlS+O2HUNT4tt5WDx/mfsg3P/hlvvnhi7z9ncvM/cSHtI5/lqavb+DmTPFk2RzuhV+idquU+Yl9dkeuUPj5p/nmPR9w7ck8pPNozqWq/CWmrCUK1h4jcV0Ic0oCpNhbs8aTbozSOSJBHYGo9utoVHAq7iUp4VMLOrTDvq2SmrPiQiEflUoSaIugXmN+7FDQsEcUZD97KrbresmhXJk8LGHlUVrVTs+gB6vOOOYvYVFIYBJ5G8jZ4dwAl3V0tXzqlVdompnhvMSnL40a4i5dOr6yIjKYdwnt7aX5czz52VwxuHHonMsZ/w/L7D4+/BzSJHUSz46OGpPVyKF77uhIlrJ37r5AaPRocJX1ghitT38ePe7ZryMhpaOG3XNiMOQ9c4/QcAeF4+O8cfFZlFvBgNIQtTXrJfIv1WRdy7fl463YBdqSMtqWmpHeJdMXU7khyleEsdeWEI+LP/2qIWTLvFbbchsrZZcZUCt+DaLl0TSvyrAOOcJqkEpMTupoFEP38ckx2v9Di+eb6egQfW/plp2RQZ+Pd9+6gNoiGC33MjkT4isHlB820jD7H+zjHETID3I7sntdT3yOuHCIoyfsD7Nz4QOUX8PrrkvRxWMoFyTTH/STSNeyvw/K4ysqQusrKNnBYb6p2mFR0nKz54sidd/2d7ZscfaSx77wVywJmcDKw993K5vA8WB+qREqOe5aRylrJDN3DEjklnfQ+txjxwbm3kqxvAn/TrlT7pQ75U65U3TLcQp3yp1yp9wpd8r//OXOonCn3Cl3yp1ypxyUO4vCnXKn3Cl3yp1yUO4sCnfKnXKn3Cl3ykG5syjcKXfKnXKn3CkH5c6icKfcKXfKnXKnHJQ7i8KdcqfcKXfKnXJQ7iwKd8qdcqfcKXfKQbmzKNwpd8qdcqfcKQfl/wNF4wgtas+DtgAAAABJRU5ErkJggg=="/>
          <p:cNvSpPr>
            <a:spLocks noChangeAspect="1" noChangeArrowheads="1"/>
          </p:cNvSpPr>
          <p:nvPr/>
        </p:nvSpPr>
        <p:spPr bwMode="auto">
          <a:xfrm>
            <a:off x="475721" y="167463"/>
            <a:ext cx="314960" cy="318348"/>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4915" tIns="47457" rIns="94915" bIns="47457" numCol="1" anchor="t" anchorCtr="0" compatLnSpc="1">
            <a:prstTxWarp prst="textNoShape">
              <a:avLst/>
            </a:prstTxWarp>
          </a:bodyPr>
          <a:lstStyle/>
          <a:p>
            <a:endParaRPr lang="en-US"/>
          </a:p>
        </p:txBody>
      </p:sp>
      <p:pic>
        <p:nvPicPr>
          <p:cNvPr id="18440" name="Picture 8"/>
          <p:cNvPicPr>
            <a:picLocks noChangeAspect="1" noChangeArrowheads="1"/>
          </p:cNvPicPr>
          <p:nvPr/>
        </p:nvPicPr>
        <p:blipFill rotWithShape="1">
          <a:blip r:embed="rId2">
            <a:extLst>
              <a:ext uri="{28A0092B-C50C-407E-A947-70E740481C1C}">
                <a14:useLocalDpi xmlns:a14="http://schemas.microsoft.com/office/drawing/2010/main" val="0"/>
              </a:ext>
            </a:extLst>
          </a:blip>
          <a:srcRect l="29998" t="33414" r="35944" b="35336"/>
          <a:stretch/>
        </p:blipFill>
        <p:spPr bwMode="auto">
          <a:xfrm>
            <a:off x="318241" y="3465333"/>
            <a:ext cx="5544860" cy="27244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8441" name="Picture 9"/>
          <p:cNvPicPr>
            <a:picLocks noChangeAspect="1" noChangeArrowheads="1"/>
          </p:cNvPicPr>
          <p:nvPr/>
        </p:nvPicPr>
        <p:blipFill rotWithShape="1">
          <a:blip r:embed="rId3">
            <a:extLst>
              <a:ext uri="{28A0092B-C50C-407E-A947-70E740481C1C}">
                <a14:useLocalDpi xmlns:a14="http://schemas.microsoft.com/office/drawing/2010/main" val="0"/>
              </a:ext>
            </a:extLst>
          </a:blip>
          <a:srcRect l="12698" t="44592" r="59731" b="6971"/>
          <a:stretch/>
        </p:blipFill>
        <p:spPr bwMode="auto">
          <a:xfrm>
            <a:off x="6377940" y="3783428"/>
            <a:ext cx="2426050" cy="24220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TextBox 7"/>
          <p:cNvSpPr txBox="1"/>
          <p:nvPr/>
        </p:nvSpPr>
        <p:spPr>
          <a:xfrm>
            <a:off x="6441790" y="3197303"/>
            <a:ext cx="2362200" cy="417893"/>
          </a:xfrm>
          <a:prstGeom prst="rect">
            <a:avLst/>
          </a:prstGeom>
          <a:noFill/>
        </p:spPr>
        <p:txBody>
          <a:bodyPr wrap="square" lIns="94915" tIns="47457" rIns="94915" bIns="47457" rtlCol="0">
            <a:spAutoFit/>
          </a:bodyPr>
          <a:lstStyle/>
          <a:p>
            <a:r>
              <a:rPr lang="en-US" sz="2100" b="1" dirty="0" err="1"/>
              <a:t>DoG</a:t>
            </a:r>
            <a:r>
              <a:rPr lang="en-US" sz="2100" b="1" dirty="0"/>
              <a:t>: Blur1 - Blur2</a:t>
            </a:r>
          </a:p>
        </p:txBody>
      </p:sp>
    </p:spTree>
    <p:extLst>
      <p:ext uri="{BB962C8B-B14F-4D97-AF65-F5344CB8AC3E}">
        <p14:creationId xmlns:p14="http://schemas.microsoft.com/office/powerpoint/2010/main" val="190313685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2440" y="286844"/>
            <a:ext cx="8503920" cy="986543"/>
          </a:xfrm>
        </p:spPr>
        <p:txBody>
          <a:bodyPr/>
          <a:lstStyle/>
          <a:p>
            <a:r>
              <a:rPr lang="en-US" b="1" dirty="0" err="1">
                <a:solidFill>
                  <a:schemeClr val="accent2">
                    <a:lumMod val="60000"/>
                    <a:lumOff val="40000"/>
                  </a:schemeClr>
                </a:solidFill>
              </a:rPr>
              <a:t>Laplacian</a:t>
            </a:r>
            <a:r>
              <a:rPr lang="en-US" b="1" dirty="0">
                <a:solidFill>
                  <a:schemeClr val="accent2">
                    <a:lumMod val="60000"/>
                    <a:lumOff val="40000"/>
                  </a:schemeClr>
                </a:solidFill>
              </a:rPr>
              <a:t> Pyramid</a:t>
            </a:r>
          </a:p>
        </p:txBody>
      </p:sp>
      <p:sp>
        <p:nvSpPr>
          <p:cNvPr id="3" name="Content Placeholder 2"/>
          <p:cNvSpPr>
            <a:spLocks noGrp="1"/>
          </p:cNvSpPr>
          <p:nvPr>
            <p:ph idx="1"/>
          </p:nvPr>
        </p:nvSpPr>
        <p:spPr>
          <a:xfrm>
            <a:off x="472440" y="1273387"/>
            <a:ext cx="8503920" cy="5125050"/>
          </a:xfrm>
        </p:spPr>
        <p:txBody>
          <a:bodyPr/>
          <a:lstStyle/>
          <a:p>
            <a:pPr marL="0" indent="0">
              <a:buNone/>
            </a:pPr>
            <a:r>
              <a:rPr lang="en-US" dirty="0" err="1"/>
              <a:t>Laplacian</a:t>
            </a:r>
            <a:r>
              <a:rPr lang="en-US" dirty="0"/>
              <a:t> Pyramid is Constructed by creating a Gaussian pyramid and then computing the difference between each level and the next (higher) level </a:t>
            </a:r>
            <a:r>
              <a:rPr lang="en-US" dirty="0" err="1"/>
              <a:t>upsampled</a:t>
            </a:r>
            <a:r>
              <a:rPr lang="en-US" dirty="0"/>
              <a:t> to the same size.</a:t>
            </a:r>
          </a:p>
          <a:p>
            <a:pPr marL="0" indent="0">
              <a:buNone/>
            </a:pPr>
            <a:endParaRPr lang="en-US" dirty="0"/>
          </a:p>
          <a:p>
            <a:pPr marL="0" indent="0">
              <a:buNone/>
            </a:pPr>
            <a:endParaRPr lang="en-US" dirty="0"/>
          </a:p>
          <a:p>
            <a:pPr marL="0" indent="0">
              <a:buNone/>
            </a:pPr>
            <a:endParaRPr lang="en-US" dirty="0"/>
          </a:p>
          <a:p>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96060" y="3899747"/>
            <a:ext cx="6456680" cy="2170790"/>
          </a:xfrm>
          <a:prstGeom prst="rect">
            <a:avLst/>
          </a:prstGeom>
        </p:spPr>
      </p:pic>
    </p:spTree>
    <p:extLst>
      <p:ext uri="{BB962C8B-B14F-4D97-AF65-F5344CB8AC3E}">
        <p14:creationId xmlns:p14="http://schemas.microsoft.com/office/powerpoint/2010/main" val="374341894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2440" y="159174"/>
            <a:ext cx="8503920" cy="875453"/>
          </a:xfrm>
        </p:spPr>
        <p:txBody>
          <a:bodyPr>
            <a:normAutofit/>
          </a:bodyPr>
          <a:lstStyle/>
          <a:p>
            <a:r>
              <a:rPr lang="en-US" sz="5000" b="1" dirty="0">
                <a:solidFill>
                  <a:schemeClr val="tx2">
                    <a:lumMod val="60000"/>
                    <a:lumOff val="40000"/>
                  </a:schemeClr>
                </a:solidFill>
              </a:rPr>
              <a:t>SIFT</a:t>
            </a:r>
          </a:p>
        </p:txBody>
      </p:sp>
      <p:sp>
        <p:nvSpPr>
          <p:cNvPr id="3" name="Content Placeholder 2"/>
          <p:cNvSpPr>
            <a:spLocks noGrp="1"/>
          </p:cNvSpPr>
          <p:nvPr>
            <p:ph idx="1"/>
          </p:nvPr>
        </p:nvSpPr>
        <p:spPr>
          <a:xfrm>
            <a:off x="393700" y="1352974"/>
            <a:ext cx="8661400" cy="5045464"/>
          </a:xfrm>
        </p:spPr>
        <p:txBody>
          <a:bodyPr>
            <a:normAutofit/>
          </a:bodyPr>
          <a:lstStyle/>
          <a:p>
            <a:pPr marL="0" indent="0">
              <a:buNone/>
            </a:pPr>
            <a:r>
              <a:rPr lang="en-US" sz="2900" dirty="0"/>
              <a:t>SIFT is Scale Invariant Feature Transform.</a:t>
            </a:r>
            <a:r>
              <a:rPr lang="en-IN" sz="2900" dirty="0"/>
              <a:t> SIFT is scale invariant because of </a:t>
            </a:r>
            <a:r>
              <a:rPr lang="en-IN" sz="2900" dirty="0" err="1"/>
              <a:t>Laplacian</a:t>
            </a:r>
            <a:r>
              <a:rPr lang="en-IN" sz="2900" dirty="0"/>
              <a:t> Pyramid. </a:t>
            </a:r>
          </a:p>
          <a:p>
            <a:pPr marL="0" indent="0">
              <a:buNone/>
            </a:pPr>
            <a:r>
              <a:rPr lang="en-IN" sz="2900" dirty="0"/>
              <a:t>It can be made rotational invariant by taking the directions of the derivative and then aligning all of them in same direction. </a:t>
            </a:r>
          </a:p>
          <a:p>
            <a:pPr marL="0" indent="0">
              <a:buNone/>
            </a:pPr>
            <a:r>
              <a:rPr lang="en-IN" sz="2900" dirty="0"/>
              <a:t>It is illumination invariant as there exists only high intensity blobs and nothing else. </a:t>
            </a:r>
          </a:p>
          <a:p>
            <a:pPr marL="0" indent="0">
              <a:buNone/>
            </a:pPr>
            <a:r>
              <a:rPr lang="en-IN" sz="2900" dirty="0"/>
              <a:t>It can also be made translational invariant by moving the </a:t>
            </a:r>
            <a:r>
              <a:rPr lang="en-IN" sz="2900" dirty="0" err="1"/>
              <a:t>DoG</a:t>
            </a:r>
            <a:r>
              <a:rPr lang="en-IN" sz="2900" dirty="0"/>
              <a:t> to the centre. Thus, SIFT helps in image matching.</a:t>
            </a:r>
          </a:p>
          <a:p>
            <a:pPr marL="0" indent="0">
              <a:buNone/>
            </a:pPr>
            <a:endParaRPr lang="en-IN" sz="2900" dirty="0"/>
          </a:p>
          <a:p>
            <a:pPr marL="0" indent="0">
              <a:buNone/>
            </a:pPr>
            <a:endParaRPr lang="en-US" sz="2900" dirty="0"/>
          </a:p>
        </p:txBody>
      </p:sp>
    </p:spTree>
    <p:extLst>
      <p:ext uri="{BB962C8B-B14F-4D97-AF65-F5344CB8AC3E}">
        <p14:creationId xmlns:p14="http://schemas.microsoft.com/office/powerpoint/2010/main" val="200046612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Image Matching</a:t>
            </a:r>
          </a:p>
        </p:txBody>
      </p:sp>
      <p:pic>
        <p:nvPicPr>
          <p:cNvPr id="2050" name="Picture 2"/>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11957" t="58606" r="32692" b="7080"/>
          <a:stretch/>
        </p:blipFill>
        <p:spPr bwMode="auto">
          <a:xfrm>
            <a:off x="1968500" y="3979334"/>
            <a:ext cx="6929120" cy="25619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17291" t="29166" r="35969" b="43056"/>
          <a:stretch/>
        </p:blipFill>
        <p:spPr bwMode="auto">
          <a:xfrm>
            <a:off x="472440" y="1671320"/>
            <a:ext cx="6284202" cy="2122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6768614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2440" y="286844"/>
            <a:ext cx="8503920" cy="906956"/>
          </a:xfrm>
        </p:spPr>
        <p:txBody>
          <a:bodyPr/>
          <a:lstStyle/>
          <a:p>
            <a:r>
              <a:rPr lang="en-US" b="1" dirty="0">
                <a:solidFill>
                  <a:schemeClr val="accent2">
                    <a:lumMod val="60000"/>
                    <a:lumOff val="40000"/>
                  </a:schemeClr>
                </a:solidFill>
              </a:rPr>
              <a:t>Histogram of Oriented Gradients</a:t>
            </a:r>
          </a:p>
        </p:txBody>
      </p:sp>
      <p:sp>
        <p:nvSpPr>
          <p:cNvPr id="5" name="Content Placeholder 4"/>
          <p:cNvSpPr>
            <a:spLocks noGrp="1"/>
          </p:cNvSpPr>
          <p:nvPr>
            <p:ph idx="1"/>
          </p:nvPr>
        </p:nvSpPr>
        <p:spPr>
          <a:xfrm>
            <a:off x="472440" y="1352974"/>
            <a:ext cx="8503920" cy="5411893"/>
          </a:xfrm>
        </p:spPr>
        <p:txBody>
          <a:bodyPr/>
          <a:lstStyle/>
          <a:p>
            <a:pPr marL="0" indent="0">
              <a:buNone/>
            </a:pPr>
            <a:r>
              <a:rPr lang="en-US" dirty="0" err="1"/>
              <a:t>HoG</a:t>
            </a:r>
            <a:r>
              <a:rPr lang="en-US" dirty="0"/>
              <a:t> is also a feature descriptor for the purpose of image matching. The technique counts occurrences of gradients oriented in localized portions of an image.  </a:t>
            </a:r>
          </a:p>
        </p:txBody>
      </p:sp>
      <p:pic>
        <p:nvPicPr>
          <p:cNvPr id="8" name="Picture 7"/>
          <p:cNvPicPr>
            <a:picLocks noChangeAspect="1"/>
          </p:cNvPicPr>
          <p:nvPr/>
        </p:nvPicPr>
        <p:blipFill rotWithShape="1">
          <a:blip r:embed="rId2">
            <a:extLst>
              <a:ext uri="{28A0092B-C50C-407E-A947-70E740481C1C}">
                <a14:useLocalDpi xmlns:a14="http://schemas.microsoft.com/office/drawing/2010/main" val="0"/>
              </a:ext>
            </a:extLst>
          </a:blip>
          <a:srcRect l="17116" t="13757" r="15000" b="12439"/>
          <a:stretch/>
        </p:blipFill>
        <p:spPr>
          <a:xfrm>
            <a:off x="2362200" y="3538545"/>
            <a:ext cx="4839482" cy="3103967"/>
          </a:xfrm>
          <a:prstGeom prst="rect">
            <a:avLst/>
          </a:prstGeom>
        </p:spPr>
      </p:pic>
    </p:spTree>
    <p:extLst>
      <p:ext uri="{BB962C8B-B14F-4D97-AF65-F5344CB8AC3E}">
        <p14:creationId xmlns:p14="http://schemas.microsoft.com/office/powerpoint/2010/main" val="186899857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297;p38"/>
          <p:cNvSpPr txBox="1">
            <a:spLocks noGrp="1"/>
          </p:cNvSpPr>
          <p:nvPr>
            <p:ph type="title"/>
          </p:nvPr>
        </p:nvSpPr>
        <p:spPr>
          <a:xfrm>
            <a:off x="314960" y="286844"/>
            <a:ext cx="8740140" cy="1304889"/>
          </a:xfrm>
          <a:prstGeom prst="rect">
            <a:avLst/>
          </a:prstGeom>
        </p:spPr>
        <p:txBody>
          <a:bodyPr spcFirstLastPara="1" wrap="square" lIns="94899" tIns="94899" rIns="94899" bIns="94899" anchor="t" anchorCtr="0">
            <a:noAutofit/>
          </a:bodyPr>
          <a:lstStyle/>
          <a:p>
            <a:pPr>
              <a:spcBef>
                <a:spcPts val="0"/>
              </a:spcBef>
            </a:pPr>
            <a:r>
              <a:rPr lang="en-GB" sz="3700" b="1" dirty="0">
                <a:solidFill>
                  <a:schemeClr val="tx2">
                    <a:lumMod val="60000"/>
                    <a:lumOff val="40000"/>
                  </a:schemeClr>
                </a:solidFill>
              </a:rPr>
              <a:t>Transformations, camera and its Projections</a:t>
            </a:r>
            <a:endParaRPr sz="3700" b="1" dirty="0">
              <a:solidFill>
                <a:schemeClr val="tx2">
                  <a:lumMod val="60000"/>
                  <a:lumOff val="40000"/>
                </a:schemeClr>
              </a:solidFill>
            </a:endParaRPr>
          </a:p>
        </p:txBody>
      </p:sp>
      <p:sp>
        <p:nvSpPr>
          <p:cNvPr id="5" name="Google Shape;298;p38"/>
          <p:cNvSpPr txBox="1">
            <a:spLocks noGrp="1"/>
          </p:cNvSpPr>
          <p:nvPr>
            <p:ph idx="1"/>
          </p:nvPr>
        </p:nvSpPr>
        <p:spPr>
          <a:xfrm>
            <a:off x="472440" y="1591733"/>
            <a:ext cx="8503920" cy="5252720"/>
          </a:xfrm>
          <a:prstGeom prst="rect">
            <a:avLst/>
          </a:prstGeom>
        </p:spPr>
        <p:txBody>
          <a:bodyPr spcFirstLastPara="1" wrap="square" lIns="94899" tIns="94899" rIns="94899" bIns="94899" anchor="t" anchorCtr="0">
            <a:normAutofit/>
          </a:bodyPr>
          <a:lstStyle/>
          <a:p>
            <a:pPr marL="0" indent="0">
              <a:spcBef>
                <a:spcPts val="0"/>
              </a:spcBef>
              <a:buNone/>
            </a:pPr>
            <a:r>
              <a:rPr lang="en-GB" sz="2500" b="1" u="sng" dirty="0"/>
              <a:t>Translation</a:t>
            </a:r>
            <a:r>
              <a:rPr lang="en-GB" sz="2500" dirty="0"/>
              <a:t>:- Translation is a fundamental geometric transformation involving the shifting of an object within an image from one location to another. </a:t>
            </a:r>
          </a:p>
          <a:p>
            <a:pPr marL="0" indent="0">
              <a:spcBef>
                <a:spcPts val="1246"/>
              </a:spcBef>
              <a:buNone/>
            </a:pPr>
            <a:endParaRPr lang="en-US" sz="2500" dirty="0"/>
          </a:p>
          <a:p>
            <a:pPr marL="0" indent="0">
              <a:spcBef>
                <a:spcPts val="1246"/>
              </a:spcBef>
              <a:buNone/>
            </a:pPr>
            <a:endParaRPr lang="en-US" sz="2500" dirty="0"/>
          </a:p>
          <a:p>
            <a:pPr marL="0" indent="0">
              <a:spcBef>
                <a:spcPts val="1246"/>
              </a:spcBef>
              <a:buNone/>
            </a:pPr>
            <a:endParaRPr sz="1900" dirty="0"/>
          </a:p>
          <a:p>
            <a:pPr marL="0" indent="0">
              <a:spcBef>
                <a:spcPts val="1246"/>
              </a:spcBef>
              <a:spcAft>
                <a:spcPts val="1246"/>
              </a:spcAft>
              <a:buNone/>
            </a:pPr>
            <a:r>
              <a:rPr lang="en-GB" sz="2500" b="1" u="sng" dirty="0"/>
              <a:t>Scaling:- </a:t>
            </a:r>
            <a:r>
              <a:rPr lang="en-GB" sz="2500" dirty="0"/>
              <a:t>Scaling, a core geometric transformation, involves resizing an image in the horizontal (x) and/or vertical (y) directions.</a:t>
            </a:r>
            <a:r>
              <a:rPr lang="en-GB" sz="1900" dirty="0"/>
              <a:t>             </a:t>
            </a:r>
          </a:p>
          <a:p>
            <a:pPr marL="0" indent="0">
              <a:spcBef>
                <a:spcPts val="1246"/>
              </a:spcBef>
              <a:spcAft>
                <a:spcPts val="1246"/>
              </a:spcAft>
              <a:buNone/>
            </a:pPr>
            <a:r>
              <a:rPr lang="en-GB" sz="1900" dirty="0"/>
              <a:t>                      </a:t>
            </a:r>
            <a:endParaRPr sz="1900" dirty="0"/>
          </a:p>
        </p:txBody>
      </p:sp>
      <p:pic>
        <p:nvPicPr>
          <p:cNvPr id="6" name="Google Shape;299;p38"/>
          <p:cNvPicPr preferRelativeResize="0"/>
          <p:nvPr/>
        </p:nvPicPr>
        <p:blipFill>
          <a:blip r:embed="rId2">
            <a:alphaModFix/>
          </a:blip>
          <a:stretch>
            <a:fillRect/>
          </a:stretch>
        </p:blipFill>
        <p:spPr>
          <a:xfrm>
            <a:off x="4263663" y="3074324"/>
            <a:ext cx="1266583" cy="308703"/>
          </a:xfrm>
          <a:prstGeom prst="rect">
            <a:avLst/>
          </a:prstGeom>
          <a:noFill/>
          <a:ln>
            <a:noFill/>
          </a:ln>
        </p:spPr>
      </p:pic>
      <p:pic>
        <p:nvPicPr>
          <p:cNvPr id="7" name="Google Shape;300;p38"/>
          <p:cNvPicPr preferRelativeResize="0"/>
          <p:nvPr/>
        </p:nvPicPr>
        <p:blipFill>
          <a:blip r:embed="rId3">
            <a:alphaModFix/>
          </a:blip>
          <a:stretch>
            <a:fillRect/>
          </a:stretch>
        </p:blipFill>
        <p:spPr>
          <a:xfrm>
            <a:off x="4273506" y="3581402"/>
            <a:ext cx="1266583" cy="371063"/>
          </a:xfrm>
          <a:prstGeom prst="rect">
            <a:avLst/>
          </a:prstGeom>
          <a:noFill/>
          <a:ln>
            <a:noFill/>
          </a:ln>
        </p:spPr>
      </p:pic>
      <p:pic>
        <p:nvPicPr>
          <p:cNvPr id="8" name="Google Shape;301;p38"/>
          <p:cNvPicPr preferRelativeResize="0"/>
          <p:nvPr/>
        </p:nvPicPr>
        <p:blipFill>
          <a:blip r:embed="rId4">
            <a:alphaModFix/>
          </a:blip>
          <a:stretch>
            <a:fillRect/>
          </a:stretch>
        </p:blipFill>
        <p:spPr>
          <a:xfrm>
            <a:off x="4202696" y="5663848"/>
            <a:ext cx="1400601" cy="371057"/>
          </a:xfrm>
          <a:prstGeom prst="rect">
            <a:avLst/>
          </a:prstGeom>
          <a:noFill/>
          <a:ln>
            <a:noFill/>
          </a:ln>
        </p:spPr>
      </p:pic>
      <p:pic>
        <p:nvPicPr>
          <p:cNvPr id="9" name="Google Shape;302;p38"/>
          <p:cNvPicPr preferRelativeResize="0"/>
          <p:nvPr/>
        </p:nvPicPr>
        <p:blipFill>
          <a:blip r:embed="rId5">
            <a:alphaModFix/>
          </a:blip>
          <a:stretch>
            <a:fillRect/>
          </a:stretch>
        </p:blipFill>
        <p:spPr>
          <a:xfrm>
            <a:off x="4165239" y="6178724"/>
            <a:ext cx="1489059" cy="457676"/>
          </a:xfrm>
          <a:prstGeom prst="rect">
            <a:avLst/>
          </a:prstGeom>
          <a:noFill/>
          <a:ln>
            <a:noFill/>
          </a:ln>
        </p:spPr>
      </p:pic>
    </p:spTree>
    <p:extLst>
      <p:ext uri="{BB962C8B-B14F-4D97-AF65-F5344CB8AC3E}">
        <p14:creationId xmlns:p14="http://schemas.microsoft.com/office/powerpoint/2010/main" val="43716003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307;p39"/>
          <p:cNvSpPr txBox="1">
            <a:spLocks noGrp="1"/>
          </p:cNvSpPr>
          <p:nvPr>
            <p:ph idx="1"/>
          </p:nvPr>
        </p:nvSpPr>
        <p:spPr>
          <a:xfrm>
            <a:off x="472440" y="477520"/>
            <a:ext cx="8503920" cy="6366933"/>
          </a:xfrm>
          <a:prstGeom prst="rect">
            <a:avLst/>
          </a:prstGeom>
        </p:spPr>
        <p:txBody>
          <a:bodyPr spcFirstLastPara="1" wrap="square" lIns="94899" tIns="94899" rIns="94899" bIns="94899" anchor="t" anchorCtr="0">
            <a:noAutofit/>
          </a:bodyPr>
          <a:lstStyle/>
          <a:p>
            <a:pPr marL="0" indent="0">
              <a:spcBef>
                <a:spcPts val="0"/>
              </a:spcBef>
              <a:buNone/>
            </a:pPr>
            <a:r>
              <a:rPr lang="en-GB" sz="2500" b="1" u="sng" dirty="0"/>
              <a:t>Rotation</a:t>
            </a:r>
            <a:r>
              <a:rPr lang="en-GB" sz="2500" b="1" dirty="0"/>
              <a:t>:- </a:t>
            </a:r>
            <a:r>
              <a:rPr lang="en-GB" sz="2500" dirty="0"/>
              <a:t>Rotation is a geometric transformation that involves changing the orientation of an image by a specified angle around a given axis or point.</a:t>
            </a:r>
            <a:endParaRPr sz="2500" dirty="0"/>
          </a:p>
          <a:p>
            <a:pPr marL="0" indent="0">
              <a:spcBef>
                <a:spcPts val="1246"/>
              </a:spcBef>
              <a:buNone/>
            </a:pPr>
            <a:endParaRPr sz="2500" dirty="0"/>
          </a:p>
          <a:p>
            <a:pPr marL="0" indent="0">
              <a:spcBef>
                <a:spcPts val="1246"/>
              </a:spcBef>
              <a:buNone/>
            </a:pPr>
            <a:endParaRPr lang="en-GB" sz="2500" dirty="0"/>
          </a:p>
          <a:p>
            <a:pPr marL="0" indent="0">
              <a:spcBef>
                <a:spcPts val="1246"/>
              </a:spcBef>
              <a:buNone/>
            </a:pPr>
            <a:r>
              <a:rPr lang="en-GB" sz="2500" b="1" u="sng" dirty="0"/>
              <a:t>Affine</a:t>
            </a:r>
            <a:r>
              <a:rPr lang="en-GB" sz="2500" b="1" dirty="0"/>
              <a:t>:- </a:t>
            </a:r>
            <a:r>
              <a:rPr lang="en-GB" sz="2500" dirty="0"/>
              <a:t>Affine involves shifting the pixel values of an image either horizontally or vertically, but the shift is not uniform across the image. This creates a distorted effect by displacing parts of the image in different directions.</a:t>
            </a:r>
          </a:p>
          <a:p>
            <a:pPr marL="0" indent="0">
              <a:spcBef>
                <a:spcPts val="1246"/>
              </a:spcBef>
              <a:buNone/>
            </a:pPr>
            <a:endParaRPr sz="2500" dirty="0"/>
          </a:p>
          <a:p>
            <a:pPr marL="0" indent="0">
              <a:spcBef>
                <a:spcPts val="1246"/>
              </a:spcBef>
              <a:buNone/>
            </a:pPr>
            <a:endParaRPr sz="2500" dirty="0"/>
          </a:p>
          <a:p>
            <a:pPr marL="0" indent="0">
              <a:spcBef>
                <a:spcPts val="1246"/>
              </a:spcBef>
              <a:spcAft>
                <a:spcPts val="1246"/>
              </a:spcAft>
              <a:buNone/>
            </a:pPr>
            <a:r>
              <a:rPr lang="en-GB" sz="2500" b="1" u="sng" dirty="0"/>
              <a:t>Projective</a:t>
            </a:r>
            <a:r>
              <a:rPr lang="en-GB" sz="2500" b="1" dirty="0"/>
              <a:t>:- </a:t>
            </a:r>
            <a:r>
              <a:rPr lang="en-GB" sz="2500" dirty="0"/>
              <a:t>In this transformations, the points of intersection are the only invariants. Here it is 8 degree freedom.</a:t>
            </a:r>
            <a:endParaRPr sz="2500" dirty="0"/>
          </a:p>
        </p:txBody>
      </p:sp>
      <p:pic>
        <p:nvPicPr>
          <p:cNvPr id="5" name="Google Shape;308;p39"/>
          <p:cNvPicPr preferRelativeResize="0"/>
          <p:nvPr/>
        </p:nvPicPr>
        <p:blipFill>
          <a:blip r:embed="rId2">
            <a:alphaModFix/>
          </a:blip>
          <a:stretch>
            <a:fillRect/>
          </a:stretch>
        </p:blipFill>
        <p:spPr>
          <a:xfrm>
            <a:off x="3464573" y="1590272"/>
            <a:ext cx="2519680" cy="331611"/>
          </a:xfrm>
          <a:prstGeom prst="rect">
            <a:avLst/>
          </a:prstGeom>
          <a:noFill/>
          <a:ln>
            <a:noFill/>
          </a:ln>
        </p:spPr>
      </p:pic>
      <p:pic>
        <p:nvPicPr>
          <p:cNvPr id="6" name="Google Shape;309;p39"/>
          <p:cNvPicPr preferRelativeResize="0"/>
          <p:nvPr/>
        </p:nvPicPr>
        <p:blipFill>
          <a:blip r:embed="rId3">
            <a:alphaModFix/>
          </a:blip>
          <a:stretch>
            <a:fillRect/>
          </a:stretch>
        </p:blipFill>
        <p:spPr>
          <a:xfrm>
            <a:off x="3525671" y="2135437"/>
            <a:ext cx="2509838" cy="331611"/>
          </a:xfrm>
          <a:prstGeom prst="rect">
            <a:avLst/>
          </a:prstGeom>
          <a:noFill/>
          <a:ln>
            <a:noFill/>
          </a:ln>
        </p:spPr>
      </p:pic>
      <p:pic>
        <p:nvPicPr>
          <p:cNvPr id="7" name="Google Shape;310;p39"/>
          <p:cNvPicPr preferRelativeResize="0"/>
          <p:nvPr/>
        </p:nvPicPr>
        <p:blipFill>
          <a:blip r:embed="rId4">
            <a:alphaModFix/>
          </a:blip>
          <a:stretch>
            <a:fillRect/>
          </a:stretch>
        </p:blipFill>
        <p:spPr>
          <a:xfrm>
            <a:off x="3965301" y="4616027"/>
            <a:ext cx="1683068" cy="1034627"/>
          </a:xfrm>
          <a:prstGeom prst="rect">
            <a:avLst/>
          </a:prstGeom>
          <a:noFill/>
          <a:ln>
            <a:noFill/>
          </a:ln>
        </p:spPr>
      </p:pic>
    </p:spTree>
    <p:extLst>
      <p:ext uri="{BB962C8B-B14F-4D97-AF65-F5344CB8AC3E}">
        <p14:creationId xmlns:p14="http://schemas.microsoft.com/office/powerpoint/2010/main" val="107552164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solidFill>
                  <a:schemeClr val="tx2">
                    <a:lumMod val="60000"/>
                    <a:lumOff val="40000"/>
                  </a:schemeClr>
                </a:solidFill>
              </a:rPr>
              <a:t>2D Planar Transformations</a:t>
            </a:r>
          </a:p>
        </p:txBody>
      </p:sp>
      <p:pic>
        <p:nvPicPr>
          <p:cNvPr id="4" name="Google Shape;316;p40"/>
          <p:cNvPicPr preferRelativeResize="0">
            <a:picLocks noGrp="1"/>
          </p:cNvPicPr>
          <p:nvPr>
            <p:ph idx="1"/>
          </p:nvPr>
        </p:nvPicPr>
        <p:blipFill rotWithShape="1">
          <a:blip r:embed="rId2">
            <a:alphaModFix/>
          </a:blip>
          <a:srcRect b="17610"/>
          <a:stretch/>
        </p:blipFill>
        <p:spPr>
          <a:xfrm>
            <a:off x="472440" y="1989667"/>
            <a:ext cx="8503920" cy="3820160"/>
          </a:xfrm>
          <a:prstGeom prst="rect">
            <a:avLst/>
          </a:prstGeom>
          <a:noFill/>
          <a:ln>
            <a:noFill/>
          </a:ln>
        </p:spPr>
      </p:pic>
    </p:spTree>
    <p:extLst>
      <p:ext uri="{BB962C8B-B14F-4D97-AF65-F5344CB8AC3E}">
        <p14:creationId xmlns:p14="http://schemas.microsoft.com/office/powerpoint/2010/main" val="23297652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2440" y="286844"/>
            <a:ext cx="8503920" cy="986543"/>
          </a:xfrm>
        </p:spPr>
        <p:txBody>
          <a:bodyPr/>
          <a:lstStyle/>
          <a:p>
            <a:r>
              <a:rPr lang="en-US" b="1" dirty="0">
                <a:solidFill>
                  <a:schemeClr val="tx2">
                    <a:lumMod val="60000"/>
                    <a:lumOff val="40000"/>
                  </a:schemeClr>
                </a:solidFill>
              </a:rPr>
              <a:t>Camera </a:t>
            </a:r>
            <a:r>
              <a:rPr lang="en-US" b="1" dirty="0" err="1">
                <a:solidFill>
                  <a:schemeClr val="tx2">
                    <a:lumMod val="60000"/>
                    <a:lumOff val="40000"/>
                  </a:schemeClr>
                </a:solidFill>
              </a:rPr>
              <a:t>Caliberation</a:t>
            </a:r>
            <a:endParaRPr lang="en-US" b="1" dirty="0">
              <a:solidFill>
                <a:schemeClr val="tx2">
                  <a:lumMod val="60000"/>
                  <a:lumOff val="40000"/>
                </a:schemeClr>
              </a:solidFill>
            </a:endParaRPr>
          </a:p>
        </p:txBody>
      </p:sp>
      <p:pic>
        <p:nvPicPr>
          <p:cNvPr id="4" name="Google Shape;325;p41"/>
          <p:cNvPicPr preferRelativeResize="0">
            <a:picLocks noGrp="1"/>
          </p:cNvPicPr>
          <p:nvPr>
            <p:ph idx="1"/>
          </p:nvPr>
        </p:nvPicPr>
        <p:blipFill>
          <a:blip r:embed="rId2">
            <a:alphaModFix/>
          </a:blip>
          <a:stretch>
            <a:fillRect/>
          </a:stretch>
        </p:blipFill>
        <p:spPr>
          <a:xfrm>
            <a:off x="7322820" y="2467187"/>
            <a:ext cx="1338580" cy="1591733"/>
          </a:xfrm>
          <a:prstGeom prst="rect">
            <a:avLst/>
          </a:prstGeom>
          <a:noFill/>
          <a:ln>
            <a:noFill/>
          </a:ln>
        </p:spPr>
      </p:pic>
      <p:pic>
        <p:nvPicPr>
          <p:cNvPr id="5" name="Google Shape;323;p41"/>
          <p:cNvPicPr preferRelativeResize="0"/>
          <p:nvPr/>
        </p:nvPicPr>
        <p:blipFill>
          <a:blip r:embed="rId3">
            <a:alphaModFix/>
          </a:blip>
          <a:stretch>
            <a:fillRect/>
          </a:stretch>
        </p:blipFill>
        <p:spPr>
          <a:xfrm>
            <a:off x="944880" y="1193800"/>
            <a:ext cx="5052483" cy="3581400"/>
          </a:xfrm>
          <a:prstGeom prst="rect">
            <a:avLst/>
          </a:prstGeom>
          <a:noFill/>
          <a:ln>
            <a:noFill/>
          </a:ln>
        </p:spPr>
      </p:pic>
      <p:sp>
        <p:nvSpPr>
          <p:cNvPr id="6" name="TextBox 5"/>
          <p:cNvSpPr txBox="1"/>
          <p:nvPr/>
        </p:nvSpPr>
        <p:spPr>
          <a:xfrm>
            <a:off x="6771640" y="4138507"/>
            <a:ext cx="2532803" cy="417893"/>
          </a:xfrm>
          <a:prstGeom prst="rect">
            <a:avLst/>
          </a:prstGeom>
          <a:noFill/>
        </p:spPr>
        <p:txBody>
          <a:bodyPr wrap="square" lIns="94915" tIns="47457" rIns="94915" bIns="47457" rtlCol="0">
            <a:spAutoFit/>
          </a:bodyPr>
          <a:lstStyle/>
          <a:p>
            <a:r>
              <a:rPr lang="en-US" sz="2100" b="1" dirty="0"/>
              <a:t>Camera Coordinates</a:t>
            </a:r>
          </a:p>
        </p:txBody>
      </p:sp>
      <p:sp>
        <p:nvSpPr>
          <p:cNvPr id="7" name="Rectangle 6"/>
          <p:cNvSpPr/>
          <p:nvPr/>
        </p:nvSpPr>
        <p:spPr>
          <a:xfrm>
            <a:off x="6377940" y="5094904"/>
            <a:ext cx="551180" cy="71628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4915" tIns="47457" rIns="94915" bIns="47457" spcCol="0" rtlCol="0" anchor="ctr"/>
          <a:lstStyle/>
          <a:p>
            <a:pPr algn="ctr"/>
            <a:endParaRPr lang="en-US"/>
          </a:p>
        </p:txBody>
      </p:sp>
      <p:sp>
        <p:nvSpPr>
          <p:cNvPr id="8" name="Rectangle 7"/>
          <p:cNvSpPr/>
          <p:nvPr/>
        </p:nvSpPr>
        <p:spPr>
          <a:xfrm>
            <a:off x="5800513" y="4218093"/>
            <a:ext cx="393700" cy="55710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4915" tIns="47457" rIns="94915" bIns="47457" spcCol="0" rtlCol="0" anchor="ctr"/>
          <a:lstStyle/>
          <a:p>
            <a:pPr algn="ctr"/>
            <a:endParaRPr lang="en-US"/>
          </a:p>
        </p:txBody>
      </p:sp>
      <p:sp>
        <p:nvSpPr>
          <p:cNvPr id="9" name="Rectangle 8"/>
          <p:cNvSpPr/>
          <p:nvPr/>
        </p:nvSpPr>
        <p:spPr>
          <a:xfrm>
            <a:off x="5511800" y="4218093"/>
            <a:ext cx="485563" cy="55710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4915" tIns="47457" rIns="94915" bIns="47457" spcCol="0" rtlCol="0" anchor="ctr"/>
          <a:lstStyle/>
          <a:p>
            <a:pPr algn="ctr"/>
            <a:endParaRPr lang="en-US"/>
          </a:p>
        </p:txBody>
      </p:sp>
      <p:pic>
        <p:nvPicPr>
          <p:cNvPr id="409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07799" y="4775200"/>
            <a:ext cx="3179128" cy="16315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1883237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oogle Shape;340;p43">
            <a:extLst>
              <a:ext uri="{FF2B5EF4-FFF2-40B4-BE49-F238E27FC236}">
                <a16:creationId xmlns:a16="http://schemas.microsoft.com/office/drawing/2014/main" id="{66A6CB31-9E6E-F672-5281-B4318A8E44FE}"/>
              </a:ext>
            </a:extLst>
          </p:cNvPr>
          <p:cNvPicPr preferRelativeResize="0"/>
          <p:nvPr/>
        </p:nvPicPr>
        <p:blipFill>
          <a:blip r:embed="rId3">
            <a:alphaModFix/>
          </a:blip>
          <a:stretch>
            <a:fillRect/>
          </a:stretch>
        </p:blipFill>
        <p:spPr>
          <a:xfrm>
            <a:off x="2229327" y="3660987"/>
            <a:ext cx="5167311" cy="3050822"/>
          </a:xfrm>
          <a:prstGeom prst="rect">
            <a:avLst/>
          </a:prstGeom>
          <a:noFill/>
          <a:ln>
            <a:noFill/>
          </a:ln>
        </p:spPr>
      </p:pic>
      <p:pic>
        <p:nvPicPr>
          <p:cNvPr id="4" name="Google Shape;346;p44">
            <a:extLst>
              <a:ext uri="{FF2B5EF4-FFF2-40B4-BE49-F238E27FC236}">
                <a16:creationId xmlns:a16="http://schemas.microsoft.com/office/drawing/2014/main" id="{42268E51-B2A9-F690-934A-1263F3E3143E}"/>
              </a:ext>
            </a:extLst>
          </p:cNvPr>
          <p:cNvPicPr preferRelativeResize="0"/>
          <p:nvPr/>
        </p:nvPicPr>
        <p:blipFill>
          <a:blip r:embed="rId4">
            <a:alphaModFix/>
          </a:blip>
          <a:stretch>
            <a:fillRect/>
          </a:stretch>
        </p:blipFill>
        <p:spPr>
          <a:xfrm>
            <a:off x="1449308" y="1193800"/>
            <a:ext cx="6599396" cy="2308013"/>
          </a:xfrm>
          <a:prstGeom prst="rect">
            <a:avLst/>
          </a:prstGeom>
          <a:noFill/>
          <a:ln>
            <a:noFill/>
          </a:ln>
        </p:spPr>
      </p:pic>
      <p:sp>
        <p:nvSpPr>
          <p:cNvPr id="3" name="TextBox 2"/>
          <p:cNvSpPr txBox="1"/>
          <p:nvPr/>
        </p:nvSpPr>
        <p:spPr>
          <a:xfrm>
            <a:off x="2229327" y="238760"/>
            <a:ext cx="5039360" cy="739348"/>
          </a:xfrm>
          <a:prstGeom prst="rect">
            <a:avLst/>
          </a:prstGeom>
          <a:noFill/>
        </p:spPr>
        <p:txBody>
          <a:bodyPr wrap="square" lIns="94915" tIns="47457" rIns="94915" bIns="47457" rtlCol="0">
            <a:spAutoFit/>
          </a:bodyPr>
          <a:lstStyle/>
          <a:p>
            <a:r>
              <a:rPr lang="en-US" sz="4200" b="1" dirty="0">
                <a:solidFill>
                  <a:schemeClr val="tx2">
                    <a:lumMod val="60000"/>
                    <a:lumOff val="40000"/>
                  </a:schemeClr>
                </a:solidFill>
              </a:rPr>
              <a:t>Coordinate Systems</a:t>
            </a:r>
          </a:p>
        </p:txBody>
      </p:sp>
    </p:spTree>
    <p:extLst>
      <p:ext uri="{BB962C8B-B14F-4D97-AF65-F5344CB8AC3E}">
        <p14:creationId xmlns:p14="http://schemas.microsoft.com/office/powerpoint/2010/main" val="210177324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B09616-B395-EE81-4063-4E75B612681D}"/>
              </a:ext>
            </a:extLst>
          </p:cNvPr>
          <p:cNvSpPr>
            <a:spLocks noGrp="1"/>
          </p:cNvSpPr>
          <p:nvPr>
            <p:ph type="title"/>
          </p:nvPr>
        </p:nvSpPr>
        <p:spPr>
          <a:xfrm>
            <a:off x="1037154" y="380108"/>
            <a:ext cx="7374494" cy="748034"/>
          </a:xfrm>
        </p:spPr>
        <p:txBody>
          <a:bodyPr>
            <a:normAutofit fontScale="90000"/>
          </a:bodyPr>
          <a:lstStyle/>
          <a:p>
            <a:pPr algn="ctr"/>
            <a:r>
              <a:rPr lang="en-IN" b="1" dirty="0">
                <a:solidFill>
                  <a:srgbClr val="00B050"/>
                </a:solidFill>
              </a:rPr>
              <a:t>World to Camera Transformation</a:t>
            </a:r>
          </a:p>
        </p:txBody>
      </p:sp>
      <p:pic>
        <p:nvPicPr>
          <p:cNvPr id="4" name="Google Shape;353;p45">
            <a:extLst>
              <a:ext uri="{FF2B5EF4-FFF2-40B4-BE49-F238E27FC236}">
                <a16:creationId xmlns:a16="http://schemas.microsoft.com/office/drawing/2014/main" id="{F29089A0-D4C4-7523-30CF-31CD67865ED3}"/>
              </a:ext>
            </a:extLst>
          </p:cNvPr>
          <p:cNvPicPr preferRelativeResize="0"/>
          <p:nvPr/>
        </p:nvPicPr>
        <p:blipFill>
          <a:blip r:embed="rId3">
            <a:alphaModFix/>
          </a:blip>
          <a:stretch>
            <a:fillRect/>
          </a:stretch>
        </p:blipFill>
        <p:spPr>
          <a:xfrm>
            <a:off x="4621054" y="2865120"/>
            <a:ext cx="4276566" cy="3727308"/>
          </a:xfrm>
          <a:prstGeom prst="rect">
            <a:avLst/>
          </a:prstGeom>
          <a:noFill/>
          <a:ln>
            <a:noFill/>
          </a:ln>
        </p:spPr>
      </p:pic>
      <p:pic>
        <p:nvPicPr>
          <p:cNvPr id="5" name="Google Shape;359;p46">
            <a:extLst>
              <a:ext uri="{FF2B5EF4-FFF2-40B4-BE49-F238E27FC236}">
                <a16:creationId xmlns:a16="http://schemas.microsoft.com/office/drawing/2014/main" id="{C943E9EC-D277-087D-E1AD-6E475E3E3D37}"/>
              </a:ext>
            </a:extLst>
          </p:cNvPr>
          <p:cNvPicPr preferRelativeResize="0"/>
          <p:nvPr/>
        </p:nvPicPr>
        <p:blipFill>
          <a:blip r:embed="rId4">
            <a:alphaModFix/>
          </a:blip>
          <a:stretch>
            <a:fillRect/>
          </a:stretch>
        </p:blipFill>
        <p:spPr>
          <a:xfrm>
            <a:off x="472440" y="1576574"/>
            <a:ext cx="5039360" cy="1925239"/>
          </a:xfrm>
          <a:prstGeom prst="rect">
            <a:avLst/>
          </a:prstGeom>
          <a:noFill/>
          <a:ln>
            <a:noFill/>
          </a:ln>
        </p:spPr>
      </p:pic>
    </p:spTree>
    <p:extLst>
      <p:ext uri="{BB962C8B-B14F-4D97-AF65-F5344CB8AC3E}">
        <p14:creationId xmlns:p14="http://schemas.microsoft.com/office/powerpoint/2010/main" val="95610914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B09616-B395-EE81-4063-4E75B612681D}"/>
              </a:ext>
            </a:extLst>
          </p:cNvPr>
          <p:cNvSpPr>
            <a:spLocks noGrp="1"/>
          </p:cNvSpPr>
          <p:nvPr>
            <p:ph type="title"/>
          </p:nvPr>
        </p:nvSpPr>
        <p:spPr>
          <a:xfrm>
            <a:off x="551180" y="380107"/>
            <a:ext cx="8346440" cy="1224892"/>
          </a:xfrm>
        </p:spPr>
        <p:txBody>
          <a:bodyPr>
            <a:noAutofit/>
          </a:bodyPr>
          <a:lstStyle/>
          <a:p>
            <a:pPr algn="ctr"/>
            <a:r>
              <a:rPr lang="en-IN" sz="3700" b="1" dirty="0"/>
              <a:t>Relation between Camera-CS &amp; World-CS</a:t>
            </a:r>
          </a:p>
        </p:txBody>
      </p:sp>
      <p:pic>
        <p:nvPicPr>
          <p:cNvPr id="6" name="Google Shape;366;p47">
            <a:extLst>
              <a:ext uri="{FF2B5EF4-FFF2-40B4-BE49-F238E27FC236}">
                <a16:creationId xmlns:a16="http://schemas.microsoft.com/office/drawing/2014/main" id="{5E631D9E-8BB5-EA29-426A-B13B6CFC89DF}"/>
              </a:ext>
            </a:extLst>
          </p:cNvPr>
          <p:cNvPicPr preferRelativeResize="0"/>
          <p:nvPr/>
        </p:nvPicPr>
        <p:blipFill>
          <a:blip r:embed="rId3">
            <a:alphaModFix/>
          </a:blip>
          <a:stretch>
            <a:fillRect/>
          </a:stretch>
        </p:blipFill>
        <p:spPr>
          <a:xfrm>
            <a:off x="664028" y="2122486"/>
            <a:ext cx="3745412" cy="2670198"/>
          </a:xfrm>
          <a:prstGeom prst="rect">
            <a:avLst/>
          </a:prstGeom>
          <a:noFill/>
          <a:ln>
            <a:noFill/>
          </a:ln>
        </p:spPr>
      </p:pic>
      <p:pic>
        <p:nvPicPr>
          <p:cNvPr id="7" name="Google Shape;367;p47">
            <a:extLst>
              <a:ext uri="{FF2B5EF4-FFF2-40B4-BE49-F238E27FC236}">
                <a16:creationId xmlns:a16="http://schemas.microsoft.com/office/drawing/2014/main" id="{DD5AB73C-C606-AF84-6499-415292B49E18}"/>
              </a:ext>
            </a:extLst>
          </p:cNvPr>
          <p:cNvPicPr preferRelativeResize="0"/>
          <p:nvPr/>
        </p:nvPicPr>
        <p:blipFill>
          <a:blip r:embed="rId4">
            <a:alphaModFix/>
          </a:blip>
          <a:stretch>
            <a:fillRect/>
          </a:stretch>
        </p:blipFill>
        <p:spPr>
          <a:xfrm>
            <a:off x="4881880" y="2085404"/>
            <a:ext cx="3753072" cy="2610210"/>
          </a:xfrm>
          <a:prstGeom prst="rect">
            <a:avLst/>
          </a:prstGeom>
          <a:noFill/>
          <a:ln>
            <a:noFill/>
          </a:ln>
        </p:spPr>
      </p:pic>
      <p:sp>
        <p:nvSpPr>
          <p:cNvPr id="8" name="Google Shape;368;p47">
            <a:extLst>
              <a:ext uri="{FF2B5EF4-FFF2-40B4-BE49-F238E27FC236}">
                <a16:creationId xmlns:a16="http://schemas.microsoft.com/office/drawing/2014/main" id="{FCBD54C1-6EC3-9087-6EA7-E4D480477E1F}"/>
              </a:ext>
            </a:extLst>
          </p:cNvPr>
          <p:cNvSpPr txBox="1"/>
          <p:nvPr/>
        </p:nvSpPr>
        <p:spPr>
          <a:xfrm>
            <a:off x="953319" y="4792684"/>
            <a:ext cx="2956163" cy="988805"/>
          </a:xfrm>
          <a:prstGeom prst="rect">
            <a:avLst/>
          </a:prstGeom>
          <a:noFill/>
          <a:ln>
            <a:noFill/>
          </a:ln>
        </p:spPr>
        <p:txBody>
          <a:bodyPr spcFirstLastPara="1" wrap="square" lIns="94899" tIns="94899" rIns="94899" bIns="94899"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GB" sz="2500" b="1" dirty="0">
                <a:solidFill>
                  <a:schemeClr val="tx1"/>
                </a:solidFill>
                <a:latin typeface="+mn-lt"/>
                <a:ea typeface="Lato"/>
                <a:cs typeface="Lato"/>
                <a:sym typeface="Lato"/>
              </a:rPr>
              <a:t>World coordinates to Camera coordinates</a:t>
            </a:r>
            <a:endParaRPr sz="2500" b="1" dirty="0">
              <a:solidFill>
                <a:schemeClr val="tx1"/>
              </a:solidFill>
              <a:latin typeface="+mn-lt"/>
              <a:ea typeface="Lato"/>
              <a:cs typeface="Lato"/>
              <a:sym typeface="Lato"/>
            </a:endParaRPr>
          </a:p>
        </p:txBody>
      </p:sp>
      <p:sp>
        <p:nvSpPr>
          <p:cNvPr id="10" name="Google Shape;368;p47">
            <a:extLst>
              <a:ext uri="{FF2B5EF4-FFF2-40B4-BE49-F238E27FC236}">
                <a16:creationId xmlns:a16="http://schemas.microsoft.com/office/drawing/2014/main" id="{D04459DB-AD7A-F957-64C3-580BF7388442}"/>
              </a:ext>
            </a:extLst>
          </p:cNvPr>
          <p:cNvSpPr txBox="1"/>
          <p:nvPr/>
        </p:nvSpPr>
        <p:spPr>
          <a:xfrm>
            <a:off x="5018428" y="4792684"/>
            <a:ext cx="3698303" cy="852542"/>
          </a:xfrm>
          <a:prstGeom prst="rect">
            <a:avLst/>
          </a:prstGeom>
          <a:noFill/>
          <a:ln>
            <a:noFill/>
          </a:ln>
        </p:spPr>
        <p:txBody>
          <a:bodyPr spcFirstLastPara="1" wrap="square" lIns="94899" tIns="94899" rIns="94899" bIns="94899"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2500" b="1" dirty="0">
                <a:solidFill>
                  <a:schemeClr val="tx1"/>
                </a:solidFill>
                <a:latin typeface="+mn-lt"/>
                <a:ea typeface="Lato"/>
                <a:cs typeface="Lato"/>
                <a:sym typeface="Lato"/>
              </a:rPr>
              <a:t>Camera coordinates to World coordinates</a:t>
            </a:r>
          </a:p>
          <a:p>
            <a:endParaRPr lang="en-US" sz="2500" b="1" dirty="0">
              <a:solidFill>
                <a:schemeClr val="tx1"/>
              </a:solidFill>
              <a:latin typeface="+mn-lt"/>
              <a:ea typeface="Lato"/>
              <a:cs typeface="Lato"/>
              <a:sym typeface="Lato"/>
            </a:endParaRPr>
          </a:p>
        </p:txBody>
      </p:sp>
    </p:spTree>
    <p:extLst>
      <p:ext uri="{BB962C8B-B14F-4D97-AF65-F5344CB8AC3E}">
        <p14:creationId xmlns:p14="http://schemas.microsoft.com/office/powerpoint/2010/main" val="337626410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B09616-B395-EE81-4063-4E75B612681D}"/>
              </a:ext>
            </a:extLst>
          </p:cNvPr>
          <p:cNvSpPr>
            <a:spLocks noGrp="1"/>
          </p:cNvSpPr>
          <p:nvPr>
            <p:ph type="title"/>
          </p:nvPr>
        </p:nvSpPr>
        <p:spPr>
          <a:xfrm>
            <a:off x="934646" y="318348"/>
            <a:ext cx="7706174" cy="875453"/>
          </a:xfrm>
        </p:spPr>
        <p:txBody>
          <a:bodyPr>
            <a:normAutofit/>
          </a:bodyPr>
          <a:lstStyle/>
          <a:p>
            <a:pPr algn="ctr"/>
            <a:r>
              <a:rPr lang="en-IN" sz="4200" b="1" dirty="0">
                <a:solidFill>
                  <a:schemeClr val="accent2">
                    <a:lumMod val="60000"/>
                    <a:lumOff val="40000"/>
                  </a:schemeClr>
                </a:solidFill>
              </a:rPr>
              <a:t>Affine Transformation</a:t>
            </a:r>
          </a:p>
        </p:txBody>
      </p:sp>
      <p:pic>
        <p:nvPicPr>
          <p:cNvPr id="3" name="Google Shape;376;p48">
            <a:extLst>
              <a:ext uri="{FF2B5EF4-FFF2-40B4-BE49-F238E27FC236}">
                <a16:creationId xmlns:a16="http://schemas.microsoft.com/office/drawing/2014/main" id="{F41775D7-33AD-347C-B0F1-CD6DDA685D40}"/>
              </a:ext>
            </a:extLst>
          </p:cNvPr>
          <p:cNvPicPr preferRelativeResize="0"/>
          <p:nvPr/>
        </p:nvPicPr>
        <p:blipFill>
          <a:blip r:embed="rId3">
            <a:alphaModFix/>
          </a:blip>
          <a:stretch>
            <a:fillRect/>
          </a:stretch>
        </p:blipFill>
        <p:spPr>
          <a:xfrm>
            <a:off x="787400" y="1671321"/>
            <a:ext cx="4312134" cy="2387599"/>
          </a:xfrm>
          <a:prstGeom prst="rect">
            <a:avLst/>
          </a:prstGeom>
          <a:noFill/>
          <a:ln>
            <a:noFill/>
          </a:ln>
        </p:spPr>
      </p:pic>
      <p:pic>
        <p:nvPicPr>
          <p:cNvPr id="4" name="Google Shape;382;p49">
            <a:extLst>
              <a:ext uri="{FF2B5EF4-FFF2-40B4-BE49-F238E27FC236}">
                <a16:creationId xmlns:a16="http://schemas.microsoft.com/office/drawing/2014/main" id="{66E81264-2555-6682-4B5D-2F31A2347774}"/>
              </a:ext>
            </a:extLst>
          </p:cNvPr>
          <p:cNvPicPr preferRelativeResize="0"/>
          <p:nvPr/>
        </p:nvPicPr>
        <p:blipFill>
          <a:blip r:embed="rId4">
            <a:alphaModFix/>
          </a:blip>
          <a:stretch>
            <a:fillRect/>
          </a:stretch>
        </p:blipFill>
        <p:spPr>
          <a:xfrm>
            <a:off x="5433061" y="2865119"/>
            <a:ext cx="3603472" cy="2705947"/>
          </a:xfrm>
          <a:prstGeom prst="rect">
            <a:avLst/>
          </a:prstGeom>
          <a:noFill/>
          <a:ln>
            <a:noFill/>
          </a:ln>
        </p:spPr>
      </p:pic>
      <p:sp>
        <p:nvSpPr>
          <p:cNvPr id="5" name="Rounded Rectangle 4"/>
          <p:cNvSpPr/>
          <p:nvPr/>
        </p:nvSpPr>
        <p:spPr>
          <a:xfrm>
            <a:off x="866140" y="4725931"/>
            <a:ext cx="3464560" cy="845134"/>
          </a:xfrm>
          <a:prstGeom prst="round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lIns="94915" tIns="47457" rIns="94915" bIns="47457" spcCol="0" rtlCol="0" anchor="ctr"/>
          <a:lstStyle/>
          <a:p>
            <a:r>
              <a:rPr lang="en-GB" b="1" dirty="0"/>
              <a:t>Here, Ox and </a:t>
            </a:r>
            <a:r>
              <a:rPr lang="en-GB" b="1" dirty="0" err="1"/>
              <a:t>Oy</a:t>
            </a:r>
            <a:r>
              <a:rPr lang="en-GB" b="1" dirty="0"/>
              <a:t> called image centre or principal point.</a:t>
            </a:r>
            <a:endParaRPr lang="en-IN" b="1" dirty="0"/>
          </a:p>
        </p:txBody>
      </p:sp>
      <p:cxnSp>
        <p:nvCxnSpPr>
          <p:cNvPr id="10" name="Straight Arrow Connector 9"/>
          <p:cNvCxnSpPr/>
          <p:nvPr/>
        </p:nvCxnSpPr>
        <p:spPr>
          <a:xfrm flipH="1">
            <a:off x="4488180" y="4725931"/>
            <a:ext cx="1102360" cy="208443"/>
          </a:xfrm>
          <a:prstGeom prst="straightConnector1">
            <a:avLst/>
          </a:prstGeom>
          <a:ln w="38100">
            <a:solidFill>
              <a:schemeClr val="accent2">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7797414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CCEC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B09616-B395-EE81-4063-4E75B612681D}"/>
              </a:ext>
            </a:extLst>
          </p:cNvPr>
          <p:cNvSpPr>
            <a:spLocks noGrp="1"/>
          </p:cNvSpPr>
          <p:nvPr>
            <p:ph type="title"/>
          </p:nvPr>
        </p:nvSpPr>
        <p:spPr>
          <a:xfrm>
            <a:off x="157481" y="775595"/>
            <a:ext cx="2692764" cy="1019895"/>
          </a:xfrm>
        </p:spPr>
        <p:txBody>
          <a:bodyPr>
            <a:normAutofit fontScale="90000"/>
          </a:bodyPr>
          <a:lstStyle/>
          <a:p>
            <a:pPr algn="ctr"/>
            <a:r>
              <a:rPr lang="en-IN" sz="5000" b="1" dirty="0">
                <a:solidFill>
                  <a:srgbClr val="0070C0"/>
                </a:solidFill>
              </a:rPr>
              <a:t>Overview</a:t>
            </a:r>
          </a:p>
        </p:txBody>
      </p:sp>
      <p:pic>
        <p:nvPicPr>
          <p:cNvPr id="5" name="Google Shape;389;p50">
            <a:extLst>
              <a:ext uri="{FF2B5EF4-FFF2-40B4-BE49-F238E27FC236}">
                <a16:creationId xmlns:a16="http://schemas.microsoft.com/office/drawing/2014/main" id="{97FF4DCD-6324-EA86-3A99-4B8BDF1299D4}"/>
              </a:ext>
            </a:extLst>
          </p:cNvPr>
          <p:cNvPicPr preferRelativeResize="0"/>
          <p:nvPr/>
        </p:nvPicPr>
        <p:blipFill>
          <a:blip r:embed="rId3">
            <a:alphaModFix/>
          </a:blip>
          <a:stretch>
            <a:fillRect/>
          </a:stretch>
        </p:blipFill>
        <p:spPr>
          <a:xfrm>
            <a:off x="1654826" y="2645420"/>
            <a:ext cx="6885276" cy="4141463"/>
          </a:xfrm>
          <a:prstGeom prst="rect">
            <a:avLst/>
          </a:prstGeom>
          <a:noFill/>
          <a:ln>
            <a:noFill/>
          </a:ln>
        </p:spPr>
      </p:pic>
      <p:pic>
        <p:nvPicPr>
          <p:cNvPr id="6" name="Google Shape;395;p51">
            <a:extLst>
              <a:ext uri="{FF2B5EF4-FFF2-40B4-BE49-F238E27FC236}">
                <a16:creationId xmlns:a16="http://schemas.microsoft.com/office/drawing/2014/main" id="{9F2AC927-D536-F10C-5060-56A7D88C8B00}"/>
              </a:ext>
            </a:extLst>
          </p:cNvPr>
          <p:cNvPicPr preferRelativeResize="0"/>
          <p:nvPr/>
        </p:nvPicPr>
        <p:blipFill>
          <a:blip r:embed="rId4">
            <a:alphaModFix/>
          </a:blip>
          <a:stretch>
            <a:fillRect/>
          </a:stretch>
        </p:blipFill>
        <p:spPr>
          <a:xfrm>
            <a:off x="3070861" y="477520"/>
            <a:ext cx="5469242" cy="1842227"/>
          </a:xfrm>
          <a:prstGeom prst="rect">
            <a:avLst/>
          </a:prstGeom>
          <a:noFill/>
          <a:ln>
            <a:noFill/>
          </a:ln>
        </p:spPr>
      </p:pic>
    </p:spTree>
    <p:extLst>
      <p:ext uri="{BB962C8B-B14F-4D97-AF65-F5344CB8AC3E}">
        <p14:creationId xmlns:p14="http://schemas.microsoft.com/office/powerpoint/2010/main" val="380310668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2440" y="286844"/>
            <a:ext cx="8503920" cy="906956"/>
          </a:xfrm>
        </p:spPr>
        <p:txBody>
          <a:bodyPr/>
          <a:lstStyle/>
          <a:p>
            <a:r>
              <a:rPr lang="en-US" b="1" dirty="0">
                <a:solidFill>
                  <a:srgbClr val="0070C0"/>
                </a:solidFill>
              </a:rPr>
              <a:t>Depth From Stereo</a:t>
            </a:r>
          </a:p>
        </p:txBody>
      </p:sp>
      <p:sp>
        <p:nvSpPr>
          <p:cNvPr id="3" name="Content Placeholder 2"/>
          <p:cNvSpPr>
            <a:spLocks noGrp="1"/>
          </p:cNvSpPr>
          <p:nvPr>
            <p:ph idx="1"/>
          </p:nvPr>
        </p:nvSpPr>
        <p:spPr>
          <a:xfrm>
            <a:off x="472440" y="1193800"/>
            <a:ext cx="8503920" cy="5491480"/>
          </a:xfrm>
        </p:spPr>
        <p:txBody>
          <a:bodyPr>
            <a:normAutofit/>
          </a:bodyPr>
          <a:lstStyle/>
          <a:p>
            <a:pPr marL="0" indent="0">
              <a:buNone/>
            </a:pPr>
            <a:r>
              <a:rPr lang="en-US" sz="2500" dirty="0"/>
              <a:t>It is not possible to estimate the depth of a point object P from the camera using a single camera O, as all positions of P are mapped to the same point p in image.</a:t>
            </a:r>
          </a:p>
          <a:p>
            <a:pPr marL="0" indent="0">
              <a:buNone/>
            </a:pPr>
            <a:r>
              <a:rPr lang="en-US" sz="2500" dirty="0"/>
              <a:t>We can get the area of original points but not the actual depths</a:t>
            </a:r>
          </a:p>
          <a:p>
            <a:pPr marL="0" indent="0">
              <a:buNone/>
            </a:pPr>
            <a:br>
              <a:rPr lang="en-US" sz="2500" dirty="0"/>
            </a:br>
            <a:endParaRPr lang="en-US" sz="2500" dirty="0"/>
          </a:p>
        </p:txBody>
      </p:sp>
      <p:pic>
        <p:nvPicPr>
          <p:cNvPr id="2150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3741" r="8295" b="15769"/>
          <a:stretch/>
        </p:blipFill>
        <p:spPr bwMode="auto">
          <a:xfrm>
            <a:off x="4566921" y="3312321"/>
            <a:ext cx="4086929" cy="33426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4" descr="Depth Estimation: Basics and Intuition | by Daryl Tan | Towards Data Science">
            <a:extLst>
              <a:ext uri="{FF2B5EF4-FFF2-40B4-BE49-F238E27FC236}">
                <a16:creationId xmlns:a16="http://schemas.microsoft.com/office/drawing/2014/main" id="{E62DD790-704B-E25B-88B3-6F44D1AF9533}"/>
              </a:ext>
            </a:extLst>
          </p:cNvPr>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9920" y="3156263"/>
            <a:ext cx="3640378" cy="33426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9487713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36220" y="318347"/>
            <a:ext cx="8893870" cy="6366933"/>
          </a:xfrm>
        </p:spPr>
        <p:txBody>
          <a:bodyPr>
            <a:normAutofit/>
          </a:bodyPr>
          <a:lstStyle/>
          <a:p>
            <a:pPr marL="0" indent="0">
              <a:buNone/>
            </a:pPr>
            <a:r>
              <a:rPr lang="en-US" sz="2900" b="1" dirty="0">
                <a:solidFill>
                  <a:srgbClr val="0070C0"/>
                </a:solidFill>
              </a:rPr>
              <a:t>Solution</a:t>
            </a:r>
            <a:r>
              <a:rPr lang="en-US" sz="2500" b="1" dirty="0"/>
              <a:t> : </a:t>
            </a:r>
            <a:r>
              <a:rPr lang="en-US" sz="2500" dirty="0"/>
              <a:t>Stereo vision is a technique used to estimate the depth of a point object P from the camera using two cameras. So the intersection of two lines gives the depth of original point.</a:t>
            </a:r>
          </a:p>
          <a:p>
            <a:pPr marL="0" indent="0">
              <a:buNone/>
            </a:pPr>
            <a:r>
              <a:rPr lang="en-US" sz="2500" dirty="0"/>
              <a:t>Types of Stereo systems:-</a:t>
            </a:r>
          </a:p>
          <a:p>
            <a:pPr marL="0" indent="0">
              <a:buNone/>
            </a:pPr>
            <a:r>
              <a:rPr lang="en-US" sz="2500" dirty="0">
                <a:solidFill>
                  <a:srgbClr val="0070C0"/>
                </a:solidFill>
              </a:rPr>
              <a:t>Parallel System 			Generalized System</a:t>
            </a:r>
            <a:br>
              <a:rPr lang="en-US" sz="2500" dirty="0">
                <a:solidFill>
                  <a:srgbClr val="0070C0"/>
                </a:solidFill>
              </a:rPr>
            </a:br>
            <a:endParaRPr lang="en-US" sz="2500" dirty="0">
              <a:solidFill>
                <a:srgbClr val="0070C0"/>
              </a:solidFill>
            </a:endParaRPr>
          </a:p>
          <a:p>
            <a:endParaRPr lang="en-US" sz="2500" dirty="0"/>
          </a:p>
          <a:p>
            <a:endParaRPr lang="en-US" sz="2500" dirty="0"/>
          </a:p>
        </p:txBody>
      </p:sp>
      <p:pic>
        <p:nvPicPr>
          <p:cNvPr id="2253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3700" y="2705947"/>
            <a:ext cx="4350385" cy="3282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253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40335" y="2765637"/>
            <a:ext cx="4389755" cy="32232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9618196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72440" y="477520"/>
            <a:ext cx="4174861" cy="668196"/>
          </a:xfrm>
        </p:spPr>
        <p:txBody>
          <a:bodyPr>
            <a:normAutofit/>
          </a:bodyPr>
          <a:lstStyle/>
          <a:p>
            <a:r>
              <a:rPr lang="en-US" sz="3300" dirty="0"/>
              <a:t>Multi-View Geometry</a:t>
            </a:r>
          </a:p>
        </p:txBody>
      </p:sp>
      <p:sp>
        <p:nvSpPr>
          <p:cNvPr id="4" name="Content Placeholder 3"/>
          <p:cNvSpPr>
            <a:spLocks noGrp="1"/>
          </p:cNvSpPr>
          <p:nvPr>
            <p:ph sz="half" idx="2"/>
          </p:nvPr>
        </p:nvSpPr>
        <p:spPr>
          <a:xfrm>
            <a:off x="472440" y="1273387"/>
            <a:ext cx="4174861" cy="5125050"/>
          </a:xfrm>
        </p:spPr>
        <p:txBody>
          <a:bodyPr/>
          <a:lstStyle/>
          <a:p>
            <a:pPr marL="0" indent="0">
              <a:buNone/>
            </a:pPr>
            <a:r>
              <a:rPr lang="en-US" dirty="0"/>
              <a:t>In this, we focus different cameras at different angles on the same object whose depth is to be estimated. Then it will make different lines of view, and their intersection point gives the exact position of the object in the world space.</a:t>
            </a:r>
          </a:p>
          <a:p>
            <a:endParaRPr lang="en-US" dirty="0"/>
          </a:p>
        </p:txBody>
      </p:sp>
      <p:sp>
        <p:nvSpPr>
          <p:cNvPr id="5" name="Text Placeholder 4"/>
          <p:cNvSpPr>
            <a:spLocks noGrp="1"/>
          </p:cNvSpPr>
          <p:nvPr>
            <p:ph type="body" sz="quarter" idx="3"/>
          </p:nvPr>
        </p:nvSpPr>
        <p:spPr>
          <a:xfrm>
            <a:off x="4645660" y="477520"/>
            <a:ext cx="4412721" cy="668196"/>
          </a:xfrm>
        </p:spPr>
        <p:txBody>
          <a:bodyPr>
            <a:noAutofit/>
          </a:bodyPr>
          <a:lstStyle/>
          <a:p>
            <a:r>
              <a:rPr lang="en-US" sz="3300" dirty="0"/>
              <a:t>Structure from Motion:</a:t>
            </a:r>
          </a:p>
        </p:txBody>
      </p:sp>
      <p:sp>
        <p:nvSpPr>
          <p:cNvPr id="6" name="Content Placeholder 5"/>
          <p:cNvSpPr>
            <a:spLocks noGrp="1"/>
          </p:cNvSpPr>
          <p:nvPr>
            <p:ph sz="quarter" idx="4"/>
          </p:nvPr>
        </p:nvSpPr>
        <p:spPr>
          <a:xfrm>
            <a:off x="4799860" y="1193800"/>
            <a:ext cx="4176501" cy="5650653"/>
          </a:xfrm>
        </p:spPr>
        <p:txBody>
          <a:bodyPr>
            <a:normAutofit/>
          </a:bodyPr>
          <a:lstStyle/>
          <a:p>
            <a:pPr marL="0" indent="0">
              <a:buNone/>
            </a:pPr>
            <a:r>
              <a:rPr lang="en-US" dirty="0"/>
              <a:t>In this, we keep a single camera revolve it around the object in a circular motion, and capture the images of the same object, thus forming different lines of view. Then, their intersection point gives the depth of the object in the real world.</a:t>
            </a:r>
            <a:br>
              <a:rPr lang="en-US" dirty="0"/>
            </a:br>
            <a:endParaRPr lang="en-US" dirty="0"/>
          </a:p>
          <a:p>
            <a:endParaRPr lang="en-US" dirty="0"/>
          </a:p>
        </p:txBody>
      </p:sp>
      <p:pic>
        <p:nvPicPr>
          <p:cNvPr id="7" name="Picture 6">
            <a:extLst>
              <a:ext uri="{FF2B5EF4-FFF2-40B4-BE49-F238E27FC236}">
                <a16:creationId xmlns:a16="http://schemas.microsoft.com/office/drawing/2014/main" id="{21D8DAC1-25ED-74DF-C2A5-74C8BE34A68C}"/>
              </a:ext>
            </a:extLst>
          </p:cNvPr>
          <p:cNvPicPr>
            <a:picLocks noChangeAspect="1"/>
          </p:cNvPicPr>
          <p:nvPr/>
        </p:nvPicPr>
        <p:blipFill rotWithShape="1">
          <a:blip r:embed="rId2">
            <a:extLst>
              <a:ext uri="{28A0092B-C50C-407E-A947-70E740481C1C}">
                <a14:useLocalDpi xmlns:a14="http://schemas.microsoft.com/office/drawing/2010/main" val="0"/>
              </a:ext>
            </a:extLst>
          </a:blip>
          <a:srcRect t="32144" r="-683"/>
          <a:stretch/>
        </p:blipFill>
        <p:spPr>
          <a:xfrm>
            <a:off x="2677160" y="4854787"/>
            <a:ext cx="3779520" cy="1891484"/>
          </a:xfrm>
          <a:prstGeom prst="rect">
            <a:avLst/>
          </a:prstGeom>
        </p:spPr>
      </p:pic>
    </p:spTree>
    <p:extLst>
      <p:ext uri="{BB962C8B-B14F-4D97-AF65-F5344CB8AC3E}">
        <p14:creationId xmlns:p14="http://schemas.microsoft.com/office/powerpoint/2010/main" val="377592790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B09616-B395-EE81-4063-4E75B612681D}"/>
              </a:ext>
            </a:extLst>
          </p:cNvPr>
          <p:cNvSpPr>
            <a:spLocks noGrp="1"/>
          </p:cNvSpPr>
          <p:nvPr>
            <p:ph type="title"/>
          </p:nvPr>
        </p:nvSpPr>
        <p:spPr>
          <a:xfrm>
            <a:off x="934646" y="417589"/>
            <a:ext cx="7706174" cy="696626"/>
          </a:xfrm>
        </p:spPr>
        <p:txBody>
          <a:bodyPr>
            <a:normAutofit fontScale="90000"/>
          </a:bodyPr>
          <a:lstStyle/>
          <a:p>
            <a:pPr algn="ctr"/>
            <a:r>
              <a:rPr lang="en-IN" b="1" dirty="0">
                <a:solidFill>
                  <a:srgbClr val="0070C0"/>
                </a:solidFill>
              </a:rPr>
              <a:t>Simplified case for Stereo</a:t>
            </a:r>
          </a:p>
        </p:txBody>
      </p:sp>
      <p:pic>
        <p:nvPicPr>
          <p:cNvPr id="5" name="Content Placeholder 6">
            <a:extLst>
              <a:ext uri="{FF2B5EF4-FFF2-40B4-BE49-F238E27FC236}">
                <a16:creationId xmlns:a16="http://schemas.microsoft.com/office/drawing/2014/main" id="{FCCF0738-728E-B729-8BEF-422EA7C727A5}"/>
              </a:ext>
            </a:extLst>
          </p:cNvPr>
          <p:cNvPicPr>
            <a:picLocks noGrp="1" noChangeAspect="1"/>
          </p:cNvPicPr>
          <p:nvPr/>
        </p:nvPicPr>
        <p:blipFill rotWithShape="1">
          <a:blip r:embed="rId3">
            <a:extLst>
              <a:ext uri="{28A0092B-C50C-407E-A947-70E740481C1C}">
                <a14:useLocalDpi xmlns:a14="http://schemas.microsoft.com/office/drawing/2010/main" val="0"/>
              </a:ext>
            </a:extLst>
          </a:blip>
          <a:srcRect l="25417" t="24689" r="23958" b="9610"/>
          <a:stretch/>
        </p:blipFill>
        <p:spPr>
          <a:xfrm>
            <a:off x="362884" y="1846935"/>
            <a:ext cx="4991435" cy="4645663"/>
          </a:xfrm>
          <a:prstGeom prst="rect">
            <a:avLst/>
          </a:prstGeom>
          <a:ln>
            <a:solidFill>
              <a:schemeClr val="bg1"/>
            </a:solidFill>
          </a:ln>
        </p:spPr>
      </p:pic>
      <p:sp>
        <p:nvSpPr>
          <p:cNvPr id="6" name="TextBox 5">
            <a:extLst>
              <a:ext uri="{FF2B5EF4-FFF2-40B4-BE49-F238E27FC236}">
                <a16:creationId xmlns:a16="http://schemas.microsoft.com/office/drawing/2014/main" id="{38B3B412-F669-B0FD-0697-A5FFC49485B1}"/>
              </a:ext>
            </a:extLst>
          </p:cNvPr>
          <p:cNvSpPr txBox="1"/>
          <p:nvPr/>
        </p:nvSpPr>
        <p:spPr>
          <a:xfrm>
            <a:off x="5516525" y="1846936"/>
            <a:ext cx="3440794" cy="4620156"/>
          </a:xfrm>
          <a:prstGeom prst="rect">
            <a:avLst/>
          </a:prstGeom>
          <a:noFill/>
        </p:spPr>
        <p:txBody>
          <a:bodyPr wrap="square" lIns="94915" tIns="47457" rIns="94915" bIns="47457" rtlCol="0">
            <a:spAutoFit/>
          </a:bodyPr>
          <a:lstStyle/>
          <a:p>
            <a:r>
              <a:rPr lang="en-IN" sz="2100" dirty="0"/>
              <a:t>Bullet points:-</a:t>
            </a:r>
          </a:p>
          <a:p>
            <a:endParaRPr lang="en-IN" sz="2100" dirty="0"/>
          </a:p>
          <a:p>
            <a:pPr marL="474574" indent="-474574">
              <a:buFont typeface="+mj-lt"/>
              <a:buAutoNum type="arabicPeriod"/>
            </a:pPr>
            <a:r>
              <a:rPr lang="en-IN" sz="2100" dirty="0"/>
              <a:t>If base line is more, depth estimation becomes easy, but the common region gets reduced.</a:t>
            </a:r>
          </a:p>
          <a:p>
            <a:pPr marL="474574" indent="-474574">
              <a:buFont typeface="+mj-lt"/>
              <a:buAutoNum type="arabicPeriod"/>
            </a:pPr>
            <a:r>
              <a:rPr lang="en-IN" sz="2100" dirty="0"/>
              <a:t>Therefore, we increase the base line and rotate the cameras. But then we also need to have the rotation component of transform, as it will not be Identity matrix.</a:t>
            </a:r>
          </a:p>
        </p:txBody>
      </p:sp>
      <p:sp>
        <p:nvSpPr>
          <p:cNvPr id="7" name="Rectangle: Rounded Corners 6">
            <a:extLst>
              <a:ext uri="{FF2B5EF4-FFF2-40B4-BE49-F238E27FC236}">
                <a16:creationId xmlns:a16="http://schemas.microsoft.com/office/drawing/2014/main" id="{D97EE4C4-56FD-3122-1EF6-14F61839FA17}"/>
              </a:ext>
            </a:extLst>
          </p:cNvPr>
          <p:cNvSpPr/>
          <p:nvPr/>
        </p:nvSpPr>
        <p:spPr>
          <a:xfrm>
            <a:off x="5354320" y="1519381"/>
            <a:ext cx="3788217" cy="5225832"/>
          </a:xfrm>
          <a:prstGeom prst="roundRect">
            <a:avLst/>
          </a:prstGeom>
          <a:solidFill>
            <a:srgbClr val="13B3B7">
              <a:alpha val="49804"/>
            </a:srgbClr>
          </a:solidFill>
          <a:ln>
            <a:noFill/>
          </a:ln>
        </p:spPr>
        <p:style>
          <a:lnRef idx="0">
            <a:scrgbClr r="0" g="0" b="0"/>
          </a:lnRef>
          <a:fillRef idx="0">
            <a:scrgbClr r="0" g="0" b="0"/>
          </a:fillRef>
          <a:effectRef idx="0">
            <a:scrgbClr r="0" g="0" b="0"/>
          </a:effectRef>
          <a:fontRef idx="minor">
            <a:schemeClr val="lt1"/>
          </a:fontRef>
        </p:style>
        <p:txBody>
          <a:bodyPr lIns="94915" tIns="47457" rIns="94915" bIns="47457" rtlCol="0" anchor="ctr"/>
          <a:lstStyle/>
          <a:p>
            <a:pPr algn="ctr"/>
            <a:endParaRPr lang="en-IN"/>
          </a:p>
        </p:txBody>
      </p:sp>
    </p:spTree>
    <p:extLst>
      <p:ext uri="{BB962C8B-B14F-4D97-AF65-F5344CB8AC3E}">
        <p14:creationId xmlns:p14="http://schemas.microsoft.com/office/powerpoint/2010/main" val="308042316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B09616-B395-EE81-4063-4E75B612681D}"/>
              </a:ext>
            </a:extLst>
          </p:cNvPr>
          <p:cNvSpPr>
            <a:spLocks noGrp="1"/>
          </p:cNvSpPr>
          <p:nvPr>
            <p:ph type="title"/>
          </p:nvPr>
        </p:nvSpPr>
        <p:spPr>
          <a:xfrm>
            <a:off x="871313" y="265650"/>
            <a:ext cx="7706174" cy="768977"/>
          </a:xfrm>
        </p:spPr>
        <p:txBody>
          <a:bodyPr>
            <a:normAutofit fontScale="90000"/>
          </a:bodyPr>
          <a:lstStyle/>
          <a:p>
            <a:pPr algn="ctr"/>
            <a:r>
              <a:rPr lang="en-IN" b="1" dirty="0">
                <a:solidFill>
                  <a:srgbClr val="0070C0"/>
                </a:solidFill>
              </a:rPr>
              <a:t>Concept of </a:t>
            </a:r>
            <a:r>
              <a:rPr lang="en-IN" b="1" dirty="0" err="1">
                <a:solidFill>
                  <a:srgbClr val="0070C0"/>
                </a:solidFill>
              </a:rPr>
              <a:t>Epipolar</a:t>
            </a:r>
            <a:r>
              <a:rPr lang="en-IN" b="1" dirty="0">
                <a:solidFill>
                  <a:srgbClr val="0070C0"/>
                </a:solidFill>
              </a:rPr>
              <a:t> Region</a:t>
            </a:r>
          </a:p>
        </p:txBody>
      </p:sp>
      <p:pic>
        <p:nvPicPr>
          <p:cNvPr id="3" name="Picture 2">
            <a:extLst>
              <a:ext uri="{FF2B5EF4-FFF2-40B4-BE49-F238E27FC236}">
                <a16:creationId xmlns:a16="http://schemas.microsoft.com/office/drawing/2014/main" id="{3966F98C-8913-4C9D-A2D9-754519153AD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94362" y="1390524"/>
            <a:ext cx="4135526" cy="3352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TextBox 5">
            <a:extLst>
              <a:ext uri="{FF2B5EF4-FFF2-40B4-BE49-F238E27FC236}">
                <a16:creationId xmlns:a16="http://schemas.microsoft.com/office/drawing/2014/main" id="{485D22A4-11B6-29F6-9F80-F92A42C7ECBE}"/>
              </a:ext>
            </a:extLst>
          </p:cNvPr>
          <p:cNvSpPr txBox="1"/>
          <p:nvPr/>
        </p:nvSpPr>
        <p:spPr>
          <a:xfrm>
            <a:off x="170995" y="1198852"/>
            <a:ext cx="4317186" cy="4404713"/>
          </a:xfrm>
          <a:prstGeom prst="rect">
            <a:avLst/>
          </a:prstGeom>
          <a:noFill/>
        </p:spPr>
        <p:txBody>
          <a:bodyPr wrap="square" lIns="94915" tIns="47457" rIns="94915" bIns="47457"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355930" indent="-355930">
              <a:buFont typeface="Arial" panose="020B0604020202020204" pitchFamily="34" charset="0"/>
              <a:buChar char="•"/>
            </a:pPr>
            <a:r>
              <a:rPr lang="en-US" sz="2800" dirty="0">
                <a:solidFill>
                  <a:srgbClr val="0070C0"/>
                </a:solidFill>
                <a:ea typeface="Calibri" panose="020F0502020204030204" pitchFamily="34" charset="0"/>
                <a:cs typeface="Calibri" panose="020F0502020204030204" pitchFamily="34" charset="0"/>
              </a:rPr>
              <a:t>Epipole</a:t>
            </a:r>
            <a:r>
              <a:rPr lang="en-US" sz="2800" dirty="0">
                <a:ea typeface="Calibri" panose="020F0502020204030204" pitchFamily="34" charset="0"/>
                <a:cs typeface="Calibri" panose="020F0502020204030204" pitchFamily="34" charset="0"/>
              </a:rPr>
              <a:t> is the point of intersection of the line connecting the camera centers (baseline) with the image plane. Each camera in a stereo pair has an epipole, which is the projection of the other camera's center onto its image plane..</a:t>
            </a:r>
          </a:p>
        </p:txBody>
      </p:sp>
    </p:spTree>
    <p:extLst>
      <p:ext uri="{BB962C8B-B14F-4D97-AF65-F5344CB8AC3E}">
        <p14:creationId xmlns:p14="http://schemas.microsoft.com/office/powerpoint/2010/main" val="204099534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72440" y="457200"/>
            <a:ext cx="8503920" cy="5941237"/>
          </a:xfrm>
        </p:spPr>
        <p:txBody>
          <a:bodyPr>
            <a:normAutofit/>
          </a:bodyPr>
          <a:lstStyle/>
          <a:p>
            <a:r>
              <a:rPr lang="en-US" sz="2800" dirty="0" err="1">
                <a:solidFill>
                  <a:srgbClr val="0070C0"/>
                </a:solidFill>
                <a:ea typeface="Calibri" panose="020F0502020204030204" pitchFamily="34" charset="0"/>
                <a:cs typeface="Calibri" panose="020F0502020204030204" pitchFamily="34" charset="0"/>
              </a:rPr>
              <a:t>Epipolar</a:t>
            </a:r>
            <a:r>
              <a:rPr lang="en-US" sz="2800" dirty="0">
                <a:solidFill>
                  <a:srgbClr val="0070C0"/>
                </a:solidFill>
                <a:ea typeface="Calibri" panose="020F0502020204030204" pitchFamily="34" charset="0"/>
                <a:cs typeface="Calibri" panose="020F0502020204030204" pitchFamily="34" charset="0"/>
              </a:rPr>
              <a:t> plane </a:t>
            </a:r>
            <a:r>
              <a:rPr lang="en-US" sz="2800" dirty="0">
                <a:ea typeface="Calibri" panose="020F0502020204030204" pitchFamily="34" charset="0"/>
                <a:cs typeface="Calibri" panose="020F0502020204030204" pitchFamily="34" charset="0"/>
              </a:rPr>
              <a:t>is formed by a 3D point and the two camera centers is called the </a:t>
            </a:r>
            <a:r>
              <a:rPr lang="en-US" sz="2800" dirty="0" err="1">
                <a:ea typeface="Calibri" panose="020F0502020204030204" pitchFamily="34" charset="0"/>
                <a:cs typeface="Calibri" panose="020F0502020204030204" pitchFamily="34" charset="0"/>
              </a:rPr>
              <a:t>epipolar</a:t>
            </a:r>
            <a:r>
              <a:rPr lang="en-US" sz="2800" dirty="0">
                <a:ea typeface="Calibri" panose="020F0502020204030204" pitchFamily="34" charset="0"/>
                <a:cs typeface="Calibri" panose="020F0502020204030204" pitchFamily="34" charset="0"/>
              </a:rPr>
              <a:t> plane. This plane intersects the image planes along lines called </a:t>
            </a:r>
            <a:r>
              <a:rPr lang="en-US" sz="2800" dirty="0" err="1">
                <a:ea typeface="Calibri" panose="020F0502020204030204" pitchFamily="34" charset="0"/>
                <a:cs typeface="Calibri" panose="020F0502020204030204" pitchFamily="34" charset="0"/>
              </a:rPr>
              <a:t>epipolar</a:t>
            </a:r>
            <a:r>
              <a:rPr lang="en-US" sz="2800" dirty="0">
                <a:ea typeface="Calibri" panose="020F0502020204030204" pitchFamily="34" charset="0"/>
                <a:cs typeface="Calibri" panose="020F0502020204030204" pitchFamily="34" charset="0"/>
              </a:rPr>
              <a:t> lines</a:t>
            </a:r>
          </a:p>
          <a:p>
            <a:r>
              <a:rPr lang="en-US" sz="2800" dirty="0" err="1">
                <a:solidFill>
                  <a:srgbClr val="0070C0"/>
                </a:solidFill>
                <a:ea typeface="Calibri" panose="020F0502020204030204" pitchFamily="34" charset="0"/>
                <a:cs typeface="Calibri" panose="020F0502020204030204" pitchFamily="34" charset="0"/>
              </a:rPr>
              <a:t>Epipolar</a:t>
            </a:r>
            <a:r>
              <a:rPr lang="en-US" sz="2800" dirty="0">
                <a:solidFill>
                  <a:srgbClr val="0070C0"/>
                </a:solidFill>
                <a:ea typeface="Calibri" panose="020F0502020204030204" pitchFamily="34" charset="0"/>
                <a:cs typeface="Calibri" panose="020F0502020204030204" pitchFamily="34" charset="0"/>
              </a:rPr>
              <a:t> lines </a:t>
            </a:r>
            <a:r>
              <a:rPr lang="en-US" sz="2800" dirty="0">
                <a:ea typeface="Calibri" panose="020F0502020204030204" pitchFamily="34" charset="0"/>
                <a:cs typeface="Calibri" panose="020F0502020204030204" pitchFamily="34" charset="0"/>
              </a:rPr>
              <a:t>are the intersections of the </a:t>
            </a:r>
            <a:r>
              <a:rPr lang="en-US" sz="2800" dirty="0" err="1">
                <a:ea typeface="Calibri" panose="020F0502020204030204" pitchFamily="34" charset="0"/>
                <a:cs typeface="Calibri" panose="020F0502020204030204" pitchFamily="34" charset="0"/>
              </a:rPr>
              <a:t>epipolar</a:t>
            </a:r>
            <a:r>
              <a:rPr lang="en-US" sz="2800" dirty="0">
                <a:ea typeface="Calibri" panose="020F0502020204030204" pitchFamily="34" charset="0"/>
                <a:cs typeface="Calibri" panose="020F0502020204030204" pitchFamily="34" charset="0"/>
              </a:rPr>
              <a:t> plane with the image planes. A point in one image corresponds to a point along the </a:t>
            </a:r>
            <a:r>
              <a:rPr lang="en-US" sz="2800" dirty="0" err="1">
                <a:ea typeface="Calibri" panose="020F0502020204030204" pitchFamily="34" charset="0"/>
                <a:cs typeface="Calibri" panose="020F0502020204030204" pitchFamily="34" charset="0"/>
              </a:rPr>
              <a:t>epipolar</a:t>
            </a:r>
            <a:r>
              <a:rPr lang="en-US" sz="2800" dirty="0">
                <a:ea typeface="Calibri" panose="020F0502020204030204" pitchFamily="34" charset="0"/>
                <a:cs typeface="Calibri" panose="020F0502020204030204" pitchFamily="34" charset="0"/>
              </a:rPr>
              <a:t> line in the other image</a:t>
            </a:r>
            <a:r>
              <a:rPr lang="en-US" sz="2800" dirty="0"/>
              <a:t>.</a:t>
            </a:r>
            <a:endParaRPr lang="en-IN" sz="2800" dirty="0"/>
          </a:p>
          <a:p>
            <a:endParaRPr lang="en-US" sz="2800" dirty="0"/>
          </a:p>
        </p:txBody>
      </p:sp>
      <p:pic>
        <p:nvPicPr>
          <p:cNvPr id="4" name="Picture 3" descr="COMPSCI773: Vision Guided Control">
            <a:extLst>
              <a:ext uri="{FF2B5EF4-FFF2-40B4-BE49-F238E27FC236}">
                <a16:creationId xmlns:a16="http://schemas.microsoft.com/office/drawing/2014/main" id="{550EB93C-B32F-E151-8CFA-8C85F13779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05200" y="3657600"/>
            <a:ext cx="3538736" cy="25227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174253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2093</TotalTime>
  <Words>2098</Words>
  <Application>Microsoft Office PowerPoint</Application>
  <PresentationFormat>Custom</PresentationFormat>
  <Paragraphs>213</Paragraphs>
  <Slides>61</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61</vt:i4>
      </vt:variant>
    </vt:vector>
  </HeadingPairs>
  <TitlesOfParts>
    <vt:vector size="65" baseType="lpstr">
      <vt:lpstr>Arial</vt:lpstr>
      <vt:lpstr>Bahnschrift SemiBold</vt:lpstr>
      <vt:lpstr>Calibri</vt:lpstr>
      <vt:lpstr>Office Theme</vt:lpstr>
      <vt:lpstr>COMPUTER VISION</vt:lpstr>
      <vt:lpstr>PowerPoint Presentation</vt:lpstr>
      <vt:lpstr>PowerPoint Presentation</vt:lpstr>
      <vt:lpstr>Introdunction to Signals &amp; Images</vt:lpstr>
      <vt:lpstr>Image Classification</vt:lpstr>
      <vt:lpstr>Object Detection</vt:lpstr>
      <vt:lpstr>Semantic Segmentation</vt:lpstr>
      <vt:lpstr>Instance Segmentation</vt:lpstr>
      <vt:lpstr>Depth Estimation</vt:lpstr>
      <vt:lpstr>CHALLANGES</vt:lpstr>
      <vt:lpstr>CHALLANGES</vt:lpstr>
      <vt:lpstr>Images as Surfaces</vt:lpstr>
      <vt:lpstr>How to store an image??</vt:lpstr>
      <vt:lpstr>Storage of Images(Gray Scale)</vt:lpstr>
      <vt:lpstr>Encoding : Encoding is the process of converting the quantized pixel values into a format that can be easily stored or transmitted.</vt:lpstr>
      <vt:lpstr>Image Formation</vt:lpstr>
      <vt:lpstr>PowerPoint Presentation</vt:lpstr>
      <vt:lpstr>How are colored images stored?</vt:lpstr>
      <vt:lpstr>BASICS OF PIXEL RELATED OPERATIONS</vt:lpstr>
      <vt:lpstr>Histogram</vt:lpstr>
      <vt:lpstr>Cumulative Histogram</vt:lpstr>
      <vt:lpstr>Histograms For Colored Images</vt:lpstr>
      <vt:lpstr>Histogram Equalization</vt:lpstr>
      <vt:lpstr>It achieves equalization  by effectively spreading out the most frequent intensity values.</vt:lpstr>
      <vt:lpstr>PowerPoint Presentation</vt:lpstr>
      <vt:lpstr>CONVOLUTION</vt:lpstr>
      <vt:lpstr>Convolution Process</vt:lpstr>
      <vt:lpstr>Averaging(Blurring)</vt:lpstr>
      <vt:lpstr>Gaussian Blur</vt:lpstr>
      <vt:lpstr>Derivative of Image</vt:lpstr>
      <vt:lpstr>Edge Detection</vt:lpstr>
      <vt:lpstr>PowerPoint Presentation</vt:lpstr>
      <vt:lpstr>Canny Edge Detection</vt:lpstr>
      <vt:lpstr>Example: Canny Edges of Image</vt:lpstr>
      <vt:lpstr>Hysteresis</vt:lpstr>
      <vt:lpstr>Image Sharpening</vt:lpstr>
      <vt:lpstr>Image Matching</vt:lpstr>
      <vt:lpstr>Harris Corner Detection Algorithm</vt:lpstr>
      <vt:lpstr>What are the issues with this??</vt:lpstr>
      <vt:lpstr>Downsampling &amp; Upsampling</vt:lpstr>
      <vt:lpstr>LoG</vt:lpstr>
      <vt:lpstr>DoG</vt:lpstr>
      <vt:lpstr>Laplacian Pyramid</vt:lpstr>
      <vt:lpstr>SIFT</vt:lpstr>
      <vt:lpstr>Image Matching</vt:lpstr>
      <vt:lpstr>Histogram of Oriented Gradients</vt:lpstr>
      <vt:lpstr>Transformations, camera and its Projections</vt:lpstr>
      <vt:lpstr>PowerPoint Presentation</vt:lpstr>
      <vt:lpstr>2D Planar Transformations</vt:lpstr>
      <vt:lpstr>Camera Caliberation</vt:lpstr>
      <vt:lpstr>PowerPoint Presentation</vt:lpstr>
      <vt:lpstr>World to Camera Transformation</vt:lpstr>
      <vt:lpstr>Relation between Camera-CS &amp; World-CS</vt:lpstr>
      <vt:lpstr>Affine Transformation</vt:lpstr>
      <vt:lpstr>Overview</vt:lpstr>
      <vt:lpstr>Depth From Stereo</vt:lpstr>
      <vt:lpstr>PowerPoint Presentation</vt:lpstr>
      <vt:lpstr>PowerPoint Presentation</vt:lpstr>
      <vt:lpstr>Simplified case for Stereo</vt:lpstr>
      <vt:lpstr>Concept of Epipolar Region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COMPUTER VISION</dc:title>
  <dc:creator>user</dc:creator>
  <cp:lastModifiedBy>Megha Saran</cp:lastModifiedBy>
  <cp:revision>83</cp:revision>
  <dcterms:created xsi:type="dcterms:W3CDTF">2024-06-08T18:55:16Z</dcterms:created>
  <dcterms:modified xsi:type="dcterms:W3CDTF">2024-09-26T13:05:14Z</dcterms:modified>
</cp:coreProperties>
</file>