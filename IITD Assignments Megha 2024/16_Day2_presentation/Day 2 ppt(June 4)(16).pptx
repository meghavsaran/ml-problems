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9" r:id="rId4"/>
    <p:sldId id="261" r:id="rId5"/>
    <p:sldId id="262" r:id="rId6"/>
    <p:sldId id="264" r:id="rId7"/>
    <p:sldId id="265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EA6802D2-CDB8-4BA0-8AB9-F4C197EAA6F9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72007A98-F6A9-4392-9368-C5C27B5F2D7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6802D2-CDB8-4BA0-8AB9-F4C197EAA6F9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007A98-F6A9-4392-9368-C5C27B5F2D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EA6802D2-CDB8-4BA0-8AB9-F4C197EAA6F9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72007A98-F6A9-4392-9368-C5C27B5F2D7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6802D2-CDB8-4BA0-8AB9-F4C197EAA6F9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007A98-F6A9-4392-9368-C5C27B5F2D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6802D2-CDB8-4BA0-8AB9-F4C197EAA6F9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007A98-F6A9-4392-9368-C5C27B5F2D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6802D2-CDB8-4BA0-8AB9-F4C197EAA6F9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007A98-F6A9-4392-9368-C5C27B5F2D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EA6802D2-CDB8-4BA0-8AB9-F4C197EAA6F9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007A98-F6A9-4392-9368-C5C27B5F2D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6802D2-CDB8-4BA0-8AB9-F4C197EAA6F9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007A98-F6A9-4392-9368-C5C27B5F2D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6802D2-CDB8-4BA0-8AB9-F4C197EAA6F9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007A98-F6A9-4392-9368-C5C27B5F2D7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6802D2-CDB8-4BA0-8AB9-F4C197EAA6F9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007A98-F6A9-4392-9368-C5C27B5F2D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EA6802D2-CDB8-4BA0-8AB9-F4C197EAA6F9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72007A98-F6A9-4392-9368-C5C27B5F2D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EA6802D2-CDB8-4BA0-8AB9-F4C197EAA6F9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72007A98-F6A9-4392-9368-C5C27B5F2D7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f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 smtClean="0"/>
              <a:t>Day 2 </a:t>
            </a:r>
            <a:r>
              <a:rPr lang="en-US" sz="5400" dirty="0" err="1" smtClean="0"/>
              <a:t>ppt</a:t>
            </a:r>
            <a:r>
              <a:rPr lang="en-US" sz="5400" dirty="0" smtClean="0"/>
              <a:t> : </a:t>
            </a:r>
            <a:r>
              <a:rPr lang="en-US" sz="5400" dirty="0" err="1" smtClean="0"/>
              <a:t>covolution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4442" y="3810000"/>
            <a:ext cx="5114778" cy="83111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summary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6477000" y="5181600"/>
            <a:ext cx="1911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Presented By-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V.Megha</a:t>
            </a:r>
            <a:r>
              <a:rPr lang="en-US" sz="2000" b="1" dirty="0" smtClean="0">
                <a:solidFill>
                  <a:schemeClr val="bg1"/>
                </a:solidFill>
              </a:rPr>
              <a:t> Saran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396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239000" cy="44196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239000" cy="2124384"/>
          </a:xfrm>
        </p:spPr>
        <p:txBody>
          <a:bodyPr>
            <a:normAutofit/>
          </a:bodyPr>
          <a:lstStyle/>
          <a:p>
            <a:r>
              <a:rPr lang="en-US" sz="2000" dirty="0"/>
              <a:t>Convolution is used to  apply filters to images.</a:t>
            </a:r>
          </a:p>
          <a:p>
            <a:r>
              <a:rPr lang="en-US" sz="2000" b="1" dirty="0"/>
              <a:t>Image filtering is </a:t>
            </a:r>
            <a:r>
              <a:rPr lang="en-US" sz="2000" dirty="0"/>
              <a:t>changing the pixel value of a specific image to blur, sharpen, emboss, or make edges more clear. It changes the appearance of the original image. </a:t>
            </a:r>
          </a:p>
          <a:p>
            <a:r>
              <a:rPr lang="en-US" sz="2000" dirty="0"/>
              <a:t>Mathematically it is an operation used to combine two functions to produce a third function.</a:t>
            </a:r>
          </a:p>
          <a:p>
            <a:endParaRPr lang="en-US" sz="2000" dirty="0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3657599"/>
            <a:ext cx="4038600" cy="295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4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B050"/>
                </a:solidFill>
              </a:rPr>
              <a:t>Smoothening(Blur &amp; Gaussian Blur)</a:t>
            </a:r>
            <a:endParaRPr lang="en-US" sz="3200" b="1" dirty="0">
              <a:solidFill>
                <a:srgbClr val="00B050"/>
              </a:solidFill>
            </a:endParaRP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" t="34119" r="69833" b="17544"/>
          <a:stretch/>
        </p:blipFill>
        <p:spPr bwMode="auto">
          <a:xfrm>
            <a:off x="718676" y="2971122"/>
            <a:ext cx="2133600" cy="2068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3" t="11382" r="52423" b="15043"/>
          <a:stretch/>
        </p:blipFill>
        <p:spPr>
          <a:xfrm>
            <a:off x="2590800" y="1599173"/>
            <a:ext cx="1792473" cy="1119375"/>
          </a:xfrm>
          <a:prstGeom prst="rect">
            <a:avLst/>
          </a:prstGeom>
        </p:spPr>
      </p:pic>
      <p:cxnSp>
        <p:nvCxnSpPr>
          <p:cNvPr id="22" name="Straight Arrow Connector 21"/>
          <p:cNvCxnSpPr>
            <a:stCxn id="6" idx="3"/>
            <a:endCxn id="9" idx="1"/>
          </p:cNvCxnSpPr>
          <p:nvPr/>
        </p:nvCxnSpPr>
        <p:spPr>
          <a:xfrm>
            <a:off x="2852276" y="4005357"/>
            <a:ext cx="2467869" cy="1313334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" idx="3"/>
            <a:endCxn id="8" idx="1"/>
          </p:cNvCxnSpPr>
          <p:nvPr/>
        </p:nvCxnSpPr>
        <p:spPr>
          <a:xfrm flipV="1">
            <a:off x="2852276" y="2411035"/>
            <a:ext cx="2467869" cy="1594322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34" t="40625" r="22559" b="32692"/>
          <a:stretch/>
        </p:blipFill>
        <p:spPr bwMode="auto">
          <a:xfrm>
            <a:off x="5320145" y="1346409"/>
            <a:ext cx="2186799" cy="2129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42" t="44952" r="27560" b="33894"/>
          <a:stretch/>
        </p:blipFill>
        <p:spPr bwMode="auto">
          <a:xfrm>
            <a:off x="5320145" y="4267200"/>
            <a:ext cx="2174673" cy="2102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473" y="5297908"/>
            <a:ext cx="1903256" cy="105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9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Derivative of Image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" t="30305" r="52184" b="11804"/>
          <a:stretch/>
        </p:blipFill>
        <p:spPr bwMode="auto">
          <a:xfrm>
            <a:off x="3247169" y="1143000"/>
            <a:ext cx="2544031" cy="1779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31" r="51351" b="12981"/>
          <a:stretch/>
        </p:blipFill>
        <p:spPr bwMode="auto">
          <a:xfrm>
            <a:off x="5791200" y="4114801"/>
            <a:ext cx="2334368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90" r="50586" b="12981"/>
          <a:stretch/>
        </p:blipFill>
        <p:spPr bwMode="auto">
          <a:xfrm>
            <a:off x="553713" y="4114800"/>
            <a:ext cx="2494287" cy="1930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2133601" y="3124200"/>
            <a:ext cx="1102375" cy="9906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943600" y="3124200"/>
            <a:ext cx="838200" cy="9906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924041"/>
              </p:ext>
            </p:extLst>
          </p:nvPr>
        </p:nvGraphicFramePr>
        <p:xfrm>
          <a:off x="1734814" y="2717622"/>
          <a:ext cx="627386" cy="737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386"/>
              </a:tblGrid>
              <a:tr h="368678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8678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930122"/>
              </p:ext>
            </p:extLst>
          </p:nvPr>
        </p:nvGraphicFramePr>
        <p:xfrm>
          <a:off x="6737321" y="3352800"/>
          <a:ext cx="838200" cy="36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"/>
                <a:gridCol w="419100"/>
              </a:tblGrid>
              <a:tr h="368678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2000" y="1886635"/>
            <a:ext cx="2131075" cy="584765"/>
          </a:xfrm>
          <a:prstGeom prst="rect">
            <a:avLst/>
          </a:prstGeom>
          <a:noFill/>
        </p:spPr>
        <p:txBody>
          <a:bodyPr wrap="square" lIns="91432" tIns="45715" rIns="91432" bIns="45715" rtlCol="0">
            <a:spAutoFit/>
          </a:bodyPr>
          <a:lstStyle/>
          <a:p>
            <a:r>
              <a:rPr lang="en-US" sz="1600" dirty="0" smtClean="0"/>
              <a:t>Derivative Kernel for vertical derivative</a:t>
            </a:r>
            <a:endParaRPr lang="en-US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6096000" y="1886635"/>
            <a:ext cx="1978675" cy="830987"/>
          </a:xfrm>
          <a:prstGeom prst="rect">
            <a:avLst/>
          </a:prstGeom>
          <a:noFill/>
        </p:spPr>
        <p:txBody>
          <a:bodyPr wrap="square" lIns="91432" tIns="45715" rIns="91432" bIns="45715" rtlCol="0">
            <a:spAutoFit/>
          </a:bodyPr>
          <a:lstStyle/>
          <a:p>
            <a:r>
              <a:rPr lang="en-US" sz="1600" dirty="0" smtClean="0"/>
              <a:t>Derivative Kernel for horizontal derivative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9033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B050"/>
                </a:solidFill>
              </a:rPr>
              <a:t>Edge Detection</a:t>
            </a:r>
            <a:endParaRPr lang="en-US" sz="3200" b="1" dirty="0">
              <a:solidFill>
                <a:srgbClr val="00B05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091102"/>
            <a:ext cx="1991261" cy="1991261"/>
          </a:xfrm>
        </p:spPr>
      </p:pic>
      <p:sp>
        <p:nvSpPr>
          <p:cNvPr id="8" name="TextBox 7"/>
          <p:cNvSpPr txBox="1"/>
          <p:nvPr/>
        </p:nvSpPr>
        <p:spPr>
          <a:xfrm>
            <a:off x="457200" y="914400"/>
            <a:ext cx="7543800" cy="1015653"/>
          </a:xfrm>
          <a:prstGeom prst="rect">
            <a:avLst/>
          </a:prstGeom>
          <a:noFill/>
        </p:spPr>
        <p:txBody>
          <a:bodyPr wrap="square" lIns="91432" tIns="45715" rIns="91432" bIns="45715" rtlCol="0">
            <a:spAutoFit/>
          </a:bodyPr>
          <a:lstStyle/>
          <a:p>
            <a:r>
              <a:rPr lang="en-US" sz="2000" dirty="0"/>
              <a:t>Edge Detection in an image is done using </a:t>
            </a:r>
            <a:r>
              <a:rPr lang="en-US" sz="2000" dirty="0" err="1"/>
              <a:t>Sobel</a:t>
            </a:r>
            <a:r>
              <a:rPr lang="en-US" sz="2000" dirty="0"/>
              <a:t> filters. The image first undergoes smoothening/Gaussian Filter ,then its derivative is taken which finally gives the edges.</a:t>
            </a: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7" t="26994" r="70538" b="23559"/>
          <a:stretch/>
        </p:blipFill>
        <p:spPr bwMode="auto">
          <a:xfrm>
            <a:off x="5998031" y="1878093"/>
            <a:ext cx="1975260" cy="198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Straight Arrow Connector 9"/>
          <p:cNvCxnSpPr>
            <a:stCxn id="7" idx="3"/>
            <a:endCxn id="11268" idx="1"/>
          </p:cNvCxnSpPr>
          <p:nvPr/>
        </p:nvCxnSpPr>
        <p:spPr>
          <a:xfrm flipV="1">
            <a:off x="2677061" y="2869099"/>
            <a:ext cx="3320970" cy="121763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46956" y="3552339"/>
            <a:ext cx="1892638" cy="307766"/>
          </a:xfrm>
          <a:prstGeom prst="rect">
            <a:avLst/>
          </a:prstGeom>
          <a:noFill/>
        </p:spPr>
        <p:txBody>
          <a:bodyPr wrap="square" lIns="91432" tIns="45715" rIns="91432" bIns="45715" rtlCol="0">
            <a:spAutoFit/>
          </a:bodyPr>
          <a:lstStyle/>
          <a:p>
            <a:r>
              <a:rPr lang="en-US" sz="1400" b="1" dirty="0" err="1"/>
              <a:t>Sobel</a:t>
            </a:r>
            <a:r>
              <a:rPr lang="en-US" sz="1400" b="1" dirty="0"/>
              <a:t> - Horizontal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5" r="57625" b="5612"/>
          <a:stretch/>
        </p:blipFill>
        <p:spPr>
          <a:xfrm>
            <a:off x="3347239" y="2133600"/>
            <a:ext cx="1599433" cy="1067944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37500" r="59860" b="13942"/>
          <a:stretch/>
        </p:blipFill>
        <p:spPr bwMode="auto">
          <a:xfrm>
            <a:off x="6011885" y="4343400"/>
            <a:ext cx="2023699" cy="1994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" name="Straight Arrow Connector 13"/>
          <p:cNvCxnSpPr>
            <a:stCxn id="7" idx="3"/>
            <a:endCxn id="13" idx="1"/>
          </p:cNvCxnSpPr>
          <p:nvPr/>
        </p:nvCxnSpPr>
        <p:spPr>
          <a:xfrm>
            <a:off x="2677061" y="4086733"/>
            <a:ext cx="3334824" cy="1253709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31038" y="4405821"/>
            <a:ext cx="1447800" cy="307766"/>
          </a:xfrm>
          <a:prstGeom prst="rect">
            <a:avLst/>
          </a:prstGeom>
          <a:noFill/>
        </p:spPr>
        <p:txBody>
          <a:bodyPr wrap="square" lIns="91432" tIns="45715" rIns="91432" bIns="45715" rtlCol="0">
            <a:spAutoFit/>
          </a:bodyPr>
          <a:lstStyle/>
          <a:p>
            <a:r>
              <a:rPr lang="en-US" sz="1400" b="1" dirty="0" err="1"/>
              <a:t>Sobel</a:t>
            </a:r>
            <a:r>
              <a:rPr lang="en-US" sz="1400" b="1" dirty="0"/>
              <a:t> - Vertical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62"/>
          <a:stretch/>
        </p:blipFill>
        <p:spPr>
          <a:xfrm>
            <a:off x="3576562" y="5255660"/>
            <a:ext cx="1537495" cy="110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9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Canny Edge Detection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9" t="21268" r="16086" b="39366"/>
          <a:stretch/>
        </p:blipFill>
        <p:spPr bwMode="auto">
          <a:xfrm>
            <a:off x="533399" y="2673927"/>
            <a:ext cx="8314263" cy="3740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1" t="52219" r="27695" b="29665"/>
          <a:stretch/>
        </p:blipFill>
        <p:spPr bwMode="auto">
          <a:xfrm>
            <a:off x="533399" y="1068198"/>
            <a:ext cx="6400800" cy="1734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043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Example: Canny Edges of Image</a:t>
            </a:r>
          </a:p>
        </p:txBody>
      </p:sp>
      <p:pic>
        <p:nvPicPr>
          <p:cNvPr id="4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00557"/>
            <a:ext cx="1981199" cy="1981199"/>
          </a:xfrm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" t="31250" r="70402" b="17789"/>
          <a:stretch/>
        </p:blipFill>
        <p:spPr bwMode="auto">
          <a:xfrm>
            <a:off x="5867400" y="1283876"/>
            <a:ext cx="2133600" cy="2185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3886200" y="2007507"/>
            <a:ext cx="1371600" cy="354693"/>
          </a:xfrm>
          <a:prstGeom prst="rightArrow">
            <a:avLst/>
          </a:prstGeom>
          <a:solidFill>
            <a:srgbClr val="00B050"/>
          </a:solidFill>
          <a:ln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5" rIns="91432" bIns="45715"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71" b="5467"/>
          <a:stretch/>
        </p:blipFill>
        <p:spPr>
          <a:xfrm>
            <a:off x="152400" y="4100077"/>
            <a:ext cx="8154654" cy="215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93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Hysteresis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7467600" cy="1981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Hysteresis is used to improve edge detection by connecting edges that are strong enough to form meaningful boundaries. </a:t>
            </a:r>
            <a:r>
              <a:rPr lang="en-US" sz="2000" b="1" dirty="0"/>
              <a:t>Apply two thresholds</a:t>
            </a:r>
            <a:r>
              <a:rPr lang="en-US" sz="2000" dirty="0"/>
              <a:t>: a high threshold to identify strong edges and a low threshold to identify weak edges. Connect weak edges to strong edges if they are in the neighborhood.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429000"/>
            <a:ext cx="6998014" cy="299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3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4000" dirty="0"/>
              <a:t>Image Sharpening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4" t="12148" r="52661" b="15735"/>
          <a:stretch/>
        </p:blipFill>
        <p:spPr>
          <a:xfrm>
            <a:off x="3105821" y="3886200"/>
            <a:ext cx="1789357" cy="1818531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4" t="50000" r="21739" b="18745"/>
          <a:stretch/>
        </p:blipFill>
        <p:spPr>
          <a:xfrm>
            <a:off x="381001" y="1335157"/>
            <a:ext cx="7238999" cy="22814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71800" y="6030253"/>
            <a:ext cx="2438400" cy="369322"/>
          </a:xfrm>
          <a:prstGeom prst="rect">
            <a:avLst/>
          </a:prstGeom>
          <a:noFill/>
        </p:spPr>
        <p:txBody>
          <a:bodyPr wrap="square" lIns="91432" tIns="45715" rIns="91432" bIns="45715" rtlCol="0">
            <a:spAutoFit/>
          </a:bodyPr>
          <a:lstStyle/>
          <a:p>
            <a:r>
              <a:rPr lang="en-US" b="1" dirty="0" smtClean="0"/>
              <a:t>Sharpening Kernel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0410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20</TotalTime>
  <Words>152</Words>
  <Application>Microsoft Office PowerPoint</Application>
  <PresentationFormat>On-screen Show (4:3)</PresentationFormat>
  <Paragraphs>26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Opulent</vt:lpstr>
      <vt:lpstr>Day 2 ppt : covolution</vt:lpstr>
      <vt:lpstr>CONVOLUTION</vt:lpstr>
      <vt:lpstr>Smoothening(Blur &amp; Gaussian Blur)</vt:lpstr>
      <vt:lpstr>Derivative of Image</vt:lpstr>
      <vt:lpstr>Edge Detection</vt:lpstr>
      <vt:lpstr>Canny Edge Detection</vt:lpstr>
      <vt:lpstr>Example: Canny Edges of Image</vt:lpstr>
      <vt:lpstr>Hysteresis</vt:lpstr>
      <vt:lpstr>Image Sharpening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2024-06-15T16:21:14Z</dcterms:created>
  <dcterms:modified xsi:type="dcterms:W3CDTF">2024-06-15T16:41:33Z</dcterms:modified>
</cp:coreProperties>
</file>