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5"/>
  </p:notesMasterIdLst>
  <p:sldIdLst>
    <p:sldId id="256" r:id="rId2"/>
    <p:sldId id="258" r:id="rId3"/>
    <p:sldId id="260" r:id="rId4"/>
    <p:sldId id="275" r:id="rId5"/>
    <p:sldId id="264" r:id="rId6"/>
    <p:sldId id="266" r:id="rId7"/>
    <p:sldId id="267" r:id="rId8"/>
    <p:sldId id="268" r:id="rId9"/>
    <p:sldId id="270" r:id="rId10"/>
    <p:sldId id="271" r:id="rId11"/>
    <p:sldId id="272" r:id="rId12"/>
    <p:sldId id="273" r:id="rId13"/>
    <p:sldId id="27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102" y="-3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4221EA-32F5-4FDF-9B56-705C5E6D1802}" type="datetimeFigureOut">
              <a:rPr lang="en-US" smtClean="0"/>
              <a:t>6/15/2024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FE53D1-981D-495E-8966-89320CDA6E6F}" type="slidenum">
              <a:rPr lang="en-US" smtClean="0"/>
              <a:t>‹#›</a:t>
            </a:fld>
            <a:endParaRPr lang="en-US"/>
          </a:p>
        </p:txBody>
      </p:sp>
    </p:spTree>
    <p:extLst>
      <p:ext uri="{BB962C8B-B14F-4D97-AF65-F5344CB8AC3E}">
        <p14:creationId xmlns:p14="http://schemas.microsoft.com/office/powerpoint/2010/main" val="88174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B4F46-C2F4-4468-8BEA-D7E1D5904F09}" type="slidenum">
              <a:rPr lang="en-US" smtClean="0"/>
              <a:t>6</a:t>
            </a:fld>
            <a:endParaRPr lang="en-US"/>
          </a:p>
        </p:txBody>
      </p:sp>
    </p:spTree>
    <p:extLst>
      <p:ext uri="{BB962C8B-B14F-4D97-AF65-F5344CB8AC3E}">
        <p14:creationId xmlns:p14="http://schemas.microsoft.com/office/powerpoint/2010/main" val="28347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698CA1C7-75A6-4C73-B831-CED392DEF078}" type="datetimeFigureOut">
              <a:rPr lang="en-US" smtClean="0"/>
              <a:t>6/15/2024</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0512C4A7-87B2-40D5-A133-AF015CE358D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98CA1C7-75A6-4C73-B831-CED392DEF078}" type="datetimeFigureOut">
              <a:rPr lang="en-US" smtClean="0"/>
              <a:t>6/15/2024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98CA1C7-75A6-4C73-B831-CED392DEF078}" type="datetimeFigureOut">
              <a:rPr lang="en-US" smtClean="0"/>
              <a:t>6/15/2024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98CA1C7-75A6-4C73-B831-CED392DEF078}" type="datetimeFigureOut">
              <a:rPr lang="en-US" smtClean="0"/>
              <a:t>6/15/2024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698CA1C7-75A6-4C73-B831-CED392DEF078}" type="datetimeFigureOut">
              <a:rPr lang="en-US" smtClean="0"/>
              <a:t>6/15/2024</a:t>
            </a:fld>
            <a:endParaRPr lang="en-US"/>
          </a:p>
        </p:txBody>
      </p:sp>
      <p:sp>
        <p:nvSpPr>
          <p:cNvPr id="27" name="Slide Number Placeholder 26"/>
          <p:cNvSpPr>
            <a:spLocks noGrp="1"/>
          </p:cNvSpPr>
          <p:nvPr>
            <p:ph type="sldNum" sz="quarter" idx="11"/>
          </p:nvPr>
        </p:nvSpPr>
        <p:spPr/>
        <p:txBody>
          <a:bodyPr rtlCol="0"/>
          <a:lstStyle/>
          <a:p>
            <a:fld id="{0512C4A7-87B2-40D5-A133-AF015CE358DD}"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698CA1C7-75A6-4C73-B831-CED392DEF078}" type="datetimeFigureOut">
              <a:rPr lang="en-US" smtClean="0"/>
              <a:t>6/15/2024</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0512C4A7-87B2-40D5-A133-AF015CE358D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CA1C7-75A6-4C73-B831-CED392DEF078}" type="datetimeFigureOut">
              <a:rPr lang="en-US" smtClean="0"/>
              <a:t>6/15/2024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98CA1C7-75A6-4C73-B831-CED392DEF078}" type="datetimeFigureOut">
              <a:rPr lang="en-US" smtClean="0"/>
              <a:t>6/15/2024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98CA1C7-75A6-4C73-B831-CED392DEF078}" type="datetimeFigureOut">
              <a:rPr lang="en-US" smtClean="0"/>
              <a:t>6/15/2024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98CA1C7-75A6-4C73-B831-CED392DEF078}" type="datetimeFigureOut">
              <a:rPr lang="en-US" smtClean="0"/>
              <a:t>6/15/2024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98CA1C7-75A6-4C73-B831-CED392DEF078}" type="datetimeFigureOut">
              <a:rPr lang="en-US" smtClean="0"/>
              <a:t>6/15/2024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2C4A7-87B2-40D5-A133-AF015CE358D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698CA1C7-75A6-4C73-B831-CED392DEF078}" type="datetimeFigureOut">
              <a:rPr lang="en-US" smtClean="0"/>
              <a:t>6/15/2024</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512C4A7-87B2-40D5-A133-AF015CE358D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EAC7"/>
            </a:gs>
            <a:gs pos="17999">
              <a:srgbClr val="FEE7F2"/>
            </a:gs>
            <a:gs pos="36000">
              <a:srgbClr val="FAC77D"/>
            </a:gs>
            <a:gs pos="61000">
              <a:srgbClr val="FBA97D"/>
            </a:gs>
            <a:gs pos="82001">
              <a:srgbClr val="FBD49C"/>
            </a:gs>
            <a:gs pos="100000">
              <a:srgbClr val="FEE7F2"/>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600200"/>
            <a:ext cx="8458200" cy="1904999"/>
          </a:xfrm>
        </p:spPr>
        <p:txBody>
          <a:bodyPr>
            <a:noAutofit/>
          </a:bodyPr>
          <a:lstStyle/>
          <a:p>
            <a:r>
              <a:rPr lang="en-US" sz="4800" b="1" dirty="0" smtClean="0"/>
              <a:t>Day 1 </a:t>
            </a:r>
            <a:r>
              <a:rPr lang="en-US" sz="4800" b="1" dirty="0" smtClean="0"/>
              <a:t>PPT</a:t>
            </a:r>
            <a:r>
              <a:rPr lang="en-US" sz="4000" b="1" dirty="0" smtClean="0"/>
              <a:t/>
            </a:r>
            <a:br>
              <a:rPr lang="en-US" sz="4000" b="1" dirty="0" smtClean="0"/>
            </a:br>
            <a:r>
              <a:rPr lang="en-US" sz="4000" b="1" dirty="0" smtClean="0"/>
              <a:t>Introduction to Signals &amp; Images</a:t>
            </a:r>
            <a:endParaRPr lang="en-US" sz="4000" b="1" dirty="0"/>
          </a:p>
        </p:txBody>
      </p:sp>
      <p:sp>
        <p:nvSpPr>
          <p:cNvPr id="3" name="Subtitle 2"/>
          <p:cNvSpPr>
            <a:spLocks noGrp="1"/>
          </p:cNvSpPr>
          <p:nvPr>
            <p:ph type="subTitle" idx="1"/>
          </p:nvPr>
        </p:nvSpPr>
        <p:spPr>
          <a:xfrm>
            <a:off x="1371600" y="3886200"/>
            <a:ext cx="6400800" cy="685800"/>
          </a:xfrm>
        </p:spPr>
        <p:txBody>
          <a:bodyPr>
            <a:noAutofit/>
          </a:bodyPr>
          <a:lstStyle/>
          <a:p>
            <a:r>
              <a:rPr lang="en-US" sz="4000" b="1" dirty="0" smtClean="0"/>
              <a:t>Summary</a:t>
            </a:r>
            <a:endParaRPr lang="en-US" sz="4000" b="1" dirty="0"/>
          </a:p>
        </p:txBody>
      </p:sp>
      <p:sp>
        <p:nvSpPr>
          <p:cNvPr id="4" name="TextBox 3"/>
          <p:cNvSpPr txBox="1"/>
          <p:nvPr/>
        </p:nvSpPr>
        <p:spPr>
          <a:xfrm>
            <a:off x="6241472" y="5105400"/>
            <a:ext cx="2521527" cy="830997"/>
          </a:xfrm>
          <a:prstGeom prst="rect">
            <a:avLst/>
          </a:prstGeom>
          <a:noFill/>
        </p:spPr>
        <p:txBody>
          <a:bodyPr wrap="square" rtlCol="0">
            <a:spAutoFit/>
          </a:bodyPr>
          <a:lstStyle/>
          <a:p>
            <a:r>
              <a:rPr lang="en-US" sz="2400" dirty="0" smtClean="0"/>
              <a:t>Presented By-</a:t>
            </a:r>
          </a:p>
          <a:p>
            <a:r>
              <a:rPr lang="en-US" sz="2400" dirty="0" err="1" smtClean="0"/>
              <a:t>V.Megha</a:t>
            </a:r>
            <a:r>
              <a:rPr lang="en-US" sz="2400" dirty="0" smtClean="0"/>
              <a:t> Saran</a:t>
            </a:r>
            <a:endParaRPr lang="en-US" sz="2400" dirty="0"/>
          </a:p>
        </p:txBody>
      </p:sp>
    </p:spTree>
    <p:extLst>
      <p:ext uri="{BB962C8B-B14F-4D97-AF65-F5344CB8AC3E}">
        <p14:creationId xmlns:p14="http://schemas.microsoft.com/office/powerpoint/2010/main" val="4773139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a:bodyPr>
          <a:lstStyle/>
          <a:p>
            <a:pPr marL="0" indent="0" algn="ctr">
              <a:buNone/>
            </a:pPr>
            <a:r>
              <a:rPr lang="en-US" b="1" dirty="0" smtClean="0">
                <a:solidFill>
                  <a:schemeClr val="tx2">
                    <a:lumMod val="60000"/>
                    <a:lumOff val="40000"/>
                  </a:schemeClr>
                </a:solidFill>
              </a:rPr>
              <a:t>Visual </a:t>
            </a:r>
            <a:r>
              <a:rPr lang="en-US" b="1" dirty="0">
                <a:solidFill>
                  <a:schemeClr val="tx2">
                    <a:lumMod val="60000"/>
                    <a:lumOff val="40000"/>
                  </a:schemeClr>
                </a:solidFill>
              </a:rPr>
              <a:t>Intelligence</a:t>
            </a:r>
          </a:p>
          <a:p>
            <a:pPr marL="0" indent="0">
              <a:buNone/>
            </a:pPr>
            <a:endParaRPr lang="en-US" sz="2000" dirty="0"/>
          </a:p>
          <a:p>
            <a:pPr marL="0" indent="0">
              <a:buNone/>
            </a:pPr>
            <a:r>
              <a:rPr lang="en-US" sz="2000" dirty="0"/>
              <a:t>Visual intelligence refers to the ability of a system (like a computer or a robot) to understand and interpret visual information from the world, much like humans do with their eyes and brain. It involves recognizing objects, people, scenes, and activities in images or videos, and making sense of them to perform tasks or make decisions.</a:t>
            </a:r>
          </a:p>
          <a:p>
            <a:pPr marL="0" indent="0">
              <a:buNone/>
            </a:pPr>
            <a:endParaRPr lang="en-US" sz="2400" dirty="0"/>
          </a:p>
        </p:txBody>
      </p:sp>
      <p:sp>
        <p:nvSpPr>
          <p:cNvPr id="4" name="TextBox 3"/>
          <p:cNvSpPr txBox="1"/>
          <p:nvPr/>
        </p:nvSpPr>
        <p:spPr>
          <a:xfrm>
            <a:off x="460375" y="3534495"/>
            <a:ext cx="3048000" cy="1631206"/>
          </a:xfrm>
          <a:prstGeom prst="rect">
            <a:avLst/>
          </a:prstGeom>
          <a:noFill/>
        </p:spPr>
        <p:txBody>
          <a:bodyPr wrap="square" lIns="91432" tIns="45715" rIns="91432" bIns="45715" rtlCol="0">
            <a:spAutoFit/>
          </a:bodyPr>
          <a:lstStyle/>
          <a:p>
            <a:r>
              <a:rPr lang="en-US" sz="2000" b="1" dirty="0"/>
              <a:t>Computer Vision</a:t>
            </a:r>
            <a:r>
              <a:rPr lang="en-US" sz="2000" dirty="0"/>
              <a:t> is the technology and methods used to achieve visual intelligence in machines.</a:t>
            </a:r>
          </a:p>
          <a:p>
            <a:endParaRPr lang="en-US" sz="2000" dirty="0"/>
          </a:p>
        </p:txBody>
      </p:sp>
      <p:sp>
        <p:nvSpPr>
          <p:cNvPr id="2" name="AutoShape 2" descr="Introduction to computer vi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roduction to computer vision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62400" y="3534495"/>
            <a:ext cx="4363243" cy="2649112"/>
          </a:xfrm>
          <a:prstGeom prst="rect">
            <a:avLst/>
          </a:prstGeom>
        </p:spPr>
      </p:pic>
    </p:spTree>
    <p:extLst>
      <p:ext uri="{BB962C8B-B14F-4D97-AF65-F5344CB8AC3E}">
        <p14:creationId xmlns:p14="http://schemas.microsoft.com/office/powerpoint/2010/main" val="40272747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200" b="1" dirty="0" smtClean="0">
                <a:solidFill>
                  <a:schemeClr val="tx2">
                    <a:lumMod val="60000"/>
                    <a:lumOff val="40000"/>
                  </a:schemeClr>
                </a:solidFill>
                <a:latin typeface="+mn-lt"/>
                <a:ea typeface="+mn-ea"/>
                <a:cs typeface="+mn-cs"/>
              </a:rPr>
              <a:t>Levels of Granularity</a:t>
            </a:r>
            <a:endParaRPr lang="en-US" sz="3200" b="1" dirty="0">
              <a:solidFill>
                <a:schemeClr val="tx2">
                  <a:lumMod val="60000"/>
                  <a:lumOff val="40000"/>
                </a:schemeClr>
              </a:solidFill>
              <a:latin typeface="+mn-lt"/>
              <a:ea typeface="+mn-ea"/>
              <a:cs typeface="+mn-cs"/>
            </a:endParaRPr>
          </a:p>
        </p:txBody>
      </p:sp>
      <p:sp>
        <p:nvSpPr>
          <p:cNvPr id="3" name="Content Placeholder 2"/>
          <p:cNvSpPr>
            <a:spLocks noGrp="1"/>
          </p:cNvSpPr>
          <p:nvPr>
            <p:ph idx="1"/>
          </p:nvPr>
        </p:nvSpPr>
        <p:spPr>
          <a:xfrm>
            <a:off x="304800" y="1143000"/>
            <a:ext cx="8229600" cy="2378105"/>
          </a:xfrm>
        </p:spPr>
        <p:txBody>
          <a:bodyPr>
            <a:normAutofit lnSpcReduction="10000"/>
          </a:bodyPr>
          <a:lstStyle/>
          <a:p>
            <a:r>
              <a:rPr lang="en-US" sz="2000" dirty="0"/>
              <a:t>Image processing can be done at various granularity levels –</a:t>
            </a:r>
          </a:p>
          <a:p>
            <a:pPr marL="514301" indent="-514301">
              <a:buFont typeface="+mj-lt"/>
              <a:buAutoNum type="arabicPeriod"/>
            </a:pPr>
            <a:r>
              <a:rPr lang="en-US" sz="2000" dirty="0"/>
              <a:t>Image Processing</a:t>
            </a:r>
          </a:p>
          <a:p>
            <a:pPr marL="514301" indent="-514301">
              <a:buFont typeface="+mj-lt"/>
              <a:buAutoNum type="arabicPeriod"/>
            </a:pPr>
            <a:r>
              <a:rPr lang="en-US" sz="2000" dirty="0"/>
              <a:t>Object Detection</a:t>
            </a:r>
          </a:p>
          <a:p>
            <a:pPr marL="514301" indent="-514301">
              <a:buFont typeface="+mj-lt"/>
              <a:buAutoNum type="arabicPeriod"/>
            </a:pPr>
            <a:r>
              <a:rPr lang="en-US" sz="2000" dirty="0"/>
              <a:t>Semantic Segmentation</a:t>
            </a:r>
          </a:p>
          <a:p>
            <a:pPr marL="514301" indent="-514301">
              <a:buFont typeface="+mj-lt"/>
              <a:buAutoNum type="arabicPeriod"/>
            </a:pPr>
            <a:r>
              <a:rPr lang="en-US" sz="2000" dirty="0"/>
              <a:t>Instance Segmentation</a:t>
            </a:r>
          </a:p>
          <a:p>
            <a:pPr marL="514301" indent="-514301">
              <a:buFont typeface="+mj-lt"/>
              <a:buAutoNum type="arabicPeriod"/>
            </a:pPr>
            <a:r>
              <a:rPr lang="en-US" sz="2000" dirty="0"/>
              <a:t>Instance Segmentation</a:t>
            </a:r>
            <a:br>
              <a:rPr lang="en-US" sz="2000" dirty="0"/>
            </a:br>
            <a:endParaRPr lang="en-US" sz="2000" dirty="0"/>
          </a:p>
        </p:txBody>
      </p:sp>
      <p:sp>
        <p:nvSpPr>
          <p:cNvPr id="4" name="Title 1"/>
          <p:cNvSpPr txBox="1">
            <a:spLocks/>
          </p:cNvSpPr>
          <p:nvPr/>
        </p:nvSpPr>
        <p:spPr>
          <a:xfrm>
            <a:off x="381000" y="3521105"/>
            <a:ext cx="3162300" cy="472281"/>
          </a:xfrm>
          <a:prstGeom prst="rect">
            <a:avLst/>
          </a:prstGeom>
        </p:spPr>
        <p:txBody>
          <a:bodyPr vert="horz" lIns="91440" tIns="45720" rIns="91440" bIns="45720" rtlCol="0" anchor="ctr">
            <a:normAutofit fontScale="6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smtClean="0">
                <a:solidFill>
                  <a:schemeClr val="accent2">
                    <a:lumMod val="60000"/>
                    <a:lumOff val="40000"/>
                  </a:schemeClr>
                </a:solidFill>
              </a:rPr>
              <a:t>Image Classification</a:t>
            </a:r>
            <a:endParaRPr lang="en-US" sz="4000" b="1" dirty="0">
              <a:solidFill>
                <a:schemeClr val="accent2">
                  <a:lumMod val="60000"/>
                  <a:lumOff val="40000"/>
                </a:schemeClr>
              </a:solidFill>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7885" t="20285" r="13269" b="17151"/>
          <a:stretch/>
        </p:blipFill>
        <p:spPr>
          <a:xfrm>
            <a:off x="381000" y="4126523"/>
            <a:ext cx="4268035" cy="1905000"/>
          </a:xfrm>
          <a:prstGeom prst="rect">
            <a:avLst/>
          </a:prstGeom>
        </p:spPr>
      </p:pic>
      <p:sp>
        <p:nvSpPr>
          <p:cNvPr id="6" name="Content Placeholder 2"/>
          <p:cNvSpPr txBox="1">
            <a:spLocks/>
          </p:cNvSpPr>
          <p:nvPr/>
        </p:nvSpPr>
        <p:spPr>
          <a:xfrm>
            <a:off x="5257800" y="4038600"/>
            <a:ext cx="3048000" cy="2080846"/>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smtClean="0"/>
              <a:t>This task involves assigning a single label to an entire image. It identifies what main object or category the image belongs to.</a:t>
            </a:r>
            <a:endParaRPr lang="en-US" sz="2400" dirty="0"/>
          </a:p>
        </p:txBody>
      </p:sp>
    </p:spTree>
    <p:extLst>
      <p:ext uri="{BB962C8B-B14F-4D97-AF65-F5344CB8AC3E}">
        <p14:creationId xmlns:p14="http://schemas.microsoft.com/office/powerpoint/2010/main" val="1870493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body" idx="1"/>
          </p:nvPr>
        </p:nvSpPr>
        <p:spPr>
          <a:xfrm>
            <a:off x="381000" y="762000"/>
            <a:ext cx="4040188" cy="457200"/>
          </a:xfrm>
        </p:spPr>
        <p:txBody>
          <a:bodyPr>
            <a:normAutofit fontScale="97500"/>
          </a:bodyPr>
          <a:lstStyle/>
          <a:p>
            <a:r>
              <a:rPr lang="en-US" sz="2400" b="1" dirty="0">
                <a:solidFill>
                  <a:schemeClr val="accent2">
                    <a:lumMod val="60000"/>
                    <a:lumOff val="40000"/>
                  </a:schemeClr>
                </a:solidFill>
              </a:rPr>
              <a:t>Object Detection</a:t>
            </a:r>
          </a:p>
        </p:txBody>
      </p:sp>
      <p:sp>
        <p:nvSpPr>
          <p:cNvPr id="8" name="Title 1"/>
          <p:cNvSpPr>
            <a:spLocks noGrp="1"/>
          </p:cNvSpPr>
          <p:nvPr>
            <p:ph type="body" sz="half" idx="3"/>
          </p:nvPr>
        </p:nvSpPr>
        <p:spPr>
          <a:xfrm>
            <a:off x="4648201" y="762000"/>
            <a:ext cx="4096563" cy="457201"/>
          </a:xfrm>
        </p:spPr>
        <p:txBody>
          <a:bodyPr>
            <a:noAutofit/>
          </a:bodyPr>
          <a:lstStyle/>
          <a:p>
            <a:r>
              <a:rPr lang="en-US" sz="2400" b="1" dirty="0">
                <a:solidFill>
                  <a:schemeClr val="accent2">
                    <a:lumMod val="60000"/>
                    <a:lumOff val="40000"/>
                  </a:schemeClr>
                </a:solidFill>
              </a:rPr>
              <a:t>Semantic Segmentation</a:t>
            </a:r>
          </a:p>
        </p:txBody>
      </p:sp>
      <p:sp>
        <p:nvSpPr>
          <p:cNvPr id="10" name="Content Placeholder 2"/>
          <p:cNvSpPr>
            <a:spLocks noGrp="1"/>
          </p:cNvSpPr>
          <p:nvPr>
            <p:ph sz="quarter" idx="2"/>
          </p:nvPr>
        </p:nvSpPr>
        <p:spPr>
          <a:xfrm>
            <a:off x="457200" y="1219201"/>
            <a:ext cx="4040188" cy="2362200"/>
          </a:xfrm>
        </p:spPr>
        <p:txBody>
          <a:bodyPr>
            <a:normAutofit/>
          </a:bodyPr>
          <a:lstStyle/>
          <a:p>
            <a:pPr marL="0" indent="0">
              <a:buNone/>
            </a:pPr>
            <a:r>
              <a:rPr lang="en-US" dirty="0"/>
              <a:t>It not only classifies the objects but also provides bounding boxes around each object to show their positions.</a:t>
            </a:r>
          </a:p>
          <a:p>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p:txBody>
      </p:sp>
      <p:sp>
        <p:nvSpPr>
          <p:cNvPr id="11" name="Content Placeholder 2"/>
          <p:cNvSpPr>
            <a:spLocks noGrp="1"/>
          </p:cNvSpPr>
          <p:nvPr>
            <p:ph sz="quarter" idx="4"/>
          </p:nvPr>
        </p:nvSpPr>
        <p:spPr>
          <a:xfrm>
            <a:off x="4645025" y="1219201"/>
            <a:ext cx="4041775" cy="2285999"/>
          </a:xfrm>
        </p:spPr>
        <p:txBody>
          <a:bodyPr>
            <a:normAutofit/>
          </a:bodyPr>
          <a:lstStyle/>
          <a:p>
            <a:pPr marL="0" indent="0">
              <a:buNone/>
            </a:pPr>
            <a:r>
              <a:rPr lang="en-US" dirty="0"/>
              <a:t>It involves labeling each pixel of an image with a class, providing a detailed map of the image. It not only detects objects but also distinguishes boundaries at the pixel level</a:t>
            </a:r>
            <a:r>
              <a:rPr lang="en-US" sz="2000" dirty="0" smtClean="0"/>
              <a:t>.</a:t>
            </a:r>
          </a:p>
          <a:p>
            <a:endParaRPr lang="en-US" sz="2000"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4248630"/>
            <a:ext cx="4020364" cy="1694970"/>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886200"/>
            <a:ext cx="3331029" cy="2057400"/>
          </a:xfrm>
          <a:prstGeom prst="rect">
            <a:avLst/>
          </a:prstGeom>
        </p:spPr>
      </p:pic>
    </p:spTree>
    <p:extLst>
      <p:ext uri="{BB962C8B-B14F-4D97-AF65-F5344CB8AC3E}">
        <p14:creationId xmlns:p14="http://schemas.microsoft.com/office/powerpoint/2010/main" val="22010020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4114800" cy="487362"/>
          </a:xfrm>
        </p:spPr>
        <p:txBody>
          <a:bodyPr>
            <a:noAutofit/>
          </a:bodyPr>
          <a:lstStyle/>
          <a:p>
            <a:pPr algn="l"/>
            <a:r>
              <a:rPr lang="en-US" sz="2800" b="1" dirty="0">
                <a:solidFill>
                  <a:schemeClr val="accent2">
                    <a:lumMod val="60000"/>
                    <a:lumOff val="40000"/>
                  </a:schemeClr>
                </a:solidFill>
              </a:rPr>
              <a:t>Instance Segmentation</a:t>
            </a:r>
          </a:p>
        </p:txBody>
      </p:sp>
      <p:sp>
        <p:nvSpPr>
          <p:cNvPr id="3" name="Content Placeholder 2"/>
          <p:cNvSpPr>
            <a:spLocks noGrp="1"/>
          </p:cNvSpPr>
          <p:nvPr>
            <p:ph idx="1"/>
          </p:nvPr>
        </p:nvSpPr>
        <p:spPr>
          <a:xfrm>
            <a:off x="5181600" y="685800"/>
            <a:ext cx="2969877" cy="2438401"/>
          </a:xfrm>
        </p:spPr>
        <p:txBody>
          <a:bodyPr>
            <a:noAutofit/>
          </a:bodyPr>
          <a:lstStyle/>
          <a:p>
            <a:pPr marL="0" indent="0">
              <a:buNone/>
            </a:pPr>
            <a:r>
              <a:rPr lang="en-US" sz="2000" dirty="0"/>
              <a:t>This task combines object detection and semantic segmentation. It not only labels each pixel with a class but also differentiates between different instances of the same class.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5328" t="26854" r="25193" b="12433"/>
          <a:stretch/>
        </p:blipFill>
        <p:spPr>
          <a:xfrm>
            <a:off x="381000" y="1152863"/>
            <a:ext cx="3352800" cy="2239694"/>
          </a:xfrm>
          <a:prstGeom prst="rect">
            <a:avLst/>
          </a:prstGeom>
        </p:spPr>
      </p:pic>
      <p:cxnSp>
        <p:nvCxnSpPr>
          <p:cNvPr id="7" name="Straight Arrow Connector 6"/>
          <p:cNvCxnSpPr/>
          <p:nvPr/>
        </p:nvCxnSpPr>
        <p:spPr>
          <a:xfrm>
            <a:off x="2057400" y="2138532"/>
            <a:ext cx="4800600" cy="15952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524000" y="2936166"/>
            <a:ext cx="5334001" cy="7976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6913300" y="3275030"/>
            <a:ext cx="1676400" cy="91754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sz="1400" dirty="0" smtClean="0">
                <a:solidFill>
                  <a:schemeClr val="accent1"/>
                </a:solidFill>
              </a:rPr>
              <a:t>Different Instances of the same class ‘Dog’</a:t>
            </a:r>
            <a:endParaRPr lang="en-US" sz="1400" dirty="0">
              <a:solidFill>
                <a:schemeClr val="accent1"/>
              </a:solidFill>
            </a:endParaRPr>
          </a:p>
        </p:txBody>
      </p:sp>
      <p:sp>
        <p:nvSpPr>
          <p:cNvPr id="10" name="Title 1"/>
          <p:cNvSpPr txBox="1">
            <a:spLocks/>
          </p:cNvSpPr>
          <p:nvPr/>
        </p:nvSpPr>
        <p:spPr>
          <a:xfrm>
            <a:off x="381000" y="3762766"/>
            <a:ext cx="3118337" cy="4905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smtClean="0">
                <a:solidFill>
                  <a:schemeClr val="accent2">
                    <a:lumMod val="60000"/>
                    <a:lumOff val="40000"/>
                  </a:schemeClr>
                </a:solidFill>
              </a:rPr>
              <a:t>Depth Estimation</a:t>
            </a:r>
            <a:endParaRPr lang="en-US" sz="2800" b="1" dirty="0">
              <a:solidFill>
                <a:schemeClr val="accent2">
                  <a:lumMod val="60000"/>
                  <a:lumOff val="40000"/>
                </a:schemeClr>
              </a:solidFill>
            </a:endParaRPr>
          </a:p>
        </p:txBody>
      </p:sp>
      <p:sp>
        <p:nvSpPr>
          <p:cNvPr id="11" name="Content Placeholder 2"/>
          <p:cNvSpPr txBox="1">
            <a:spLocks/>
          </p:cNvSpPr>
          <p:nvPr/>
        </p:nvSpPr>
        <p:spPr>
          <a:xfrm>
            <a:off x="381000" y="4419600"/>
            <a:ext cx="5416063" cy="1371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Determines the distance of objects or surfaces in the scene from the camera. It creates a depth map that shows how far each part of the image is from the viewpoint.</a:t>
            </a:r>
            <a:endParaRPr lang="en-US" sz="2000" dirty="0"/>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478216"/>
            <a:ext cx="2505423" cy="1920824"/>
          </a:xfrm>
          <a:prstGeom prst="rect">
            <a:avLst/>
          </a:prstGeom>
        </p:spPr>
      </p:pic>
    </p:spTree>
    <p:extLst>
      <p:ext uri="{BB962C8B-B14F-4D97-AF65-F5344CB8AC3E}">
        <p14:creationId xmlns:p14="http://schemas.microsoft.com/office/powerpoint/2010/main" val="11265214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200" b="1" dirty="0">
                <a:solidFill>
                  <a:srgbClr val="00B050"/>
                </a:solidFill>
              </a:rPr>
              <a:t>CHALLANGES</a:t>
            </a:r>
          </a:p>
        </p:txBody>
      </p:sp>
      <p:pic>
        <p:nvPicPr>
          <p:cNvPr id="2051" name="Picture 3"/>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0292" t="19426" r="64198" b="51823"/>
          <a:stretch/>
        </p:blipFill>
        <p:spPr bwMode="auto">
          <a:xfrm>
            <a:off x="294968" y="228846"/>
            <a:ext cx="2802194" cy="2939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4986" t="19471" r="51064" b="59375"/>
          <a:stretch/>
        </p:blipFill>
        <p:spPr bwMode="auto">
          <a:xfrm>
            <a:off x="6392226" y="1021405"/>
            <a:ext cx="2269114" cy="193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21143" t="67708" r="65014" b="16781"/>
          <a:stretch/>
        </p:blipFill>
        <p:spPr bwMode="auto">
          <a:xfrm>
            <a:off x="665870" y="4446763"/>
            <a:ext cx="2506556" cy="1950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35843" t="71241" r="50000" b="5752"/>
          <a:stretch/>
        </p:blipFill>
        <p:spPr bwMode="auto">
          <a:xfrm>
            <a:off x="3340584" y="3931248"/>
            <a:ext cx="2799735" cy="255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35842" t="51857" r="50000" b="31636"/>
          <a:stretch/>
        </p:blipFill>
        <p:spPr bwMode="auto">
          <a:xfrm>
            <a:off x="6124574" y="3356043"/>
            <a:ext cx="2804416" cy="1838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21304" t="47983" r="65797" b="34488"/>
          <a:stretch/>
        </p:blipFill>
        <p:spPr>
          <a:xfrm>
            <a:off x="3286660" y="1240277"/>
            <a:ext cx="2789448" cy="1928288"/>
          </a:xfrm>
          <a:prstGeom prst="rect">
            <a:avLst/>
          </a:prstGeom>
        </p:spPr>
      </p:pic>
      <p:pic>
        <p:nvPicPr>
          <p:cNvPr id="9"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35842" t="40625" r="56417" b="48143"/>
          <a:stretch/>
        </p:blipFill>
        <p:spPr bwMode="auto">
          <a:xfrm>
            <a:off x="1843548" y="3356043"/>
            <a:ext cx="1328878" cy="108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385984" y="649151"/>
            <a:ext cx="2590800" cy="461665"/>
          </a:xfrm>
          <a:prstGeom prst="rect">
            <a:avLst/>
          </a:prstGeom>
          <a:noFill/>
        </p:spPr>
        <p:txBody>
          <a:bodyPr wrap="square" rtlCol="0">
            <a:spAutoFit/>
          </a:bodyPr>
          <a:lstStyle/>
          <a:p>
            <a:r>
              <a:rPr lang="en-US" sz="2400" b="1" dirty="0" smtClean="0">
                <a:solidFill>
                  <a:schemeClr val="accent2">
                    <a:lumMod val="60000"/>
                    <a:lumOff val="40000"/>
                  </a:schemeClr>
                </a:solidFill>
              </a:rPr>
              <a:t>CHALLANGES</a:t>
            </a:r>
            <a:endParaRPr lang="en-US" sz="2400" b="1" dirty="0">
              <a:solidFill>
                <a:schemeClr val="accent2">
                  <a:lumMod val="60000"/>
                  <a:lumOff val="40000"/>
                </a:schemeClr>
              </a:solidFill>
            </a:endParaRPr>
          </a:p>
        </p:txBody>
      </p:sp>
    </p:spTree>
    <p:extLst>
      <p:ext uri="{BB962C8B-B14F-4D97-AF65-F5344CB8AC3E}">
        <p14:creationId xmlns:p14="http://schemas.microsoft.com/office/powerpoint/2010/main" val="41814671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6257"/>
            <a:ext cx="8229600" cy="563561"/>
          </a:xfrm>
        </p:spPr>
        <p:txBody>
          <a:bodyPr>
            <a:normAutofit/>
          </a:bodyPr>
          <a:lstStyle/>
          <a:p>
            <a:r>
              <a:rPr lang="en-US" sz="2800" b="1" dirty="0"/>
              <a:t>Images as Surfaces</a:t>
            </a:r>
          </a:p>
        </p:txBody>
      </p:sp>
      <p:pic>
        <p:nvPicPr>
          <p:cNvPr id="5" name="Picture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0510" t="48177" r="24443" b="7141"/>
          <a:stretch/>
        </p:blipFill>
        <p:spPr bwMode="auto">
          <a:xfrm>
            <a:off x="1461655" y="2514600"/>
            <a:ext cx="5905224" cy="2466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33400" y="1004455"/>
            <a:ext cx="7772400" cy="1384984"/>
          </a:xfrm>
          <a:prstGeom prst="rect">
            <a:avLst/>
          </a:prstGeom>
          <a:noFill/>
        </p:spPr>
        <p:txBody>
          <a:bodyPr wrap="square" lIns="91432" tIns="45715" rIns="91432" bIns="45715" rtlCol="0">
            <a:spAutoFit/>
          </a:bodyPr>
          <a:lstStyle/>
          <a:p>
            <a:r>
              <a:rPr lang="en-US" sz="2400" i="1" dirty="0">
                <a:solidFill>
                  <a:schemeClr val="accent2">
                    <a:lumMod val="60000"/>
                    <a:lumOff val="40000"/>
                  </a:schemeClr>
                </a:solidFill>
              </a:rPr>
              <a:t>How is image a function??</a:t>
            </a:r>
          </a:p>
          <a:p>
            <a:r>
              <a:rPr lang="en-US" sz="2000" dirty="0"/>
              <a:t>Images are essentially surfaces with points having x and y coordinates. The value at a point depends on (</a:t>
            </a:r>
            <a:r>
              <a:rPr lang="en-US" sz="2000" dirty="0" err="1"/>
              <a:t>x,y</a:t>
            </a:r>
            <a:r>
              <a:rPr lang="en-US" sz="2000" dirty="0"/>
              <a:t>) coordinates. Thus an image can be represented as a function </a:t>
            </a:r>
            <a:r>
              <a:rPr lang="en-US" sz="2000" b="1" dirty="0"/>
              <a:t>f(</a:t>
            </a:r>
            <a:r>
              <a:rPr lang="en-US" sz="2000" b="1" dirty="0" err="1"/>
              <a:t>x,y</a:t>
            </a:r>
            <a:r>
              <a:rPr lang="en-US" sz="2000" b="1" dirty="0"/>
              <a:t>).</a:t>
            </a:r>
          </a:p>
        </p:txBody>
      </p:sp>
      <p:sp>
        <p:nvSpPr>
          <p:cNvPr id="6" name="Title 1"/>
          <p:cNvSpPr txBox="1">
            <a:spLocks/>
          </p:cNvSpPr>
          <p:nvPr/>
        </p:nvSpPr>
        <p:spPr>
          <a:xfrm>
            <a:off x="685800" y="5070763"/>
            <a:ext cx="4883726" cy="429491"/>
          </a:xfrm>
          <a:prstGeom prst="rect">
            <a:avLst/>
          </a:prstGeom>
        </p:spPr>
        <p:txBody>
          <a:bodyPr vert="horz" lIns="91440" tIns="45720" rIns="91440" bIns="45720" rtlCol="0" anchor="ctr">
            <a:normAutofit fontScale="6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smtClean="0">
                <a:solidFill>
                  <a:schemeClr val="tx2">
                    <a:lumMod val="60000"/>
                    <a:lumOff val="40000"/>
                  </a:schemeClr>
                </a:solidFill>
              </a:rPr>
              <a:t>How to store an image??</a:t>
            </a:r>
            <a:endParaRPr lang="en-US" sz="4000" b="1" dirty="0">
              <a:solidFill>
                <a:schemeClr val="tx2">
                  <a:lumMod val="60000"/>
                  <a:lumOff val="40000"/>
                </a:schemeClr>
              </a:solidFill>
            </a:endParaRPr>
          </a:p>
        </p:txBody>
      </p:sp>
      <p:sp>
        <p:nvSpPr>
          <p:cNvPr id="3" name="Rectangle 2"/>
          <p:cNvSpPr/>
          <p:nvPr/>
        </p:nvSpPr>
        <p:spPr>
          <a:xfrm>
            <a:off x="685800" y="5560597"/>
            <a:ext cx="7772399" cy="646331"/>
          </a:xfrm>
          <a:prstGeom prst="rect">
            <a:avLst/>
          </a:prstGeom>
        </p:spPr>
        <p:txBody>
          <a:bodyPr wrap="square">
            <a:spAutoFit/>
          </a:bodyPr>
          <a:lstStyle/>
          <a:p>
            <a:pPr marL="285750" indent="-285750">
              <a:buFont typeface="Arial" pitchFamily="34" charset="0"/>
              <a:buChar char="•"/>
            </a:pPr>
            <a:r>
              <a:rPr lang="en-US" dirty="0" smtClean="0"/>
              <a:t>B-Spline Matrix: B-Splines are piecewise polynomial functions used for approximation and interpolation of data.</a:t>
            </a:r>
            <a:endParaRPr lang="en-US" dirty="0"/>
          </a:p>
        </p:txBody>
      </p:sp>
    </p:spTree>
    <p:extLst>
      <p:ext uri="{BB962C8B-B14F-4D97-AF65-F5344CB8AC3E}">
        <p14:creationId xmlns:p14="http://schemas.microsoft.com/office/powerpoint/2010/main" val="35604711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8709" y="523474"/>
            <a:ext cx="8229600" cy="2441398"/>
          </a:xfrm>
        </p:spPr>
        <p:txBody>
          <a:bodyPr>
            <a:normAutofit/>
          </a:bodyPr>
          <a:lstStyle/>
          <a:p>
            <a:pPr marL="0" indent="0">
              <a:buNone/>
            </a:pPr>
            <a:r>
              <a:rPr lang="en-US" sz="2400" dirty="0" smtClean="0">
                <a:solidFill>
                  <a:schemeClr val="accent1"/>
                </a:solidFill>
              </a:rPr>
              <a:t>What is the issue with B-Spline??</a:t>
            </a:r>
          </a:p>
          <a:p>
            <a:pPr marL="0" indent="0">
              <a:buNone/>
            </a:pPr>
            <a:r>
              <a:rPr lang="en-US" sz="2000" b="1" dirty="0"/>
              <a:t>Computational Complexity</a:t>
            </a:r>
            <a:r>
              <a:rPr lang="en-US" sz="2000" dirty="0"/>
              <a:t>:  B-Spline calculations involve solving polynomial equations, which is computationally intensive.</a:t>
            </a:r>
          </a:p>
          <a:p>
            <a:pPr marL="0" indent="0">
              <a:buNone/>
            </a:pPr>
            <a:endParaRPr lang="en-US" sz="2000" dirty="0"/>
          </a:p>
          <a:p>
            <a:pPr marL="0" indent="0">
              <a:buNone/>
            </a:pPr>
            <a:r>
              <a:rPr lang="en-US" sz="2000" dirty="0" smtClean="0"/>
              <a:t>A better way to store images in computer is to do so using 2D matrices(for </a:t>
            </a:r>
            <a:r>
              <a:rPr lang="en-US" sz="2000" dirty="0" err="1" smtClean="0"/>
              <a:t>grayscle</a:t>
            </a:r>
            <a:r>
              <a:rPr lang="en-US" sz="2000" dirty="0" smtClean="0"/>
              <a:t> images) and 3D(m,n,3)matrix for colored images.</a:t>
            </a:r>
          </a:p>
          <a:p>
            <a:pPr marL="0" indent="0">
              <a:buNone/>
            </a:pPr>
            <a:endParaRPr lang="en-US" sz="2000" dirty="0"/>
          </a:p>
          <a:p>
            <a:pPr marL="0" indent="0">
              <a:buNone/>
            </a:pPr>
            <a:endParaRPr lang="en-US" sz="2000" dirty="0"/>
          </a:p>
        </p:txBody>
      </p:sp>
      <p:sp>
        <p:nvSpPr>
          <p:cNvPr id="5" name="Rounded Rectangle 4"/>
          <p:cNvSpPr/>
          <p:nvPr/>
        </p:nvSpPr>
        <p:spPr>
          <a:xfrm>
            <a:off x="6580184" y="2971799"/>
            <a:ext cx="1624808" cy="5447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b="1" dirty="0"/>
              <a:t>Sampling</a:t>
            </a:r>
          </a:p>
        </p:txBody>
      </p:sp>
      <p:sp>
        <p:nvSpPr>
          <p:cNvPr id="6" name="Rounded Rectangle 5"/>
          <p:cNvSpPr/>
          <p:nvPr/>
        </p:nvSpPr>
        <p:spPr>
          <a:xfrm>
            <a:off x="6580184" y="4419600"/>
            <a:ext cx="1804192" cy="5264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b="1" dirty="0"/>
              <a:t>Quantization</a:t>
            </a:r>
          </a:p>
        </p:txBody>
      </p:sp>
      <p:sp>
        <p:nvSpPr>
          <p:cNvPr id="7" name="Rounded Rectangle 6"/>
          <p:cNvSpPr/>
          <p:nvPr/>
        </p:nvSpPr>
        <p:spPr>
          <a:xfrm>
            <a:off x="6744888" y="5718629"/>
            <a:ext cx="1474784" cy="460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b="1" dirty="0"/>
              <a:t>Encoding</a:t>
            </a:r>
          </a:p>
        </p:txBody>
      </p:sp>
      <p:sp>
        <p:nvSpPr>
          <p:cNvPr id="8" name="Content Placeholder 2"/>
          <p:cNvSpPr txBox="1">
            <a:spLocks/>
          </p:cNvSpPr>
          <p:nvPr/>
        </p:nvSpPr>
        <p:spPr>
          <a:xfrm flipV="1">
            <a:off x="422564" y="2209801"/>
            <a:ext cx="8229600" cy="3577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000" dirty="0" smtClean="0"/>
          </a:p>
        </p:txBody>
      </p:sp>
      <p:sp>
        <p:nvSpPr>
          <p:cNvPr id="9" name="TextBox 8"/>
          <p:cNvSpPr txBox="1"/>
          <p:nvPr/>
        </p:nvSpPr>
        <p:spPr>
          <a:xfrm>
            <a:off x="422564" y="3144226"/>
            <a:ext cx="5688116" cy="2308324"/>
          </a:xfrm>
          <a:prstGeom prst="rect">
            <a:avLst/>
          </a:prstGeom>
          <a:noFill/>
        </p:spPr>
        <p:txBody>
          <a:bodyPr wrap="square" rtlCol="0">
            <a:spAutoFit/>
          </a:bodyPr>
          <a:lstStyle/>
          <a:p>
            <a:r>
              <a:rPr lang="en-US" b="1" dirty="0" smtClean="0">
                <a:solidFill>
                  <a:schemeClr val="tx2">
                    <a:lumMod val="60000"/>
                    <a:lumOff val="40000"/>
                  </a:schemeClr>
                </a:solidFill>
              </a:rPr>
              <a:t>Sampling</a:t>
            </a:r>
            <a:r>
              <a:rPr lang="en-US" dirty="0" smtClean="0"/>
              <a:t> : Sampling is the process of converting a continuous image signal into a discrete signal</a:t>
            </a:r>
          </a:p>
          <a:p>
            <a:r>
              <a:rPr lang="en-US" b="1" dirty="0" smtClean="0">
                <a:solidFill>
                  <a:schemeClr val="tx2">
                    <a:lumMod val="60000"/>
                    <a:lumOff val="40000"/>
                  </a:schemeClr>
                </a:solidFill>
              </a:rPr>
              <a:t>Quantization</a:t>
            </a:r>
            <a:r>
              <a:rPr lang="en-US" dirty="0" smtClean="0"/>
              <a:t> : Quantization is mapping the continuous range of pixel values into a finite range of discrete values.</a:t>
            </a:r>
          </a:p>
          <a:p>
            <a:r>
              <a:rPr lang="en-US" b="1" dirty="0" smtClean="0">
                <a:solidFill>
                  <a:schemeClr val="tx2">
                    <a:lumMod val="60000"/>
                    <a:lumOff val="40000"/>
                  </a:schemeClr>
                </a:solidFill>
              </a:rPr>
              <a:t>Encoding :</a:t>
            </a:r>
            <a:r>
              <a:rPr lang="en-US" dirty="0" smtClean="0"/>
              <a:t> Encoding is the process of converting the quantized pixel values into a format that can be easily stored or transmitted.</a:t>
            </a:r>
          </a:p>
          <a:p>
            <a:endParaRPr lang="en-US" dirty="0"/>
          </a:p>
        </p:txBody>
      </p:sp>
      <p:sp>
        <p:nvSpPr>
          <p:cNvPr id="10" name="Down Arrow 9"/>
          <p:cNvSpPr/>
          <p:nvPr/>
        </p:nvSpPr>
        <p:spPr>
          <a:xfrm>
            <a:off x="7482280" y="3657600"/>
            <a:ext cx="45719" cy="6407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7527999" y="5105400"/>
            <a:ext cx="45719"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29977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FFB09616-B395-EE81-4063-4E75B612681D}"/>
              </a:ext>
            </a:extLst>
          </p:cNvPr>
          <p:cNvSpPr>
            <a:spLocks noGrp="1"/>
          </p:cNvSpPr>
          <p:nvPr>
            <p:ph type="title"/>
          </p:nvPr>
        </p:nvSpPr>
        <p:spPr>
          <a:xfrm>
            <a:off x="1482436" y="4495800"/>
            <a:ext cx="6298407" cy="304800"/>
          </a:xfrm>
        </p:spPr>
        <p:txBody>
          <a:bodyPr>
            <a:noAutofit/>
          </a:bodyPr>
          <a:lstStyle/>
          <a:p>
            <a:pPr algn="ctr"/>
            <a:r>
              <a:rPr lang="en-IN" sz="3200" b="1" dirty="0">
                <a:solidFill>
                  <a:schemeClr val="accent5">
                    <a:lumMod val="60000"/>
                    <a:lumOff val="40000"/>
                  </a:schemeClr>
                </a:solidFill>
              </a:rPr>
              <a:t>Image Formation</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39028" t="34081" r="18039" b="26788"/>
          <a:stretch/>
        </p:blipFill>
        <p:spPr>
          <a:xfrm>
            <a:off x="457200" y="1676400"/>
            <a:ext cx="4329322" cy="2595599"/>
          </a:xfrm>
        </p:spPr>
      </p:pic>
      <p:sp>
        <p:nvSpPr>
          <p:cNvPr id="5" name="Text Placeholder 3"/>
          <p:cNvSpPr txBox="1">
            <a:spLocks/>
          </p:cNvSpPr>
          <p:nvPr/>
        </p:nvSpPr>
        <p:spPr>
          <a:xfrm>
            <a:off x="4724847" y="2251041"/>
            <a:ext cx="3893574" cy="1898715"/>
          </a:xfrm>
          <a:prstGeom prst="rect">
            <a:avLst/>
          </a:prstGeom>
        </p:spPr>
        <p:txBody>
          <a:bodyPr lIns="88084" tIns="44042" rIns="88084" bIns="44042">
            <a:normAutofit/>
          </a:bodyPr>
          <a:lstStyle>
            <a:lvl1pPr marL="355930" indent="-355930" algn="l" defTabSz="949147" rtl="0" eaLnBrk="1" latinLnBrk="0" hangingPunct="1">
              <a:spcBef>
                <a:spcPct val="20000"/>
              </a:spcBef>
              <a:buFont typeface="Arial" pitchFamily="34" charset="0"/>
              <a:buChar char="•"/>
              <a:defRPr sz="3300" kern="1200">
                <a:solidFill>
                  <a:schemeClr val="tx1"/>
                </a:solidFill>
                <a:latin typeface="+mn-lt"/>
                <a:ea typeface="+mn-ea"/>
                <a:cs typeface="+mn-cs"/>
              </a:defRPr>
            </a:lvl1pPr>
            <a:lvl2pPr marL="771182" indent="-296609" algn="l" defTabSz="949147" rtl="0" eaLnBrk="1" latinLnBrk="0" hangingPunct="1">
              <a:spcBef>
                <a:spcPct val="20000"/>
              </a:spcBef>
              <a:buFont typeface="Arial" pitchFamily="34" charset="0"/>
              <a:buChar char="–"/>
              <a:defRPr sz="2900" kern="1200">
                <a:solidFill>
                  <a:schemeClr val="tx1"/>
                </a:solidFill>
                <a:latin typeface="+mn-lt"/>
                <a:ea typeface="+mn-ea"/>
                <a:cs typeface="+mn-cs"/>
              </a:defRPr>
            </a:lvl2pPr>
            <a:lvl3pPr marL="1186434" indent="-237287" algn="l" defTabSz="949147"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66100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135581"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10155"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08472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59302"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33876"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r>
              <a:rPr lang="en-US" sz="2000" dirty="0"/>
              <a:t>The total number of pixels is called </a:t>
            </a:r>
            <a:r>
              <a:rPr lang="en-US" sz="2000" b="1" dirty="0"/>
              <a:t>Resolution.</a:t>
            </a:r>
          </a:p>
          <a:p>
            <a:r>
              <a:rPr lang="en-US" sz="2000" dirty="0"/>
              <a:t>The more the </a:t>
            </a:r>
            <a:r>
              <a:rPr lang="en-US" sz="2000" dirty="0" err="1"/>
              <a:t>sampling,more</a:t>
            </a:r>
            <a:r>
              <a:rPr lang="en-US" sz="2000" dirty="0"/>
              <a:t> is the details in image, and bigger is the matrix.</a:t>
            </a:r>
          </a:p>
          <a:p>
            <a:endParaRPr lang="en-US" sz="2000" dirty="0"/>
          </a:p>
        </p:txBody>
      </p:sp>
      <p:sp>
        <p:nvSpPr>
          <p:cNvPr id="3" name="TextBox 2"/>
          <p:cNvSpPr txBox="1"/>
          <p:nvPr/>
        </p:nvSpPr>
        <p:spPr>
          <a:xfrm>
            <a:off x="457200" y="803242"/>
            <a:ext cx="7374194" cy="996885"/>
          </a:xfrm>
          <a:prstGeom prst="rect">
            <a:avLst/>
          </a:prstGeom>
          <a:noFill/>
        </p:spPr>
        <p:txBody>
          <a:bodyPr wrap="square" lIns="88084" tIns="44042" rIns="88084" bIns="44042" rtlCol="0">
            <a:spAutoFit/>
          </a:bodyPr>
          <a:lstStyle/>
          <a:p>
            <a:r>
              <a:rPr lang="en-US" sz="2000" dirty="0"/>
              <a:t>The standard </a:t>
            </a:r>
            <a:r>
              <a:rPr lang="en-US" sz="2000" dirty="0" err="1"/>
              <a:t>quantisation</a:t>
            </a:r>
            <a:r>
              <a:rPr lang="en-US" sz="2000" dirty="0"/>
              <a:t> has 256 levels(0-255).</a:t>
            </a:r>
          </a:p>
          <a:p>
            <a:r>
              <a:rPr lang="en-US" sz="2000" dirty="0"/>
              <a:t>Every sampling Point in the image is called a </a:t>
            </a:r>
            <a:r>
              <a:rPr lang="en-US" sz="2000" b="1" dirty="0"/>
              <a:t>Pixel.</a:t>
            </a:r>
          </a:p>
          <a:p>
            <a:endParaRPr lang="en-US" dirty="0"/>
          </a:p>
        </p:txBody>
      </p:sp>
      <p:sp>
        <p:nvSpPr>
          <p:cNvPr id="7" name="Content Placeholder 2">
            <a:extLst>
              <a:ext uri="{FF2B5EF4-FFF2-40B4-BE49-F238E27FC236}">
                <a16:creationId xmlns="" xmlns:a16="http://schemas.microsoft.com/office/drawing/2014/main" id="{64E86008-88C1-6BF3-8C6A-06902F984571}"/>
              </a:ext>
            </a:extLst>
          </p:cNvPr>
          <p:cNvSpPr txBox="1">
            <a:spLocks/>
          </p:cNvSpPr>
          <p:nvPr/>
        </p:nvSpPr>
        <p:spPr>
          <a:xfrm>
            <a:off x="581891" y="5067299"/>
            <a:ext cx="8008374" cy="10044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smtClean="0"/>
              <a:t>When a light ray falls on an object, reflects from it and then falls on a film or a screen, it forms an image.</a:t>
            </a:r>
          </a:p>
        </p:txBody>
      </p:sp>
    </p:spTree>
    <p:extLst>
      <p:ext uri="{BB962C8B-B14F-4D97-AF65-F5344CB8AC3E}">
        <p14:creationId xmlns:p14="http://schemas.microsoft.com/office/powerpoint/2010/main" val="26348976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02DA3603-6DF9-5AF2-60D7-3BB326AAD4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021" y="2412264"/>
            <a:ext cx="4943615" cy="2618936"/>
          </a:xfrm>
          <a:prstGeom prst="rect">
            <a:avLst/>
          </a:prstGeom>
        </p:spPr>
      </p:pic>
      <p:pic>
        <p:nvPicPr>
          <p:cNvPr id="13314" name="Picture 2">
            <a:extLst>
              <a:ext uri="{FF2B5EF4-FFF2-40B4-BE49-F238E27FC236}">
                <a16:creationId xmlns="" xmlns:a16="http://schemas.microsoft.com/office/drawing/2014/main" id="{A6FC531E-FB3F-CE1C-21C5-9FA7EAE427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82" t="3239" b="-1"/>
          <a:stretch/>
        </p:blipFill>
        <p:spPr bwMode="auto">
          <a:xfrm>
            <a:off x="5037634" y="480199"/>
            <a:ext cx="3570790" cy="241540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 xmlns:a16="http://schemas.microsoft.com/office/drawing/2014/main" id="{0BD2AAC5-C7F5-7E68-EA2A-A9652154F976}"/>
              </a:ext>
            </a:extLst>
          </p:cNvPr>
          <p:cNvSpPr/>
          <p:nvPr/>
        </p:nvSpPr>
        <p:spPr>
          <a:xfrm>
            <a:off x="4376751" y="4514290"/>
            <a:ext cx="4643647" cy="1962709"/>
          </a:xfrm>
          <a:prstGeom prst="roundRect">
            <a:avLst/>
          </a:prstGeom>
          <a:solidFill>
            <a:schemeClr val="accent5">
              <a:lumMod val="60000"/>
              <a:lumOff val="40000"/>
              <a:alpha val="50000"/>
            </a:schemeClr>
          </a:solidFill>
          <a:ln>
            <a:solidFill>
              <a:srgbClr val="13B3B7"/>
            </a:solidFill>
          </a:ln>
        </p:spPr>
        <p:style>
          <a:lnRef idx="0">
            <a:scrgbClr r="0" g="0" b="0"/>
          </a:lnRef>
          <a:fillRef idx="0">
            <a:scrgbClr r="0" g="0" b="0"/>
          </a:fillRef>
          <a:effectRef idx="0">
            <a:scrgbClr r="0" g="0" b="0"/>
          </a:effectRef>
          <a:fontRef idx="minor">
            <a:schemeClr val="lt1"/>
          </a:fontRef>
        </p:style>
        <p:txBody>
          <a:bodyPr lIns="88084" tIns="44042" rIns="88084" bIns="44042" rtlCol="0" anchor="ctr"/>
          <a:lstStyle/>
          <a:p>
            <a:pPr algn="ctr"/>
            <a:endParaRPr lang="en-IN"/>
          </a:p>
        </p:txBody>
      </p:sp>
      <p:sp>
        <p:nvSpPr>
          <p:cNvPr id="10" name="TextBox 9">
            <a:extLst>
              <a:ext uri="{FF2B5EF4-FFF2-40B4-BE49-F238E27FC236}">
                <a16:creationId xmlns="" xmlns:a16="http://schemas.microsoft.com/office/drawing/2014/main" id="{1BC3499E-6881-A5F9-A3EC-C0AF9097D018}"/>
              </a:ext>
            </a:extLst>
          </p:cNvPr>
          <p:cNvSpPr txBox="1"/>
          <p:nvPr/>
        </p:nvSpPr>
        <p:spPr>
          <a:xfrm>
            <a:off x="4500352" y="4679227"/>
            <a:ext cx="4520046" cy="1488133"/>
          </a:xfrm>
          <a:prstGeom prst="rect">
            <a:avLst/>
          </a:prstGeom>
          <a:noFill/>
        </p:spPr>
        <p:txBody>
          <a:bodyPr wrap="square" lIns="88084" tIns="44042" rIns="88084" bIns="44042" rtlCol="0">
            <a:spAutoFit/>
          </a:bodyPr>
          <a:lstStyle/>
          <a:p>
            <a:pPr marL="275263" indent="-275263">
              <a:buFont typeface="Arial" panose="020B0604020202020204" pitchFamily="34" charset="0"/>
              <a:buChar char="•"/>
            </a:pPr>
            <a:r>
              <a:rPr lang="en-IN" dirty="0"/>
              <a:t>Depth of Field(DOF): The range in which an object is limited be placed, in order to have a clear and bright image.</a:t>
            </a:r>
          </a:p>
          <a:p>
            <a:pPr marL="275263" indent="-275263">
              <a:buFont typeface="Arial" panose="020B0604020202020204" pitchFamily="34" charset="0"/>
              <a:buChar char="•"/>
            </a:pPr>
            <a:r>
              <a:rPr lang="en-IN" dirty="0"/>
              <a:t>Field of View(FOV): Describes the viewable area that can be imaged by lens system.</a:t>
            </a:r>
          </a:p>
        </p:txBody>
      </p:sp>
      <p:sp>
        <p:nvSpPr>
          <p:cNvPr id="6" name="Rectangle 5"/>
          <p:cNvSpPr/>
          <p:nvPr/>
        </p:nvSpPr>
        <p:spPr>
          <a:xfrm>
            <a:off x="532366" y="473272"/>
            <a:ext cx="4572000" cy="1938992"/>
          </a:xfrm>
          <a:prstGeom prst="rect">
            <a:avLst/>
          </a:prstGeom>
        </p:spPr>
        <p:txBody>
          <a:bodyPr>
            <a:spAutoFit/>
          </a:bodyPr>
          <a:lstStyle/>
          <a:p>
            <a:r>
              <a:rPr lang="en-US" sz="2000" dirty="0" smtClean="0"/>
              <a:t>Some models were used to make a clear image of the object-</a:t>
            </a:r>
          </a:p>
          <a:p>
            <a:pPr marL="440421" indent="-440421">
              <a:buFont typeface="+mj-lt"/>
              <a:buAutoNum type="arabicPeriod"/>
            </a:pPr>
            <a:endParaRPr lang="en-US" sz="2000" dirty="0" smtClean="0"/>
          </a:p>
          <a:p>
            <a:pPr marL="440421" indent="-440421">
              <a:buFont typeface="+mj-lt"/>
              <a:buAutoNum type="arabicPeriod"/>
            </a:pPr>
            <a:r>
              <a:rPr lang="en-US" sz="2000" dirty="0" smtClean="0"/>
              <a:t>Pin-hole model</a:t>
            </a:r>
          </a:p>
          <a:p>
            <a:pPr marL="440421" indent="-440421">
              <a:buFont typeface="+mj-lt"/>
              <a:buAutoNum type="arabicPeriod"/>
            </a:pPr>
            <a:r>
              <a:rPr lang="en-US" sz="2000" dirty="0" smtClean="0"/>
              <a:t>Aperture model</a:t>
            </a:r>
          </a:p>
          <a:p>
            <a:pPr marL="440421" indent="-440421">
              <a:buFont typeface="+mj-lt"/>
              <a:buAutoNum type="arabicPeriod"/>
            </a:pPr>
            <a:r>
              <a:rPr lang="en-US" sz="2000" dirty="0" smtClean="0"/>
              <a:t>Lens model</a:t>
            </a:r>
            <a:endParaRPr lang="en-US" sz="2000" dirty="0"/>
          </a:p>
        </p:txBody>
      </p:sp>
    </p:spTree>
    <p:extLst>
      <p:ext uri="{BB962C8B-B14F-4D97-AF65-F5344CB8AC3E}">
        <p14:creationId xmlns:p14="http://schemas.microsoft.com/office/powerpoint/2010/main" val="2946411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3543494B-22F1-19DD-3712-4150716731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7161" y="145915"/>
            <a:ext cx="5897332" cy="4231532"/>
          </a:xfrm>
          <a:prstGeom prst="rect">
            <a:avLst/>
          </a:prstGeom>
        </p:spPr>
      </p:pic>
      <p:pic>
        <p:nvPicPr>
          <p:cNvPr id="5" name="Picture 4">
            <a:extLst>
              <a:ext uri="{FF2B5EF4-FFF2-40B4-BE49-F238E27FC236}">
                <a16:creationId xmlns="" xmlns:a16="http://schemas.microsoft.com/office/drawing/2014/main" id="{98E5A231-C98D-8721-0E52-09EC56D305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968" y="4304490"/>
            <a:ext cx="3982065" cy="2250411"/>
          </a:xfrm>
          <a:prstGeom prst="rect">
            <a:avLst/>
          </a:prstGeom>
        </p:spPr>
      </p:pic>
      <p:sp>
        <p:nvSpPr>
          <p:cNvPr id="6" name="Rounded Rectangle 5"/>
          <p:cNvSpPr/>
          <p:nvPr/>
        </p:nvSpPr>
        <p:spPr>
          <a:xfrm>
            <a:off x="6120580" y="4815191"/>
            <a:ext cx="1622323" cy="8025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88084" tIns="44042" rIns="88084" bIns="44042" rtlCol="0" anchor="ctr"/>
          <a:lstStyle/>
          <a:p>
            <a:pPr algn="ctr"/>
            <a:r>
              <a:rPr lang="en-US" sz="1900" dirty="0"/>
              <a:t>Lens</a:t>
            </a:r>
            <a:r>
              <a:rPr lang="en-US" dirty="0" smtClean="0"/>
              <a:t> Model</a:t>
            </a:r>
            <a:endParaRPr lang="en-US" dirty="0"/>
          </a:p>
        </p:txBody>
      </p:sp>
      <p:sp>
        <p:nvSpPr>
          <p:cNvPr id="7" name="Rounded Rectangle 6"/>
          <p:cNvSpPr/>
          <p:nvPr/>
        </p:nvSpPr>
        <p:spPr>
          <a:xfrm>
            <a:off x="429042" y="1678021"/>
            <a:ext cx="2728452" cy="10214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88084" tIns="44042" rIns="88084" bIns="44042" rtlCol="0" anchor="ctr"/>
          <a:lstStyle/>
          <a:p>
            <a:pPr algn="ctr"/>
            <a:r>
              <a:rPr lang="en-US" sz="1900" dirty="0"/>
              <a:t>Relation b/w </a:t>
            </a:r>
            <a:r>
              <a:rPr lang="en-US" sz="1900" dirty="0" err="1"/>
              <a:t>DoF</a:t>
            </a:r>
            <a:r>
              <a:rPr lang="en-US" sz="1900" dirty="0"/>
              <a:t> and size of </a:t>
            </a:r>
            <a:r>
              <a:rPr lang="en-US" sz="1900" dirty="0" err="1"/>
              <a:t>apperture</a:t>
            </a:r>
            <a:endParaRPr lang="en-US" sz="1900" dirty="0"/>
          </a:p>
        </p:txBody>
      </p:sp>
      <p:cxnSp>
        <p:nvCxnSpPr>
          <p:cNvPr id="10" name="Straight Arrow Connector 9"/>
          <p:cNvCxnSpPr/>
          <p:nvPr/>
        </p:nvCxnSpPr>
        <p:spPr>
          <a:xfrm flipH="1">
            <a:off x="3392129" y="1969851"/>
            <a:ext cx="1179871" cy="1459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3"/>
          </p:cNvCxnSpPr>
          <p:nvPr/>
        </p:nvCxnSpPr>
        <p:spPr>
          <a:xfrm flipV="1">
            <a:off x="4277034" y="5216458"/>
            <a:ext cx="1769805" cy="213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659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838200"/>
            <a:ext cx="6771476" cy="334961"/>
          </a:xfrm>
        </p:spPr>
        <p:txBody>
          <a:bodyPr>
            <a:noAutofit/>
          </a:bodyPr>
          <a:lstStyle/>
          <a:p>
            <a:r>
              <a:rPr lang="en-US" sz="3200" b="1" dirty="0">
                <a:solidFill>
                  <a:schemeClr val="accent4">
                    <a:lumMod val="60000"/>
                    <a:lumOff val="40000"/>
                  </a:schemeClr>
                </a:solidFill>
              </a:rPr>
              <a:t>How are colored images stored?</a:t>
            </a:r>
          </a:p>
        </p:txBody>
      </p:sp>
      <p:sp>
        <p:nvSpPr>
          <p:cNvPr id="3" name="Content Placeholder 2"/>
          <p:cNvSpPr>
            <a:spLocks noGrp="1"/>
          </p:cNvSpPr>
          <p:nvPr>
            <p:ph idx="1"/>
          </p:nvPr>
        </p:nvSpPr>
        <p:spPr>
          <a:xfrm>
            <a:off x="446920" y="1371600"/>
            <a:ext cx="8229600" cy="1066800"/>
          </a:xfrm>
        </p:spPr>
        <p:txBody>
          <a:bodyPr>
            <a:normAutofit/>
          </a:bodyPr>
          <a:lstStyle/>
          <a:p>
            <a:pPr marL="0" indent="0">
              <a:buNone/>
            </a:pPr>
            <a:r>
              <a:rPr lang="en-US" sz="2000" dirty="0"/>
              <a:t>Colored images are stored in the form of a 3D matrix or Triplet Matrix of size m×n×3. Each color makes a layer.</a:t>
            </a:r>
            <a:br>
              <a:rPr lang="en-US" sz="2000" dirty="0"/>
            </a:br>
            <a:r>
              <a:rPr lang="en-US" sz="2000" dirty="0"/>
              <a:t>One such model is the RGB model.</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1376" t="14818" r="21154" b="31190"/>
          <a:stretch/>
        </p:blipFill>
        <p:spPr>
          <a:xfrm>
            <a:off x="5410200" y="2209800"/>
            <a:ext cx="3342520" cy="20003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600375"/>
            <a:ext cx="4260273" cy="3786570"/>
          </a:xfrm>
          <a:prstGeom prst="rect">
            <a:avLst/>
          </a:prstGeom>
        </p:spPr>
      </p:pic>
    </p:spTree>
    <p:extLst>
      <p:ext uri="{BB962C8B-B14F-4D97-AF65-F5344CB8AC3E}">
        <p14:creationId xmlns:p14="http://schemas.microsoft.com/office/powerpoint/2010/main" val="24250491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2209800"/>
          </a:xfrm>
        </p:spPr>
        <p:txBody>
          <a:bodyPr>
            <a:noAutofit/>
          </a:bodyPr>
          <a:lstStyle/>
          <a:p>
            <a:r>
              <a:rPr lang="en-US" sz="2800" b="1" dirty="0" err="1" smtClean="0">
                <a:solidFill>
                  <a:schemeClr val="accent6">
                    <a:lumMod val="75000"/>
                  </a:schemeClr>
                </a:solidFill>
              </a:rPr>
              <a:t>YCbCr</a:t>
            </a:r>
            <a:r>
              <a:rPr lang="en-US" sz="2800" b="1" dirty="0" smtClean="0">
                <a:solidFill>
                  <a:schemeClr val="accent6">
                    <a:lumMod val="75000"/>
                  </a:schemeClr>
                </a:solidFill>
              </a:rPr>
              <a:t> Model</a:t>
            </a:r>
            <a:br>
              <a:rPr lang="en-US" sz="2800" b="1" dirty="0" smtClean="0">
                <a:solidFill>
                  <a:schemeClr val="accent6">
                    <a:lumMod val="75000"/>
                  </a:schemeClr>
                </a:solidFill>
              </a:rPr>
            </a:br>
            <a:r>
              <a:rPr lang="en-US" sz="2800" dirty="0" smtClean="0"/>
              <a:t/>
            </a:r>
            <a:br>
              <a:rPr lang="en-US" sz="2800" dirty="0" smtClean="0"/>
            </a:br>
            <a:r>
              <a:rPr lang="en-US" sz="2000" dirty="0" smtClean="0"/>
              <a:t>It </a:t>
            </a:r>
            <a:r>
              <a:rPr lang="en-US" sz="2000" dirty="0"/>
              <a:t>separates the image into luminance (Y) and chrominance (</a:t>
            </a:r>
            <a:r>
              <a:rPr lang="en-US" sz="2000" dirty="0" err="1"/>
              <a:t>Cb</a:t>
            </a:r>
            <a:r>
              <a:rPr lang="en-US" sz="2000" dirty="0"/>
              <a:t> and Cr) components. The Y component represents the brightness of the image, while </a:t>
            </a:r>
            <a:r>
              <a:rPr lang="en-US" sz="2000" dirty="0" err="1"/>
              <a:t>Cb</a:t>
            </a:r>
            <a:r>
              <a:rPr lang="en-US" sz="2000" dirty="0"/>
              <a:t> and Cr represent the blue-difference and red-difference </a:t>
            </a:r>
            <a:r>
              <a:rPr lang="en-US" sz="2000" dirty="0" err="1"/>
              <a:t>chroma</a:t>
            </a:r>
            <a:r>
              <a:rPr lang="en-US" sz="2000" dirty="0"/>
              <a:t> components, respectively.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3697" y="3613905"/>
            <a:ext cx="5614736" cy="1939636"/>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3798277"/>
            <a:ext cx="2792697" cy="1570892"/>
          </a:xfrm>
          <a:prstGeom prst="rect">
            <a:avLst/>
          </a:prstGeom>
        </p:spPr>
      </p:pic>
    </p:spTree>
    <p:extLst>
      <p:ext uri="{BB962C8B-B14F-4D97-AF65-F5344CB8AC3E}">
        <p14:creationId xmlns:p14="http://schemas.microsoft.com/office/powerpoint/2010/main" val="9101945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131</TotalTime>
  <Words>619</Words>
  <Application>Microsoft Office PowerPoint</Application>
  <PresentationFormat>On-screen Show (4:3)</PresentationFormat>
  <Paragraphs>67</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Urban</vt:lpstr>
      <vt:lpstr>Day 1 PPT Introduction to Signals &amp; Images</vt:lpstr>
      <vt:lpstr>PowerPoint Presentation</vt:lpstr>
      <vt:lpstr>Levels of Granularity</vt:lpstr>
      <vt:lpstr>PowerPoint Presentation</vt:lpstr>
      <vt:lpstr>Instance Segmentation</vt:lpstr>
      <vt:lpstr>CHALLANGES</vt:lpstr>
      <vt:lpstr>Images as Surfaces</vt:lpstr>
      <vt:lpstr>PowerPoint Presentation</vt:lpstr>
      <vt:lpstr>Image Formation</vt:lpstr>
      <vt:lpstr>PowerPoint Presentation</vt:lpstr>
      <vt:lpstr>PowerPoint Presentation</vt:lpstr>
      <vt:lpstr>How are colored images stored?</vt:lpstr>
      <vt:lpstr>YCbCr Model  It separates the image into luminance (Y) and chrominance (Cb and Cr) components. The Y component represents the brightness of the image, while Cb and Cr represent the blue-difference and red-difference chroma components, respectively.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9</cp:revision>
  <dcterms:created xsi:type="dcterms:W3CDTF">2024-06-15T11:24:26Z</dcterms:created>
  <dcterms:modified xsi:type="dcterms:W3CDTF">2024-06-15T13:38:12Z</dcterms:modified>
</cp:coreProperties>
</file>